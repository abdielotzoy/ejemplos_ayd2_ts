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fd9874ad8347eb" /><Relationship Type="http://schemas.openxmlformats.org/officeDocument/2006/relationships/extended-properties" Target="/docProps/app.xml" Id="R21ba66a498824888" /><Relationship Type="http://schemas.openxmlformats.org/officeDocument/2006/relationships/officeDocument" Target="/ppt/presentation.xml" Id="R66c6ddce115f48ca" /></Relationships>
</file>

<file path=ppt/presentation.xml><?xml version="1.0" encoding="utf-8"?>
<p:presentation xmlns:p="http://schemas.openxmlformats.org/presentationml/2006/main">
  <p:sldMasterIdLst>
    <p:sldMasterId xmlns:r="http://schemas.openxmlformats.org/officeDocument/2006/relationships" id="2147483648" r:id="R75876110a8924cd7"/>
  </p:sldMasterIdLst>
  <p:notesMasterIdLst>
    <p:notesMasterId xmlns:r="http://schemas.openxmlformats.org/officeDocument/2006/relationships" r:id="Rf17a577e44a94d91"/>
  </p:notesMasterIdLst>
  <p:sldIdLst>
    <p:sldId xmlns:r="http://schemas.openxmlformats.org/officeDocument/2006/relationships" id="256" r:id="R9a7dfbd85f5d4b56"/>
    <p:sldId xmlns:r="http://schemas.openxmlformats.org/officeDocument/2006/relationships" id="257" r:id="R3c3b01985ad741dd"/>
    <p:sldId xmlns:r="http://schemas.openxmlformats.org/officeDocument/2006/relationships" id="258" r:id="Re60a4bea1c464f65"/>
    <p:sldId xmlns:r="http://schemas.openxmlformats.org/officeDocument/2006/relationships" id="259" r:id="Rb3f3cf594a1d41a8"/>
    <p:sldId xmlns:r="http://schemas.openxmlformats.org/officeDocument/2006/relationships" id="260" r:id="Rdf34f37306ec4f36"/>
    <p:sldId xmlns:r="http://schemas.openxmlformats.org/officeDocument/2006/relationships" id="261" r:id="R85298addd0aa483c"/>
    <p:sldId xmlns:r="http://schemas.openxmlformats.org/officeDocument/2006/relationships" id="262" r:id="R16ddfc88f5b14f6c"/>
    <p:sldId xmlns:r="http://schemas.openxmlformats.org/officeDocument/2006/relationships" id="263" r:id="Ra17d6c6e888e4f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66ae4d9ab6434e" /><Relationship Type="http://schemas.openxmlformats.org/officeDocument/2006/relationships/slideMaster" Target="/ppt/slideMasters/slideMaster1.xml" Id="R75876110a8924cd7" /><Relationship Type="http://schemas.openxmlformats.org/officeDocument/2006/relationships/notesMaster" Target="/ppt/notesMasters/notesMaster1.xml" Id="Rf17a577e44a94d91" /><Relationship Type="http://schemas.openxmlformats.org/officeDocument/2006/relationships/presProps" Target="/ppt/presProps.xml" Id="R021e2bd5f92d489c" /><Relationship Type="http://schemas.openxmlformats.org/officeDocument/2006/relationships/tableStyles" Target="/ppt/tableStyles.xml" Id="R91cc59e99bfa4834" /><Relationship Type="http://schemas.openxmlformats.org/officeDocument/2006/relationships/slide" Target="/ppt/slides/slide1.xml" Id="R9a7dfbd85f5d4b56" /><Relationship Type="http://schemas.openxmlformats.org/officeDocument/2006/relationships/slide" Target="/ppt/slides/slide2.xml" Id="R3c3b01985ad741dd" /><Relationship Type="http://schemas.openxmlformats.org/officeDocument/2006/relationships/slide" Target="/ppt/slides/slide3.xml" Id="Re60a4bea1c464f65" /><Relationship Type="http://schemas.openxmlformats.org/officeDocument/2006/relationships/slide" Target="/ppt/slides/slide4.xml" Id="Rb3f3cf594a1d41a8" /><Relationship Type="http://schemas.openxmlformats.org/officeDocument/2006/relationships/slide" Target="/ppt/slides/slide5.xml" Id="Rdf34f37306ec4f36" /><Relationship Type="http://schemas.openxmlformats.org/officeDocument/2006/relationships/slide" Target="/ppt/slides/slide6.xml" Id="R85298addd0aa483c" /><Relationship Type="http://schemas.openxmlformats.org/officeDocument/2006/relationships/slide" Target="/ppt/slides/slide7.xml" Id="R16ddfc88f5b14f6c" /><Relationship Type="http://schemas.openxmlformats.org/officeDocument/2006/relationships/slide" Target="/ppt/slides/slide8.xml" Id="Ra17d6c6e888e4f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bafe06fd6241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fd4d7471aa40c1" /><Relationship Type="http://schemas.openxmlformats.org/officeDocument/2006/relationships/notesMaster" Target="/ppt/notesMasters/notesMaster1.xml" Id="R37b45f45fbda49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36ccb19f3d4490" /><Relationship Type="http://schemas.openxmlformats.org/officeDocument/2006/relationships/notesMaster" Target="/ppt/notesMasters/notesMaster1.xml" Id="R2f1bba755cb249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3255a2b5ca4f99" /><Relationship Type="http://schemas.openxmlformats.org/officeDocument/2006/relationships/notesMaster" Target="/ppt/notesMasters/notesMaster1.xml" Id="Rd41dc643f27541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6fce6b6f3b42dd" /><Relationship Type="http://schemas.openxmlformats.org/officeDocument/2006/relationships/notesMaster" Target="/ppt/notesMasters/notesMaster1.xml" Id="R7e833b2bc96a4f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d5f02f9fc640aa" /><Relationship Type="http://schemas.openxmlformats.org/officeDocument/2006/relationships/notesMaster" Target="/ppt/notesMasters/notesMaster1.xml" Id="Rb87949794b9d4b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32a812b67e4661" /><Relationship Type="http://schemas.openxmlformats.org/officeDocument/2006/relationships/notesMaster" Target="/ppt/notesMasters/notesMaster1.xml" Id="R2d145912240d4e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dea5815694471d" /><Relationship Type="http://schemas.openxmlformats.org/officeDocument/2006/relationships/notesMaster" Target="/ppt/notesMasters/notesMaster1.xml" Id="Ra235c5fb950d49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008dfb09ae4e8d" /><Relationship Type="http://schemas.openxmlformats.org/officeDocument/2006/relationships/notesMaster" Target="/ppt/notesMasters/notesMaster1.xml" Id="Raa79adc58ff048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el tema como la evaluación del comportamiento del sistema. La idea central es que una aplicación puede funcionar correctamente y aun así responder demasiado lento, fallar bajo presión o no poder ejecutarse en otro entorno.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la diferencia entre el resultado y las condiciones del resultado. Una prueba funcional valida el qué. Una prueba no funcional observa el cómo: rapidez, estabilidad, capacidad, seguridad, facilidad de uso o compatibilidad.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principios ayudan a que la prueba produzca evidencia útil. Medible significa que existe un indicador. Basada en escenarios significa que se prueba una situación concreta. Repetible permite comparar versiones. Continua evita descubrir estos problemas al final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Conectar la arquitectura con la calidad: una decisión como usar caché, réplicas o contenedores cambia el comportamiento esperado. Por eso las pruebas no funcionales deben diseñarse junto con la arquitectura y no como una actividad aislada al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prueba de carga representa el volumen que el sistema debería soportar normalmente. La pregunta principal es si mantiene el nivel de servicio esperado bajo esa carga. Las métricas más útiles son latencia, errores y consumo de recursos.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Diferenciar carga y estrés: la carga usa niveles esperados. El estrés supera esos niveles para observar límites, degradación, punto de ruptura y recuperación. En sistemas críticos también interesa saber si se protege la integridad de los datos.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escalabilidad estudia la relación entre demanda, recursos y rendimiento. La escalabilidad vertical aumenta la capacidad de una máquina. La horizontal distribuye el trabajo entre más instancias. La prueba ayuda a saber cuándo y cómo conviene crecer.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portabilidad verifica el traslado entre entornos: sistemas operativos, navegadores, nubes, servidores o bases de datos. El foco no es que todo sea idéntico, sino que el comportamiento esperado se conserve y que las adaptaciones estén controladas.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4aa7444cee45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1171550cd143d3" /><Relationship Type="http://schemas.openxmlformats.org/officeDocument/2006/relationships/slideLayout" Target="/ppt/slideLayouts/slideLayout1.xml" Id="R1b6e2041a2c943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6e2041a2c943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7661f2b96f461f" /><Relationship Type="http://schemas.openxmlformats.org/officeDocument/2006/relationships/notesSlide" Target="/ppt/notesSlides/notesSlide1.xml" Id="Rf97aa678210449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7bce06064a4fd5" /><Relationship Type="http://schemas.openxmlformats.org/officeDocument/2006/relationships/notesSlide" Target="/ppt/notesSlides/notesSlide2.xml" Id="R611b184720d842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115268fcdd465b" /><Relationship Type="http://schemas.openxmlformats.org/officeDocument/2006/relationships/notesSlide" Target="/ppt/notesSlides/notesSlide3.xml" Id="R78caf284e04e49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0b26d2f55014eed" /><Relationship Type="http://schemas.openxmlformats.org/officeDocument/2006/relationships/notesSlide" Target="/ppt/notesSlides/notesSlide4.xml" Id="R49af27ee688c45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6ea04f10c14cb6" /><Relationship Type="http://schemas.openxmlformats.org/officeDocument/2006/relationships/notesSlide" Target="/ppt/notesSlides/notesSlide5.xml" Id="R447287c6cfe84d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0aaae92ba14ea3" /><Relationship Type="http://schemas.openxmlformats.org/officeDocument/2006/relationships/notesSlide" Target="/ppt/notesSlides/notesSlide6.xml" Id="R32a9bc898c8c46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88aee0492c4f80" /><Relationship Type="http://schemas.openxmlformats.org/officeDocument/2006/relationships/notesSlide" Target="/ppt/notesSlides/notesSlide7.xml" Id="R75326cb54a4f43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378040ae5a4e19" /><Relationship Type="http://schemas.openxmlformats.org/officeDocument/2006/relationships/notesSlide" Target="/ppt/notesSlides/notesSlide8.xml" Id="R12f76f68a05a44d5" /></Relationships>
</file>

<file path=ppt/slides/slide1.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2CA6641-FC7C-45F7-AD08-FA5A21598D5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ED6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555D23-3F59-4F84-B501-6283D9AB108F}"/>
              </a:ext>
            </a:extLst>
          </p:cNvPr>
          <p:cNvSpPr>
            <a:spLocks xmlns:a="http://schemas.openxmlformats.org/drawingml/2006/main" noGrp="1"/>
          </p:cNvSpPr>
          <p:nvPr/>
        </p:nvSpPr>
        <p:spPr>
          <a:xfrm xmlns:a="http://schemas.openxmlformats.org/drawingml/2006/main">
            <a:off x="7858125" y="0"/>
            <a:ext cx="4191000" cy="4191000"/>
          </a:xfrm>
          <a:prstGeom xmlns:a="http://schemas.openxmlformats.org/drawingml/2006/main" prst="ellipse">
            <a:avLst/>
          </a:prstGeom>
          <a:noFill xmlns:a="http://schemas.openxmlformats.org/drawingml/2006/main"/>
          <a:ln xmlns:a="http://schemas.openxmlformats.org/drawingml/2006/main" w="19050">
            <a:solidFill>
              <a:srgbClr val="1E8F88"/>
            </a:solidFill>
            <a:prstDash val="solid"/>
          </a:ln>
        </p:spPr>
      </p:sp>
      <p:sp>
        <p:nvSpPr>
          <p:cNvPr id="3" name="">
            <a:extLst xmlns:a="http://schemas.openxmlformats.org/drawingml/2006/main">
              <a:ext uri="{FF2B5EF4-FFF2-40B4-BE49-F238E27FC236}">
                <a16:creationId xmlns:a16="http://schemas.microsoft.com/office/drawing/2014/main" id="{96F01135-7BAC-4957-B016-9E350065C39E}"/>
              </a:ext>
            </a:extLst>
          </p:cNvPr>
          <p:cNvSpPr>
            <a:spLocks xmlns:a="http://schemas.openxmlformats.org/drawingml/2006/main" noGrp="1"/>
          </p:cNvSpPr>
          <p:nvPr/>
        </p:nvSpPr>
        <p:spPr>
          <a:xfrm xmlns:a="http://schemas.openxmlformats.org/drawingml/2006/main">
            <a:off x="8429625" y="190500"/>
            <a:ext cx="3048000" cy="3048000"/>
          </a:xfrm>
          <a:prstGeom xmlns:a="http://schemas.openxmlformats.org/drawingml/2006/main" prst="ellipse">
            <a:avLst/>
          </a:prstGeom>
          <a:noFill xmlns:a="http://schemas.openxmlformats.org/drawingml/2006/main"/>
          <a:ln xmlns:a="http://schemas.openxmlformats.org/drawingml/2006/main" w="19050">
            <a:solidFill>
              <a:srgbClr val="2E4965"/>
            </a:solidFill>
            <a:prstDash val="solid"/>
          </a:ln>
        </p:spPr>
      </p:sp>
      <p:sp>
        <p:nvSpPr>
          <p:cNvPr id="4" name="">
            <a:extLst xmlns:a="http://schemas.openxmlformats.org/drawingml/2006/main">
              <a:ext uri="{FF2B5EF4-FFF2-40B4-BE49-F238E27FC236}">
                <a16:creationId xmlns:a16="http://schemas.microsoft.com/office/drawing/2014/main" id="{F5E50706-D13E-485D-AD9F-E6310AAA8A10}"/>
              </a:ext>
            </a:extLst>
          </p:cNvPr>
          <p:cNvSpPr>
            <a:spLocks xmlns:a="http://schemas.openxmlformats.org/drawingml/2006/main" noGrp="1"/>
          </p:cNvSpPr>
          <p:nvPr/>
        </p:nvSpPr>
        <p:spPr>
          <a:xfrm xmlns:a="http://schemas.openxmlformats.org/drawingml/2006/main">
            <a:off x="9001125" y="762000"/>
            <a:ext cx="1905000" cy="1905000"/>
          </a:xfrm>
          <a:prstGeom xmlns:a="http://schemas.openxmlformats.org/drawingml/2006/main" prst="ellipse">
            <a:avLst/>
          </a:prstGeom>
          <a:solidFill xmlns:a="http://schemas.openxmlformats.org/drawingml/2006/main">
            <a:srgbClr val="14253B"/>
          </a:solidFill>
          <a:ln xmlns:a="http://schemas.openxmlformats.org/drawingml/2006/main" w="28575">
            <a:solidFill>
              <a:srgbClr val="4ED6C5"/>
            </a:solidFill>
            <a:prstDash val="solid"/>
          </a:ln>
        </p:spPr>
      </p:sp>
      <p:sp>
        <p:nvSpPr>
          <p:cNvPr id="5" name="">
            <a:extLst xmlns:a="http://schemas.openxmlformats.org/drawingml/2006/main">
              <a:ext uri="{FF2B5EF4-FFF2-40B4-BE49-F238E27FC236}">
                <a16:creationId xmlns:a16="http://schemas.microsoft.com/office/drawing/2014/main" id="{4F99F64D-910C-4F9E-A1EB-6623ECF298F4}"/>
              </a:ext>
            </a:extLst>
          </p:cNvPr>
          <p:cNvSpPr>
            <a:spLocks xmlns:a="http://schemas.openxmlformats.org/drawingml/2006/main" noGrp="1"/>
          </p:cNvSpPr>
          <p:nvPr/>
        </p:nvSpPr>
        <p:spPr>
          <a:xfrm xmlns:a="http://schemas.openxmlformats.org/drawingml/2006/main">
            <a:off x="762000" y="8572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4ED6C5"/>
                </a:solidFill>
                <a:latin typeface="Helvetica Neue"/>
                <a:ea typeface="Helvetica Neue"/>
                <a:cs typeface="Helvetica Neue"/>
              </a:defRPr>
            </a:pPr>
            <a:r>
              <a:rPr sz="1050" b="1" i="0">
                <a:solidFill>
                  <a:srgbClr val="4ED6C5"/>
                </a:solidFill>
                <a:latin typeface="Helvetica Neue"/>
                <a:ea typeface="Helvetica Neue"/>
                <a:cs typeface="Helvetica Neue"/>
              </a:rPr>
              <a:t>CALIDAD DE SOFTWARE</a:t>
            </a:r>
          </a:p>
        </p:txBody>
      </p:sp>
      <p:sp>
        <p:nvSpPr>
          <p:cNvPr id="6" name="">
            <a:extLst xmlns:a="http://schemas.openxmlformats.org/drawingml/2006/main">
              <a:ext uri="{FF2B5EF4-FFF2-40B4-BE49-F238E27FC236}">
                <a16:creationId xmlns:a16="http://schemas.microsoft.com/office/drawing/2014/main" id="{8D6733A4-04D3-4C54-BB35-16D119976448}"/>
              </a:ext>
            </a:extLst>
          </p:cNvPr>
          <p:cNvSpPr>
            <a:spLocks xmlns:a="http://schemas.openxmlformats.org/drawingml/2006/main" noGrp="1"/>
          </p:cNvSpPr>
          <p:nvPr/>
        </p:nvSpPr>
        <p:spPr>
          <a:xfrm xmlns:a="http://schemas.openxmlformats.org/drawingml/2006/main">
            <a:off x="762000" y="1428750"/>
            <a:ext cx="6286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4650" b="1" i="0">
                <a:solidFill>
                  <a:srgbClr val="F5F7FA"/>
                </a:solidFill>
                <a:latin typeface="Helvetica Neue"/>
                <a:ea typeface="Helvetica Neue"/>
                <a:cs typeface="Helvetica Neue"/>
              </a:defRPr>
            </a:pPr>
            <a:r>
              <a:rPr sz="4650" b="1" i="0">
                <a:solidFill>
                  <a:srgbClr val="F5F7FA"/>
                </a:solidFill>
                <a:latin typeface="Helvetica Neue"/>
                <a:ea typeface="Helvetica Neue"/>
                <a:cs typeface="Helvetica Neue"/>
              </a:rPr>
              <a:t>Pruebas</a:t>
            </a:r>
          </a:p>
          <a:p xmlns:a="http://schemas.openxmlformats.org/drawingml/2006/main">
            <a:pPr algn="l">
              <a:defRPr sz="4650" b="1" i="0">
                <a:solidFill>
                  <a:srgbClr val="F5F7FA"/>
                </a:solidFill>
                <a:latin typeface="Helvetica Neue"/>
                <a:ea typeface="Helvetica Neue"/>
                <a:cs typeface="Helvetica Neue"/>
              </a:defRPr>
            </a:pPr>
            <a:r>
              <a:rPr sz="4650" b="1" i="0">
                <a:solidFill>
                  <a:srgbClr val="F5F7FA"/>
                </a:solidFill>
                <a:latin typeface="Helvetica Neue"/>
                <a:ea typeface="Helvetica Neue"/>
                <a:cs typeface="Helvetica Neue"/>
              </a:rPr>
              <a:t>no funcionales</a:t>
            </a:r>
          </a:p>
        </p:txBody>
      </p:sp>
      <p:sp>
        <p:nvSpPr>
          <p:cNvPr id="7" name="">
            <a:extLst xmlns:a="http://schemas.openxmlformats.org/drawingml/2006/main">
              <a:ext uri="{FF2B5EF4-FFF2-40B4-BE49-F238E27FC236}">
                <a16:creationId xmlns:a16="http://schemas.microsoft.com/office/drawing/2014/main" id="{FD4B4D29-FA46-4FBB-921A-6241B56B9D6F}"/>
              </a:ext>
            </a:extLst>
          </p:cNvPr>
          <p:cNvSpPr>
            <a:spLocks xmlns:a="http://schemas.openxmlformats.org/drawingml/2006/main" noGrp="1"/>
          </p:cNvSpPr>
          <p:nvPr/>
        </p:nvSpPr>
        <p:spPr>
          <a:xfrm xmlns:a="http://schemas.openxmlformats.org/drawingml/2006/main">
            <a:off x="800100" y="3381375"/>
            <a:ext cx="590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0" i="0">
                <a:solidFill>
                  <a:srgbClr val="AFC0D4"/>
                </a:solidFill>
                <a:latin typeface="Helvetica Neue"/>
                <a:ea typeface="Helvetica Neue"/>
                <a:cs typeface="Helvetica Neue"/>
              </a:defRPr>
            </a:pPr>
            <a:r>
              <a:rPr sz="1800" b="0" i="0">
                <a:solidFill>
                  <a:srgbClr val="AFC0D4"/>
                </a:solidFill>
                <a:latin typeface="Helvetica Neue"/>
                <a:ea typeface="Helvetica Neue"/>
                <a:cs typeface="Helvetica Neue"/>
              </a:rPr>
              <a:t>Cómo evaluamos el comportamiento del sistema</a:t>
            </a:r>
          </a:p>
          <a:p xmlns:a="http://schemas.openxmlformats.org/drawingml/2006/main">
            <a:pPr algn="l">
              <a:defRPr sz="1800" b="0" i="0">
                <a:solidFill>
                  <a:srgbClr val="AFC0D4"/>
                </a:solidFill>
                <a:latin typeface="Helvetica Neue"/>
                <a:ea typeface="Helvetica Neue"/>
                <a:cs typeface="Helvetica Neue"/>
              </a:defRPr>
            </a:pPr>
            <a:r>
              <a:rPr sz="1800" b="0" i="0">
                <a:solidFill>
                  <a:srgbClr val="AFC0D4"/>
                </a:solidFill>
                <a:latin typeface="Helvetica Neue"/>
                <a:ea typeface="Helvetica Neue"/>
                <a:cs typeface="Helvetica Neue"/>
              </a:rPr>
              <a:t>cuando cambian la carga, el entorno o la demanda</a:t>
            </a:r>
          </a:p>
        </p:txBody>
      </p:sp>
      <p:sp>
        <p:nvSpPr>
          <p:cNvPr id="8" name="">
            <a:extLst xmlns:a="http://schemas.openxmlformats.org/drawingml/2006/main">
              <a:ext uri="{FF2B5EF4-FFF2-40B4-BE49-F238E27FC236}">
                <a16:creationId xmlns:a16="http://schemas.microsoft.com/office/drawing/2014/main" id="{3D4D0DC1-5AA9-40FB-8C3C-F1D213FE1E6A}"/>
              </a:ext>
            </a:extLst>
          </p:cNvPr>
          <p:cNvSpPr>
            <a:spLocks xmlns:a="http://schemas.openxmlformats.org/drawingml/2006/main" noGrp="1"/>
          </p:cNvSpPr>
          <p:nvPr/>
        </p:nvSpPr>
        <p:spPr>
          <a:xfrm xmlns:a="http://schemas.openxmlformats.org/drawingml/2006/main">
            <a:off x="7543800" y="3857625"/>
            <a:ext cx="1524000" cy="419100"/>
          </a:xfrm>
          <a:prstGeom xmlns:a="http://schemas.openxmlformats.org/drawingml/2006/main" prst="roundRect">
            <a:avLst>
              <a:gd name="adj" fmla="val 50000"/>
            </a:avLst>
          </a:prstGeom>
          <a:solidFill xmlns:a="http://schemas.openxmlformats.org/drawingml/2006/main">
            <a:srgbClr val="172B44"/>
          </a:solidFill>
          <a:ln xmlns:a="http://schemas.openxmlformats.org/drawingml/2006/main" w="9525">
            <a:solidFill>
              <a:srgbClr val="2E4965"/>
            </a:solidFill>
            <a:prstDash val="solid"/>
          </a:ln>
        </p:spPr>
        <p:txBody>
          <a:bodyPr xmlns:a="http://schemas.openxmlformats.org/drawingml/2006/main" lIns="133350" tIns="114300" rIns="133350" bIns="114300" anchor="ctr">
            <a:normAutofit fontScale="37046"/>
          </a:bodyPr>
          <a:lstStyle xmlns:a="http://schemas.openxmlformats.org/drawingml/2006/main"/>
          <a:p xmlns:a="http://schemas.openxmlformats.org/drawingml/2006/main">
            <a:pPr algn="ctr">
              <a:defRPr sz="1200" b="1">
                <a:solidFill>
                  <a:srgbClr val="F5F7FA"/>
                </a:solidFill>
                <a:latin typeface="Helvetica Neue"/>
                <a:ea typeface="Helvetica Neue"/>
                <a:cs typeface="Helvetica Neue"/>
              </a:defRPr>
            </a:pPr>
            <a:r>
              <a:rPr sz="1200" b="1">
                <a:solidFill>
                  <a:srgbClr val="F5F7FA"/>
                </a:solidFill>
                <a:latin typeface="Helvetica Neue"/>
                <a:ea typeface="Helvetica Neue"/>
                <a:cs typeface="Helvetica Neue"/>
              </a:rPr>
              <a:t>Rendimiento</a:t>
            </a:r>
          </a:p>
        </p:txBody>
      </p:sp>
      <p:sp>
        <p:nvSpPr>
          <p:cNvPr id="9" name="">
            <a:extLst xmlns:a="http://schemas.openxmlformats.org/drawingml/2006/main">
              <a:ext uri="{FF2B5EF4-FFF2-40B4-BE49-F238E27FC236}">
                <a16:creationId xmlns:a16="http://schemas.microsoft.com/office/drawing/2014/main" id="{26F3578E-0346-498B-ACE0-81B13579A4AA}"/>
              </a:ext>
            </a:extLst>
          </p:cNvPr>
          <p:cNvSpPr>
            <a:spLocks xmlns:a="http://schemas.openxmlformats.org/drawingml/2006/main" noGrp="1"/>
          </p:cNvSpPr>
          <p:nvPr/>
        </p:nvSpPr>
        <p:spPr>
          <a:xfrm xmlns:a="http://schemas.openxmlformats.org/drawingml/2006/main">
            <a:off x="9353550" y="3857625"/>
            <a:ext cx="1524000" cy="419100"/>
          </a:xfrm>
          <a:prstGeom xmlns:a="http://schemas.openxmlformats.org/drawingml/2006/main" prst="roundRect">
            <a:avLst>
              <a:gd name="adj" fmla="val 50000"/>
            </a:avLst>
          </a:prstGeom>
          <a:solidFill xmlns:a="http://schemas.openxmlformats.org/drawingml/2006/main">
            <a:srgbClr val="172B44"/>
          </a:solidFill>
          <a:ln xmlns:a="http://schemas.openxmlformats.org/drawingml/2006/main" w="9525">
            <a:solidFill>
              <a:srgbClr val="2E4965"/>
            </a:solidFill>
            <a:prstDash val="solid"/>
          </a:ln>
        </p:spPr>
        <p:txBody>
          <a:bodyPr xmlns:a="http://schemas.openxmlformats.org/drawingml/2006/main" lIns="133350" tIns="114300" rIns="133350" bIns="114300" anchor="ctr">
            <a:normAutofit fontScale="37046"/>
          </a:bodyPr>
          <a:lstStyle xmlns:a="http://schemas.openxmlformats.org/drawingml/2006/main"/>
          <a:p xmlns:a="http://schemas.openxmlformats.org/drawingml/2006/main">
            <a:pPr algn="ctr">
              <a:defRPr sz="1200" b="1">
                <a:solidFill>
                  <a:srgbClr val="F5F7FA"/>
                </a:solidFill>
                <a:latin typeface="Helvetica Neue"/>
                <a:ea typeface="Helvetica Neue"/>
                <a:cs typeface="Helvetica Neue"/>
              </a:defRPr>
            </a:pPr>
            <a:r>
              <a:rPr sz="1200" b="1">
                <a:solidFill>
                  <a:srgbClr val="F5F7FA"/>
                </a:solidFill>
                <a:latin typeface="Helvetica Neue"/>
                <a:ea typeface="Helvetica Neue"/>
                <a:cs typeface="Helvetica Neue"/>
              </a:rPr>
              <a:t>Resistencia</a:t>
            </a:r>
          </a:p>
        </p:txBody>
      </p:sp>
      <p:sp>
        <p:nvSpPr>
          <p:cNvPr id="10" name="">
            <a:extLst xmlns:a="http://schemas.openxmlformats.org/drawingml/2006/main">
              <a:ext uri="{FF2B5EF4-FFF2-40B4-BE49-F238E27FC236}">
                <a16:creationId xmlns:a16="http://schemas.microsoft.com/office/drawing/2014/main" id="{EEF9F75E-346C-42C1-99B7-3D925DF0E2E5}"/>
              </a:ext>
            </a:extLst>
          </p:cNvPr>
          <p:cNvSpPr>
            <a:spLocks xmlns:a="http://schemas.openxmlformats.org/drawingml/2006/main" noGrp="1"/>
          </p:cNvSpPr>
          <p:nvPr/>
        </p:nvSpPr>
        <p:spPr>
          <a:xfrm xmlns:a="http://schemas.openxmlformats.org/drawingml/2006/main">
            <a:off x="7543800" y="4429125"/>
            <a:ext cx="1524000" cy="419100"/>
          </a:xfrm>
          <a:prstGeom xmlns:a="http://schemas.openxmlformats.org/drawingml/2006/main" prst="roundRect">
            <a:avLst>
              <a:gd name="adj" fmla="val 50000"/>
            </a:avLst>
          </a:prstGeom>
          <a:solidFill xmlns:a="http://schemas.openxmlformats.org/drawingml/2006/main">
            <a:srgbClr val="172B44"/>
          </a:solidFill>
          <a:ln xmlns:a="http://schemas.openxmlformats.org/drawingml/2006/main" w="9525">
            <a:solidFill>
              <a:srgbClr val="2E4965"/>
            </a:solidFill>
            <a:prstDash val="solid"/>
          </a:ln>
        </p:spPr>
        <p:txBody>
          <a:bodyPr xmlns:a="http://schemas.openxmlformats.org/drawingml/2006/main" lIns="133350" tIns="114300" rIns="133350" bIns="114300" anchor="ctr">
            <a:normAutofit fontScale="37046"/>
          </a:bodyPr>
          <a:lstStyle xmlns:a="http://schemas.openxmlformats.org/drawingml/2006/main"/>
          <a:p xmlns:a="http://schemas.openxmlformats.org/drawingml/2006/main">
            <a:pPr algn="ctr">
              <a:defRPr sz="1200" b="1">
                <a:solidFill>
                  <a:srgbClr val="F5F7FA"/>
                </a:solidFill>
                <a:latin typeface="Helvetica Neue"/>
                <a:ea typeface="Helvetica Neue"/>
                <a:cs typeface="Helvetica Neue"/>
              </a:defRPr>
            </a:pPr>
            <a:r>
              <a:rPr sz="1200" b="1">
                <a:solidFill>
                  <a:srgbClr val="F5F7FA"/>
                </a:solidFill>
                <a:latin typeface="Helvetica Neue"/>
                <a:ea typeface="Helvetica Neue"/>
                <a:cs typeface="Helvetica Neue"/>
              </a:rPr>
              <a:t>Escala</a:t>
            </a:r>
          </a:p>
        </p:txBody>
      </p:sp>
      <p:sp>
        <p:nvSpPr>
          <p:cNvPr id="11" name="">
            <a:extLst xmlns:a="http://schemas.openxmlformats.org/drawingml/2006/main">
              <a:ext uri="{FF2B5EF4-FFF2-40B4-BE49-F238E27FC236}">
                <a16:creationId xmlns:a16="http://schemas.microsoft.com/office/drawing/2014/main" id="{397B097A-D6AB-4B1D-A3A2-CA744B782F87}"/>
              </a:ext>
            </a:extLst>
          </p:cNvPr>
          <p:cNvSpPr>
            <a:spLocks xmlns:a="http://schemas.openxmlformats.org/drawingml/2006/main" noGrp="1"/>
          </p:cNvSpPr>
          <p:nvPr/>
        </p:nvSpPr>
        <p:spPr>
          <a:xfrm xmlns:a="http://schemas.openxmlformats.org/drawingml/2006/main">
            <a:off x="9353550" y="4429125"/>
            <a:ext cx="1524000" cy="419100"/>
          </a:xfrm>
          <a:prstGeom xmlns:a="http://schemas.openxmlformats.org/drawingml/2006/main" prst="roundRect">
            <a:avLst>
              <a:gd name="adj" fmla="val 50000"/>
            </a:avLst>
          </a:prstGeom>
          <a:solidFill xmlns:a="http://schemas.openxmlformats.org/drawingml/2006/main">
            <a:srgbClr val="172B44"/>
          </a:solidFill>
          <a:ln xmlns:a="http://schemas.openxmlformats.org/drawingml/2006/main" w="9525">
            <a:solidFill>
              <a:srgbClr val="2E4965"/>
            </a:solidFill>
            <a:prstDash val="solid"/>
          </a:ln>
        </p:spPr>
        <p:txBody>
          <a:bodyPr xmlns:a="http://schemas.openxmlformats.org/drawingml/2006/main" lIns="133350" tIns="114300" rIns="133350" bIns="114300" anchor="ctr">
            <a:normAutofit fontScale="37046"/>
          </a:bodyPr>
          <a:lstStyle xmlns:a="http://schemas.openxmlformats.org/drawingml/2006/main"/>
          <a:p xmlns:a="http://schemas.openxmlformats.org/drawingml/2006/main">
            <a:pPr algn="ctr">
              <a:defRPr sz="1200" b="1">
                <a:solidFill>
                  <a:srgbClr val="F5F7FA"/>
                </a:solidFill>
                <a:latin typeface="Helvetica Neue"/>
                <a:ea typeface="Helvetica Neue"/>
                <a:cs typeface="Helvetica Neue"/>
              </a:defRPr>
            </a:pPr>
            <a:r>
              <a:rPr sz="1200" b="1">
                <a:solidFill>
                  <a:srgbClr val="F5F7FA"/>
                </a:solidFill>
                <a:latin typeface="Helvetica Neue"/>
                <a:ea typeface="Helvetica Neue"/>
                <a:cs typeface="Helvetica Neue"/>
              </a:rPr>
              <a:t>Portabilidad</a:t>
            </a:r>
          </a:p>
        </p:txBody>
      </p:sp>
      <p:sp>
        <p:nvSpPr>
          <p:cNvPr id="12" name="">
            <a:extLst xmlns:a="http://schemas.openxmlformats.org/drawingml/2006/main">
              <a:ext uri="{FF2B5EF4-FFF2-40B4-BE49-F238E27FC236}">
                <a16:creationId xmlns:a16="http://schemas.microsoft.com/office/drawing/2014/main" id="{D5216CEC-D881-4399-A931-A31617986BF6}"/>
              </a:ext>
            </a:extLst>
          </p:cNvPr>
          <p:cNvSpPr>
            <a:spLocks xmlns:a="http://schemas.openxmlformats.org/drawingml/2006/main" noGrp="1"/>
          </p:cNvSpPr>
          <p:nvPr/>
        </p:nvSpPr>
        <p:spPr>
          <a:xfrm xmlns:a="http://schemas.openxmlformats.org/drawingml/2006/main">
            <a:off x="800100" y="60198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AFC0D4"/>
                </a:solidFill>
                <a:latin typeface="Helvetica Neue"/>
                <a:ea typeface="Helvetica Neue"/>
                <a:cs typeface="Helvetica Neue"/>
              </a:defRPr>
            </a:pPr>
            <a:r>
              <a:rPr sz="1200" b="0" i="0">
                <a:solidFill>
                  <a:srgbClr val="AFC0D4"/>
                </a:solidFill>
                <a:latin typeface="Helvetica Neue"/>
                <a:ea typeface="Helvetica Neue"/>
                <a:cs typeface="Helvetica Neue"/>
              </a:rPr>
              <a:t>Arquitectura y calidad de software</a:t>
            </a:r>
          </a:p>
        </p:txBody>
      </p:sp>
    </p:spTree>
    <p:extLst>
      <p:ext uri="{BB962C8B-B14F-4D97-AF65-F5344CB8AC3E}">
        <p14:creationId xmlns:p14="http://schemas.microsoft.com/office/powerpoint/2010/main" val="645789464"/>
      </p:ext>
    </p:extLst>
  </p:cSld>
</p:sld>
</file>

<file path=ppt/slides/slide2.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6C57745-0C9B-41E7-B3FF-47E76CEA749C}"/>
              </a:ext>
            </a:extLst>
          </p:cNvPr>
          <p:cNvSpPr>
            <a:spLocks xmlns:a="http://schemas.openxmlformats.org/drawingml/2006/main" noGrp="1"/>
          </p:cNvSpPr>
          <p:nvPr/>
        </p:nvSpPr>
        <p:spPr>
          <a:xfrm xmlns:a="http://schemas.openxmlformats.org/drawingml/2006/main">
            <a:off x="685800" y="4000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4ED6C5"/>
                </a:solidFill>
                <a:latin typeface="Helvetica Neue"/>
                <a:ea typeface="Helvetica Neue"/>
                <a:cs typeface="Helvetica Neue"/>
              </a:defRPr>
            </a:pPr>
            <a:r>
              <a:rPr sz="900" b="1" i="0">
                <a:solidFill>
                  <a:srgbClr val="4ED6C5"/>
                </a:solidFill>
                <a:latin typeface="Helvetica Neue"/>
                <a:ea typeface="Helvetica Neue"/>
                <a:cs typeface="Helvetica Neue"/>
              </a:rPr>
              <a:t>01 · FUNDAMENTOS</a:t>
            </a:r>
          </a:p>
        </p:txBody>
      </p:sp>
      <p:sp>
        <p:nvSpPr>
          <p:cNvPr id="2" name="">
            <a:extLst xmlns:a="http://schemas.openxmlformats.org/drawingml/2006/main">
              <a:ext uri="{FF2B5EF4-FFF2-40B4-BE49-F238E27FC236}">
                <a16:creationId xmlns:a16="http://schemas.microsoft.com/office/drawing/2014/main" id="{AE8C1204-157C-4FEC-8562-70692D1E75FA}"/>
              </a:ext>
            </a:extLst>
          </p:cNvPr>
          <p:cNvSpPr>
            <a:spLocks xmlns:a="http://schemas.openxmlformats.org/drawingml/2006/main" noGrp="1"/>
          </p:cNvSpPr>
          <p:nvPr/>
        </p:nvSpPr>
        <p:spPr>
          <a:xfrm xmlns:a="http://schemas.openxmlformats.org/drawingml/2006/main">
            <a:off x="685800" y="7048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F5F7FA"/>
                </a:solidFill>
                <a:latin typeface="Helvetica Neue"/>
                <a:ea typeface="Helvetica Neue"/>
                <a:cs typeface="Helvetica Neue"/>
              </a:defRPr>
            </a:pPr>
            <a:r>
              <a:rPr sz="2925" b="1" i="0">
                <a:solidFill>
                  <a:srgbClr val="F5F7FA"/>
                </a:solidFill>
                <a:latin typeface="Helvetica Neue"/>
                <a:ea typeface="Helvetica Neue"/>
                <a:cs typeface="Helvetica Neue"/>
              </a:rPr>
              <a:t>¿Qué son las pruebas no funcionales?</a:t>
            </a:r>
          </a:p>
        </p:txBody>
      </p:sp>
      <p:sp>
        <p:nvSpPr>
          <p:cNvPr id="3" name="">
            <a:extLst xmlns:a="http://schemas.openxmlformats.org/drawingml/2006/main">
              <a:ext uri="{FF2B5EF4-FFF2-40B4-BE49-F238E27FC236}">
                <a16:creationId xmlns:a16="http://schemas.microsoft.com/office/drawing/2014/main" id="{AC836084-BC22-4879-94BD-F83D4AACAEA9}"/>
              </a:ext>
            </a:extLst>
          </p:cNvPr>
          <p:cNvSpPr>
            <a:spLocks xmlns:a="http://schemas.openxmlformats.org/drawingml/2006/main" noGrp="1"/>
          </p:cNvSpPr>
          <p:nvPr/>
        </p:nvSpPr>
        <p:spPr>
          <a:xfrm xmlns:a="http://schemas.openxmlformats.org/drawingml/2006/main">
            <a:off x="685800" y="1428750"/>
            <a:ext cx="10820400" cy="0"/>
          </a:xfrm>
          <a:prstGeom xmlns:a="http://schemas.openxmlformats.org/drawingml/2006/main" prst="line">
            <a:avLst/>
          </a:prstGeom>
          <a:noFill xmlns:a="http://schemas.openxmlformats.org/drawingml/2006/main"/>
          <a:ln xmlns:a="http://schemas.openxmlformats.org/drawingml/2006/main" w="9525">
            <a:solidFill>
              <a:srgbClr val="2E4965"/>
            </a:solidFill>
            <a:prstDash val="solid"/>
          </a:ln>
        </p:spPr>
      </p:sp>
      <p:sp>
        <p:nvSpPr>
          <p:cNvPr id="4" name="">
            <a:extLst xmlns:a="http://schemas.openxmlformats.org/drawingml/2006/main">
              <a:ext uri="{FF2B5EF4-FFF2-40B4-BE49-F238E27FC236}">
                <a16:creationId xmlns:a16="http://schemas.microsoft.com/office/drawing/2014/main" id="{ACFC21C0-6183-4A38-A310-1E04F966344B}"/>
              </a:ext>
            </a:extLst>
          </p:cNvPr>
          <p:cNvSpPr>
            <a:spLocks xmlns:a="http://schemas.openxmlformats.org/drawingml/2006/main" noGrp="1"/>
          </p:cNvSpPr>
          <p:nvPr/>
        </p:nvSpPr>
        <p:spPr>
          <a:xfrm xmlns:a="http://schemas.openxmlformats.org/drawingml/2006/main">
            <a:off x="685800" y="65532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FC0D4"/>
                </a:solidFill>
                <a:latin typeface="Helvetica Neue"/>
                <a:ea typeface="Helvetica Neue"/>
                <a:cs typeface="Helvetica Neue"/>
              </a:defRPr>
            </a:pPr>
            <a:r>
              <a:rPr sz="825" b="1" i="0">
                <a:solidFill>
                  <a:srgbClr val="AFC0D4"/>
                </a:solidFill>
                <a:latin typeface="Helvetica Neue"/>
                <a:ea typeface="Helvetica Neue"/>
                <a:cs typeface="Helvetica Neue"/>
              </a:rPr>
              <a:t>PRUEBAS NO FUNCIONALES</a:t>
            </a:r>
          </a:p>
        </p:txBody>
      </p:sp>
      <p:sp>
        <p:nvSpPr>
          <p:cNvPr id="5" name="">
            <a:extLst xmlns:a="http://schemas.openxmlformats.org/drawingml/2006/main">
              <a:ext uri="{FF2B5EF4-FFF2-40B4-BE49-F238E27FC236}">
                <a16:creationId xmlns:a16="http://schemas.microsoft.com/office/drawing/2014/main" id="{07A74C80-CAF1-4711-90AC-42ACF723B9BA}"/>
              </a:ext>
            </a:extLst>
          </p:cNvPr>
          <p:cNvSpPr>
            <a:spLocks xmlns:a="http://schemas.openxmlformats.org/drawingml/2006/main" noGrp="1"/>
          </p:cNvSpPr>
          <p:nvPr/>
        </p:nvSpPr>
        <p:spPr>
          <a:xfrm xmlns:a="http://schemas.openxmlformats.org/drawingml/2006/main">
            <a:off x="11049000" y="65151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4ED6C5"/>
                </a:solidFill>
                <a:latin typeface="Helvetica Neue"/>
                <a:ea typeface="Helvetica Neue"/>
                <a:cs typeface="Helvetica Neue"/>
              </a:defRPr>
            </a:pPr>
            <a:r>
              <a:rPr sz="1050" b="1" i="0">
                <a:solidFill>
                  <a:srgbClr val="4ED6C5"/>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7D4A9F8D-373D-43AE-82AC-ECB2715D8292}"/>
              </a:ext>
            </a:extLst>
          </p:cNvPr>
          <p:cNvSpPr>
            <a:spLocks xmlns:a="http://schemas.openxmlformats.org/drawingml/2006/main" noGrp="1"/>
          </p:cNvSpPr>
          <p:nvPr/>
        </p:nvSpPr>
        <p:spPr>
          <a:xfrm xmlns:a="http://schemas.openxmlformats.org/drawingml/2006/main">
            <a:off x="685800" y="1743075"/>
            <a:ext cx="723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100" b="1" i="0">
                <a:solidFill>
                  <a:srgbClr val="F5F7FA"/>
                </a:solidFill>
                <a:latin typeface="Helvetica Neue"/>
                <a:ea typeface="Helvetica Neue"/>
                <a:cs typeface="Helvetica Neue"/>
              </a:defRPr>
            </a:pPr>
            <a:r>
              <a:rPr sz="2100" b="1" i="0">
                <a:solidFill>
                  <a:srgbClr val="F5F7FA"/>
                </a:solidFill>
                <a:latin typeface="Helvetica Neue"/>
                <a:ea typeface="Helvetica Neue"/>
                <a:cs typeface="Helvetica Neue"/>
              </a:rPr>
              <a:t>Evalúan cómo funciona el sistema bajo determinadas condiciones, no solo si entrega la respuesta correcta.</a:t>
            </a:r>
          </a:p>
        </p:txBody>
      </p:sp>
      <p:sp>
        <p:nvSpPr>
          <p:cNvPr id="7" name="">
            <a:extLst xmlns:a="http://schemas.openxmlformats.org/drawingml/2006/main">
              <a:ext uri="{FF2B5EF4-FFF2-40B4-BE49-F238E27FC236}">
                <a16:creationId xmlns:a16="http://schemas.microsoft.com/office/drawing/2014/main" id="{126A7FD6-4CAA-4B67-AECD-F04E93FE6B6F}"/>
              </a:ext>
            </a:extLst>
          </p:cNvPr>
          <p:cNvSpPr>
            <a:spLocks xmlns:a="http://schemas.openxmlformats.org/drawingml/2006/main" noGrp="1"/>
          </p:cNvSpPr>
          <p:nvPr/>
        </p:nvSpPr>
        <p:spPr>
          <a:xfrm xmlns:a="http://schemas.openxmlformats.org/drawingml/2006/main">
            <a:off x="685800" y="3238500"/>
            <a:ext cx="3143250" cy="1143000"/>
          </a:xfrm>
          <a:prstGeom xmlns:a="http://schemas.openxmlformats.org/drawingml/2006/main" prst="roundRect">
            <a:avLst>
              <a:gd name="adj" fmla="val 15000"/>
            </a:avLst>
          </a:prstGeom>
          <a:solidFill xmlns:a="http://schemas.openxmlformats.org/drawingml/2006/main">
            <a:srgbClr val="14253B"/>
          </a:solidFill>
          <a:ln xmlns:a="http://schemas.openxmlformats.org/drawingml/2006/main" w="19050">
            <a:solidFill>
              <a:srgbClr val="80B7FF"/>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l">
              <a:defRPr sz="1725" b="1">
                <a:solidFill>
                  <a:srgbClr val="F5F7FA"/>
                </a:solidFill>
                <a:latin typeface="Helvetica Neue"/>
                <a:ea typeface="Helvetica Neue"/>
                <a:cs typeface="Helvetica Neue"/>
              </a:defRPr>
            </a:pPr>
            <a:r>
              <a:rPr sz="1725" b="1">
                <a:solidFill>
                  <a:srgbClr val="F5F7FA"/>
                </a:solidFill>
                <a:latin typeface="Helvetica Neue"/>
                <a:ea typeface="Helvetica Neue"/>
                <a:cs typeface="Helvetica Neue"/>
              </a:rPr>
              <a:t>Prueba funcional</a:t>
            </a:r>
          </a:p>
          <a:p xmlns:a="http://schemas.openxmlformats.org/drawingml/2006/main">
            <a:pPr algn="l">
              <a:defRPr sz="1725" b="1">
                <a:solidFill>
                  <a:srgbClr val="F5F7FA"/>
                </a:solidFill>
                <a:latin typeface="Helvetica Neue"/>
                <a:ea typeface="Helvetica Neue"/>
                <a:cs typeface="Helvetica Neue"/>
              </a:defRPr>
            </a:pPr>
            <a:r>
              <a:rPr sz="1725" b="1">
                <a:solidFill>
                  <a:srgbClr val="F5F7FA"/>
                </a:solidFill>
                <a:latin typeface="Helvetica Neue"/>
                <a:ea typeface="Helvetica Neue"/>
                <a:cs typeface="Helvetica Neue"/>
              </a:rPr>
              <a:t>¿La cuenta se registra?</a:t>
            </a:r>
          </a:p>
        </p:txBody>
      </p:sp>
      <p:sp>
        <p:nvSpPr>
          <p:cNvPr id="8" name="">
            <a:extLst xmlns:a="http://schemas.openxmlformats.org/drawingml/2006/main">
              <a:ext uri="{FF2B5EF4-FFF2-40B4-BE49-F238E27FC236}">
                <a16:creationId xmlns:a16="http://schemas.microsoft.com/office/drawing/2014/main" id="{F5B89D86-B8A1-4244-98B3-A6242819A3C5}"/>
              </a:ext>
            </a:extLst>
          </p:cNvPr>
          <p:cNvSpPr>
            <a:spLocks xmlns:a="http://schemas.openxmlformats.org/drawingml/2006/main" noGrp="1"/>
          </p:cNvSpPr>
          <p:nvPr/>
        </p:nvSpPr>
        <p:spPr>
          <a:xfrm xmlns:a="http://schemas.openxmlformats.org/drawingml/2006/main">
            <a:off x="4457700" y="3238500"/>
            <a:ext cx="3905250" cy="1143000"/>
          </a:xfrm>
          <a:prstGeom xmlns:a="http://schemas.openxmlformats.org/drawingml/2006/main" prst="roundRect">
            <a:avLst>
              <a:gd name="adj" fmla="val 15000"/>
            </a:avLst>
          </a:prstGeom>
          <a:solidFill xmlns:a="http://schemas.openxmlformats.org/drawingml/2006/main">
            <a:srgbClr val="172B44"/>
          </a:solidFill>
          <a:ln xmlns:a="http://schemas.openxmlformats.org/drawingml/2006/main" w="19050">
            <a:solidFill>
              <a:srgbClr val="4ED6C5"/>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l">
              <a:defRPr sz="1725" b="1">
                <a:solidFill>
                  <a:srgbClr val="F5F7FA"/>
                </a:solidFill>
                <a:latin typeface="Helvetica Neue"/>
                <a:ea typeface="Helvetica Neue"/>
                <a:cs typeface="Helvetica Neue"/>
              </a:defRPr>
            </a:pPr>
            <a:r>
              <a:rPr sz="1725" b="1">
                <a:solidFill>
                  <a:srgbClr val="F5F7FA"/>
                </a:solidFill>
                <a:latin typeface="Helvetica Neue"/>
                <a:ea typeface="Helvetica Neue"/>
                <a:cs typeface="Helvetica Neue"/>
              </a:rPr>
              <a:t>Prueba no funcional</a:t>
            </a:r>
          </a:p>
          <a:p xmlns:a="http://schemas.openxmlformats.org/drawingml/2006/main">
            <a:pPr algn="l">
              <a:defRPr sz="1725" b="1">
                <a:solidFill>
                  <a:srgbClr val="F5F7FA"/>
                </a:solidFill>
                <a:latin typeface="Helvetica Neue"/>
                <a:ea typeface="Helvetica Neue"/>
                <a:cs typeface="Helvetica Neue"/>
              </a:defRPr>
            </a:pPr>
            <a:r>
              <a:rPr sz="1725" b="1">
                <a:solidFill>
                  <a:srgbClr val="F5F7FA"/>
                </a:solidFill>
                <a:latin typeface="Helvetica Neue"/>
                <a:ea typeface="Helvetica Neue"/>
                <a:cs typeface="Helvetica Neue"/>
              </a:rPr>
              <a:t>¿Se registra en el tiempo esperado?</a:t>
            </a:r>
          </a:p>
        </p:txBody>
      </p:sp>
      <p:sp>
        <p:nvSpPr>
          <p:cNvPr id="9" name="">
            <a:extLst xmlns:a="http://schemas.openxmlformats.org/drawingml/2006/main">
              <a:ext uri="{FF2B5EF4-FFF2-40B4-BE49-F238E27FC236}">
                <a16:creationId xmlns:a16="http://schemas.microsoft.com/office/drawing/2014/main" id="{F09CA121-0D8B-438B-8349-9D85D375C988}"/>
              </a:ext>
            </a:extLst>
          </p:cNvPr>
          <p:cNvSpPr>
            <a:spLocks xmlns:a="http://schemas.openxmlformats.org/drawingml/2006/main" noGrp="1"/>
          </p:cNvSpPr>
          <p:nvPr/>
        </p:nvSpPr>
        <p:spPr>
          <a:xfrm xmlns:a="http://schemas.openxmlformats.org/drawingml/2006/main">
            <a:off x="3943350" y="3619500"/>
            <a:ext cx="342900" cy="361950"/>
          </a:xfrm>
          <a:prstGeom xmlns:a="http://schemas.openxmlformats.org/drawingml/2006/main" prst="rightArrow">
            <a:avLst/>
          </a:prstGeom>
          <a:solidFill xmlns:a="http://schemas.openxmlformats.org/drawingml/2006/main">
            <a:srgbClr val="F4C76B"/>
          </a:solidFill>
          <a:ln xmlns:a="http://schemas.openxmlformats.org/drawingml/2006/main" w="9525">
            <a:solidFill>
              <a:srgbClr val="F4C76B"/>
            </a:solidFill>
            <a:prstDash val="solid"/>
          </a:ln>
        </p:spPr>
      </p:sp>
      <p:sp>
        <p:nvSpPr>
          <p:cNvPr id="10" name="">
            <a:extLst xmlns:a="http://schemas.openxmlformats.org/drawingml/2006/main">
              <a:ext uri="{FF2B5EF4-FFF2-40B4-BE49-F238E27FC236}">
                <a16:creationId xmlns:a16="http://schemas.microsoft.com/office/drawing/2014/main" id="{CF276CEE-939E-4F00-8490-0714CAE13DE7}"/>
              </a:ext>
            </a:extLst>
          </p:cNvPr>
          <p:cNvSpPr>
            <a:spLocks xmlns:a="http://schemas.openxmlformats.org/drawingml/2006/main" noGrp="1"/>
          </p:cNvSpPr>
          <p:nvPr/>
        </p:nvSpPr>
        <p:spPr>
          <a:xfrm xmlns:a="http://schemas.openxmlformats.org/drawingml/2006/main">
            <a:off x="8801100" y="2724150"/>
            <a:ext cx="2381250" cy="495300"/>
          </a:xfrm>
          <a:prstGeom xmlns:a="http://schemas.openxmlformats.org/drawingml/2006/main" prst="roundRect">
            <a:avLst>
              <a:gd name="adj" fmla="val 50000"/>
            </a:avLst>
          </a:prstGeom>
          <a:solidFill xmlns:a="http://schemas.openxmlformats.org/drawingml/2006/main">
            <a:srgbClr val="4ED6C5"/>
          </a:solidFill>
          <a:ln xmlns:a="http://schemas.openxmlformats.org/drawingml/2006/main" w="9525">
            <a:solidFill>
              <a:srgbClr val="4ED6C5"/>
            </a:solidFill>
            <a:prstDash val="solid"/>
          </a:ln>
        </p:spPr>
        <p:txBody>
          <a:bodyPr xmlns:a="http://schemas.openxmlformats.org/drawingml/2006/main" lIns="133350" tIns="114300" rIns="133350" bIns="114300" anchor="ctr">
            <a:normAutofit fontScale="59119"/>
          </a:bodyPr>
          <a:lstStyle xmlns:a="http://schemas.openxmlformats.org/drawingml/2006/main"/>
          <a:p xmlns:a="http://schemas.openxmlformats.org/drawingml/2006/main">
            <a:pPr algn="ctr">
              <a:defRPr sz="1350" b="1">
                <a:solidFill>
                  <a:srgbClr val="0A1220"/>
                </a:solidFill>
                <a:latin typeface="Helvetica Neue"/>
                <a:ea typeface="Helvetica Neue"/>
                <a:cs typeface="Helvetica Neue"/>
              </a:defRPr>
            </a:pPr>
            <a:r>
              <a:rPr sz="1350" b="1">
                <a:solidFill>
                  <a:srgbClr val="0A1220"/>
                </a:solidFill>
                <a:latin typeface="Helvetica Neue"/>
                <a:ea typeface="Helvetica Neue"/>
                <a:cs typeface="Helvetica Neue"/>
              </a:rPr>
              <a:t>Atributos de calidad</a:t>
            </a:r>
          </a:p>
        </p:txBody>
      </p:sp>
      <p:sp>
        <p:nvSpPr>
          <p:cNvPr id="11" name="">
            <a:extLst xmlns:a="http://schemas.openxmlformats.org/drawingml/2006/main">
              <a:ext uri="{FF2B5EF4-FFF2-40B4-BE49-F238E27FC236}">
                <a16:creationId xmlns:a16="http://schemas.microsoft.com/office/drawing/2014/main" id="{076D1694-75F5-42D6-A615-BC7FD546503D}"/>
              </a:ext>
            </a:extLst>
          </p:cNvPr>
          <p:cNvSpPr>
            <a:spLocks xmlns:a="http://schemas.openxmlformats.org/drawingml/2006/main" noGrp="1"/>
          </p:cNvSpPr>
          <p:nvPr/>
        </p:nvSpPr>
        <p:spPr>
          <a:xfrm xmlns:a="http://schemas.openxmlformats.org/drawingml/2006/main">
            <a:off x="8915400" y="3505200"/>
            <a:ext cx="20955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i="0">
                <a:solidFill>
                  <a:srgbClr val="AFC0D4"/>
                </a:solidFill>
                <a:latin typeface="Helvetica Neue"/>
                <a:ea typeface="Helvetica Neue"/>
                <a:cs typeface="Helvetica Neue"/>
              </a:defRPr>
            </a:pPr>
            <a:r>
              <a:rPr sz="1650" b="1" i="0">
                <a:solidFill>
                  <a:srgbClr val="AFC0D4"/>
                </a:solidFill>
                <a:latin typeface="Helvetica Neue"/>
                <a:ea typeface="Helvetica Neue"/>
                <a:cs typeface="Helvetica Neue"/>
              </a:rPr>
              <a:t>Rendimiento</a:t>
            </a:r>
          </a:p>
          <a:p xmlns:a="http://schemas.openxmlformats.org/drawingml/2006/main">
            <a:pPr algn="ctr">
              <a:defRPr sz="1650" b="1" i="0">
                <a:solidFill>
                  <a:srgbClr val="AFC0D4"/>
                </a:solidFill>
                <a:latin typeface="Helvetica Neue"/>
                <a:ea typeface="Helvetica Neue"/>
                <a:cs typeface="Helvetica Neue"/>
              </a:defRPr>
            </a:pPr>
            <a:r>
              <a:rPr sz="1650" b="1" i="0">
                <a:solidFill>
                  <a:srgbClr val="AFC0D4"/>
                </a:solidFill>
                <a:latin typeface="Helvetica Neue"/>
                <a:ea typeface="Helvetica Neue"/>
                <a:cs typeface="Helvetica Neue"/>
              </a:rPr>
              <a:t>Seguridad</a:t>
            </a:r>
          </a:p>
          <a:p xmlns:a="http://schemas.openxmlformats.org/drawingml/2006/main">
            <a:pPr algn="ctr">
              <a:defRPr sz="1650" b="1" i="0">
                <a:solidFill>
                  <a:srgbClr val="AFC0D4"/>
                </a:solidFill>
                <a:latin typeface="Helvetica Neue"/>
                <a:ea typeface="Helvetica Neue"/>
                <a:cs typeface="Helvetica Neue"/>
              </a:defRPr>
            </a:pPr>
            <a:r>
              <a:rPr sz="1650" b="1" i="0">
                <a:solidFill>
                  <a:srgbClr val="AFC0D4"/>
                </a:solidFill>
                <a:latin typeface="Helvetica Neue"/>
                <a:ea typeface="Helvetica Neue"/>
                <a:cs typeface="Helvetica Neue"/>
              </a:rPr>
              <a:t>Usabilidad</a:t>
            </a:r>
          </a:p>
          <a:p xmlns:a="http://schemas.openxmlformats.org/drawingml/2006/main">
            <a:pPr algn="ctr">
              <a:defRPr sz="1650" b="1" i="0">
                <a:solidFill>
                  <a:srgbClr val="AFC0D4"/>
                </a:solidFill>
                <a:latin typeface="Helvetica Neue"/>
                <a:ea typeface="Helvetica Neue"/>
                <a:cs typeface="Helvetica Neue"/>
              </a:defRPr>
            </a:pPr>
            <a:r>
              <a:rPr sz="1650" b="1" i="0">
                <a:solidFill>
                  <a:srgbClr val="AFC0D4"/>
                </a:solidFill>
                <a:latin typeface="Helvetica Neue"/>
                <a:ea typeface="Helvetica Neue"/>
                <a:cs typeface="Helvetica Neue"/>
              </a:rPr>
              <a:t>Disponibilidad</a:t>
            </a:r>
          </a:p>
        </p:txBody>
      </p:sp>
    </p:spTree>
    <p:extLst>
      <p:ext uri="{BB962C8B-B14F-4D97-AF65-F5344CB8AC3E}">
        <p14:creationId xmlns:p14="http://schemas.microsoft.com/office/powerpoint/2010/main" val="1706410321"/>
      </p:ext>
    </p:extLst>
  </p:cSld>
</p:sld>
</file>

<file path=ppt/slides/slide3.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3294FA3-D49F-4005-836E-284A4F818FD0}"/>
              </a:ext>
            </a:extLst>
          </p:cNvPr>
          <p:cNvSpPr>
            <a:spLocks xmlns:a="http://schemas.openxmlformats.org/drawingml/2006/main" noGrp="1"/>
          </p:cNvSpPr>
          <p:nvPr/>
        </p:nvSpPr>
        <p:spPr>
          <a:xfrm xmlns:a="http://schemas.openxmlformats.org/drawingml/2006/main">
            <a:off x="685800" y="4000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4ED6C5"/>
                </a:solidFill>
                <a:latin typeface="Helvetica Neue"/>
                <a:ea typeface="Helvetica Neue"/>
                <a:cs typeface="Helvetica Neue"/>
              </a:defRPr>
            </a:pPr>
            <a:r>
              <a:rPr sz="900" b="1" i="0">
                <a:solidFill>
                  <a:srgbClr val="4ED6C5"/>
                </a:solidFill>
                <a:latin typeface="Helvetica Neue"/>
                <a:ea typeface="Helvetica Neue"/>
                <a:cs typeface="Helvetica Neue"/>
              </a:rPr>
              <a:t>02 · ENFOQUE</a:t>
            </a:r>
          </a:p>
        </p:txBody>
      </p:sp>
      <p:sp>
        <p:nvSpPr>
          <p:cNvPr id="2" name="">
            <a:extLst xmlns:a="http://schemas.openxmlformats.org/drawingml/2006/main">
              <a:ext uri="{FF2B5EF4-FFF2-40B4-BE49-F238E27FC236}">
                <a16:creationId xmlns:a16="http://schemas.microsoft.com/office/drawing/2014/main" id="{6F15555F-8321-4AE9-A43B-BD4E3BBB3545}"/>
              </a:ext>
            </a:extLst>
          </p:cNvPr>
          <p:cNvSpPr>
            <a:spLocks xmlns:a="http://schemas.openxmlformats.org/drawingml/2006/main" noGrp="1"/>
          </p:cNvSpPr>
          <p:nvPr/>
        </p:nvSpPr>
        <p:spPr>
          <a:xfrm xmlns:a="http://schemas.openxmlformats.org/drawingml/2006/main">
            <a:off x="685800" y="7048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F5F7FA"/>
                </a:solidFill>
                <a:latin typeface="Helvetica Neue"/>
                <a:ea typeface="Helvetica Neue"/>
                <a:cs typeface="Helvetica Neue"/>
              </a:defRPr>
            </a:pPr>
            <a:r>
              <a:rPr sz="2925" b="1" i="0">
                <a:solidFill>
                  <a:srgbClr val="F5F7FA"/>
                </a:solidFill>
                <a:latin typeface="Helvetica Neue"/>
                <a:ea typeface="Helvetica Neue"/>
                <a:cs typeface="Helvetica Neue"/>
              </a:rPr>
              <a:t>Conceptos y principios</a:t>
            </a:r>
          </a:p>
        </p:txBody>
      </p:sp>
      <p:sp>
        <p:nvSpPr>
          <p:cNvPr id="3" name="">
            <a:extLst xmlns:a="http://schemas.openxmlformats.org/drawingml/2006/main">
              <a:ext uri="{FF2B5EF4-FFF2-40B4-BE49-F238E27FC236}">
                <a16:creationId xmlns:a16="http://schemas.microsoft.com/office/drawing/2014/main" id="{C614B416-DE62-46F1-B195-1469F15F64B6}"/>
              </a:ext>
            </a:extLst>
          </p:cNvPr>
          <p:cNvSpPr>
            <a:spLocks xmlns:a="http://schemas.openxmlformats.org/drawingml/2006/main" noGrp="1"/>
          </p:cNvSpPr>
          <p:nvPr/>
        </p:nvSpPr>
        <p:spPr>
          <a:xfrm xmlns:a="http://schemas.openxmlformats.org/drawingml/2006/main">
            <a:off x="685800" y="1428750"/>
            <a:ext cx="10820400" cy="0"/>
          </a:xfrm>
          <a:prstGeom xmlns:a="http://schemas.openxmlformats.org/drawingml/2006/main" prst="line">
            <a:avLst/>
          </a:prstGeom>
          <a:noFill xmlns:a="http://schemas.openxmlformats.org/drawingml/2006/main"/>
          <a:ln xmlns:a="http://schemas.openxmlformats.org/drawingml/2006/main" w="9525">
            <a:solidFill>
              <a:srgbClr val="2E4965"/>
            </a:solidFill>
            <a:prstDash val="solid"/>
          </a:ln>
        </p:spPr>
      </p:sp>
      <p:sp>
        <p:nvSpPr>
          <p:cNvPr id="4" name="">
            <a:extLst xmlns:a="http://schemas.openxmlformats.org/drawingml/2006/main">
              <a:ext uri="{FF2B5EF4-FFF2-40B4-BE49-F238E27FC236}">
                <a16:creationId xmlns:a16="http://schemas.microsoft.com/office/drawing/2014/main" id="{D2486384-C0EC-422B-8877-37867BC14FC3}"/>
              </a:ext>
            </a:extLst>
          </p:cNvPr>
          <p:cNvSpPr>
            <a:spLocks xmlns:a="http://schemas.openxmlformats.org/drawingml/2006/main" noGrp="1"/>
          </p:cNvSpPr>
          <p:nvPr/>
        </p:nvSpPr>
        <p:spPr>
          <a:xfrm xmlns:a="http://schemas.openxmlformats.org/drawingml/2006/main">
            <a:off x="685800" y="65532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FC0D4"/>
                </a:solidFill>
                <a:latin typeface="Helvetica Neue"/>
                <a:ea typeface="Helvetica Neue"/>
                <a:cs typeface="Helvetica Neue"/>
              </a:defRPr>
            </a:pPr>
            <a:r>
              <a:rPr sz="825" b="1" i="0">
                <a:solidFill>
                  <a:srgbClr val="AFC0D4"/>
                </a:solidFill>
                <a:latin typeface="Helvetica Neue"/>
                <a:ea typeface="Helvetica Neue"/>
                <a:cs typeface="Helvetica Neue"/>
              </a:rPr>
              <a:t>PRUEBAS NO FUNCIONALES</a:t>
            </a:r>
          </a:p>
        </p:txBody>
      </p:sp>
      <p:sp>
        <p:nvSpPr>
          <p:cNvPr id="5" name="">
            <a:extLst xmlns:a="http://schemas.openxmlformats.org/drawingml/2006/main">
              <a:ext uri="{FF2B5EF4-FFF2-40B4-BE49-F238E27FC236}">
                <a16:creationId xmlns:a16="http://schemas.microsoft.com/office/drawing/2014/main" id="{7A15DAD2-4503-409C-BC1B-14DC3B6DCA57}"/>
              </a:ext>
            </a:extLst>
          </p:cNvPr>
          <p:cNvSpPr>
            <a:spLocks xmlns:a="http://schemas.openxmlformats.org/drawingml/2006/main" noGrp="1"/>
          </p:cNvSpPr>
          <p:nvPr/>
        </p:nvSpPr>
        <p:spPr>
          <a:xfrm xmlns:a="http://schemas.openxmlformats.org/drawingml/2006/main">
            <a:off x="11049000" y="65151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4ED6C5"/>
                </a:solidFill>
                <a:latin typeface="Helvetica Neue"/>
                <a:ea typeface="Helvetica Neue"/>
                <a:cs typeface="Helvetica Neue"/>
              </a:defRPr>
            </a:pPr>
            <a:r>
              <a:rPr sz="1050" b="1" i="0">
                <a:solidFill>
                  <a:srgbClr val="4ED6C5"/>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0462A3C3-CA91-40E8-B3D9-2FA9846F17BB}"/>
              </a:ext>
            </a:extLst>
          </p:cNvPr>
          <p:cNvSpPr>
            <a:spLocks xmlns:a="http://schemas.openxmlformats.org/drawingml/2006/main" noGrp="1"/>
          </p:cNvSpPr>
          <p:nvPr/>
        </p:nvSpPr>
        <p:spPr>
          <a:xfrm xmlns:a="http://schemas.openxmlformats.org/drawingml/2006/main">
            <a:off x="685800" y="1724025"/>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694"/>
          </a:bodyPr>
          <a:lstStyle xmlns:a="http://schemas.openxmlformats.org/drawingml/2006/main"/>
          <a:p xmlns:a="http://schemas.openxmlformats.org/drawingml/2006/main">
            <a:pPr algn="l">
              <a:defRPr sz="1800" b="0" i="0">
                <a:solidFill>
                  <a:srgbClr val="AFC0D4"/>
                </a:solidFill>
                <a:latin typeface="Helvetica Neue"/>
                <a:ea typeface="Helvetica Neue"/>
                <a:cs typeface="Helvetica Neue"/>
              </a:defRPr>
            </a:pPr>
            <a:r>
              <a:rPr sz="1800" b="0" i="0">
                <a:solidFill>
                  <a:srgbClr val="AFC0D4"/>
                </a:solidFill>
                <a:latin typeface="Helvetica Neue"/>
                <a:ea typeface="Helvetica Neue"/>
                <a:cs typeface="Helvetica Neue"/>
              </a:rPr>
              <a:t>Las pruebas no funcionales convierten atributos de calidad en escenarios observables y repetibles.</a:t>
            </a:r>
          </a:p>
        </p:txBody>
      </p:sp>
      <p:sp>
        <p:nvSpPr>
          <p:cNvPr id="7" name="">
            <a:extLst xmlns:a="http://schemas.openxmlformats.org/drawingml/2006/main">
              <a:ext uri="{FF2B5EF4-FFF2-40B4-BE49-F238E27FC236}">
                <a16:creationId xmlns:a16="http://schemas.microsoft.com/office/drawing/2014/main" id="{9A262DB3-A17F-46FB-BA03-A2EA42B8651F}"/>
              </a:ext>
            </a:extLst>
          </p:cNvPr>
          <p:cNvSpPr>
            <a:spLocks xmlns:a="http://schemas.openxmlformats.org/drawingml/2006/main" noGrp="1"/>
          </p:cNvSpPr>
          <p:nvPr/>
        </p:nvSpPr>
        <p:spPr>
          <a:xfrm xmlns:a="http://schemas.openxmlformats.org/drawingml/2006/main">
            <a:off x="4953000" y="2857500"/>
            <a:ext cx="2286000" cy="1200150"/>
          </a:xfrm>
          <a:prstGeom xmlns:a="http://schemas.openxmlformats.org/drawingml/2006/main" prst="ellipse">
            <a:avLst/>
          </a:prstGeom>
          <a:solidFill xmlns:a="http://schemas.openxmlformats.org/drawingml/2006/main">
            <a:srgbClr val="4ED6C5"/>
          </a:solidFill>
          <a:ln xmlns:a="http://schemas.openxmlformats.org/drawingml/2006/main" w="9525">
            <a:solidFill>
              <a:srgbClr val="4ED6C5"/>
            </a:solid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875" b="1">
                <a:solidFill>
                  <a:srgbClr val="0A1220"/>
                </a:solidFill>
                <a:latin typeface="Helvetica Neue"/>
                <a:ea typeface="Helvetica Neue"/>
                <a:cs typeface="Helvetica Neue"/>
              </a:defRPr>
            </a:pPr>
            <a:r>
              <a:rPr sz="1875" b="1">
                <a:solidFill>
                  <a:srgbClr val="0A1220"/>
                </a:solidFill>
                <a:latin typeface="Helvetica Neue"/>
                <a:ea typeface="Helvetica Neue"/>
                <a:cs typeface="Helvetica Neue"/>
              </a:rPr>
              <a:t>Atributos</a:t>
            </a:r>
          </a:p>
          <a:p xmlns:a="http://schemas.openxmlformats.org/drawingml/2006/main">
            <a:pPr algn="ctr">
              <a:defRPr sz="1875" b="1">
                <a:solidFill>
                  <a:srgbClr val="0A1220"/>
                </a:solidFill>
                <a:latin typeface="Helvetica Neue"/>
                <a:ea typeface="Helvetica Neue"/>
                <a:cs typeface="Helvetica Neue"/>
              </a:defRPr>
            </a:pPr>
            <a:r>
              <a:rPr sz="1875" b="1">
                <a:solidFill>
                  <a:srgbClr val="0A1220"/>
                </a:solidFill>
                <a:latin typeface="Helvetica Neue"/>
                <a:ea typeface="Helvetica Neue"/>
                <a:cs typeface="Helvetica Neue"/>
              </a:rPr>
              <a:t>de calidad</a:t>
            </a:r>
          </a:p>
        </p:txBody>
      </p:sp>
      <p:sp>
        <p:nvSpPr>
          <p:cNvPr id="8" name="">
            <a:extLst xmlns:a="http://schemas.openxmlformats.org/drawingml/2006/main">
              <a:ext uri="{FF2B5EF4-FFF2-40B4-BE49-F238E27FC236}">
                <a16:creationId xmlns:a16="http://schemas.microsoft.com/office/drawing/2014/main" id="{5F7112BE-F03F-4B23-81EC-B1CC5A3B91F1}"/>
              </a:ext>
            </a:extLst>
          </p:cNvPr>
          <p:cNvSpPr>
            <a:spLocks xmlns:a="http://schemas.openxmlformats.org/drawingml/2006/main" noGrp="1"/>
          </p:cNvSpPr>
          <p:nvPr/>
        </p:nvSpPr>
        <p:spPr>
          <a:xfrm xmlns:a="http://schemas.openxmlformats.org/drawingml/2006/main">
            <a:off x="1428750" y="2343150"/>
            <a:ext cx="2095500" cy="1162050"/>
          </a:xfrm>
          <a:prstGeom xmlns:a="http://schemas.openxmlformats.org/drawingml/2006/main" prst="ellipse">
            <a:avLst/>
          </a:prstGeom>
          <a:solidFill xmlns:a="http://schemas.openxmlformats.org/drawingml/2006/main">
            <a:srgbClr val="14253B"/>
          </a:solidFill>
          <a:ln xmlns:a="http://schemas.openxmlformats.org/drawingml/2006/main" w="19050">
            <a:solidFill>
              <a:srgbClr val="80B7FF"/>
            </a:solid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350" b="1">
                <a:solidFill>
                  <a:srgbClr val="F5F7FA"/>
                </a:solidFill>
                <a:latin typeface="Helvetica Neue"/>
                <a:ea typeface="Helvetica Neue"/>
                <a:cs typeface="Helvetica Neue"/>
              </a:defRPr>
            </a:pPr>
            <a:r>
              <a:rPr sz="1350" b="1">
                <a:solidFill>
                  <a:srgbClr val="F5F7FA"/>
                </a:solidFill>
                <a:latin typeface="Helvetica Neue"/>
                <a:ea typeface="Helvetica Neue"/>
                <a:cs typeface="Helvetica Neue"/>
              </a:rPr>
              <a:t>Medibles</a:t>
            </a:r>
          </a:p>
          <a:p xmlns:a="http://schemas.openxmlformats.org/drawingml/2006/main">
            <a:pPr algn="ctr">
              <a:defRPr sz="1350" b="1">
                <a:solidFill>
                  <a:srgbClr val="F5F7FA"/>
                </a:solidFill>
                <a:latin typeface="Helvetica Neue"/>
                <a:ea typeface="Helvetica Neue"/>
                <a:cs typeface="Helvetica Neue"/>
              </a:defRPr>
            </a:pPr>
            <a:r>
              <a:rPr sz="1350" b="1">
                <a:solidFill>
                  <a:srgbClr val="F5F7FA"/>
                </a:solidFill>
                <a:latin typeface="Helvetica Neue"/>
                <a:ea typeface="Helvetica Neue"/>
                <a:cs typeface="Helvetica Neue"/>
              </a:rPr>
              <a:t>Indicadores y</a:t>
            </a:r>
          </a:p>
          <a:p xmlns:a="http://schemas.openxmlformats.org/drawingml/2006/main">
            <a:pPr algn="ctr">
              <a:defRPr sz="1350" b="1">
                <a:solidFill>
                  <a:srgbClr val="F5F7FA"/>
                </a:solidFill>
                <a:latin typeface="Helvetica Neue"/>
                <a:ea typeface="Helvetica Neue"/>
                <a:cs typeface="Helvetica Neue"/>
              </a:defRPr>
            </a:pPr>
            <a:r>
              <a:rPr sz="1350" b="1">
                <a:solidFill>
                  <a:srgbClr val="F5F7FA"/>
                </a:solidFill>
                <a:latin typeface="Helvetica Neue"/>
                <a:ea typeface="Helvetica Neue"/>
                <a:cs typeface="Helvetica Neue"/>
              </a:rPr>
              <a:t>objetivos claros</a:t>
            </a:r>
          </a:p>
        </p:txBody>
      </p:sp>
      <p:sp>
        <p:nvSpPr>
          <p:cNvPr id="9" name="">
            <a:extLst xmlns:a="http://schemas.openxmlformats.org/drawingml/2006/main">
              <a:ext uri="{FF2B5EF4-FFF2-40B4-BE49-F238E27FC236}">
                <a16:creationId xmlns:a16="http://schemas.microsoft.com/office/drawing/2014/main" id="{0D64E9D0-57E4-4009-974F-7903F3FCCF73}"/>
              </a:ext>
            </a:extLst>
          </p:cNvPr>
          <p:cNvSpPr>
            <a:spLocks xmlns:a="http://schemas.openxmlformats.org/drawingml/2006/main" noGrp="1"/>
          </p:cNvSpPr>
          <p:nvPr/>
        </p:nvSpPr>
        <p:spPr>
          <a:xfrm xmlns:a="http://schemas.openxmlformats.org/drawingml/2006/main">
            <a:off x="8477250" y="2343150"/>
            <a:ext cx="2095500" cy="1162050"/>
          </a:xfrm>
          <a:prstGeom xmlns:a="http://schemas.openxmlformats.org/drawingml/2006/main" prst="ellipse">
            <a:avLst/>
          </a:prstGeom>
          <a:solidFill xmlns:a="http://schemas.openxmlformats.org/drawingml/2006/main">
            <a:srgbClr val="14253B"/>
          </a:solidFill>
          <a:ln xmlns:a="http://schemas.openxmlformats.org/drawingml/2006/main" w="19050">
            <a:solidFill>
              <a:srgbClr val="F4C76B"/>
            </a:solidFill>
            <a:prstDash val="solid"/>
          </a:ln>
        </p:spPr>
        <p:txBody>
          <a:bodyPr xmlns:a="http://schemas.openxmlformats.org/drawingml/2006/main" lIns="76200" tIns="76200" rIns="76200" bIns="76200" anchor="ctr">
            <a:normAutofit fontScale="84664"/>
          </a:bodyPr>
          <a:lstStyle xmlns:a="http://schemas.openxmlformats.org/drawingml/2006/main"/>
          <a:p xmlns:a="http://schemas.openxmlformats.org/drawingml/2006/main">
            <a:pPr algn="ctr">
              <a:defRPr sz="1350" b="1">
                <a:solidFill>
                  <a:srgbClr val="F5F7FA"/>
                </a:solidFill>
                <a:latin typeface="Helvetica Neue"/>
                <a:ea typeface="Helvetica Neue"/>
                <a:cs typeface="Helvetica Neue"/>
              </a:defRPr>
            </a:pPr>
            <a:r>
              <a:rPr sz="1350" b="1">
                <a:solidFill>
                  <a:srgbClr val="F5F7FA"/>
                </a:solidFill>
                <a:latin typeface="Helvetica Neue"/>
                <a:ea typeface="Helvetica Neue"/>
                <a:cs typeface="Helvetica Neue"/>
              </a:rPr>
              <a:t>Basadas en</a:t>
            </a:r>
          </a:p>
          <a:p xmlns:a="http://schemas.openxmlformats.org/drawingml/2006/main">
            <a:pPr algn="ctr">
              <a:defRPr sz="1350" b="1">
                <a:solidFill>
                  <a:srgbClr val="F5F7FA"/>
                </a:solidFill>
                <a:latin typeface="Helvetica Neue"/>
                <a:ea typeface="Helvetica Neue"/>
                <a:cs typeface="Helvetica Neue"/>
              </a:defRPr>
            </a:pPr>
            <a:r>
              <a:rPr sz="1350" b="1">
                <a:solidFill>
                  <a:srgbClr val="F5F7FA"/>
                </a:solidFill>
                <a:latin typeface="Helvetica Neue"/>
                <a:ea typeface="Helvetica Neue"/>
                <a:cs typeface="Helvetica Neue"/>
              </a:rPr>
              <a:t>escenarios</a:t>
            </a:r>
          </a:p>
          <a:p xmlns:a="http://schemas.openxmlformats.org/drawingml/2006/main">
            <a:pPr algn="ctr">
              <a:defRPr sz="1350" b="1">
                <a:solidFill>
                  <a:srgbClr val="F5F7FA"/>
                </a:solidFill>
                <a:latin typeface="Helvetica Neue"/>
                <a:ea typeface="Helvetica Neue"/>
                <a:cs typeface="Helvetica Neue"/>
              </a:defRPr>
            </a:pPr>
            <a:r>
              <a:rPr sz="1350" b="1">
                <a:solidFill>
                  <a:srgbClr val="F5F7FA"/>
                </a:solidFill>
                <a:latin typeface="Helvetica Neue"/>
                <a:ea typeface="Helvetica Neue"/>
                <a:cs typeface="Helvetica Neue"/>
              </a:rPr>
              <a:t>Condiciones reales</a:t>
            </a:r>
          </a:p>
        </p:txBody>
      </p:sp>
      <p:sp>
        <p:nvSpPr>
          <p:cNvPr id="10" name="">
            <a:extLst xmlns:a="http://schemas.openxmlformats.org/drawingml/2006/main">
              <a:ext uri="{FF2B5EF4-FFF2-40B4-BE49-F238E27FC236}">
                <a16:creationId xmlns:a16="http://schemas.microsoft.com/office/drawing/2014/main" id="{C55339A2-2D91-4405-AA2E-5B9A7328D5CA}"/>
              </a:ext>
            </a:extLst>
          </p:cNvPr>
          <p:cNvSpPr>
            <a:spLocks xmlns:a="http://schemas.openxmlformats.org/drawingml/2006/main" noGrp="1"/>
          </p:cNvSpPr>
          <p:nvPr/>
        </p:nvSpPr>
        <p:spPr>
          <a:xfrm xmlns:a="http://schemas.openxmlformats.org/drawingml/2006/main">
            <a:off x="1428750" y="4457700"/>
            <a:ext cx="2095500" cy="1162050"/>
          </a:xfrm>
          <a:prstGeom xmlns:a="http://schemas.openxmlformats.org/drawingml/2006/main" prst="ellipse">
            <a:avLst/>
          </a:prstGeom>
          <a:solidFill xmlns:a="http://schemas.openxmlformats.org/drawingml/2006/main">
            <a:srgbClr val="14253B"/>
          </a:solidFill>
          <a:ln xmlns:a="http://schemas.openxmlformats.org/drawingml/2006/main" w="19050">
            <a:solidFill>
              <a:srgbClr val="F28B77"/>
            </a:solidFill>
            <a:prstDash val="solid"/>
          </a:ln>
        </p:spPr>
        <p:txBody>
          <a:bodyPr xmlns:a="http://schemas.openxmlformats.org/drawingml/2006/main" lIns="76200" tIns="76200" rIns="76200" bIns="76200" anchor="ctr">
            <a:normAutofit fontScale="81328"/>
          </a:bodyPr>
          <a:lstStyle xmlns:a="http://schemas.openxmlformats.org/drawingml/2006/main"/>
          <a:p xmlns:a="http://schemas.openxmlformats.org/drawingml/2006/main">
            <a:pPr algn="ctr">
              <a:defRPr sz="1350" b="1">
                <a:solidFill>
                  <a:srgbClr val="F5F7FA"/>
                </a:solidFill>
                <a:latin typeface="Helvetica Neue"/>
                <a:ea typeface="Helvetica Neue"/>
                <a:cs typeface="Helvetica Neue"/>
              </a:defRPr>
            </a:pPr>
            <a:r>
              <a:rPr sz="1350" b="1">
                <a:solidFill>
                  <a:srgbClr val="F5F7FA"/>
                </a:solidFill>
                <a:latin typeface="Helvetica Neue"/>
                <a:ea typeface="Helvetica Neue"/>
                <a:cs typeface="Helvetica Neue"/>
              </a:rPr>
              <a:t>Repetibles</a:t>
            </a:r>
          </a:p>
          <a:p xmlns:a="http://schemas.openxmlformats.org/drawingml/2006/main">
            <a:pPr algn="ctr">
              <a:defRPr sz="1350" b="1">
                <a:solidFill>
                  <a:srgbClr val="F5F7FA"/>
                </a:solidFill>
                <a:latin typeface="Helvetica Neue"/>
                <a:ea typeface="Helvetica Neue"/>
                <a:cs typeface="Helvetica Neue"/>
              </a:defRPr>
            </a:pPr>
            <a:r>
              <a:rPr sz="1350" b="1">
                <a:solidFill>
                  <a:srgbClr val="F5F7FA"/>
                </a:solidFill>
                <a:latin typeface="Helvetica Neue"/>
                <a:ea typeface="Helvetica Neue"/>
                <a:cs typeface="Helvetica Neue"/>
              </a:rPr>
              <a:t>Mismo método,</a:t>
            </a:r>
          </a:p>
          <a:p xmlns:a="http://schemas.openxmlformats.org/drawingml/2006/main">
            <a:pPr algn="ctr">
              <a:defRPr sz="1350" b="1">
                <a:solidFill>
                  <a:srgbClr val="F5F7FA"/>
                </a:solidFill>
                <a:latin typeface="Helvetica Neue"/>
                <a:ea typeface="Helvetica Neue"/>
                <a:cs typeface="Helvetica Neue"/>
              </a:defRPr>
            </a:pPr>
            <a:r>
              <a:rPr sz="1350" b="1">
                <a:solidFill>
                  <a:srgbClr val="F5F7FA"/>
                </a:solidFill>
                <a:latin typeface="Helvetica Neue"/>
                <a:ea typeface="Helvetica Neue"/>
                <a:cs typeface="Helvetica Neue"/>
              </a:rPr>
              <a:t>resultados comparables</a:t>
            </a:r>
          </a:p>
        </p:txBody>
      </p:sp>
      <p:sp>
        <p:nvSpPr>
          <p:cNvPr id="11" name="">
            <a:extLst xmlns:a="http://schemas.openxmlformats.org/drawingml/2006/main">
              <a:ext uri="{FF2B5EF4-FFF2-40B4-BE49-F238E27FC236}">
                <a16:creationId xmlns:a16="http://schemas.microsoft.com/office/drawing/2014/main" id="{8B77AB8F-FFF9-47D7-B153-0B5A266E6421}"/>
              </a:ext>
            </a:extLst>
          </p:cNvPr>
          <p:cNvSpPr>
            <a:spLocks xmlns:a="http://schemas.openxmlformats.org/drawingml/2006/main" noGrp="1"/>
          </p:cNvSpPr>
          <p:nvPr/>
        </p:nvSpPr>
        <p:spPr>
          <a:xfrm xmlns:a="http://schemas.openxmlformats.org/drawingml/2006/main">
            <a:off x="8477250" y="4457700"/>
            <a:ext cx="2095500" cy="1162050"/>
          </a:xfrm>
          <a:prstGeom xmlns:a="http://schemas.openxmlformats.org/drawingml/2006/main" prst="ellipse">
            <a:avLst/>
          </a:prstGeom>
          <a:solidFill xmlns:a="http://schemas.openxmlformats.org/drawingml/2006/main">
            <a:srgbClr val="14253B"/>
          </a:solidFill>
          <a:ln xmlns:a="http://schemas.openxmlformats.org/drawingml/2006/main" w="19050">
            <a:solidFill>
              <a:srgbClr val="4ED6C5"/>
            </a:solidFill>
            <a:prstDash val="solid"/>
          </a:ln>
        </p:spPr>
        <p:txBody>
          <a:bodyPr xmlns:a="http://schemas.openxmlformats.org/drawingml/2006/main" lIns="76200" tIns="76200" rIns="76200" bIns="76200" anchor="ctr">
            <a:normAutofit fontScale="93136"/>
          </a:bodyPr>
          <a:lstStyle xmlns:a="http://schemas.openxmlformats.org/drawingml/2006/main"/>
          <a:p xmlns:a="http://schemas.openxmlformats.org/drawingml/2006/main">
            <a:pPr algn="ctr">
              <a:defRPr sz="1350" b="1">
                <a:solidFill>
                  <a:srgbClr val="F5F7FA"/>
                </a:solidFill>
                <a:latin typeface="Helvetica Neue"/>
                <a:ea typeface="Helvetica Neue"/>
                <a:cs typeface="Helvetica Neue"/>
              </a:defRPr>
            </a:pPr>
            <a:r>
              <a:rPr sz="1350" b="1">
                <a:solidFill>
                  <a:srgbClr val="F5F7FA"/>
                </a:solidFill>
                <a:latin typeface="Helvetica Neue"/>
                <a:ea typeface="Helvetica Neue"/>
                <a:cs typeface="Helvetica Neue"/>
              </a:rPr>
              <a:t>Continuas</a:t>
            </a:r>
          </a:p>
          <a:p xmlns:a="http://schemas.openxmlformats.org/drawingml/2006/main">
            <a:pPr algn="ctr">
              <a:defRPr sz="1350" b="1">
                <a:solidFill>
                  <a:srgbClr val="F5F7FA"/>
                </a:solidFill>
                <a:latin typeface="Helvetica Neue"/>
                <a:ea typeface="Helvetica Neue"/>
                <a:cs typeface="Helvetica Neue"/>
              </a:defRPr>
            </a:pPr>
            <a:r>
              <a:rPr sz="1350" b="1">
                <a:solidFill>
                  <a:srgbClr val="F5F7FA"/>
                </a:solidFill>
                <a:latin typeface="Helvetica Neue"/>
                <a:ea typeface="Helvetica Neue"/>
                <a:cs typeface="Helvetica Neue"/>
              </a:rPr>
              <a:t>Desde el diseño</a:t>
            </a:r>
          </a:p>
          <a:p xmlns:a="http://schemas.openxmlformats.org/drawingml/2006/main">
            <a:pPr algn="ctr">
              <a:defRPr sz="1350" b="1">
                <a:solidFill>
                  <a:srgbClr val="F5F7FA"/>
                </a:solidFill>
                <a:latin typeface="Helvetica Neue"/>
                <a:ea typeface="Helvetica Neue"/>
                <a:cs typeface="Helvetica Neue"/>
              </a:defRPr>
            </a:pPr>
            <a:r>
              <a:rPr sz="1350" b="1">
                <a:solidFill>
                  <a:srgbClr val="F5F7FA"/>
                </a:solidFill>
                <a:latin typeface="Helvetica Neue"/>
                <a:ea typeface="Helvetica Neue"/>
                <a:cs typeface="Helvetica Neue"/>
              </a:rPr>
              <a:t>hasta producción</a:t>
            </a:r>
          </a:p>
        </p:txBody>
      </p:sp>
      <p:cxnSp>
        <p:nvCxnSpPr>
          <p:cNvPr id="27" name=""/>
          <p:cNvCxnSpPr>
            <a:stCxn xmlns:a="http://schemas.openxmlformats.org/drawingml/2006/main" id="8" idx="6"/>
            <a:endCxn xmlns:a="http://schemas.openxmlformats.org/drawingml/2006/main" id="7" idx="2"/>
          </p:cNvCxnSpPr>
          <p:nvPr/>
        </p:nvCxnSpPr>
        <p:spPr>
          <a:xfrm xmlns:a="http://schemas.openxmlformats.org/drawingml/2006/main">
            <a:off x="3524250" y="2924175"/>
            <a:ext cx="1428750" cy="533400"/>
          </a:xfrm>
          <a:prstGeom xmlns:a="http://schemas.openxmlformats.org/drawingml/2006/main" prst="bentConnector3">
            <a:avLst>
              <a:gd name="adj1" fmla="val 50000"/>
            </a:avLst>
          </a:prstGeom>
          <a:ln xmlns:a="http://schemas.openxmlformats.org/drawingml/2006/main" w="19050">
            <a:solidFill>
              <a:srgbClr val="6A829C"/>
            </a:solidFill>
            <a:prstDash val="solid"/>
            <a:tailEnd type="arrow" w="sm" len="sm"/>
          </a:ln>
        </p:spPr>
      </p:cxnSp>
      <p:cxnSp>
        <p:nvCxnSpPr>
          <p:cNvPr id="28" name=""/>
          <p:cNvCxnSpPr>
            <a:stCxn xmlns:a="http://schemas.openxmlformats.org/drawingml/2006/main" id="9" idx="2"/>
            <a:endCxn xmlns:a="http://schemas.openxmlformats.org/drawingml/2006/main" id="7" idx="6"/>
          </p:cNvCxnSpPr>
          <p:nvPr/>
        </p:nvCxnSpPr>
        <p:spPr>
          <a:xfrm xmlns:a="http://schemas.openxmlformats.org/drawingml/2006/main" flipH="1">
            <a:off x="7239000" y="2924175"/>
            <a:ext cx="1238250" cy="533400"/>
          </a:xfrm>
          <a:prstGeom xmlns:a="http://schemas.openxmlformats.org/drawingml/2006/main" prst="bentConnector3">
            <a:avLst>
              <a:gd name="adj1" fmla="val 50000"/>
            </a:avLst>
          </a:prstGeom>
          <a:ln xmlns:a="http://schemas.openxmlformats.org/drawingml/2006/main" w="19050">
            <a:solidFill>
              <a:srgbClr val="6A829C"/>
            </a:solidFill>
            <a:prstDash val="solid"/>
            <a:tailEnd type="arrow" w="sm" len="sm"/>
          </a:ln>
        </p:spPr>
      </p:cxnSp>
      <p:cxnSp>
        <p:nvCxnSpPr>
          <p:cNvPr id="29" name=""/>
          <p:cNvCxnSpPr>
            <a:stCxn xmlns:a="http://schemas.openxmlformats.org/drawingml/2006/main" id="10" idx="6"/>
            <a:endCxn xmlns:a="http://schemas.openxmlformats.org/drawingml/2006/main" id="7" idx="2"/>
          </p:cNvCxnSpPr>
          <p:nvPr/>
        </p:nvCxnSpPr>
        <p:spPr>
          <a:xfrm xmlns:a="http://schemas.openxmlformats.org/drawingml/2006/main" flipV="1">
            <a:off x="3524250" y="3457575"/>
            <a:ext cx="1428750" cy="1581150"/>
          </a:xfrm>
          <a:prstGeom xmlns:a="http://schemas.openxmlformats.org/drawingml/2006/main" prst="bentConnector3">
            <a:avLst>
              <a:gd name="adj1" fmla="val 50000"/>
            </a:avLst>
          </a:prstGeom>
          <a:ln xmlns:a="http://schemas.openxmlformats.org/drawingml/2006/main" w="19050">
            <a:solidFill>
              <a:srgbClr val="6A829C"/>
            </a:solidFill>
            <a:prstDash val="solid"/>
            <a:tailEnd type="arrow" w="sm" len="sm"/>
          </a:ln>
        </p:spPr>
      </p:cxnSp>
      <p:cxnSp>
        <p:nvCxnSpPr>
          <p:cNvPr id="30" name=""/>
          <p:cNvCxnSpPr>
            <a:stCxn xmlns:a="http://schemas.openxmlformats.org/drawingml/2006/main" id="11" idx="2"/>
            <a:endCxn xmlns:a="http://schemas.openxmlformats.org/drawingml/2006/main" id="7" idx="6"/>
          </p:cNvCxnSpPr>
          <p:nvPr/>
        </p:nvCxnSpPr>
        <p:spPr>
          <a:xfrm xmlns:a="http://schemas.openxmlformats.org/drawingml/2006/main" flipH="1" flipV="1">
            <a:off x="7239000" y="3457575"/>
            <a:ext cx="1238250" cy="1581150"/>
          </a:xfrm>
          <a:prstGeom xmlns:a="http://schemas.openxmlformats.org/drawingml/2006/main" prst="bentConnector3">
            <a:avLst>
              <a:gd name="adj1" fmla="val 50000"/>
            </a:avLst>
          </a:prstGeom>
          <a:ln xmlns:a="http://schemas.openxmlformats.org/drawingml/2006/main" w="19050">
            <a:solidFill>
              <a:srgbClr val="6A829C"/>
            </a:solidFill>
            <a:prstDash val="solid"/>
            <a:tailEnd type="arrow" w="sm" len="sm"/>
          </a:ln>
        </p:spPr>
      </p:cxnSp>
    </p:spTree>
    <p:extLst>
      <p:ext uri="{BB962C8B-B14F-4D97-AF65-F5344CB8AC3E}">
        <p14:creationId xmlns:p14="http://schemas.microsoft.com/office/powerpoint/2010/main" val="1653490241"/>
      </p:ext>
    </p:extLst>
  </p:cSld>
</p:sld>
</file>

<file path=ppt/slides/slide4.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9F05F51-F4AC-4675-AC53-874850BF443F}"/>
              </a:ext>
            </a:extLst>
          </p:cNvPr>
          <p:cNvSpPr>
            <a:spLocks xmlns:a="http://schemas.openxmlformats.org/drawingml/2006/main" noGrp="1"/>
          </p:cNvSpPr>
          <p:nvPr/>
        </p:nvSpPr>
        <p:spPr>
          <a:xfrm xmlns:a="http://schemas.openxmlformats.org/drawingml/2006/main">
            <a:off x="685800" y="4000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4ED6C5"/>
                </a:solidFill>
                <a:latin typeface="Helvetica Neue"/>
                <a:ea typeface="Helvetica Neue"/>
                <a:cs typeface="Helvetica Neue"/>
              </a:defRPr>
            </a:pPr>
            <a:r>
              <a:rPr sz="900" b="1" i="0">
                <a:solidFill>
                  <a:srgbClr val="4ED6C5"/>
                </a:solidFill>
                <a:latin typeface="Helvetica Neue"/>
                <a:ea typeface="Helvetica Neue"/>
                <a:cs typeface="Helvetica Neue"/>
              </a:rPr>
              <a:t>03 · ARQUITECTURA</a:t>
            </a:r>
          </a:p>
        </p:txBody>
      </p:sp>
      <p:sp>
        <p:nvSpPr>
          <p:cNvPr id="2" name="">
            <a:extLst xmlns:a="http://schemas.openxmlformats.org/drawingml/2006/main">
              <a:ext uri="{FF2B5EF4-FFF2-40B4-BE49-F238E27FC236}">
                <a16:creationId xmlns:a16="http://schemas.microsoft.com/office/drawing/2014/main" id="{C64A1C1D-4A9B-47D7-969D-A69B8EB880DB}"/>
              </a:ext>
            </a:extLst>
          </p:cNvPr>
          <p:cNvSpPr>
            <a:spLocks xmlns:a="http://schemas.openxmlformats.org/drawingml/2006/main" noGrp="1"/>
          </p:cNvSpPr>
          <p:nvPr/>
        </p:nvSpPr>
        <p:spPr>
          <a:xfrm xmlns:a="http://schemas.openxmlformats.org/drawingml/2006/main">
            <a:off x="685800" y="7048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F5F7FA"/>
                </a:solidFill>
                <a:latin typeface="Helvetica Neue"/>
                <a:ea typeface="Helvetica Neue"/>
                <a:cs typeface="Helvetica Neue"/>
              </a:defRPr>
            </a:pPr>
            <a:r>
              <a:rPr sz="2925" b="1" i="0">
                <a:solidFill>
                  <a:srgbClr val="F5F7FA"/>
                </a:solidFill>
                <a:latin typeface="Helvetica Neue"/>
                <a:ea typeface="Helvetica Neue"/>
                <a:cs typeface="Helvetica Neue"/>
              </a:rPr>
              <a:t>Importancia dentro de la arquitectura de software</a:t>
            </a:r>
          </a:p>
        </p:txBody>
      </p:sp>
      <p:sp>
        <p:nvSpPr>
          <p:cNvPr id="3" name="">
            <a:extLst xmlns:a="http://schemas.openxmlformats.org/drawingml/2006/main">
              <a:ext uri="{FF2B5EF4-FFF2-40B4-BE49-F238E27FC236}">
                <a16:creationId xmlns:a16="http://schemas.microsoft.com/office/drawing/2014/main" id="{B5F3A154-7A12-4357-86D2-4547EADF15AB}"/>
              </a:ext>
            </a:extLst>
          </p:cNvPr>
          <p:cNvSpPr>
            <a:spLocks xmlns:a="http://schemas.openxmlformats.org/drawingml/2006/main" noGrp="1"/>
          </p:cNvSpPr>
          <p:nvPr/>
        </p:nvSpPr>
        <p:spPr>
          <a:xfrm xmlns:a="http://schemas.openxmlformats.org/drawingml/2006/main">
            <a:off x="685800" y="1428750"/>
            <a:ext cx="10820400" cy="0"/>
          </a:xfrm>
          <a:prstGeom xmlns:a="http://schemas.openxmlformats.org/drawingml/2006/main" prst="line">
            <a:avLst/>
          </a:prstGeom>
          <a:noFill xmlns:a="http://schemas.openxmlformats.org/drawingml/2006/main"/>
          <a:ln xmlns:a="http://schemas.openxmlformats.org/drawingml/2006/main" w="9525">
            <a:solidFill>
              <a:srgbClr val="2E4965"/>
            </a:solidFill>
            <a:prstDash val="solid"/>
          </a:ln>
        </p:spPr>
      </p:sp>
      <p:sp>
        <p:nvSpPr>
          <p:cNvPr id="4" name="">
            <a:extLst xmlns:a="http://schemas.openxmlformats.org/drawingml/2006/main">
              <a:ext uri="{FF2B5EF4-FFF2-40B4-BE49-F238E27FC236}">
                <a16:creationId xmlns:a16="http://schemas.microsoft.com/office/drawing/2014/main" id="{45B9B56D-F6B3-4E47-9394-AAFC9A967188}"/>
              </a:ext>
            </a:extLst>
          </p:cNvPr>
          <p:cNvSpPr>
            <a:spLocks xmlns:a="http://schemas.openxmlformats.org/drawingml/2006/main" noGrp="1"/>
          </p:cNvSpPr>
          <p:nvPr/>
        </p:nvSpPr>
        <p:spPr>
          <a:xfrm xmlns:a="http://schemas.openxmlformats.org/drawingml/2006/main">
            <a:off x="685800" y="65532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FC0D4"/>
                </a:solidFill>
                <a:latin typeface="Helvetica Neue"/>
                <a:ea typeface="Helvetica Neue"/>
                <a:cs typeface="Helvetica Neue"/>
              </a:defRPr>
            </a:pPr>
            <a:r>
              <a:rPr sz="825" b="1" i="0">
                <a:solidFill>
                  <a:srgbClr val="AFC0D4"/>
                </a:solidFill>
                <a:latin typeface="Helvetica Neue"/>
                <a:ea typeface="Helvetica Neue"/>
                <a:cs typeface="Helvetica Neue"/>
              </a:rPr>
              <a:t>PRUEBAS NO FUNCIONALES</a:t>
            </a:r>
          </a:p>
        </p:txBody>
      </p:sp>
      <p:sp>
        <p:nvSpPr>
          <p:cNvPr id="5" name="">
            <a:extLst xmlns:a="http://schemas.openxmlformats.org/drawingml/2006/main">
              <a:ext uri="{FF2B5EF4-FFF2-40B4-BE49-F238E27FC236}">
                <a16:creationId xmlns:a16="http://schemas.microsoft.com/office/drawing/2014/main" id="{F6880FA9-A30A-4148-BBD8-CF3A8CB3410A}"/>
              </a:ext>
            </a:extLst>
          </p:cNvPr>
          <p:cNvSpPr>
            <a:spLocks xmlns:a="http://schemas.openxmlformats.org/drawingml/2006/main" noGrp="1"/>
          </p:cNvSpPr>
          <p:nvPr/>
        </p:nvSpPr>
        <p:spPr>
          <a:xfrm xmlns:a="http://schemas.openxmlformats.org/drawingml/2006/main">
            <a:off x="11049000" y="65151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4ED6C5"/>
                </a:solidFill>
                <a:latin typeface="Helvetica Neue"/>
                <a:ea typeface="Helvetica Neue"/>
                <a:cs typeface="Helvetica Neue"/>
              </a:defRPr>
            </a:pPr>
            <a:r>
              <a:rPr sz="1050" b="1" i="0">
                <a:solidFill>
                  <a:srgbClr val="4ED6C5"/>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A5851C26-7398-4349-BDA9-A2C903BAE476}"/>
              </a:ext>
            </a:extLst>
          </p:cNvPr>
          <p:cNvSpPr>
            <a:spLocks xmlns:a="http://schemas.openxmlformats.org/drawingml/2006/main" noGrp="1"/>
          </p:cNvSpPr>
          <p:nvPr/>
        </p:nvSpPr>
        <p:spPr>
          <a:xfrm xmlns:a="http://schemas.openxmlformats.org/drawingml/2006/main">
            <a:off x="685800" y="1724025"/>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006"/>
          </a:bodyPr>
          <a:lstStyle xmlns:a="http://schemas.openxmlformats.org/drawingml/2006/main"/>
          <a:p xmlns:a="http://schemas.openxmlformats.org/drawingml/2006/main">
            <a:pPr algn="l">
              <a:defRPr sz="1800" b="0" i="0">
                <a:solidFill>
                  <a:srgbClr val="AFC0D4"/>
                </a:solidFill>
                <a:latin typeface="Helvetica Neue"/>
                <a:ea typeface="Helvetica Neue"/>
                <a:cs typeface="Helvetica Neue"/>
              </a:defRPr>
            </a:pPr>
            <a:r>
              <a:rPr sz="1800" b="0" i="0">
                <a:solidFill>
                  <a:srgbClr val="AFC0D4"/>
                </a:solidFill>
                <a:latin typeface="Helvetica Neue"/>
                <a:ea typeface="Helvetica Neue"/>
                <a:cs typeface="Helvetica Neue"/>
              </a:rPr>
              <a:t>La arquitectura decide muchas de las condiciones que estas pruebas deben comprobar.</a:t>
            </a:r>
          </a:p>
        </p:txBody>
      </p:sp>
      <p:sp>
        <p:nvSpPr>
          <p:cNvPr id="7" name="">
            <a:extLst xmlns:a="http://schemas.openxmlformats.org/drawingml/2006/main">
              <a:ext uri="{FF2B5EF4-FFF2-40B4-BE49-F238E27FC236}">
                <a16:creationId xmlns:a16="http://schemas.microsoft.com/office/drawing/2014/main" id="{5D7508E5-2AEF-4A3D-8712-1D3C55C7EDE9}"/>
              </a:ext>
            </a:extLst>
          </p:cNvPr>
          <p:cNvSpPr>
            <a:spLocks xmlns:a="http://schemas.openxmlformats.org/drawingml/2006/main" noGrp="1"/>
          </p:cNvSpPr>
          <p:nvPr/>
        </p:nvSpPr>
        <p:spPr>
          <a:xfrm xmlns:a="http://schemas.openxmlformats.org/drawingml/2006/main">
            <a:off x="876300" y="24765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4ED6C5"/>
                </a:solidFill>
                <a:latin typeface="Helvetica Neue"/>
                <a:ea typeface="Helvetica Neue"/>
                <a:cs typeface="Helvetica Neue"/>
              </a:defRPr>
            </a:pPr>
            <a:r>
              <a:rPr sz="900" b="1" i="0">
                <a:solidFill>
                  <a:srgbClr val="4ED6C5"/>
                </a:solidFill>
                <a:latin typeface="Helvetica Neue"/>
                <a:ea typeface="Helvetica Neue"/>
                <a:cs typeface="Helvetica Neue"/>
              </a:rPr>
              <a:t>DECISIÓN ARQUITECTÓNICA</a:t>
            </a:r>
          </a:p>
        </p:txBody>
      </p:sp>
      <p:sp>
        <p:nvSpPr>
          <p:cNvPr id="8" name="">
            <a:extLst xmlns:a="http://schemas.openxmlformats.org/drawingml/2006/main">
              <a:ext uri="{FF2B5EF4-FFF2-40B4-BE49-F238E27FC236}">
                <a16:creationId xmlns:a16="http://schemas.microsoft.com/office/drawing/2014/main" id="{1B3BEDE0-407A-4D57-BFB2-DB5D6556D070}"/>
              </a:ext>
            </a:extLst>
          </p:cNvPr>
          <p:cNvSpPr>
            <a:spLocks xmlns:a="http://schemas.openxmlformats.org/drawingml/2006/main" noGrp="1"/>
          </p:cNvSpPr>
          <p:nvPr/>
        </p:nvSpPr>
        <p:spPr>
          <a:xfrm xmlns:a="http://schemas.openxmlformats.org/drawingml/2006/main">
            <a:off x="5105400" y="24765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4ED6C5"/>
                </a:solidFill>
                <a:latin typeface="Helvetica Neue"/>
                <a:ea typeface="Helvetica Neue"/>
                <a:cs typeface="Helvetica Neue"/>
              </a:defRPr>
            </a:pPr>
            <a:r>
              <a:rPr sz="900" b="1" i="0">
                <a:solidFill>
                  <a:srgbClr val="4ED6C5"/>
                </a:solidFill>
                <a:latin typeface="Helvetica Neue"/>
                <a:ea typeface="Helvetica Neue"/>
                <a:cs typeface="Helvetica Neue"/>
              </a:rPr>
              <a:t>ATRIBUTO</a:t>
            </a:r>
          </a:p>
        </p:txBody>
      </p:sp>
      <p:sp>
        <p:nvSpPr>
          <p:cNvPr id="9" name="">
            <a:extLst xmlns:a="http://schemas.openxmlformats.org/drawingml/2006/main">
              <a:ext uri="{FF2B5EF4-FFF2-40B4-BE49-F238E27FC236}">
                <a16:creationId xmlns:a16="http://schemas.microsoft.com/office/drawing/2014/main" id="{0CBA9C0F-D3C5-4A9C-8BA8-800097EFACBC}"/>
              </a:ext>
            </a:extLst>
          </p:cNvPr>
          <p:cNvSpPr>
            <a:spLocks xmlns:a="http://schemas.openxmlformats.org/drawingml/2006/main" noGrp="1"/>
          </p:cNvSpPr>
          <p:nvPr/>
        </p:nvSpPr>
        <p:spPr>
          <a:xfrm xmlns:a="http://schemas.openxmlformats.org/drawingml/2006/main">
            <a:off x="8058150" y="24765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4ED6C5"/>
                </a:solidFill>
                <a:latin typeface="Helvetica Neue"/>
                <a:ea typeface="Helvetica Neue"/>
                <a:cs typeface="Helvetica Neue"/>
              </a:defRPr>
            </a:pPr>
            <a:r>
              <a:rPr sz="900" b="1" i="0">
                <a:solidFill>
                  <a:srgbClr val="4ED6C5"/>
                </a:solidFill>
                <a:latin typeface="Helvetica Neue"/>
                <a:ea typeface="Helvetica Neue"/>
                <a:cs typeface="Helvetica Neue"/>
              </a:rPr>
              <a:t>EVIDENCIA QUE BUSCAMOS</a:t>
            </a:r>
          </a:p>
        </p:txBody>
      </p:sp>
      <p:sp>
        <p:nvSpPr>
          <p:cNvPr id="10" name="">
            <a:extLst xmlns:a="http://schemas.openxmlformats.org/drawingml/2006/main">
              <a:ext uri="{FF2B5EF4-FFF2-40B4-BE49-F238E27FC236}">
                <a16:creationId xmlns:a16="http://schemas.microsoft.com/office/drawing/2014/main" id="{0611E1CA-3BDA-48EF-866B-23712C940042}"/>
              </a:ext>
            </a:extLst>
          </p:cNvPr>
          <p:cNvSpPr>
            <a:spLocks xmlns:a="http://schemas.openxmlformats.org/drawingml/2006/main" noGrp="1"/>
          </p:cNvSpPr>
          <p:nvPr/>
        </p:nvSpPr>
        <p:spPr>
          <a:xfrm xmlns:a="http://schemas.openxmlformats.org/drawingml/2006/main">
            <a:off x="685800" y="2905125"/>
            <a:ext cx="3143250" cy="742950"/>
          </a:xfrm>
          <a:prstGeom xmlns:a="http://schemas.openxmlformats.org/drawingml/2006/main" prst="roundRect">
            <a:avLst>
              <a:gd name="adj" fmla="val 17949"/>
            </a:avLst>
          </a:prstGeom>
          <a:solidFill xmlns:a="http://schemas.openxmlformats.org/drawingml/2006/main">
            <a:srgbClr val="14253B"/>
          </a:solidFill>
          <a:ln xmlns:a="http://schemas.openxmlformats.org/drawingml/2006/main" w="9525">
            <a:solidFill>
              <a:srgbClr val="2E4965"/>
            </a:solidFill>
            <a:prstDash val="solid"/>
          </a:ln>
        </p:spPr>
        <p:txBody>
          <a:bodyPr xmlns:a="http://schemas.openxmlformats.org/drawingml/2006/main" lIns="133350" tIns="114300" rIns="133350" bIns="114300" anchor="ctr">
            <a:normAutofit fontScale="95414"/>
          </a:bodyPr>
          <a:lstStyle xmlns:a="http://schemas.openxmlformats.org/drawingml/2006/main"/>
          <a:p xmlns:a="http://schemas.openxmlformats.org/drawingml/2006/main">
            <a:pPr algn="l">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Caché y procesamiento</a:t>
            </a:r>
          </a:p>
          <a:p xmlns:a="http://schemas.openxmlformats.org/drawingml/2006/main">
            <a:pPr algn="l">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asíncrono</a:t>
            </a:r>
          </a:p>
        </p:txBody>
      </p:sp>
      <p:sp>
        <p:nvSpPr>
          <p:cNvPr id="11" name="">
            <a:extLst xmlns:a="http://schemas.openxmlformats.org/drawingml/2006/main">
              <a:ext uri="{FF2B5EF4-FFF2-40B4-BE49-F238E27FC236}">
                <a16:creationId xmlns:a16="http://schemas.microsoft.com/office/drawing/2014/main" id="{25425218-E7CD-43B0-AB57-A615B6961E5C}"/>
              </a:ext>
            </a:extLst>
          </p:cNvPr>
          <p:cNvSpPr>
            <a:spLocks xmlns:a="http://schemas.openxmlformats.org/drawingml/2006/main" noGrp="1"/>
          </p:cNvSpPr>
          <p:nvPr/>
        </p:nvSpPr>
        <p:spPr>
          <a:xfrm xmlns:a="http://schemas.openxmlformats.org/drawingml/2006/main">
            <a:off x="4572000" y="2905125"/>
            <a:ext cx="2286000" cy="742950"/>
          </a:xfrm>
          <a:prstGeom xmlns:a="http://schemas.openxmlformats.org/drawingml/2006/main" prst="roundRect">
            <a:avLst>
              <a:gd name="adj" fmla="val 17949"/>
            </a:avLst>
          </a:prstGeom>
          <a:solidFill xmlns:a="http://schemas.openxmlformats.org/drawingml/2006/main">
            <a:srgbClr val="80B7FF"/>
          </a:solidFill>
          <a:ln xmlns:a="http://schemas.openxmlformats.org/drawingml/2006/main" w="9525">
            <a:solidFill>
              <a:srgbClr val="80B7FF"/>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ctr">
              <a:defRPr sz="1500" b="1">
                <a:solidFill>
                  <a:srgbClr val="0A1220"/>
                </a:solidFill>
                <a:latin typeface="Helvetica Neue"/>
                <a:ea typeface="Helvetica Neue"/>
                <a:cs typeface="Helvetica Neue"/>
              </a:defRPr>
            </a:pPr>
            <a:r>
              <a:rPr sz="1500" b="1">
                <a:solidFill>
                  <a:srgbClr val="0A1220"/>
                </a:solidFill>
                <a:latin typeface="Helvetica Neue"/>
                <a:ea typeface="Helvetica Neue"/>
                <a:cs typeface="Helvetica Neue"/>
              </a:rPr>
              <a:t>Rendimiento</a:t>
            </a:r>
          </a:p>
        </p:txBody>
      </p:sp>
      <p:sp>
        <p:nvSpPr>
          <p:cNvPr id="12" name="">
            <a:extLst xmlns:a="http://schemas.openxmlformats.org/drawingml/2006/main">
              <a:ext uri="{FF2B5EF4-FFF2-40B4-BE49-F238E27FC236}">
                <a16:creationId xmlns:a16="http://schemas.microsoft.com/office/drawing/2014/main" id="{9B09BFDE-C8D0-4E2E-9356-469954667FB7}"/>
              </a:ext>
            </a:extLst>
          </p:cNvPr>
          <p:cNvSpPr>
            <a:spLocks xmlns:a="http://schemas.openxmlformats.org/drawingml/2006/main" noGrp="1"/>
          </p:cNvSpPr>
          <p:nvPr/>
        </p:nvSpPr>
        <p:spPr>
          <a:xfrm xmlns:a="http://schemas.openxmlformats.org/drawingml/2006/main">
            <a:off x="7620000" y="2905125"/>
            <a:ext cx="3429000" cy="742950"/>
          </a:xfrm>
          <a:prstGeom xmlns:a="http://schemas.openxmlformats.org/drawingml/2006/main" prst="roundRect">
            <a:avLst>
              <a:gd name="adj" fmla="val 17949"/>
            </a:avLst>
          </a:prstGeom>
          <a:solidFill xmlns:a="http://schemas.openxmlformats.org/drawingml/2006/main">
            <a:srgbClr val="172B44"/>
          </a:solidFill>
          <a:ln xmlns:a="http://schemas.openxmlformats.org/drawingml/2006/main" w="9525">
            <a:solidFill>
              <a:srgbClr val="2E4965"/>
            </a:solidFill>
            <a:prstDash val="solid"/>
          </a:ln>
        </p:spPr>
        <p:txBody>
          <a:bodyPr xmlns:a="http://schemas.openxmlformats.org/drawingml/2006/main" lIns="133350" tIns="114300" rIns="133350" bIns="114300" anchor="ctr">
            <a:normAutofit fontScale="95414"/>
          </a:bodyPr>
          <a:lstStyle xmlns:a="http://schemas.openxmlformats.org/drawingml/2006/main"/>
          <a:p xmlns:a="http://schemas.openxmlformats.org/drawingml/2006/main">
            <a:pPr algn="l">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Tiempo de respuesta</a:t>
            </a:r>
          </a:p>
          <a:p xmlns:a="http://schemas.openxmlformats.org/drawingml/2006/main">
            <a:pPr algn="l">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y uso de recursos</a:t>
            </a:r>
          </a:p>
        </p:txBody>
      </p:sp>
      <p:sp>
        <p:nvSpPr>
          <p:cNvPr id="13" name="">
            <a:extLst xmlns:a="http://schemas.openxmlformats.org/drawingml/2006/main">
              <a:ext uri="{FF2B5EF4-FFF2-40B4-BE49-F238E27FC236}">
                <a16:creationId xmlns:a16="http://schemas.microsoft.com/office/drawing/2014/main" id="{4B89F374-4B1B-4AAC-A2EC-8D3C78D4BD01}"/>
              </a:ext>
            </a:extLst>
          </p:cNvPr>
          <p:cNvSpPr>
            <a:spLocks xmlns:a="http://schemas.openxmlformats.org/drawingml/2006/main" noGrp="1"/>
          </p:cNvSpPr>
          <p:nvPr/>
        </p:nvSpPr>
        <p:spPr>
          <a:xfrm xmlns:a="http://schemas.openxmlformats.org/drawingml/2006/main">
            <a:off x="4000500" y="3143250"/>
            <a:ext cx="400050" cy="266700"/>
          </a:xfrm>
          <a:prstGeom xmlns:a="http://schemas.openxmlformats.org/drawingml/2006/main" prst="rightArrow">
            <a:avLst/>
          </a:prstGeom>
          <a:solidFill xmlns:a="http://schemas.openxmlformats.org/drawingml/2006/main">
            <a:srgbClr val="6A829C"/>
          </a:solidFill>
          <a:ln xmlns:a="http://schemas.openxmlformats.org/drawingml/2006/main" w="9525">
            <a:solidFill>
              <a:srgbClr val="6A829C"/>
            </a:solidFill>
            <a:prstDash val="solid"/>
          </a:ln>
        </p:spPr>
      </p:sp>
      <p:sp>
        <p:nvSpPr>
          <p:cNvPr id="14" name="">
            <a:extLst xmlns:a="http://schemas.openxmlformats.org/drawingml/2006/main">
              <a:ext uri="{FF2B5EF4-FFF2-40B4-BE49-F238E27FC236}">
                <a16:creationId xmlns:a16="http://schemas.microsoft.com/office/drawing/2014/main" id="{3EA969D0-CD31-4053-8CD7-3836669E1BA5}"/>
              </a:ext>
            </a:extLst>
          </p:cNvPr>
          <p:cNvSpPr>
            <a:spLocks xmlns:a="http://schemas.openxmlformats.org/drawingml/2006/main" noGrp="1"/>
          </p:cNvSpPr>
          <p:nvPr/>
        </p:nvSpPr>
        <p:spPr>
          <a:xfrm xmlns:a="http://schemas.openxmlformats.org/drawingml/2006/main">
            <a:off x="7048500" y="3143250"/>
            <a:ext cx="400050" cy="266700"/>
          </a:xfrm>
          <a:prstGeom xmlns:a="http://schemas.openxmlformats.org/drawingml/2006/main" prst="rightArrow">
            <a:avLst/>
          </a:prstGeom>
          <a:solidFill xmlns:a="http://schemas.openxmlformats.org/drawingml/2006/main">
            <a:srgbClr val="6A829C"/>
          </a:solidFill>
          <a:ln xmlns:a="http://schemas.openxmlformats.org/drawingml/2006/main" w="9525">
            <a:solidFill>
              <a:srgbClr val="6A829C"/>
            </a:solidFill>
            <a:prstDash val="solid"/>
          </a:ln>
        </p:spPr>
      </p:sp>
      <p:sp>
        <p:nvSpPr>
          <p:cNvPr id="15" name="">
            <a:extLst xmlns:a="http://schemas.openxmlformats.org/drawingml/2006/main">
              <a:ext uri="{FF2B5EF4-FFF2-40B4-BE49-F238E27FC236}">
                <a16:creationId xmlns:a16="http://schemas.microsoft.com/office/drawing/2014/main" id="{5813BB09-485F-47D5-AE3B-3869E152E8AB}"/>
              </a:ext>
            </a:extLst>
          </p:cNvPr>
          <p:cNvSpPr>
            <a:spLocks xmlns:a="http://schemas.openxmlformats.org/drawingml/2006/main" noGrp="1"/>
          </p:cNvSpPr>
          <p:nvPr/>
        </p:nvSpPr>
        <p:spPr>
          <a:xfrm xmlns:a="http://schemas.openxmlformats.org/drawingml/2006/main">
            <a:off x="685800" y="3952875"/>
            <a:ext cx="3143250" cy="742950"/>
          </a:xfrm>
          <a:prstGeom xmlns:a="http://schemas.openxmlformats.org/drawingml/2006/main" prst="roundRect">
            <a:avLst>
              <a:gd name="adj" fmla="val 17949"/>
            </a:avLst>
          </a:prstGeom>
          <a:solidFill xmlns:a="http://schemas.openxmlformats.org/drawingml/2006/main">
            <a:srgbClr val="14253B"/>
          </a:solidFill>
          <a:ln xmlns:a="http://schemas.openxmlformats.org/drawingml/2006/main" w="9525">
            <a:solidFill>
              <a:srgbClr val="2E4965"/>
            </a:solidFill>
            <a:prstDash val="solid"/>
          </a:ln>
        </p:spPr>
        <p:txBody>
          <a:bodyPr xmlns:a="http://schemas.openxmlformats.org/drawingml/2006/main" lIns="133350" tIns="114300" rIns="133350" bIns="114300" anchor="ctr">
            <a:normAutofit fontScale="95414"/>
          </a:bodyPr>
          <a:lstStyle xmlns:a="http://schemas.openxmlformats.org/drawingml/2006/main"/>
          <a:p xmlns:a="http://schemas.openxmlformats.org/drawingml/2006/main">
            <a:pPr algn="l">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Balanceo y réplicas</a:t>
            </a:r>
          </a:p>
          <a:p xmlns:a="http://schemas.openxmlformats.org/drawingml/2006/main">
            <a:pPr algn="l">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de servicio</a:t>
            </a:r>
          </a:p>
        </p:txBody>
      </p:sp>
      <p:sp>
        <p:nvSpPr>
          <p:cNvPr id="16" name="">
            <a:extLst xmlns:a="http://schemas.openxmlformats.org/drawingml/2006/main">
              <a:ext uri="{FF2B5EF4-FFF2-40B4-BE49-F238E27FC236}">
                <a16:creationId xmlns:a16="http://schemas.microsoft.com/office/drawing/2014/main" id="{98CDF6EA-9528-4ACE-9890-20A39BDA77A7}"/>
              </a:ext>
            </a:extLst>
          </p:cNvPr>
          <p:cNvSpPr>
            <a:spLocks xmlns:a="http://schemas.openxmlformats.org/drawingml/2006/main" noGrp="1"/>
          </p:cNvSpPr>
          <p:nvPr/>
        </p:nvSpPr>
        <p:spPr>
          <a:xfrm xmlns:a="http://schemas.openxmlformats.org/drawingml/2006/main">
            <a:off x="4572000" y="3952875"/>
            <a:ext cx="2286000" cy="742950"/>
          </a:xfrm>
          <a:prstGeom xmlns:a="http://schemas.openxmlformats.org/drawingml/2006/main" prst="roundRect">
            <a:avLst>
              <a:gd name="adj" fmla="val 17949"/>
            </a:avLst>
          </a:prstGeom>
          <a:solidFill xmlns:a="http://schemas.openxmlformats.org/drawingml/2006/main">
            <a:srgbClr val="F4C76B"/>
          </a:solidFill>
          <a:ln xmlns:a="http://schemas.openxmlformats.org/drawingml/2006/main" w="9525">
            <a:solidFill>
              <a:srgbClr val="F4C76B"/>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ctr">
              <a:defRPr sz="1500" b="1">
                <a:solidFill>
                  <a:srgbClr val="0A1220"/>
                </a:solidFill>
                <a:latin typeface="Helvetica Neue"/>
                <a:ea typeface="Helvetica Neue"/>
                <a:cs typeface="Helvetica Neue"/>
              </a:defRPr>
            </a:pPr>
            <a:r>
              <a:rPr sz="1500" b="1">
                <a:solidFill>
                  <a:srgbClr val="0A1220"/>
                </a:solidFill>
                <a:latin typeface="Helvetica Neue"/>
                <a:ea typeface="Helvetica Neue"/>
                <a:cs typeface="Helvetica Neue"/>
              </a:rPr>
              <a:t>Escalabilidad</a:t>
            </a:r>
          </a:p>
        </p:txBody>
      </p:sp>
      <p:sp>
        <p:nvSpPr>
          <p:cNvPr id="17" name="">
            <a:extLst xmlns:a="http://schemas.openxmlformats.org/drawingml/2006/main">
              <a:ext uri="{FF2B5EF4-FFF2-40B4-BE49-F238E27FC236}">
                <a16:creationId xmlns:a16="http://schemas.microsoft.com/office/drawing/2014/main" id="{14415A7B-35EC-4E7C-A8C8-79861DA4AF73}"/>
              </a:ext>
            </a:extLst>
          </p:cNvPr>
          <p:cNvSpPr>
            <a:spLocks xmlns:a="http://schemas.openxmlformats.org/drawingml/2006/main" noGrp="1"/>
          </p:cNvSpPr>
          <p:nvPr/>
        </p:nvSpPr>
        <p:spPr>
          <a:xfrm xmlns:a="http://schemas.openxmlformats.org/drawingml/2006/main">
            <a:off x="7620000" y="3952875"/>
            <a:ext cx="3429000" cy="742950"/>
          </a:xfrm>
          <a:prstGeom xmlns:a="http://schemas.openxmlformats.org/drawingml/2006/main" prst="roundRect">
            <a:avLst>
              <a:gd name="adj" fmla="val 17949"/>
            </a:avLst>
          </a:prstGeom>
          <a:solidFill xmlns:a="http://schemas.openxmlformats.org/drawingml/2006/main">
            <a:srgbClr val="172B44"/>
          </a:solidFill>
          <a:ln xmlns:a="http://schemas.openxmlformats.org/drawingml/2006/main" w="9525">
            <a:solidFill>
              <a:srgbClr val="2E4965"/>
            </a:solidFill>
            <a:prstDash val="solid"/>
          </a:ln>
        </p:spPr>
        <p:txBody>
          <a:bodyPr xmlns:a="http://schemas.openxmlformats.org/drawingml/2006/main" lIns="133350" tIns="114300" rIns="133350" bIns="114300" anchor="ctr">
            <a:normAutofit fontScale="95414"/>
          </a:bodyPr>
          <a:lstStyle xmlns:a="http://schemas.openxmlformats.org/drawingml/2006/main"/>
          <a:p xmlns:a="http://schemas.openxmlformats.org/drawingml/2006/main">
            <a:pPr algn="l">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Capacidad al crecer</a:t>
            </a:r>
          </a:p>
          <a:p xmlns:a="http://schemas.openxmlformats.org/drawingml/2006/main">
            <a:pPr algn="l">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la demanda</a:t>
            </a:r>
          </a:p>
        </p:txBody>
      </p:sp>
      <p:sp>
        <p:nvSpPr>
          <p:cNvPr id="18" name="">
            <a:extLst xmlns:a="http://schemas.openxmlformats.org/drawingml/2006/main">
              <a:ext uri="{FF2B5EF4-FFF2-40B4-BE49-F238E27FC236}">
                <a16:creationId xmlns:a16="http://schemas.microsoft.com/office/drawing/2014/main" id="{CE2902C2-91D2-4DD1-B142-CB7112E7300C}"/>
              </a:ext>
            </a:extLst>
          </p:cNvPr>
          <p:cNvSpPr>
            <a:spLocks xmlns:a="http://schemas.openxmlformats.org/drawingml/2006/main" noGrp="1"/>
          </p:cNvSpPr>
          <p:nvPr/>
        </p:nvSpPr>
        <p:spPr>
          <a:xfrm xmlns:a="http://schemas.openxmlformats.org/drawingml/2006/main">
            <a:off x="4000500" y="4191000"/>
            <a:ext cx="400050" cy="266700"/>
          </a:xfrm>
          <a:prstGeom xmlns:a="http://schemas.openxmlformats.org/drawingml/2006/main" prst="rightArrow">
            <a:avLst/>
          </a:prstGeom>
          <a:solidFill xmlns:a="http://schemas.openxmlformats.org/drawingml/2006/main">
            <a:srgbClr val="6A829C"/>
          </a:solidFill>
          <a:ln xmlns:a="http://schemas.openxmlformats.org/drawingml/2006/main" w="9525">
            <a:solidFill>
              <a:srgbClr val="6A829C"/>
            </a:solidFill>
            <a:prstDash val="solid"/>
          </a:ln>
        </p:spPr>
      </p:sp>
      <p:sp>
        <p:nvSpPr>
          <p:cNvPr id="19" name="">
            <a:extLst xmlns:a="http://schemas.openxmlformats.org/drawingml/2006/main">
              <a:ext uri="{FF2B5EF4-FFF2-40B4-BE49-F238E27FC236}">
                <a16:creationId xmlns:a16="http://schemas.microsoft.com/office/drawing/2014/main" id="{5C4C12E8-7F08-4A30-9647-2F11E482C5E8}"/>
              </a:ext>
            </a:extLst>
          </p:cNvPr>
          <p:cNvSpPr>
            <a:spLocks xmlns:a="http://schemas.openxmlformats.org/drawingml/2006/main" noGrp="1"/>
          </p:cNvSpPr>
          <p:nvPr/>
        </p:nvSpPr>
        <p:spPr>
          <a:xfrm xmlns:a="http://schemas.openxmlformats.org/drawingml/2006/main">
            <a:off x="7048500" y="4191000"/>
            <a:ext cx="400050" cy="266700"/>
          </a:xfrm>
          <a:prstGeom xmlns:a="http://schemas.openxmlformats.org/drawingml/2006/main" prst="rightArrow">
            <a:avLst/>
          </a:prstGeom>
          <a:solidFill xmlns:a="http://schemas.openxmlformats.org/drawingml/2006/main">
            <a:srgbClr val="6A829C"/>
          </a:solidFill>
          <a:ln xmlns:a="http://schemas.openxmlformats.org/drawingml/2006/main" w="9525">
            <a:solidFill>
              <a:srgbClr val="6A829C"/>
            </a:solidFill>
            <a:prstDash val="solid"/>
          </a:ln>
        </p:spPr>
      </p:sp>
      <p:sp>
        <p:nvSpPr>
          <p:cNvPr id="20" name="">
            <a:extLst xmlns:a="http://schemas.openxmlformats.org/drawingml/2006/main">
              <a:ext uri="{FF2B5EF4-FFF2-40B4-BE49-F238E27FC236}">
                <a16:creationId xmlns:a16="http://schemas.microsoft.com/office/drawing/2014/main" id="{B7758186-D416-4787-AB19-583F0770ADCB}"/>
              </a:ext>
            </a:extLst>
          </p:cNvPr>
          <p:cNvSpPr>
            <a:spLocks xmlns:a="http://schemas.openxmlformats.org/drawingml/2006/main" noGrp="1"/>
          </p:cNvSpPr>
          <p:nvPr/>
        </p:nvSpPr>
        <p:spPr>
          <a:xfrm xmlns:a="http://schemas.openxmlformats.org/drawingml/2006/main">
            <a:off x="685800" y="5000625"/>
            <a:ext cx="3143250" cy="742950"/>
          </a:xfrm>
          <a:prstGeom xmlns:a="http://schemas.openxmlformats.org/drawingml/2006/main" prst="roundRect">
            <a:avLst>
              <a:gd name="adj" fmla="val 17949"/>
            </a:avLst>
          </a:prstGeom>
          <a:solidFill xmlns:a="http://schemas.openxmlformats.org/drawingml/2006/main">
            <a:srgbClr val="14253B"/>
          </a:solidFill>
          <a:ln xmlns:a="http://schemas.openxmlformats.org/drawingml/2006/main" w="9525">
            <a:solidFill>
              <a:srgbClr val="2E4965"/>
            </a:solidFill>
            <a:prstDash val="solid"/>
          </a:ln>
        </p:spPr>
        <p:txBody>
          <a:bodyPr xmlns:a="http://schemas.openxmlformats.org/drawingml/2006/main" lIns="133350" tIns="114300" rIns="133350" bIns="114300" anchor="ctr">
            <a:normAutofit fontScale="95414"/>
          </a:bodyPr>
          <a:lstStyle xmlns:a="http://schemas.openxmlformats.org/drawingml/2006/main"/>
          <a:p xmlns:a="http://schemas.openxmlformats.org/drawingml/2006/main">
            <a:pPr algn="l">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Contenedores y</a:t>
            </a:r>
          </a:p>
          <a:p xmlns:a="http://schemas.openxmlformats.org/drawingml/2006/main">
            <a:pPr algn="l">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configuración externa</a:t>
            </a:r>
          </a:p>
        </p:txBody>
      </p:sp>
      <p:sp>
        <p:nvSpPr>
          <p:cNvPr id="21" name="">
            <a:extLst xmlns:a="http://schemas.openxmlformats.org/drawingml/2006/main">
              <a:ext uri="{FF2B5EF4-FFF2-40B4-BE49-F238E27FC236}">
                <a16:creationId xmlns:a16="http://schemas.microsoft.com/office/drawing/2014/main" id="{3CF413EF-5E25-4D1E-B636-50168F631035}"/>
              </a:ext>
            </a:extLst>
          </p:cNvPr>
          <p:cNvSpPr>
            <a:spLocks xmlns:a="http://schemas.openxmlformats.org/drawingml/2006/main" noGrp="1"/>
          </p:cNvSpPr>
          <p:nvPr/>
        </p:nvSpPr>
        <p:spPr>
          <a:xfrm xmlns:a="http://schemas.openxmlformats.org/drawingml/2006/main">
            <a:off x="4572000" y="5000625"/>
            <a:ext cx="2286000" cy="742950"/>
          </a:xfrm>
          <a:prstGeom xmlns:a="http://schemas.openxmlformats.org/drawingml/2006/main" prst="roundRect">
            <a:avLst>
              <a:gd name="adj" fmla="val 17949"/>
            </a:avLst>
          </a:prstGeom>
          <a:solidFill xmlns:a="http://schemas.openxmlformats.org/drawingml/2006/main">
            <a:srgbClr val="4ED6C5"/>
          </a:solidFill>
          <a:ln xmlns:a="http://schemas.openxmlformats.org/drawingml/2006/main" w="9525">
            <a:solidFill>
              <a:srgbClr val="4ED6C5"/>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ctr">
              <a:defRPr sz="1500" b="1">
                <a:solidFill>
                  <a:srgbClr val="0A1220"/>
                </a:solidFill>
                <a:latin typeface="Helvetica Neue"/>
                <a:ea typeface="Helvetica Neue"/>
                <a:cs typeface="Helvetica Neue"/>
              </a:defRPr>
            </a:pPr>
            <a:r>
              <a:rPr sz="1500" b="1">
                <a:solidFill>
                  <a:srgbClr val="0A1220"/>
                </a:solidFill>
                <a:latin typeface="Helvetica Neue"/>
                <a:ea typeface="Helvetica Neue"/>
                <a:cs typeface="Helvetica Neue"/>
              </a:rPr>
              <a:t>Portabilidad</a:t>
            </a:r>
          </a:p>
        </p:txBody>
      </p:sp>
      <p:sp>
        <p:nvSpPr>
          <p:cNvPr id="22" name="">
            <a:extLst xmlns:a="http://schemas.openxmlformats.org/drawingml/2006/main">
              <a:ext uri="{FF2B5EF4-FFF2-40B4-BE49-F238E27FC236}">
                <a16:creationId xmlns:a16="http://schemas.microsoft.com/office/drawing/2014/main" id="{7ED335B1-9E4D-4B05-9F1E-3CC99BCE4D3D}"/>
              </a:ext>
            </a:extLst>
          </p:cNvPr>
          <p:cNvSpPr>
            <a:spLocks xmlns:a="http://schemas.openxmlformats.org/drawingml/2006/main" noGrp="1"/>
          </p:cNvSpPr>
          <p:nvPr/>
        </p:nvSpPr>
        <p:spPr>
          <a:xfrm xmlns:a="http://schemas.openxmlformats.org/drawingml/2006/main">
            <a:off x="7620000" y="5000625"/>
            <a:ext cx="3429000" cy="742950"/>
          </a:xfrm>
          <a:prstGeom xmlns:a="http://schemas.openxmlformats.org/drawingml/2006/main" prst="roundRect">
            <a:avLst>
              <a:gd name="adj" fmla="val 17949"/>
            </a:avLst>
          </a:prstGeom>
          <a:solidFill xmlns:a="http://schemas.openxmlformats.org/drawingml/2006/main">
            <a:srgbClr val="172B44"/>
          </a:solidFill>
          <a:ln xmlns:a="http://schemas.openxmlformats.org/drawingml/2006/main" w="9525">
            <a:solidFill>
              <a:srgbClr val="2E4965"/>
            </a:solidFill>
            <a:prstDash val="solid"/>
          </a:ln>
        </p:spPr>
        <p:txBody>
          <a:bodyPr xmlns:a="http://schemas.openxmlformats.org/drawingml/2006/main" lIns="133350" tIns="114300" rIns="133350" bIns="114300" anchor="ctr">
            <a:normAutofit fontScale="95414"/>
          </a:bodyPr>
          <a:lstStyle xmlns:a="http://schemas.openxmlformats.org/drawingml/2006/main"/>
          <a:p xmlns:a="http://schemas.openxmlformats.org/drawingml/2006/main">
            <a:pPr algn="l">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Comportamiento en</a:t>
            </a:r>
          </a:p>
          <a:p xmlns:a="http://schemas.openxmlformats.org/drawingml/2006/main">
            <a:pPr algn="l">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distintos entornos</a:t>
            </a:r>
          </a:p>
        </p:txBody>
      </p:sp>
      <p:sp>
        <p:nvSpPr>
          <p:cNvPr id="23" name="">
            <a:extLst xmlns:a="http://schemas.openxmlformats.org/drawingml/2006/main">
              <a:ext uri="{FF2B5EF4-FFF2-40B4-BE49-F238E27FC236}">
                <a16:creationId xmlns:a16="http://schemas.microsoft.com/office/drawing/2014/main" id="{56819507-E575-46EA-BA1D-9E15B3471053}"/>
              </a:ext>
            </a:extLst>
          </p:cNvPr>
          <p:cNvSpPr>
            <a:spLocks xmlns:a="http://schemas.openxmlformats.org/drawingml/2006/main" noGrp="1"/>
          </p:cNvSpPr>
          <p:nvPr/>
        </p:nvSpPr>
        <p:spPr>
          <a:xfrm xmlns:a="http://schemas.openxmlformats.org/drawingml/2006/main">
            <a:off x="4000500" y="5238750"/>
            <a:ext cx="400050" cy="266700"/>
          </a:xfrm>
          <a:prstGeom xmlns:a="http://schemas.openxmlformats.org/drawingml/2006/main" prst="rightArrow">
            <a:avLst/>
          </a:prstGeom>
          <a:solidFill xmlns:a="http://schemas.openxmlformats.org/drawingml/2006/main">
            <a:srgbClr val="6A829C"/>
          </a:solidFill>
          <a:ln xmlns:a="http://schemas.openxmlformats.org/drawingml/2006/main" w="9525">
            <a:solidFill>
              <a:srgbClr val="6A829C"/>
            </a:solidFill>
            <a:prstDash val="solid"/>
          </a:ln>
        </p:spPr>
      </p:sp>
      <p:sp>
        <p:nvSpPr>
          <p:cNvPr id="24" name="">
            <a:extLst xmlns:a="http://schemas.openxmlformats.org/drawingml/2006/main">
              <a:ext uri="{FF2B5EF4-FFF2-40B4-BE49-F238E27FC236}">
                <a16:creationId xmlns:a16="http://schemas.microsoft.com/office/drawing/2014/main" id="{6715B7DB-0BBA-4931-8E6E-8D2B8E64DC87}"/>
              </a:ext>
            </a:extLst>
          </p:cNvPr>
          <p:cNvSpPr>
            <a:spLocks xmlns:a="http://schemas.openxmlformats.org/drawingml/2006/main" noGrp="1"/>
          </p:cNvSpPr>
          <p:nvPr/>
        </p:nvSpPr>
        <p:spPr>
          <a:xfrm xmlns:a="http://schemas.openxmlformats.org/drawingml/2006/main">
            <a:off x="7048500" y="5238750"/>
            <a:ext cx="400050" cy="266700"/>
          </a:xfrm>
          <a:prstGeom xmlns:a="http://schemas.openxmlformats.org/drawingml/2006/main" prst="rightArrow">
            <a:avLst/>
          </a:prstGeom>
          <a:solidFill xmlns:a="http://schemas.openxmlformats.org/drawingml/2006/main">
            <a:srgbClr val="6A829C"/>
          </a:solidFill>
          <a:ln xmlns:a="http://schemas.openxmlformats.org/drawingml/2006/main" w="9525">
            <a:solidFill>
              <a:srgbClr val="6A829C"/>
            </a:solidFill>
            <a:prstDash val="solid"/>
          </a:ln>
        </p:spPr>
      </p:sp>
    </p:spTree>
    <p:extLst>
      <p:ext uri="{BB962C8B-B14F-4D97-AF65-F5344CB8AC3E}">
        <p14:creationId xmlns:p14="http://schemas.microsoft.com/office/powerpoint/2010/main" val="332546857"/>
      </p:ext>
    </p:extLst>
  </p:cSld>
</p:sld>
</file>

<file path=ppt/slides/slide5.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9736DCD-1DEA-4C28-A1F2-0B03044E9313}"/>
              </a:ext>
            </a:extLst>
          </p:cNvPr>
          <p:cNvSpPr>
            <a:spLocks xmlns:a="http://schemas.openxmlformats.org/drawingml/2006/main" noGrp="1"/>
          </p:cNvSpPr>
          <p:nvPr/>
        </p:nvSpPr>
        <p:spPr>
          <a:xfrm xmlns:a="http://schemas.openxmlformats.org/drawingml/2006/main">
            <a:off x="685800" y="4000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4ED6C5"/>
                </a:solidFill>
                <a:latin typeface="Helvetica Neue"/>
                <a:ea typeface="Helvetica Neue"/>
                <a:cs typeface="Helvetica Neue"/>
              </a:defRPr>
            </a:pPr>
            <a:r>
              <a:rPr sz="900" b="1" i="0">
                <a:solidFill>
                  <a:srgbClr val="4ED6C5"/>
                </a:solidFill>
                <a:latin typeface="Helvetica Neue"/>
                <a:ea typeface="Helvetica Neue"/>
                <a:cs typeface="Helvetica Neue"/>
              </a:rPr>
              <a:t>04 · RENDIMIENTO</a:t>
            </a:r>
          </a:p>
        </p:txBody>
      </p:sp>
      <p:sp>
        <p:nvSpPr>
          <p:cNvPr id="2" name="">
            <a:extLst xmlns:a="http://schemas.openxmlformats.org/drawingml/2006/main">
              <a:ext uri="{FF2B5EF4-FFF2-40B4-BE49-F238E27FC236}">
                <a16:creationId xmlns:a16="http://schemas.microsoft.com/office/drawing/2014/main" id="{F39CC415-A588-4442-9D5C-FCA85F03CF35}"/>
              </a:ext>
            </a:extLst>
          </p:cNvPr>
          <p:cNvSpPr>
            <a:spLocks xmlns:a="http://schemas.openxmlformats.org/drawingml/2006/main" noGrp="1"/>
          </p:cNvSpPr>
          <p:nvPr/>
        </p:nvSpPr>
        <p:spPr>
          <a:xfrm xmlns:a="http://schemas.openxmlformats.org/drawingml/2006/main">
            <a:off x="685800" y="7048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F5F7FA"/>
                </a:solidFill>
                <a:latin typeface="Helvetica Neue"/>
                <a:ea typeface="Helvetica Neue"/>
                <a:cs typeface="Helvetica Neue"/>
              </a:defRPr>
            </a:pPr>
            <a:r>
              <a:rPr sz="2925" b="1" i="0">
                <a:solidFill>
                  <a:srgbClr val="F5F7FA"/>
                </a:solidFill>
                <a:latin typeface="Helvetica Neue"/>
                <a:ea typeface="Helvetica Neue"/>
                <a:cs typeface="Helvetica Neue"/>
              </a:rPr>
              <a:t>¿Qué son las pruebas de carga?</a:t>
            </a:r>
          </a:p>
        </p:txBody>
      </p:sp>
      <p:sp>
        <p:nvSpPr>
          <p:cNvPr id="3" name="">
            <a:extLst xmlns:a="http://schemas.openxmlformats.org/drawingml/2006/main">
              <a:ext uri="{FF2B5EF4-FFF2-40B4-BE49-F238E27FC236}">
                <a16:creationId xmlns:a16="http://schemas.microsoft.com/office/drawing/2014/main" id="{564CFC61-A2A9-4E4F-8EB9-4C6CD54A9A1E}"/>
              </a:ext>
            </a:extLst>
          </p:cNvPr>
          <p:cNvSpPr>
            <a:spLocks xmlns:a="http://schemas.openxmlformats.org/drawingml/2006/main" noGrp="1"/>
          </p:cNvSpPr>
          <p:nvPr/>
        </p:nvSpPr>
        <p:spPr>
          <a:xfrm xmlns:a="http://schemas.openxmlformats.org/drawingml/2006/main">
            <a:off x="685800" y="1428750"/>
            <a:ext cx="10820400" cy="0"/>
          </a:xfrm>
          <a:prstGeom xmlns:a="http://schemas.openxmlformats.org/drawingml/2006/main" prst="line">
            <a:avLst/>
          </a:prstGeom>
          <a:noFill xmlns:a="http://schemas.openxmlformats.org/drawingml/2006/main"/>
          <a:ln xmlns:a="http://schemas.openxmlformats.org/drawingml/2006/main" w="9525">
            <a:solidFill>
              <a:srgbClr val="2E4965"/>
            </a:solidFill>
            <a:prstDash val="solid"/>
          </a:ln>
        </p:spPr>
      </p:sp>
      <p:sp>
        <p:nvSpPr>
          <p:cNvPr id="4" name="">
            <a:extLst xmlns:a="http://schemas.openxmlformats.org/drawingml/2006/main">
              <a:ext uri="{FF2B5EF4-FFF2-40B4-BE49-F238E27FC236}">
                <a16:creationId xmlns:a16="http://schemas.microsoft.com/office/drawing/2014/main" id="{9A53FAC9-A41B-48A7-A2EA-D79DB81A62B8}"/>
              </a:ext>
            </a:extLst>
          </p:cNvPr>
          <p:cNvSpPr>
            <a:spLocks xmlns:a="http://schemas.openxmlformats.org/drawingml/2006/main" noGrp="1"/>
          </p:cNvSpPr>
          <p:nvPr/>
        </p:nvSpPr>
        <p:spPr>
          <a:xfrm xmlns:a="http://schemas.openxmlformats.org/drawingml/2006/main">
            <a:off x="685800" y="65532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FC0D4"/>
                </a:solidFill>
                <a:latin typeface="Helvetica Neue"/>
                <a:ea typeface="Helvetica Neue"/>
                <a:cs typeface="Helvetica Neue"/>
              </a:defRPr>
            </a:pPr>
            <a:r>
              <a:rPr sz="825" b="1" i="0">
                <a:solidFill>
                  <a:srgbClr val="AFC0D4"/>
                </a:solidFill>
                <a:latin typeface="Helvetica Neue"/>
                <a:ea typeface="Helvetica Neue"/>
                <a:cs typeface="Helvetica Neue"/>
              </a:rPr>
              <a:t>PRUEBAS NO FUNCIONALES</a:t>
            </a:r>
          </a:p>
        </p:txBody>
      </p:sp>
      <p:sp>
        <p:nvSpPr>
          <p:cNvPr id="5" name="">
            <a:extLst xmlns:a="http://schemas.openxmlformats.org/drawingml/2006/main">
              <a:ext uri="{FF2B5EF4-FFF2-40B4-BE49-F238E27FC236}">
                <a16:creationId xmlns:a16="http://schemas.microsoft.com/office/drawing/2014/main" id="{4798B8D8-49C2-4DF8-96E4-FC4C8492C71B}"/>
              </a:ext>
            </a:extLst>
          </p:cNvPr>
          <p:cNvSpPr>
            <a:spLocks xmlns:a="http://schemas.openxmlformats.org/drawingml/2006/main" noGrp="1"/>
          </p:cNvSpPr>
          <p:nvPr/>
        </p:nvSpPr>
        <p:spPr>
          <a:xfrm xmlns:a="http://schemas.openxmlformats.org/drawingml/2006/main">
            <a:off x="11049000" y="65151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4ED6C5"/>
                </a:solidFill>
                <a:latin typeface="Helvetica Neue"/>
                <a:ea typeface="Helvetica Neue"/>
                <a:cs typeface="Helvetica Neue"/>
              </a:defRPr>
            </a:pPr>
            <a:r>
              <a:rPr sz="1050" b="1" i="0">
                <a:solidFill>
                  <a:srgbClr val="4ED6C5"/>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F27011E9-52A1-4B82-A8D2-6B45E9EADEB1}"/>
              </a:ext>
            </a:extLst>
          </p:cNvPr>
          <p:cNvSpPr>
            <a:spLocks xmlns:a="http://schemas.openxmlformats.org/drawingml/2006/main" noGrp="1"/>
          </p:cNvSpPr>
          <p:nvPr/>
        </p:nvSpPr>
        <p:spPr>
          <a:xfrm xmlns:a="http://schemas.openxmlformats.org/drawingml/2006/main">
            <a:off x="685800" y="1733550"/>
            <a:ext cx="809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875" b="1" i="0">
                <a:solidFill>
                  <a:srgbClr val="F5F7FA"/>
                </a:solidFill>
                <a:latin typeface="Helvetica Neue"/>
                <a:ea typeface="Helvetica Neue"/>
                <a:cs typeface="Helvetica Neue"/>
              </a:defRPr>
            </a:pPr>
            <a:r>
              <a:rPr sz="1875" b="1" i="0">
                <a:solidFill>
                  <a:srgbClr val="F5F7FA"/>
                </a:solidFill>
                <a:latin typeface="Helvetica Neue"/>
                <a:ea typeface="Helvetica Neue"/>
                <a:cs typeface="Helvetica Neue"/>
              </a:rPr>
              <a:t>Mantienen una carga esperada y observan si el sistema cumple sus objetivos de rendimiento.</a:t>
            </a:r>
          </a:p>
        </p:txBody>
      </p:sp>
      <p:sp>
        <p:nvSpPr>
          <p:cNvPr id="7" name="">
            <a:extLst xmlns:a="http://schemas.openxmlformats.org/drawingml/2006/main">
              <a:ext uri="{FF2B5EF4-FFF2-40B4-BE49-F238E27FC236}">
                <a16:creationId xmlns:a16="http://schemas.microsoft.com/office/drawing/2014/main" id="{CFCA9BBE-AF2F-423F-9613-E9996FEFE901}"/>
              </a:ext>
            </a:extLst>
          </p:cNvPr>
          <p:cNvSpPr>
            <a:spLocks xmlns:a="http://schemas.openxmlformats.org/drawingml/2006/main" noGrp="1"/>
          </p:cNvSpPr>
          <p:nvPr/>
        </p:nvSpPr>
        <p:spPr>
          <a:xfrm xmlns:a="http://schemas.openxmlformats.org/drawingml/2006/main">
            <a:off x="685800" y="280987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4ED6C5"/>
                </a:solidFill>
                <a:latin typeface="Helvetica Neue"/>
                <a:ea typeface="Helvetica Neue"/>
                <a:cs typeface="Helvetica Neue"/>
              </a:defRPr>
            </a:pPr>
            <a:r>
              <a:rPr sz="1050" b="1" i="0">
                <a:solidFill>
                  <a:srgbClr val="4ED6C5"/>
                </a:solidFill>
                <a:latin typeface="Helvetica Neue"/>
                <a:ea typeface="Helvetica Neue"/>
                <a:cs typeface="Helvetica Neue"/>
              </a:rPr>
              <a:t>Ejemplo de escenario</a:t>
            </a:r>
          </a:p>
        </p:txBody>
      </p:sp>
      <p:sp>
        <p:nvSpPr>
          <p:cNvPr id="8" name="">
            <a:extLst xmlns:a="http://schemas.openxmlformats.org/drawingml/2006/main">
              <a:ext uri="{FF2B5EF4-FFF2-40B4-BE49-F238E27FC236}">
                <a16:creationId xmlns:a16="http://schemas.microsoft.com/office/drawing/2014/main" id="{7A78FA88-08AB-499E-B779-3E7025410A08}"/>
              </a:ext>
            </a:extLst>
          </p:cNvPr>
          <p:cNvSpPr>
            <a:spLocks xmlns:a="http://schemas.openxmlformats.org/drawingml/2006/main" noGrp="1"/>
          </p:cNvSpPr>
          <p:nvPr/>
        </p:nvSpPr>
        <p:spPr>
          <a:xfrm xmlns:a="http://schemas.openxmlformats.org/drawingml/2006/main">
            <a:off x="685800" y="31051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497"/>
          </a:bodyPr>
          <a:lstStyle xmlns:a="http://schemas.openxmlformats.org/drawingml/2006/main"/>
          <a:p xmlns:a="http://schemas.openxmlformats.org/drawingml/2006/main">
            <a:pPr algn="l">
              <a:defRPr sz="1500" b="0" i="0">
                <a:solidFill>
                  <a:srgbClr val="AFC0D4"/>
                </a:solidFill>
                <a:latin typeface="Helvetica Neue"/>
                <a:ea typeface="Helvetica Neue"/>
                <a:cs typeface="Helvetica Neue"/>
              </a:defRPr>
            </a:pPr>
            <a:r>
              <a:rPr sz="1500" b="0" i="0">
                <a:solidFill>
                  <a:srgbClr val="AFC0D4"/>
                </a:solidFill>
                <a:latin typeface="Helvetica Neue"/>
                <a:ea typeface="Helvetica Neue"/>
                <a:cs typeface="Helvetica Neue"/>
              </a:rPr>
              <a:t>Usuarios previstos durante un periodo definido</a:t>
            </a:r>
          </a:p>
        </p:txBody>
      </p:sp>
      <p:sp>
        <p:nvSpPr>
          <p:cNvPr id="9" name="">
            <a:extLst xmlns:a="http://schemas.openxmlformats.org/drawingml/2006/main">
              <a:ext uri="{FF2B5EF4-FFF2-40B4-BE49-F238E27FC236}">
                <a16:creationId xmlns:a16="http://schemas.microsoft.com/office/drawing/2014/main" id="{8B9D14B9-DCA7-410B-89C8-FF4D9F72E413}"/>
              </a:ext>
            </a:extLst>
          </p:cNvPr>
          <p:cNvSpPr>
            <a:spLocks xmlns:a="http://schemas.openxmlformats.org/drawingml/2006/main" noGrp="1"/>
          </p:cNvSpPr>
          <p:nvPr/>
        </p:nvSpPr>
        <p:spPr>
          <a:xfrm xmlns:a="http://schemas.openxmlformats.org/drawingml/2006/main">
            <a:off x="685800" y="4572000"/>
            <a:ext cx="1619250" cy="342900"/>
          </a:xfrm>
          <a:prstGeom xmlns:a="http://schemas.openxmlformats.org/drawingml/2006/main" prst="roundRect">
            <a:avLst>
              <a:gd name="adj" fmla="val 50000"/>
            </a:avLst>
          </a:prstGeom>
          <a:solidFill xmlns:a="http://schemas.openxmlformats.org/drawingml/2006/main">
            <a:srgbClr val="80B7FF"/>
          </a:solidFill>
          <a:ln xmlns:a="http://schemas.openxmlformats.org/drawingml/2006/main" w="9525">
            <a:solidFill>
              <a:srgbClr val="80B7FF"/>
            </a:solidFill>
            <a:prstDash val="solid"/>
          </a:ln>
        </p:spPr>
      </p:sp>
      <p:sp>
        <p:nvSpPr>
          <p:cNvPr id="10" name="">
            <a:extLst xmlns:a="http://schemas.openxmlformats.org/drawingml/2006/main">
              <a:ext uri="{FF2B5EF4-FFF2-40B4-BE49-F238E27FC236}">
                <a16:creationId xmlns:a16="http://schemas.microsoft.com/office/drawing/2014/main" id="{E3BA7FD9-A452-4E28-AE49-6D1CE2B8F62A}"/>
              </a:ext>
            </a:extLst>
          </p:cNvPr>
          <p:cNvSpPr>
            <a:spLocks xmlns:a="http://schemas.openxmlformats.org/drawingml/2006/main" noGrp="1"/>
          </p:cNvSpPr>
          <p:nvPr/>
        </p:nvSpPr>
        <p:spPr>
          <a:xfrm xmlns:a="http://schemas.openxmlformats.org/drawingml/2006/main">
            <a:off x="838200" y="4619625"/>
            <a:ext cx="1352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0A1220"/>
                </a:solidFill>
                <a:latin typeface="Helvetica Neue"/>
                <a:ea typeface="Helvetica Neue"/>
                <a:cs typeface="Helvetica Neue"/>
              </a:defRPr>
            </a:pPr>
            <a:r>
              <a:rPr sz="1200" b="1" i="0">
                <a:solidFill>
                  <a:srgbClr val="0A1220"/>
                </a:solidFill>
                <a:latin typeface="Helvetica Neue"/>
                <a:ea typeface="Helvetica Neue"/>
                <a:cs typeface="Helvetica Neue"/>
              </a:rPr>
              <a:t>Inicio</a:t>
            </a:r>
          </a:p>
        </p:txBody>
      </p:sp>
      <p:sp>
        <p:nvSpPr>
          <p:cNvPr id="11" name="">
            <a:extLst xmlns:a="http://schemas.openxmlformats.org/drawingml/2006/main">
              <a:ext uri="{FF2B5EF4-FFF2-40B4-BE49-F238E27FC236}">
                <a16:creationId xmlns:a16="http://schemas.microsoft.com/office/drawing/2014/main" id="{85BD359B-C2EE-45EE-ABA8-0530C46D951B}"/>
              </a:ext>
            </a:extLst>
          </p:cNvPr>
          <p:cNvSpPr>
            <a:spLocks xmlns:a="http://schemas.openxmlformats.org/drawingml/2006/main" noGrp="1"/>
          </p:cNvSpPr>
          <p:nvPr/>
        </p:nvSpPr>
        <p:spPr>
          <a:xfrm xmlns:a="http://schemas.openxmlformats.org/drawingml/2006/main">
            <a:off x="685800" y="4029075"/>
            <a:ext cx="2333625" cy="342900"/>
          </a:xfrm>
          <a:prstGeom xmlns:a="http://schemas.openxmlformats.org/drawingml/2006/main" prst="roundRect">
            <a:avLst>
              <a:gd name="adj" fmla="val 50000"/>
            </a:avLst>
          </a:prstGeom>
          <a:solidFill xmlns:a="http://schemas.openxmlformats.org/drawingml/2006/main">
            <a:srgbClr val="4ED6C5"/>
          </a:solidFill>
          <a:ln xmlns:a="http://schemas.openxmlformats.org/drawingml/2006/main" w="9525">
            <a:solidFill>
              <a:srgbClr val="4ED6C5"/>
            </a:solidFill>
            <a:prstDash val="solid"/>
          </a:ln>
        </p:spPr>
      </p:sp>
      <p:sp>
        <p:nvSpPr>
          <p:cNvPr id="12" name="">
            <a:extLst xmlns:a="http://schemas.openxmlformats.org/drawingml/2006/main">
              <a:ext uri="{FF2B5EF4-FFF2-40B4-BE49-F238E27FC236}">
                <a16:creationId xmlns:a16="http://schemas.microsoft.com/office/drawing/2014/main" id="{2BA98FFD-BE8A-43A8-B10F-D0B7F2913EBF}"/>
              </a:ext>
            </a:extLst>
          </p:cNvPr>
          <p:cNvSpPr>
            <a:spLocks xmlns:a="http://schemas.openxmlformats.org/drawingml/2006/main" noGrp="1"/>
          </p:cNvSpPr>
          <p:nvPr/>
        </p:nvSpPr>
        <p:spPr>
          <a:xfrm xmlns:a="http://schemas.openxmlformats.org/drawingml/2006/main">
            <a:off x="838200" y="4076700"/>
            <a:ext cx="20669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0A1220"/>
                </a:solidFill>
                <a:latin typeface="Helvetica Neue"/>
                <a:ea typeface="Helvetica Neue"/>
                <a:cs typeface="Helvetica Neue"/>
              </a:defRPr>
            </a:pPr>
            <a:r>
              <a:rPr sz="1200" b="1" i="0">
                <a:solidFill>
                  <a:srgbClr val="0A1220"/>
                </a:solidFill>
                <a:latin typeface="Helvetica Neue"/>
                <a:ea typeface="Helvetica Neue"/>
                <a:cs typeface="Helvetica Neue"/>
              </a:rPr>
              <a:t>Carga esperada</a:t>
            </a:r>
          </a:p>
        </p:txBody>
      </p:sp>
      <p:sp>
        <p:nvSpPr>
          <p:cNvPr id="13" name="">
            <a:extLst xmlns:a="http://schemas.openxmlformats.org/drawingml/2006/main">
              <a:ext uri="{FF2B5EF4-FFF2-40B4-BE49-F238E27FC236}">
                <a16:creationId xmlns:a16="http://schemas.microsoft.com/office/drawing/2014/main" id="{ADCD8084-361E-4BE1-8E5D-C2EFD26A17A7}"/>
              </a:ext>
            </a:extLst>
          </p:cNvPr>
          <p:cNvSpPr>
            <a:spLocks xmlns:a="http://schemas.openxmlformats.org/drawingml/2006/main" noGrp="1"/>
          </p:cNvSpPr>
          <p:nvPr/>
        </p:nvSpPr>
        <p:spPr>
          <a:xfrm xmlns:a="http://schemas.openxmlformats.org/drawingml/2006/main">
            <a:off x="685800" y="3486150"/>
            <a:ext cx="3048000" cy="342900"/>
          </a:xfrm>
          <a:prstGeom xmlns:a="http://schemas.openxmlformats.org/drawingml/2006/main" prst="roundRect">
            <a:avLst>
              <a:gd name="adj" fmla="val 50000"/>
            </a:avLst>
          </a:prstGeom>
          <a:solidFill xmlns:a="http://schemas.openxmlformats.org/drawingml/2006/main">
            <a:srgbClr val="F4C76B"/>
          </a:solidFill>
          <a:ln xmlns:a="http://schemas.openxmlformats.org/drawingml/2006/main" w="9525">
            <a:solidFill>
              <a:srgbClr val="F4C76B"/>
            </a:solidFill>
            <a:prstDash val="solid"/>
          </a:ln>
        </p:spPr>
      </p:sp>
      <p:sp>
        <p:nvSpPr>
          <p:cNvPr id="14" name="">
            <a:extLst xmlns:a="http://schemas.openxmlformats.org/drawingml/2006/main">
              <a:ext uri="{FF2B5EF4-FFF2-40B4-BE49-F238E27FC236}">
                <a16:creationId xmlns:a16="http://schemas.microsoft.com/office/drawing/2014/main" id="{16E5BD3B-B900-46BF-BBDC-05A64A270C6F}"/>
              </a:ext>
            </a:extLst>
          </p:cNvPr>
          <p:cNvSpPr>
            <a:spLocks xmlns:a="http://schemas.openxmlformats.org/drawingml/2006/main" noGrp="1"/>
          </p:cNvSpPr>
          <p:nvPr/>
        </p:nvSpPr>
        <p:spPr>
          <a:xfrm xmlns:a="http://schemas.openxmlformats.org/drawingml/2006/main">
            <a:off x="838200" y="3533775"/>
            <a:ext cx="2781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0A1220"/>
                </a:solidFill>
                <a:latin typeface="Helvetica Neue"/>
                <a:ea typeface="Helvetica Neue"/>
                <a:cs typeface="Helvetica Neue"/>
              </a:defRPr>
            </a:pPr>
            <a:r>
              <a:rPr sz="1200" b="1" i="0">
                <a:solidFill>
                  <a:srgbClr val="0A1220"/>
                </a:solidFill>
                <a:latin typeface="Helvetica Neue"/>
                <a:ea typeface="Helvetica Neue"/>
                <a:cs typeface="Helvetica Neue"/>
              </a:rPr>
              <a:t>Pico previsto</a:t>
            </a:r>
          </a:p>
        </p:txBody>
      </p:sp>
      <p:sp>
        <p:nvSpPr>
          <p:cNvPr id="15" name="">
            <a:extLst xmlns:a="http://schemas.openxmlformats.org/drawingml/2006/main">
              <a:ext uri="{FF2B5EF4-FFF2-40B4-BE49-F238E27FC236}">
                <a16:creationId xmlns:a16="http://schemas.microsoft.com/office/drawing/2014/main" id="{9D8E22E6-E7E6-449D-AEE0-0893F820D1A4}"/>
              </a:ext>
            </a:extLst>
          </p:cNvPr>
          <p:cNvSpPr>
            <a:spLocks xmlns:a="http://schemas.openxmlformats.org/drawingml/2006/main" noGrp="1"/>
          </p:cNvSpPr>
          <p:nvPr/>
        </p:nvSpPr>
        <p:spPr>
          <a:xfrm xmlns:a="http://schemas.openxmlformats.org/drawingml/2006/main">
            <a:off x="685800" y="50292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i="0">
                <a:solidFill>
                  <a:srgbClr val="AFC0D4"/>
                </a:solidFill>
                <a:latin typeface="Helvetica Neue"/>
                <a:ea typeface="Helvetica Neue"/>
                <a:cs typeface="Helvetica Neue"/>
              </a:defRPr>
            </a:pPr>
            <a:r>
              <a:rPr sz="975" b="0" i="0">
                <a:solidFill>
                  <a:srgbClr val="AFC0D4"/>
                </a:solidFill>
                <a:latin typeface="Helvetica Neue"/>
                <a:ea typeface="Helvetica Neue"/>
                <a:cs typeface="Helvetica Neue"/>
              </a:rPr>
              <a:t>aumenta la carga</a:t>
            </a:r>
          </a:p>
        </p:txBody>
      </p:sp>
      <p:sp>
        <p:nvSpPr>
          <p:cNvPr id="16" name="">
            <a:extLst xmlns:a="http://schemas.openxmlformats.org/drawingml/2006/main">
              <a:ext uri="{FF2B5EF4-FFF2-40B4-BE49-F238E27FC236}">
                <a16:creationId xmlns:a16="http://schemas.microsoft.com/office/drawing/2014/main" id="{A31083BB-CF74-47E7-A2EC-B25FDC482F19}"/>
              </a:ext>
            </a:extLst>
          </p:cNvPr>
          <p:cNvSpPr>
            <a:spLocks xmlns:a="http://schemas.openxmlformats.org/drawingml/2006/main" noGrp="1"/>
          </p:cNvSpPr>
          <p:nvPr/>
        </p:nvSpPr>
        <p:spPr>
          <a:xfrm xmlns:a="http://schemas.openxmlformats.org/drawingml/2006/main">
            <a:off x="6858000" y="2800350"/>
            <a:ext cx="3638550" cy="2095500"/>
          </a:xfrm>
          <a:prstGeom xmlns:a="http://schemas.openxmlformats.org/drawingml/2006/main" prst="roundRect">
            <a:avLst>
              <a:gd name="adj" fmla="val 8182"/>
            </a:avLst>
          </a:prstGeom>
          <a:solidFill xmlns:a="http://schemas.openxmlformats.org/drawingml/2006/main">
            <a:srgbClr val="14253B"/>
          </a:solidFill>
          <a:ln xmlns:a="http://schemas.openxmlformats.org/drawingml/2006/main" w="19050">
            <a:solidFill>
              <a:srgbClr val="4ED6C5"/>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l">
              <a:defRPr sz="1650" b="1">
                <a:solidFill>
                  <a:srgbClr val="F5F7FA"/>
                </a:solidFill>
                <a:latin typeface="Helvetica Neue"/>
                <a:ea typeface="Helvetica Neue"/>
                <a:cs typeface="Helvetica Neue"/>
              </a:defRPr>
            </a:pPr>
            <a:r>
              <a:rPr sz="1650" b="1">
                <a:solidFill>
                  <a:srgbClr val="F5F7FA"/>
                </a:solidFill>
                <a:latin typeface="Helvetica Neue"/>
                <a:ea typeface="Helvetica Neue"/>
                <a:cs typeface="Helvetica Neue"/>
              </a:rPr>
              <a:t>Métricas observadas</a:t>
            </a:r>
          </a:p>
          <a:p xmlns:a="http://schemas.openxmlformats.org/drawingml/2006/main">
            <a:pPr algn="l">
              <a:defRPr sz="1650" b="1">
                <a:solidFill>
                  <a:srgbClr val="F5F7FA"/>
                </a:solidFill>
                <a:latin typeface="Helvetica Neue"/>
                <a:ea typeface="Helvetica Neue"/>
                <a:cs typeface="Helvetica Neue"/>
              </a:defRPr>
            </a:pPr>
            <a:r>
              <a:rPr sz="1650" b="1">
                <a:solidFill>
                  <a:srgbClr val="F5F7FA"/>
                </a:solidFill>
                <a:latin typeface="Helvetica Neue"/>
                <a:ea typeface="Helvetica Neue"/>
                <a:cs typeface="Helvetica Neue"/>
              </a:rPr>
              <a:t>Tiempo de respuesta</a:t>
            </a:r>
          </a:p>
          <a:p xmlns:a="http://schemas.openxmlformats.org/drawingml/2006/main">
            <a:pPr algn="l">
              <a:defRPr sz="1650" b="1">
                <a:solidFill>
                  <a:srgbClr val="F5F7FA"/>
                </a:solidFill>
                <a:latin typeface="Helvetica Neue"/>
                <a:ea typeface="Helvetica Neue"/>
                <a:cs typeface="Helvetica Neue"/>
              </a:defRPr>
            </a:pPr>
            <a:r>
              <a:rPr sz="1650" b="1">
                <a:solidFill>
                  <a:srgbClr val="F5F7FA"/>
                </a:solidFill>
                <a:latin typeface="Helvetica Neue"/>
                <a:ea typeface="Helvetica Neue"/>
                <a:cs typeface="Helvetica Neue"/>
              </a:rPr>
              <a:t>Tasa de errores</a:t>
            </a:r>
          </a:p>
          <a:p xmlns:a="http://schemas.openxmlformats.org/drawingml/2006/main">
            <a:pPr algn="l">
              <a:defRPr sz="1650" b="1">
                <a:solidFill>
                  <a:srgbClr val="F5F7FA"/>
                </a:solidFill>
                <a:latin typeface="Helvetica Neue"/>
                <a:ea typeface="Helvetica Neue"/>
                <a:cs typeface="Helvetica Neue"/>
              </a:defRPr>
            </a:pPr>
            <a:r>
              <a:rPr sz="1650" b="1">
                <a:solidFill>
                  <a:srgbClr val="F5F7FA"/>
                </a:solidFill>
                <a:latin typeface="Helvetica Neue"/>
                <a:ea typeface="Helvetica Neue"/>
                <a:cs typeface="Helvetica Neue"/>
              </a:rPr>
              <a:t>Uso de CPU y memoria</a:t>
            </a:r>
          </a:p>
        </p:txBody>
      </p:sp>
      <p:sp>
        <p:nvSpPr>
          <p:cNvPr id="17" name="">
            <a:extLst xmlns:a="http://schemas.openxmlformats.org/drawingml/2006/main">
              <a:ext uri="{FF2B5EF4-FFF2-40B4-BE49-F238E27FC236}">
                <a16:creationId xmlns:a16="http://schemas.microsoft.com/office/drawing/2014/main" id="{9944D37A-2EB8-409C-A7F4-46C07127D303}"/>
              </a:ext>
            </a:extLst>
          </p:cNvPr>
          <p:cNvSpPr>
            <a:spLocks xmlns:a="http://schemas.openxmlformats.org/drawingml/2006/main" noGrp="1"/>
          </p:cNvSpPr>
          <p:nvPr/>
        </p:nvSpPr>
        <p:spPr>
          <a:xfrm xmlns:a="http://schemas.openxmlformats.org/drawingml/2006/main">
            <a:off x="3905250" y="3905250"/>
            <a:ext cx="133350" cy="133350"/>
          </a:xfrm>
          <a:prstGeom xmlns:a="http://schemas.openxmlformats.org/drawingml/2006/main" prst="ellipse">
            <a:avLst/>
          </a:prstGeom>
          <a:solidFill xmlns:a="http://schemas.openxmlformats.org/drawingml/2006/main">
            <a:srgbClr val="4ED6C5"/>
          </a:solidFill>
          <a:ln xmlns:a="http://schemas.openxmlformats.org/drawingml/2006/main" w="9525">
            <a:solidFill>
              <a:srgbClr val="4ED6C5"/>
            </a:solidFill>
            <a:prstDash val="solid"/>
          </a:ln>
        </p:spPr>
      </p:sp>
      <p:cxnSp>
        <p:nvCxnSpPr>
          <p:cNvPr id="36" name=""/>
          <p:cNvCxnSpPr>
            <a:stCxn xmlns:a="http://schemas.openxmlformats.org/drawingml/2006/main" id="17" idx="6"/>
            <a:endCxn xmlns:a="http://schemas.openxmlformats.org/drawingml/2006/main" id="16" idx="1"/>
          </p:cNvCxnSpPr>
          <p:nvPr/>
        </p:nvCxnSpPr>
        <p:spPr>
          <a:xfrm xmlns:a="http://schemas.openxmlformats.org/drawingml/2006/main" flipV="1">
            <a:off x="4038600" y="3848100"/>
            <a:ext cx="2819400" cy="123825"/>
          </a:xfrm>
          <a:prstGeom xmlns:a="http://schemas.openxmlformats.org/drawingml/2006/main" prst="bentConnector3">
            <a:avLst>
              <a:gd name="adj1" fmla="val 50000"/>
            </a:avLst>
          </a:prstGeom>
          <a:ln xmlns:a="http://schemas.openxmlformats.org/drawingml/2006/main" w="19050">
            <a:solidFill>
              <a:srgbClr val="4ED6C5"/>
            </a:solidFill>
            <a:prstDash val="solid"/>
            <a:tailEnd type="arrow" w="med" len="med"/>
          </a:ln>
        </p:spPr>
      </p:cxnSp>
    </p:spTree>
    <p:extLst>
      <p:ext uri="{BB962C8B-B14F-4D97-AF65-F5344CB8AC3E}">
        <p14:creationId xmlns:p14="http://schemas.microsoft.com/office/powerpoint/2010/main" val="830068607"/>
      </p:ext>
    </p:extLst>
  </p:cSld>
</p:sld>
</file>

<file path=ppt/slides/slide6.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185EA3A-3B00-4150-9056-BF39C062372A}"/>
              </a:ext>
            </a:extLst>
          </p:cNvPr>
          <p:cNvSpPr>
            <a:spLocks xmlns:a="http://schemas.openxmlformats.org/drawingml/2006/main" noGrp="1"/>
          </p:cNvSpPr>
          <p:nvPr/>
        </p:nvSpPr>
        <p:spPr>
          <a:xfrm xmlns:a="http://schemas.openxmlformats.org/drawingml/2006/main">
            <a:off x="685800" y="4000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4ED6C5"/>
                </a:solidFill>
                <a:latin typeface="Helvetica Neue"/>
                <a:ea typeface="Helvetica Neue"/>
                <a:cs typeface="Helvetica Neue"/>
              </a:defRPr>
            </a:pPr>
            <a:r>
              <a:rPr sz="900" b="1" i="0">
                <a:solidFill>
                  <a:srgbClr val="4ED6C5"/>
                </a:solidFill>
                <a:latin typeface="Helvetica Neue"/>
                <a:ea typeface="Helvetica Neue"/>
                <a:cs typeface="Helvetica Neue"/>
              </a:rPr>
              <a:t>05 · RESISTENCIA</a:t>
            </a:r>
          </a:p>
        </p:txBody>
      </p:sp>
      <p:sp>
        <p:nvSpPr>
          <p:cNvPr id="2" name="">
            <a:extLst xmlns:a="http://schemas.openxmlformats.org/drawingml/2006/main">
              <a:ext uri="{FF2B5EF4-FFF2-40B4-BE49-F238E27FC236}">
                <a16:creationId xmlns:a16="http://schemas.microsoft.com/office/drawing/2014/main" id="{31972CB2-9787-4BCD-9922-34F787FDBAE6}"/>
              </a:ext>
            </a:extLst>
          </p:cNvPr>
          <p:cNvSpPr>
            <a:spLocks xmlns:a="http://schemas.openxmlformats.org/drawingml/2006/main" noGrp="1"/>
          </p:cNvSpPr>
          <p:nvPr/>
        </p:nvSpPr>
        <p:spPr>
          <a:xfrm xmlns:a="http://schemas.openxmlformats.org/drawingml/2006/main">
            <a:off x="685800" y="7048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F5F7FA"/>
                </a:solidFill>
                <a:latin typeface="Helvetica Neue"/>
                <a:ea typeface="Helvetica Neue"/>
                <a:cs typeface="Helvetica Neue"/>
              </a:defRPr>
            </a:pPr>
            <a:r>
              <a:rPr sz="2925" b="1" i="0">
                <a:solidFill>
                  <a:srgbClr val="F5F7FA"/>
                </a:solidFill>
                <a:latin typeface="Helvetica Neue"/>
                <a:ea typeface="Helvetica Neue"/>
                <a:cs typeface="Helvetica Neue"/>
              </a:rPr>
              <a:t>¿Qué son las pruebas de estrés?</a:t>
            </a:r>
          </a:p>
        </p:txBody>
      </p:sp>
      <p:sp>
        <p:nvSpPr>
          <p:cNvPr id="3" name="">
            <a:extLst xmlns:a="http://schemas.openxmlformats.org/drawingml/2006/main">
              <a:ext uri="{FF2B5EF4-FFF2-40B4-BE49-F238E27FC236}">
                <a16:creationId xmlns:a16="http://schemas.microsoft.com/office/drawing/2014/main" id="{D57881F9-13E1-42EC-BBE4-5E9C0A6673D4}"/>
              </a:ext>
            </a:extLst>
          </p:cNvPr>
          <p:cNvSpPr>
            <a:spLocks xmlns:a="http://schemas.openxmlformats.org/drawingml/2006/main" noGrp="1"/>
          </p:cNvSpPr>
          <p:nvPr/>
        </p:nvSpPr>
        <p:spPr>
          <a:xfrm xmlns:a="http://schemas.openxmlformats.org/drawingml/2006/main">
            <a:off x="685800" y="1428750"/>
            <a:ext cx="10820400" cy="0"/>
          </a:xfrm>
          <a:prstGeom xmlns:a="http://schemas.openxmlformats.org/drawingml/2006/main" prst="line">
            <a:avLst/>
          </a:prstGeom>
          <a:noFill xmlns:a="http://schemas.openxmlformats.org/drawingml/2006/main"/>
          <a:ln xmlns:a="http://schemas.openxmlformats.org/drawingml/2006/main" w="9525">
            <a:solidFill>
              <a:srgbClr val="2E4965"/>
            </a:solidFill>
            <a:prstDash val="solid"/>
          </a:ln>
        </p:spPr>
      </p:sp>
      <p:sp>
        <p:nvSpPr>
          <p:cNvPr id="4" name="">
            <a:extLst xmlns:a="http://schemas.openxmlformats.org/drawingml/2006/main">
              <a:ext uri="{FF2B5EF4-FFF2-40B4-BE49-F238E27FC236}">
                <a16:creationId xmlns:a16="http://schemas.microsoft.com/office/drawing/2014/main" id="{0E8FCCC8-5A4A-4A07-B14F-151E758C5F93}"/>
              </a:ext>
            </a:extLst>
          </p:cNvPr>
          <p:cNvSpPr>
            <a:spLocks xmlns:a="http://schemas.openxmlformats.org/drawingml/2006/main" noGrp="1"/>
          </p:cNvSpPr>
          <p:nvPr/>
        </p:nvSpPr>
        <p:spPr>
          <a:xfrm xmlns:a="http://schemas.openxmlformats.org/drawingml/2006/main">
            <a:off x="685800" y="65532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FC0D4"/>
                </a:solidFill>
                <a:latin typeface="Helvetica Neue"/>
                <a:ea typeface="Helvetica Neue"/>
                <a:cs typeface="Helvetica Neue"/>
              </a:defRPr>
            </a:pPr>
            <a:r>
              <a:rPr sz="825" b="1" i="0">
                <a:solidFill>
                  <a:srgbClr val="AFC0D4"/>
                </a:solidFill>
                <a:latin typeface="Helvetica Neue"/>
                <a:ea typeface="Helvetica Neue"/>
                <a:cs typeface="Helvetica Neue"/>
              </a:rPr>
              <a:t>PRUEBAS NO FUNCIONALES</a:t>
            </a:r>
          </a:p>
        </p:txBody>
      </p:sp>
      <p:sp>
        <p:nvSpPr>
          <p:cNvPr id="5" name="">
            <a:extLst xmlns:a="http://schemas.openxmlformats.org/drawingml/2006/main">
              <a:ext uri="{FF2B5EF4-FFF2-40B4-BE49-F238E27FC236}">
                <a16:creationId xmlns:a16="http://schemas.microsoft.com/office/drawing/2014/main" id="{38FEE041-D66E-42F5-BC16-BA892C4A4FCC}"/>
              </a:ext>
            </a:extLst>
          </p:cNvPr>
          <p:cNvSpPr>
            <a:spLocks xmlns:a="http://schemas.openxmlformats.org/drawingml/2006/main" noGrp="1"/>
          </p:cNvSpPr>
          <p:nvPr/>
        </p:nvSpPr>
        <p:spPr>
          <a:xfrm xmlns:a="http://schemas.openxmlformats.org/drawingml/2006/main">
            <a:off x="11049000" y="65151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4ED6C5"/>
                </a:solidFill>
                <a:latin typeface="Helvetica Neue"/>
                <a:ea typeface="Helvetica Neue"/>
                <a:cs typeface="Helvetica Neue"/>
              </a:defRPr>
            </a:pPr>
            <a:r>
              <a:rPr sz="1050" b="1" i="0">
                <a:solidFill>
                  <a:srgbClr val="4ED6C5"/>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07398654-425D-4C8A-B75D-670A7EC111EB}"/>
              </a:ext>
            </a:extLst>
          </p:cNvPr>
          <p:cNvSpPr>
            <a:spLocks xmlns:a="http://schemas.openxmlformats.org/drawingml/2006/main" noGrp="1"/>
          </p:cNvSpPr>
          <p:nvPr/>
        </p:nvSpPr>
        <p:spPr>
          <a:xfrm xmlns:a="http://schemas.openxmlformats.org/drawingml/2006/main">
            <a:off x="685800" y="17335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875" b="1" i="0">
                <a:solidFill>
                  <a:srgbClr val="F5F7FA"/>
                </a:solidFill>
                <a:latin typeface="Helvetica Neue"/>
                <a:ea typeface="Helvetica Neue"/>
                <a:cs typeface="Helvetica Neue"/>
              </a:defRPr>
            </a:pPr>
            <a:r>
              <a:rPr sz="1875" b="1" i="0">
                <a:solidFill>
                  <a:srgbClr val="F5F7FA"/>
                </a:solidFill>
                <a:latin typeface="Helvetica Neue"/>
                <a:ea typeface="Helvetica Neue"/>
                <a:cs typeface="Helvetica Neue"/>
              </a:rPr>
              <a:t>Llevan el sistema más allá de su capacidad esperada para descubrir cómo falla y cómo se recupera.</a:t>
            </a:r>
          </a:p>
        </p:txBody>
      </p:sp>
      <p:sp>
        <p:nvSpPr>
          <p:cNvPr id="7" name="">
            <a:extLst xmlns:a="http://schemas.openxmlformats.org/drawingml/2006/main">
              <a:ext uri="{FF2B5EF4-FFF2-40B4-BE49-F238E27FC236}">
                <a16:creationId xmlns:a16="http://schemas.microsoft.com/office/drawing/2014/main" id="{D42FF7BD-5E31-4E86-BD35-FBDEF1B08323}"/>
              </a:ext>
            </a:extLst>
          </p:cNvPr>
          <p:cNvSpPr>
            <a:spLocks xmlns:a="http://schemas.openxmlformats.org/drawingml/2006/main" noGrp="1"/>
          </p:cNvSpPr>
          <p:nvPr/>
        </p:nvSpPr>
        <p:spPr>
          <a:xfrm xmlns:a="http://schemas.openxmlformats.org/drawingml/2006/main">
            <a:off x="685800" y="24574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AFC0D4"/>
                </a:solidFill>
                <a:latin typeface="Helvetica Neue"/>
                <a:ea typeface="Helvetica Neue"/>
                <a:cs typeface="Helvetica Neue"/>
              </a:defRPr>
            </a:pPr>
            <a:r>
              <a:rPr sz="1350" b="0" i="0">
                <a:solidFill>
                  <a:srgbClr val="AFC0D4"/>
                </a:solidFill>
                <a:latin typeface="Helvetica Neue"/>
                <a:ea typeface="Helvetica Neue"/>
                <a:cs typeface="Helvetica Neue"/>
              </a:rPr>
              <a:t>La prueba busca el comportamiento en el límite, no una operación normal.</a:t>
            </a:r>
          </a:p>
        </p:txBody>
      </p:sp>
      <p:sp>
        <p:nvSpPr>
          <p:cNvPr id="8" name="">
            <a:extLst xmlns:a="http://schemas.openxmlformats.org/drawingml/2006/main">
              <a:ext uri="{FF2B5EF4-FFF2-40B4-BE49-F238E27FC236}">
                <a16:creationId xmlns:a16="http://schemas.microsoft.com/office/drawing/2014/main" id="{1B25A413-1160-4712-A746-5599431CE3B4}"/>
              </a:ext>
            </a:extLst>
          </p:cNvPr>
          <p:cNvSpPr>
            <a:spLocks xmlns:a="http://schemas.openxmlformats.org/drawingml/2006/main" noGrp="1"/>
          </p:cNvSpPr>
          <p:nvPr/>
        </p:nvSpPr>
        <p:spPr>
          <a:xfrm xmlns:a="http://schemas.openxmlformats.org/drawingml/2006/main">
            <a:off x="800100" y="3695700"/>
            <a:ext cx="2190750" cy="666750"/>
          </a:xfrm>
          <a:prstGeom xmlns:a="http://schemas.openxmlformats.org/drawingml/2006/main" prst="roundRect">
            <a:avLst>
              <a:gd name="adj" fmla="val 22857"/>
            </a:avLst>
          </a:prstGeom>
          <a:solidFill xmlns:a="http://schemas.openxmlformats.org/drawingml/2006/main">
            <a:srgbClr val="14253B"/>
          </a:solidFill>
          <a:ln xmlns:a="http://schemas.openxmlformats.org/drawingml/2006/main" w="19050">
            <a:solidFill>
              <a:srgbClr val="80B7FF"/>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ctr">
              <a:defRPr sz="1575" b="1">
                <a:solidFill>
                  <a:srgbClr val="F5F7FA"/>
                </a:solidFill>
                <a:latin typeface="Helvetica Neue"/>
                <a:ea typeface="Helvetica Neue"/>
                <a:cs typeface="Helvetica Neue"/>
              </a:defRPr>
            </a:pPr>
            <a:r>
              <a:rPr sz="1575" b="1">
                <a:solidFill>
                  <a:srgbClr val="F5F7FA"/>
                </a:solidFill>
                <a:latin typeface="Helvetica Neue"/>
                <a:ea typeface="Helvetica Neue"/>
                <a:cs typeface="Helvetica Neue"/>
              </a:rPr>
              <a:t>Carga esperada</a:t>
            </a:r>
          </a:p>
        </p:txBody>
      </p:sp>
      <p:sp>
        <p:nvSpPr>
          <p:cNvPr id="9" name="">
            <a:extLst xmlns:a="http://schemas.openxmlformats.org/drawingml/2006/main">
              <a:ext uri="{FF2B5EF4-FFF2-40B4-BE49-F238E27FC236}">
                <a16:creationId xmlns:a16="http://schemas.microsoft.com/office/drawing/2014/main" id="{E71285AC-9365-46D4-9844-5F2BEC3D6C2E}"/>
              </a:ext>
            </a:extLst>
          </p:cNvPr>
          <p:cNvSpPr>
            <a:spLocks xmlns:a="http://schemas.openxmlformats.org/drawingml/2006/main" noGrp="1"/>
          </p:cNvSpPr>
          <p:nvPr/>
        </p:nvSpPr>
        <p:spPr>
          <a:xfrm xmlns:a="http://schemas.openxmlformats.org/drawingml/2006/main">
            <a:off x="4000500" y="3695700"/>
            <a:ext cx="2190750" cy="666750"/>
          </a:xfrm>
          <a:prstGeom xmlns:a="http://schemas.openxmlformats.org/drawingml/2006/main" prst="roundRect">
            <a:avLst>
              <a:gd name="adj" fmla="val 22857"/>
            </a:avLst>
          </a:prstGeom>
          <a:solidFill xmlns:a="http://schemas.openxmlformats.org/drawingml/2006/main">
            <a:srgbClr val="14253B"/>
          </a:solidFill>
          <a:ln xmlns:a="http://schemas.openxmlformats.org/drawingml/2006/main" w="19050">
            <a:solidFill>
              <a:srgbClr val="F28B77"/>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ctr">
              <a:defRPr sz="1575" b="1">
                <a:solidFill>
                  <a:srgbClr val="F5F7FA"/>
                </a:solidFill>
                <a:latin typeface="Helvetica Neue"/>
                <a:ea typeface="Helvetica Neue"/>
                <a:cs typeface="Helvetica Neue"/>
              </a:defRPr>
            </a:pPr>
            <a:r>
              <a:rPr sz="1575" b="1">
                <a:solidFill>
                  <a:srgbClr val="F5F7FA"/>
                </a:solidFill>
                <a:latin typeface="Helvetica Neue"/>
                <a:ea typeface="Helvetica Neue"/>
                <a:cs typeface="Helvetica Neue"/>
              </a:rPr>
              <a:t>Punto de ruptura</a:t>
            </a:r>
          </a:p>
        </p:txBody>
      </p:sp>
      <p:sp>
        <p:nvSpPr>
          <p:cNvPr id="10" name="">
            <a:extLst xmlns:a="http://schemas.openxmlformats.org/drawingml/2006/main">
              <a:ext uri="{FF2B5EF4-FFF2-40B4-BE49-F238E27FC236}">
                <a16:creationId xmlns:a16="http://schemas.microsoft.com/office/drawing/2014/main" id="{8B7AF774-5347-4DBC-B4E7-8CF65B8E87F8}"/>
              </a:ext>
            </a:extLst>
          </p:cNvPr>
          <p:cNvSpPr>
            <a:spLocks xmlns:a="http://schemas.openxmlformats.org/drawingml/2006/main" noGrp="1"/>
          </p:cNvSpPr>
          <p:nvPr/>
        </p:nvSpPr>
        <p:spPr>
          <a:xfrm xmlns:a="http://schemas.openxmlformats.org/drawingml/2006/main">
            <a:off x="7200900" y="3695700"/>
            <a:ext cx="2190750" cy="666750"/>
          </a:xfrm>
          <a:prstGeom xmlns:a="http://schemas.openxmlformats.org/drawingml/2006/main" prst="roundRect">
            <a:avLst>
              <a:gd name="adj" fmla="val 22857"/>
            </a:avLst>
          </a:prstGeom>
          <a:solidFill xmlns:a="http://schemas.openxmlformats.org/drawingml/2006/main">
            <a:srgbClr val="14253B"/>
          </a:solidFill>
          <a:ln xmlns:a="http://schemas.openxmlformats.org/drawingml/2006/main" w="19050">
            <a:solidFill>
              <a:srgbClr val="4ED6C5"/>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ctr">
              <a:defRPr sz="1575" b="1">
                <a:solidFill>
                  <a:srgbClr val="F5F7FA"/>
                </a:solidFill>
                <a:latin typeface="Helvetica Neue"/>
                <a:ea typeface="Helvetica Neue"/>
                <a:cs typeface="Helvetica Neue"/>
              </a:defRPr>
            </a:pPr>
            <a:r>
              <a:rPr sz="1575" b="1">
                <a:solidFill>
                  <a:srgbClr val="F5F7FA"/>
                </a:solidFill>
                <a:latin typeface="Helvetica Neue"/>
                <a:ea typeface="Helvetica Neue"/>
                <a:cs typeface="Helvetica Neue"/>
              </a:rPr>
              <a:t>Recuperación</a:t>
            </a:r>
          </a:p>
        </p:txBody>
      </p:sp>
      <p:cxnSp>
        <p:nvCxnSpPr>
          <p:cNvPr id="28" name=""/>
          <p:cNvCxnSpPr>
            <a:stCxn xmlns:a="http://schemas.openxmlformats.org/drawingml/2006/main" id="8" idx="3"/>
            <a:endCxn xmlns:a="http://schemas.openxmlformats.org/drawingml/2006/main" id="9" idx="1"/>
          </p:cNvCxnSpPr>
          <p:nvPr/>
        </p:nvCxnSpPr>
        <p:spPr>
          <a:xfrm xmlns:a="http://schemas.openxmlformats.org/drawingml/2006/main">
            <a:off x="2990850" y="4029075"/>
            <a:ext cx="1009650" cy="0"/>
          </a:xfrm>
          <a:prstGeom xmlns:a="http://schemas.openxmlformats.org/drawingml/2006/main" prst="straightConnector1">
            <a:avLst/>
          </a:prstGeom>
          <a:ln xmlns:a="http://schemas.openxmlformats.org/drawingml/2006/main" w="28575">
            <a:solidFill>
              <a:srgbClr val="6A829C"/>
            </a:solidFill>
            <a:prstDash val="solid"/>
            <a:tailEnd type="arrow" w="med" len="med"/>
          </a:ln>
        </p:spPr>
      </p:cxnSp>
      <p:cxnSp>
        <p:nvCxnSpPr>
          <p:cNvPr id="29" name=""/>
          <p:cNvCxnSpPr>
            <a:stCxn xmlns:a="http://schemas.openxmlformats.org/drawingml/2006/main" id="9" idx="3"/>
            <a:endCxn xmlns:a="http://schemas.openxmlformats.org/drawingml/2006/main" id="10" idx="1"/>
          </p:cNvCxnSpPr>
          <p:nvPr/>
        </p:nvCxnSpPr>
        <p:spPr>
          <a:xfrm xmlns:a="http://schemas.openxmlformats.org/drawingml/2006/main">
            <a:off x="6191250" y="4029075"/>
            <a:ext cx="1009650" cy="0"/>
          </a:xfrm>
          <a:prstGeom xmlns:a="http://schemas.openxmlformats.org/drawingml/2006/main" prst="straightConnector1">
            <a:avLst/>
          </a:prstGeom>
          <a:ln xmlns:a="http://schemas.openxmlformats.org/drawingml/2006/main" w="28575">
            <a:solidFill>
              <a:srgbClr val="6A829C"/>
            </a:solidFill>
            <a:prstDash val="solid"/>
            <a:tailEnd type="arrow" w="med" len="med"/>
          </a:ln>
        </p:spPr>
      </p:cxnSp>
      <p:sp>
        <p:nvSpPr>
          <p:cNvPr id="13" name="">
            <a:extLst xmlns:a="http://schemas.openxmlformats.org/drawingml/2006/main">
              <a:ext uri="{FF2B5EF4-FFF2-40B4-BE49-F238E27FC236}">
                <a16:creationId xmlns:a16="http://schemas.microsoft.com/office/drawing/2014/main" id="{A16684CC-E77C-4638-BF55-94AC4ADC016B}"/>
              </a:ext>
            </a:extLst>
          </p:cNvPr>
          <p:cNvSpPr>
            <a:spLocks xmlns:a="http://schemas.openxmlformats.org/drawingml/2006/main" noGrp="1"/>
          </p:cNvSpPr>
          <p:nvPr/>
        </p:nvSpPr>
        <p:spPr>
          <a:xfrm xmlns:a="http://schemas.openxmlformats.org/drawingml/2006/main">
            <a:off x="857250" y="47434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285"/>
          </a:bodyPr>
          <a:lstStyle xmlns:a="http://schemas.openxmlformats.org/drawingml/2006/main"/>
          <a:p xmlns:a="http://schemas.openxmlformats.org/drawingml/2006/main">
            <a:pPr algn="ctr">
              <a:defRPr sz="1275" b="0" i="0">
                <a:solidFill>
                  <a:srgbClr val="AFC0D4"/>
                </a:solidFill>
                <a:latin typeface="Helvetica Neue"/>
                <a:ea typeface="Helvetica Neue"/>
                <a:cs typeface="Helvetica Neue"/>
              </a:defRPr>
            </a:pPr>
            <a:r>
              <a:rPr sz="1275" b="0" i="0">
                <a:solidFill>
                  <a:srgbClr val="AFC0D4"/>
                </a:solidFill>
                <a:latin typeface="Helvetica Neue"/>
                <a:ea typeface="Helvetica Neue"/>
                <a:cs typeface="Helvetica Neue"/>
              </a:rPr>
              <a:t>¿Se degrada de forma controlada?</a:t>
            </a:r>
          </a:p>
        </p:txBody>
      </p:sp>
      <p:sp>
        <p:nvSpPr>
          <p:cNvPr id="14" name="">
            <a:extLst xmlns:a="http://schemas.openxmlformats.org/drawingml/2006/main">
              <a:ext uri="{FF2B5EF4-FFF2-40B4-BE49-F238E27FC236}">
                <a16:creationId xmlns:a16="http://schemas.microsoft.com/office/drawing/2014/main" id="{72E7A617-D765-407F-AF97-A585F28319A2}"/>
              </a:ext>
            </a:extLst>
          </p:cNvPr>
          <p:cNvSpPr>
            <a:spLocks xmlns:a="http://schemas.openxmlformats.org/drawingml/2006/main" noGrp="1"/>
          </p:cNvSpPr>
          <p:nvPr/>
        </p:nvSpPr>
        <p:spPr>
          <a:xfrm xmlns:a="http://schemas.openxmlformats.org/drawingml/2006/main">
            <a:off x="3905250" y="47434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i="0">
                <a:solidFill>
                  <a:srgbClr val="AFC0D4"/>
                </a:solidFill>
                <a:latin typeface="Helvetica Neue"/>
                <a:ea typeface="Helvetica Neue"/>
                <a:cs typeface="Helvetica Neue"/>
              </a:defRPr>
            </a:pPr>
            <a:r>
              <a:rPr sz="1275" b="0" i="0">
                <a:solidFill>
                  <a:srgbClr val="AFC0D4"/>
                </a:solidFill>
                <a:latin typeface="Helvetica Neue"/>
                <a:ea typeface="Helvetica Neue"/>
                <a:cs typeface="Helvetica Neue"/>
              </a:rPr>
              <a:t>¿Qué falla primero?</a:t>
            </a:r>
          </a:p>
        </p:txBody>
      </p:sp>
      <p:sp>
        <p:nvSpPr>
          <p:cNvPr id="15" name="">
            <a:extLst xmlns:a="http://schemas.openxmlformats.org/drawingml/2006/main">
              <a:ext uri="{FF2B5EF4-FFF2-40B4-BE49-F238E27FC236}">
                <a16:creationId xmlns:a16="http://schemas.microsoft.com/office/drawing/2014/main" id="{7EC1EEBF-3216-4244-8A4B-C6312979E4A1}"/>
              </a:ext>
            </a:extLst>
          </p:cNvPr>
          <p:cNvSpPr>
            <a:spLocks xmlns:a="http://schemas.openxmlformats.org/drawingml/2006/main" noGrp="1"/>
          </p:cNvSpPr>
          <p:nvPr/>
        </p:nvSpPr>
        <p:spPr>
          <a:xfrm xmlns:a="http://schemas.openxmlformats.org/drawingml/2006/main">
            <a:off x="7010400" y="47434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i="0">
                <a:solidFill>
                  <a:srgbClr val="AFC0D4"/>
                </a:solidFill>
                <a:latin typeface="Helvetica Neue"/>
                <a:ea typeface="Helvetica Neue"/>
                <a:cs typeface="Helvetica Neue"/>
              </a:defRPr>
            </a:pPr>
            <a:r>
              <a:rPr sz="1275" b="0" i="0">
                <a:solidFill>
                  <a:srgbClr val="AFC0D4"/>
                </a:solidFill>
                <a:latin typeface="Helvetica Neue"/>
                <a:ea typeface="Helvetica Neue"/>
                <a:cs typeface="Helvetica Neue"/>
              </a:rPr>
              <a:t>¿Vuelve a operar sin perder datos?</a:t>
            </a:r>
          </a:p>
        </p:txBody>
      </p:sp>
      <p:sp>
        <p:nvSpPr>
          <p:cNvPr id="16" name="">
            <a:extLst xmlns:a="http://schemas.openxmlformats.org/drawingml/2006/main">
              <a:ext uri="{FF2B5EF4-FFF2-40B4-BE49-F238E27FC236}">
                <a16:creationId xmlns:a16="http://schemas.microsoft.com/office/drawing/2014/main" id="{1D65EFCB-2DA4-4DBA-B872-8E3C3BD8ADC0}"/>
              </a:ext>
            </a:extLst>
          </p:cNvPr>
          <p:cNvSpPr>
            <a:spLocks xmlns:a="http://schemas.openxmlformats.org/drawingml/2006/main" noGrp="1"/>
          </p:cNvSpPr>
          <p:nvPr/>
        </p:nvSpPr>
        <p:spPr>
          <a:xfrm xmlns:a="http://schemas.openxmlformats.org/drawingml/2006/main">
            <a:off x="809625" y="5676900"/>
            <a:ext cx="8572500" cy="0"/>
          </a:xfrm>
          <a:prstGeom xmlns:a="http://schemas.openxmlformats.org/drawingml/2006/main" prst="line">
            <a:avLst/>
          </a:prstGeom>
          <a:noFill xmlns:a="http://schemas.openxmlformats.org/drawingml/2006/main"/>
          <a:ln xmlns:a="http://schemas.openxmlformats.org/drawingml/2006/main" w="28575">
            <a:solidFill>
              <a:srgbClr val="F28B77"/>
            </a:solidFill>
            <a:prstDash val="solid"/>
          </a:ln>
        </p:spPr>
      </p:sp>
      <p:sp>
        <p:nvSpPr>
          <p:cNvPr id="17" name="">
            <a:extLst xmlns:a="http://schemas.openxmlformats.org/drawingml/2006/main">
              <a:ext uri="{FF2B5EF4-FFF2-40B4-BE49-F238E27FC236}">
                <a16:creationId xmlns:a16="http://schemas.microsoft.com/office/drawing/2014/main" id="{58102FA6-CA9C-46FB-A1FD-02E11A00A2F8}"/>
              </a:ext>
            </a:extLst>
          </p:cNvPr>
          <p:cNvSpPr>
            <a:spLocks xmlns:a="http://schemas.openxmlformats.org/drawingml/2006/main" noGrp="1"/>
          </p:cNvSpPr>
          <p:nvPr/>
        </p:nvSpPr>
        <p:spPr>
          <a:xfrm xmlns:a="http://schemas.openxmlformats.org/drawingml/2006/main">
            <a:off x="685800" y="5876925"/>
            <a:ext cx="885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F4C76B"/>
                </a:solidFill>
                <a:latin typeface="Helvetica Neue"/>
                <a:ea typeface="Helvetica Neue"/>
                <a:cs typeface="Helvetica Neue"/>
              </a:defRPr>
            </a:pPr>
            <a:r>
              <a:rPr sz="1425" b="1" i="0">
                <a:solidFill>
                  <a:srgbClr val="F4C76B"/>
                </a:solidFill>
                <a:latin typeface="Helvetica Neue"/>
                <a:ea typeface="Helvetica Neue"/>
                <a:cs typeface="Helvetica Neue"/>
              </a:rPr>
              <a:t>Una buena prueba de estrés convierte la falla en información para mejorar la arquitectura.</a:t>
            </a:r>
          </a:p>
        </p:txBody>
      </p:sp>
    </p:spTree>
    <p:extLst>
      <p:ext uri="{BB962C8B-B14F-4D97-AF65-F5344CB8AC3E}">
        <p14:creationId xmlns:p14="http://schemas.microsoft.com/office/powerpoint/2010/main" val="1559842555"/>
      </p:ext>
    </p:extLst>
  </p:cSld>
</p:sld>
</file>

<file path=ppt/slides/slide7.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43F5992-1284-48F5-B18B-998B2F289057}"/>
              </a:ext>
            </a:extLst>
          </p:cNvPr>
          <p:cNvSpPr>
            <a:spLocks xmlns:a="http://schemas.openxmlformats.org/drawingml/2006/main" noGrp="1"/>
          </p:cNvSpPr>
          <p:nvPr/>
        </p:nvSpPr>
        <p:spPr>
          <a:xfrm xmlns:a="http://schemas.openxmlformats.org/drawingml/2006/main">
            <a:off x="685800" y="4000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4ED6C5"/>
                </a:solidFill>
                <a:latin typeface="Helvetica Neue"/>
                <a:ea typeface="Helvetica Neue"/>
                <a:cs typeface="Helvetica Neue"/>
              </a:defRPr>
            </a:pPr>
            <a:r>
              <a:rPr sz="900" b="1" i="0">
                <a:solidFill>
                  <a:srgbClr val="4ED6C5"/>
                </a:solidFill>
                <a:latin typeface="Helvetica Neue"/>
                <a:ea typeface="Helvetica Neue"/>
                <a:cs typeface="Helvetica Neue"/>
              </a:rPr>
              <a:t>06 · CAPACIDAD</a:t>
            </a:r>
          </a:p>
        </p:txBody>
      </p:sp>
      <p:sp>
        <p:nvSpPr>
          <p:cNvPr id="2" name="">
            <a:extLst xmlns:a="http://schemas.openxmlformats.org/drawingml/2006/main">
              <a:ext uri="{FF2B5EF4-FFF2-40B4-BE49-F238E27FC236}">
                <a16:creationId xmlns:a16="http://schemas.microsoft.com/office/drawing/2014/main" id="{5BB67920-7BD8-4022-B5AC-974ED5F35E1B}"/>
              </a:ext>
            </a:extLst>
          </p:cNvPr>
          <p:cNvSpPr>
            <a:spLocks xmlns:a="http://schemas.openxmlformats.org/drawingml/2006/main" noGrp="1"/>
          </p:cNvSpPr>
          <p:nvPr/>
        </p:nvSpPr>
        <p:spPr>
          <a:xfrm xmlns:a="http://schemas.openxmlformats.org/drawingml/2006/main">
            <a:off x="685800" y="7048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F5F7FA"/>
                </a:solidFill>
                <a:latin typeface="Helvetica Neue"/>
                <a:ea typeface="Helvetica Neue"/>
                <a:cs typeface="Helvetica Neue"/>
              </a:defRPr>
            </a:pPr>
            <a:r>
              <a:rPr sz="2925" b="1" i="0">
                <a:solidFill>
                  <a:srgbClr val="F5F7FA"/>
                </a:solidFill>
                <a:latin typeface="Helvetica Neue"/>
                <a:ea typeface="Helvetica Neue"/>
                <a:cs typeface="Helvetica Neue"/>
              </a:rPr>
              <a:t>¿Qué son las pruebas de escalabilidad?</a:t>
            </a:r>
          </a:p>
        </p:txBody>
      </p:sp>
      <p:sp>
        <p:nvSpPr>
          <p:cNvPr id="3" name="">
            <a:extLst xmlns:a="http://schemas.openxmlformats.org/drawingml/2006/main">
              <a:ext uri="{FF2B5EF4-FFF2-40B4-BE49-F238E27FC236}">
                <a16:creationId xmlns:a16="http://schemas.microsoft.com/office/drawing/2014/main" id="{C4265D7E-7D4B-4BC1-A3E7-47185D29ACAA}"/>
              </a:ext>
            </a:extLst>
          </p:cNvPr>
          <p:cNvSpPr>
            <a:spLocks xmlns:a="http://schemas.openxmlformats.org/drawingml/2006/main" noGrp="1"/>
          </p:cNvSpPr>
          <p:nvPr/>
        </p:nvSpPr>
        <p:spPr>
          <a:xfrm xmlns:a="http://schemas.openxmlformats.org/drawingml/2006/main">
            <a:off x="685800" y="1428750"/>
            <a:ext cx="10820400" cy="0"/>
          </a:xfrm>
          <a:prstGeom xmlns:a="http://schemas.openxmlformats.org/drawingml/2006/main" prst="line">
            <a:avLst/>
          </a:prstGeom>
          <a:noFill xmlns:a="http://schemas.openxmlformats.org/drawingml/2006/main"/>
          <a:ln xmlns:a="http://schemas.openxmlformats.org/drawingml/2006/main" w="9525">
            <a:solidFill>
              <a:srgbClr val="2E4965"/>
            </a:solidFill>
            <a:prstDash val="solid"/>
          </a:ln>
        </p:spPr>
      </p:sp>
      <p:sp>
        <p:nvSpPr>
          <p:cNvPr id="4" name="">
            <a:extLst xmlns:a="http://schemas.openxmlformats.org/drawingml/2006/main">
              <a:ext uri="{FF2B5EF4-FFF2-40B4-BE49-F238E27FC236}">
                <a16:creationId xmlns:a16="http://schemas.microsoft.com/office/drawing/2014/main" id="{50788150-D667-4DC2-9FAB-8177E81BB707}"/>
              </a:ext>
            </a:extLst>
          </p:cNvPr>
          <p:cNvSpPr>
            <a:spLocks xmlns:a="http://schemas.openxmlformats.org/drawingml/2006/main" noGrp="1"/>
          </p:cNvSpPr>
          <p:nvPr/>
        </p:nvSpPr>
        <p:spPr>
          <a:xfrm xmlns:a="http://schemas.openxmlformats.org/drawingml/2006/main">
            <a:off x="685800" y="65532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FC0D4"/>
                </a:solidFill>
                <a:latin typeface="Helvetica Neue"/>
                <a:ea typeface="Helvetica Neue"/>
                <a:cs typeface="Helvetica Neue"/>
              </a:defRPr>
            </a:pPr>
            <a:r>
              <a:rPr sz="825" b="1" i="0">
                <a:solidFill>
                  <a:srgbClr val="AFC0D4"/>
                </a:solidFill>
                <a:latin typeface="Helvetica Neue"/>
                <a:ea typeface="Helvetica Neue"/>
                <a:cs typeface="Helvetica Neue"/>
              </a:rPr>
              <a:t>PRUEBAS NO FUNCIONALES</a:t>
            </a:r>
          </a:p>
        </p:txBody>
      </p:sp>
      <p:sp>
        <p:nvSpPr>
          <p:cNvPr id="5" name="">
            <a:extLst xmlns:a="http://schemas.openxmlformats.org/drawingml/2006/main">
              <a:ext uri="{FF2B5EF4-FFF2-40B4-BE49-F238E27FC236}">
                <a16:creationId xmlns:a16="http://schemas.microsoft.com/office/drawing/2014/main" id="{9C9CDFCC-CAEB-451D-9133-EE791BFAE3EA}"/>
              </a:ext>
            </a:extLst>
          </p:cNvPr>
          <p:cNvSpPr>
            <a:spLocks xmlns:a="http://schemas.openxmlformats.org/drawingml/2006/main" noGrp="1"/>
          </p:cNvSpPr>
          <p:nvPr/>
        </p:nvSpPr>
        <p:spPr>
          <a:xfrm xmlns:a="http://schemas.openxmlformats.org/drawingml/2006/main">
            <a:off x="11049000" y="65151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4ED6C5"/>
                </a:solidFill>
                <a:latin typeface="Helvetica Neue"/>
                <a:ea typeface="Helvetica Neue"/>
                <a:cs typeface="Helvetica Neue"/>
              </a:defRPr>
            </a:pPr>
            <a:r>
              <a:rPr sz="1050" b="1" i="0">
                <a:solidFill>
                  <a:srgbClr val="4ED6C5"/>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6F8EC962-7465-4000-A38A-AE50C1DC11E7}"/>
              </a:ext>
            </a:extLst>
          </p:cNvPr>
          <p:cNvSpPr>
            <a:spLocks xmlns:a="http://schemas.openxmlformats.org/drawingml/2006/main" noGrp="1"/>
          </p:cNvSpPr>
          <p:nvPr/>
        </p:nvSpPr>
        <p:spPr>
          <a:xfrm xmlns:a="http://schemas.openxmlformats.org/drawingml/2006/main">
            <a:off x="685800" y="1733550"/>
            <a:ext cx="809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106"/>
          </a:bodyPr>
          <a:lstStyle xmlns:a="http://schemas.openxmlformats.org/drawingml/2006/main"/>
          <a:p xmlns:a="http://schemas.openxmlformats.org/drawingml/2006/main">
            <a:pPr algn="l">
              <a:defRPr sz="1875" b="1" i="0">
                <a:solidFill>
                  <a:srgbClr val="F5F7FA"/>
                </a:solidFill>
                <a:latin typeface="Helvetica Neue"/>
                <a:ea typeface="Helvetica Neue"/>
                <a:cs typeface="Helvetica Neue"/>
              </a:defRPr>
            </a:pPr>
            <a:r>
              <a:rPr sz="1875" b="1" i="0">
                <a:solidFill>
                  <a:srgbClr val="F5F7FA"/>
                </a:solidFill>
                <a:latin typeface="Helvetica Neue"/>
                <a:ea typeface="Helvetica Neue"/>
                <a:cs typeface="Helvetica Neue"/>
              </a:rPr>
              <a:t>Comprueban cómo cambia el rendimiento cuando crece la demanda o los recursos.</a:t>
            </a:r>
          </a:p>
        </p:txBody>
      </p:sp>
      <p:sp>
        <p:nvSpPr>
          <p:cNvPr id="7" name="">
            <a:extLst xmlns:a="http://schemas.openxmlformats.org/drawingml/2006/main">
              <a:ext uri="{FF2B5EF4-FFF2-40B4-BE49-F238E27FC236}">
                <a16:creationId xmlns:a16="http://schemas.microsoft.com/office/drawing/2014/main" id="{6146BA78-F178-4C19-9D0F-305184D3A9A1}"/>
              </a:ext>
            </a:extLst>
          </p:cNvPr>
          <p:cNvSpPr>
            <a:spLocks xmlns:a="http://schemas.openxmlformats.org/drawingml/2006/main" noGrp="1"/>
          </p:cNvSpPr>
          <p:nvPr/>
        </p:nvSpPr>
        <p:spPr>
          <a:xfrm xmlns:a="http://schemas.openxmlformats.org/drawingml/2006/main">
            <a:off x="1143000" y="2914650"/>
            <a:ext cx="2667000" cy="685800"/>
          </a:xfrm>
          <a:prstGeom xmlns:a="http://schemas.openxmlformats.org/drawingml/2006/main" prst="roundRect">
            <a:avLst>
              <a:gd name="adj" fmla="val 22222"/>
            </a:avLst>
          </a:prstGeom>
          <a:solidFill xmlns:a="http://schemas.openxmlformats.org/drawingml/2006/main">
            <a:srgbClr val="14253B"/>
          </a:solidFill>
          <a:ln xmlns:a="http://schemas.openxmlformats.org/drawingml/2006/main" w="19050">
            <a:solidFill>
              <a:srgbClr val="80B7FF"/>
            </a:solidFill>
            <a:prstDash val="solid"/>
          </a:ln>
        </p:spPr>
        <p:txBody>
          <a:bodyPr xmlns:a="http://schemas.openxmlformats.org/drawingml/2006/main" lIns="133350" tIns="114300" rIns="133350" bIns="114300" anchor="ctr">
            <a:normAutofit fontScale="73158"/>
          </a:bodyPr>
          <a:lstStyle xmlns:a="http://schemas.openxmlformats.org/drawingml/2006/main"/>
          <a:p xmlns:a="http://schemas.openxmlformats.org/drawingml/2006/main">
            <a:pPr algn="ctr">
              <a:defRPr sz="1650" b="1">
                <a:solidFill>
                  <a:srgbClr val="F5F7FA"/>
                </a:solidFill>
                <a:latin typeface="Helvetica Neue"/>
                <a:ea typeface="Helvetica Neue"/>
                <a:cs typeface="Helvetica Neue"/>
              </a:defRPr>
            </a:pPr>
            <a:r>
              <a:rPr sz="1650" b="1">
                <a:solidFill>
                  <a:srgbClr val="F5F7FA"/>
                </a:solidFill>
                <a:latin typeface="Helvetica Neue"/>
                <a:ea typeface="Helvetica Neue"/>
                <a:cs typeface="Helvetica Neue"/>
              </a:rPr>
              <a:t>Escalabilidad</a:t>
            </a:r>
          </a:p>
          <a:p xmlns:a="http://schemas.openxmlformats.org/drawingml/2006/main">
            <a:pPr algn="ctr">
              <a:defRPr sz="1650" b="1">
                <a:solidFill>
                  <a:srgbClr val="F5F7FA"/>
                </a:solidFill>
                <a:latin typeface="Helvetica Neue"/>
                <a:ea typeface="Helvetica Neue"/>
                <a:cs typeface="Helvetica Neue"/>
              </a:defRPr>
            </a:pPr>
            <a:r>
              <a:rPr sz="1650" b="1">
                <a:solidFill>
                  <a:srgbClr val="F5F7FA"/>
                </a:solidFill>
                <a:latin typeface="Helvetica Neue"/>
                <a:ea typeface="Helvetica Neue"/>
                <a:cs typeface="Helvetica Neue"/>
              </a:rPr>
              <a:t>vertical</a:t>
            </a:r>
          </a:p>
        </p:txBody>
      </p:sp>
      <p:sp>
        <p:nvSpPr>
          <p:cNvPr id="8" name="">
            <a:extLst xmlns:a="http://schemas.openxmlformats.org/drawingml/2006/main">
              <a:ext uri="{FF2B5EF4-FFF2-40B4-BE49-F238E27FC236}">
                <a16:creationId xmlns:a16="http://schemas.microsoft.com/office/drawing/2014/main" id="{02DA2F63-FCA4-4827-89D0-3576345605BE}"/>
              </a:ext>
            </a:extLst>
          </p:cNvPr>
          <p:cNvSpPr>
            <a:spLocks xmlns:a="http://schemas.openxmlformats.org/drawingml/2006/main" noGrp="1"/>
          </p:cNvSpPr>
          <p:nvPr/>
        </p:nvSpPr>
        <p:spPr>
          <a:xfrm xmlns:a="http://schemas.openxmlformats.org/drawingml/2006/main">
            <a:off x="1143000" y="4438650"/>
            <a:ext cx="2667000" cy="685800"/>
          </a:xfrm>
          <a:prstGeom xmlns:a="http://schemas.openxmlformats.org/drawingml/2006/main" prst="roundRect">
            <a:avLst>
              <a:gd name="adj" fmla="val 22222"/>
            </a:avLst>
          </a:prstGeom>
          <a:solidFill xmlns:a="http://schemas.openxmlformats.org/drawingml/2006/main">
            <a:srgbClr val="14253B"/>
          </a:solidFill>
          <a:ln xmlns:a="http://schemas.openxmlformats.org/drawingml/2006/main" w="19050">
            <a:solidFill>
              <a:srgbClr val="4ED6C5"/>
            </a:solidFill>
            <a:prstDash val="solid"/>
          </a:ln>
        </p:spPr>
        <p:txBody>
          <a:bodyPr xmlns:a="http://schemas.openxmlformats.org/drawingml/2006/main" lIns="133350" tIns="114300" rIns="133350" bIns="114300" anchor="ctr">
            <a:normAutofit fontScale="73158"/>
          </a:bodyPr>
          <a:lstStyle xmlns:a="http://schemas.openxmlformats.org/drawingml/2006/main"/>
          <a:p xmlns:a="http://schemas.openxmlformats.org/drawingml/2006/main">
            <a:pPr algn="ctr">
              <a:defRPr sz="1650" b="1">
                <a:solidFill>
                  <a:srgbClr val="F5F7FA"/>
                </a:solidFill>
                <a:latin typeface="Helvetica Neue"/>
                <a:ea typeface="Helvetica Neue"/>
                <a:cs typeface="Helvetica Neue"/>
              </a:defRPr>
            </a:pPr>
            <a:r>
              <a:rPr sz="1650" b="1">
                <a:solidFill>
                  <a:srgbClr val="F5F7FA"/>
                </a:solidFill>
                <a:latin typeface="Helvetica Neue"/>
                <a:ea typeface="Helvetica Neue"/>
                <a:cs typeface="Helvetica Neue"/>
              </a:rPr>
              <a:t>Escalabilidad</a:t>
            </a:r>
          </a:p>
          <a:p xmlns:a="http://schemas.openxmlformats.org/drawingml/2006/main">
            <a:pPr algn="ctr">
              <a:defRPr sz="1650" b="1">
                <a:solidFill>
                  <a:srgbClr val="F5F7FA"/>
                </a:solidFill>
                <a:latin typeface="Helvetica Neue"/>
                <a:ea typeface="Helvetica Neue"/>
                <a:cs typeface="Helvetica Neue"/>
              </a:defRPr>
            </a:pPr>
            <a:r>
              <a:rPr sz="1650" b="1">
                <a:solidFill>
                  <a:srgbClr val="F5F7FA"/>
                </a:solidFill>
                <a:latin typeface="Helvetica Neue"/>
                <a:ea typeface="Helvetica Neue"/>
                <a:cs typeface="Helvetica Neue"/>
              </a:rPr>
              <a:t>horizontal</a:t>
            </a:r>
          </a:p>
        </p:txBody>
      </p:sp>
      <p:sp>
        <p:nvSpPr>
          <p:cNvPr id="9" name="">
            <a:extLst xmlns:a="http://schemas.openxmlformats.org/drawingml/2006/main">
              <a:ext uri="{FF2B5EF4-FFF2-40B4-BE49-F238E27FC236}">
                <a16:creationId xmlns:a16="http://schemas.microsoft.com/office/drawing/2014/main" id="{3BDCD699-6D66-4AC8-84BE-FBB5BF52E2BD}"/>
              </a:ext>
            </a:extLst>
          </p:cNvPr>
          <p:cNvSpPr>
            <a:spLocks xmlns:a="http://schemas.openxmlformats.org/drawingml/2006/main" noGrp="1"/>
          </p:cNvSpPr>
          <p:nvPr/>
        </p:nvSpPr>
        <p:spPr>
          <a:xfrm xmlns:a="http://schemas.openxmlformats.org/drawingml/2006/main">
            <a:off x="4457700" y="3219450"/>
            <a:ext cx="209550" cy="609600"/>
          </a:xfrm>
          <a:prstGeom xmlns:a="http://schemas.openxmlformats.org/drawingml/2006/main" prst="roundRect">
            <a:avLst>
              <a:gd name="adj" fmla="val 18182"/>
            </a:avLst>
          </a:prstGeom>
          <a:solidFill xmlns:a="http://schemas.openxmlformats.org/drawingml/2006/main">
            <a:srgbClr val="80B7FF"/>
          </a:solidFill>
          <a:ln xmlns:a="http://schemas.openxmlformats.org/drawingml/2006/main" w="9525">
            <a:solidFill>
              <a:srgbClr val="0A1220"/>
            </a:solidFill>
            <a:prstDash val="solid"/>
          </a:ln>
        </p:spPr>
      </p:sp>
      <p:sp>
        <p:nvSpPr>
          <p:cNvPr id="10" name="">
            <a:extLst xmlns:a="http://schemas.openxmlformats.org/drawingml/2006/main">
              <a:ext uri="{FF2B5EF4-FFF2-40B4-BE49-F238E27FC236}">
                <a16:creationId xmlns:a16="http://schemas.microsoft.com/office/drawing/2014/main" id="{5D8D9189-5214-444F-BD7E-0C4441CE33E6}"/>
              </a:ext>
            </a:extLst>
          </p:cNvPr>
          <p:cNvSpPr>
            <a:spLocks xmlns:a="http://schemas.openxmlformats.org/drawingml/2006/main" noGrp="1"/>
          </p:cNvSpPr>
          <p:nvPr/>
        </p:nvSpPr>
        <p:spPr>
          <a:xfrm xmlns:a="http://schemas.openxmlformats.org/drawingml/2006/main">
            <a:off x="4762500" y="3086100"/>
            <a:ext cx="209550" cy="609600"/>
          </a:xfrm>
          <a:prstGeom xmlns:a="http://schemas.openxmlformats.org/drawingml/2006/main" prst="roundRect">
            <a:avLst>
              <a:gd name="adj" fmla="val 18182"/>
            </a:avLst>
          </a:prstGeom>
          <a:solidFill xmlns:a="http://schemas.openxmlformats.org/drawingml/2006/main">
            <a:srgbClr val="80B7FF"/>
          </a:solidFill>
          <a:ln xmlns:a="http://schemas.openxmlformats.org/drawingml/2006/main" w="9525">
            <a:solidFill>
              <a:srgbClr val="0A1220"/>
            </a:solidFill>
            <a:prstDash val="solid"/>
          </a:ln>
        </p:spPr>
      </p:sp>
      <p:sp>
        <p:nvSpPr>
          <p:cNvPr id="11" name="">
            <a:extLst xmlns:a="http://schemas.openxmlformats.org/drawingml/2006/main">
              <a:ext uri="{FF2B5EF4-FFF2-40B4-BE49-F238E27FC236}">
                <a16:creationId xmlns:a16="http://schemas.microsoft.com/office/drawing/2014/main" id="{9DA52F83-1439-4EA0-AEF6-FF3A6B98485F}"/>
              </a:ext>
            </a:extLst>
          </p:cNvPr>
          <p:cNvSpPr>
            <a:spLocks xmlns:a="http://schemas.openxmlformats.org/drawingml/2006/main" noGrp="1"/>
          </p:cNvSpPr>
          <p:nvPr/>
        </p:nvSpPr>
        <p:spPr>
          <a:xfrm xmlns:a="http://schemas.openxmlformats.org/drawingml/2006/main">
            <a:off x="5067300" y="2952750"/>
            <a:ext cx="209550" cy="609600"/>
          </a:xfrm>
          <a:prstGeom xmlns:a="http://schemas.openxmlformats.org/drawingml/2006/main" prst="roundRect">
            <a:avLst>
              <a:gd name="adj" fmla="val 18182"/>
            </a:avLst>
          </a:prstGeom>
          <a:solidFill xmlns:a="http://schemas.openxmlformats.org/drawingml/2006/main">
            <a:srgbClr val="80B7FF"/>
          </a:solidFill>
          <a:ln xmlns:a="http://schemas.openxmlformats.org/drawingml/2006/main" w="9525">
            <a:solidFill>
              <a:srgbClr val="0A1220"/>
            </a:solidFill>
            <a:prstDash val="solid"/>
          </a:ln>
        </p:spPr>
      </p:sp>
      <p:sp>
        <p:nvSpPr>
          <p:cNvPr id="12" name="">
            <a:extLst xmlns:a="http://schemas.openxmlformats.org/drawingml/2006/main">
              <a:ext uri="{FF2B5EF4-FFF2-40B4-BE49-F238E27FC236}">
                <a16:creationId xmlns:a16="http://schemas.microsoft.com/office/drawing/2014/main" id="{6E4F2C2B-8B7D-4132-9CE9-AB7CC543C885}"/>
              </a:ext>
            </a:extLst>
          </p:cNvPr>
          <p:cNvSpPr>
            <a:spLocks xmlns:a="http://schemas.openxmlformats.org/drawingml/2006/main" noGrp="1"/>
          </p:cNvSpPr>
          <p:nvPr/>
        </p:nvSpPr>
        <p:spPr>
          <a:xfrm xmlns:a="http://schemas.openxmlformats.org/drawingml/2006/main">
            <a:off x="4095750" y="40957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i="0">
                <a:solidFill>
                  <a:srgbClr val="AFC0D4"/>
                </a:solidFill>
                <a:latin typeface="Helvetica Neue"/>
                <a:ea typeface="Helvetica Neue"/>
                <a:cs typeface="Helvetica Neue"/>
              </a:defRPr>
            </a:pPr>
            <a:r>
              <a:rPr sz="1350" b="0" i="0">
                <a:solidFill>
                  <a:srgbClr val="AFC0D4"/>
                </a:solidFill>
                <a:latin typeface="Helvetica Neue"/>
                <a:ea typeface="Helvetica Neue"/>
                <a:cs typeface="Helvetica Neue"/>
              </a:rPr>
              <a:t>Más CPU o memoria</a:t>
            </a:r>
          </a:p>
        </p:txBody>
      </p:sp>
      <p:sp>
        <p:nvSpPr>
          <p:cNvPr id="13" name="">
            <a:extLst xmlns:a="http://schemas.openxmlformats.org/drawingml/2006/main">
              <a:ext uri="{FF2B5EF4-FFF2-40B4-BE49-F238E27FC236}">
                <a16:creationId xmlns:a16="http://schemas.microsoft.com/office/drawing/2014/main" id="{79EB82E0-FE02-4C2E-A5C9-0D4EA4966237}"/>
              </a:ext>
            </a:extLst>
          </p:cNvPr>
          <p:cNvSpPr>
            <a:spLocks xmlns:a="http://schemas.openxmlformats.org/drawingml/2006/main" noGrp="1"/>
          </p:cNvSpPr>
          <p:nvPr/>
        </p:nvSpPr>
        <p:spPr>
          <a:xfrm xmlns:a="http://schemas.openxmlformats.org/drawingml/2006/main">
            <a:off x="4286250" y="4686300"/>
            <a:ext cx="285750" cy="552450"/>
          </a:xfrm>
          <a:prstGeom xmlns:a="http://schemas.openxmlformats.org/drawingml/2006/main" prst="roundRect">
            <a:avLst>
              <a:gd name="adj" fmla="val 16667"/>
            </a:avLst>
          </a:prstGeom>
          <a:solidFill xmlns:a="http://schemas.openxmlformats.org/drawingml/2006/main">
            <a:srgbClr val="4ED6C5"/>
          </a:solidFill>
          <a:ln xmlns:a="http://schemas.openxmlformats.org/drawingml/2006/main" w="9525">
            <a:solidFill>
              <a:srgbClr val="0A1220"/>
            </a:solidFill>
            <a:prstDash val="solid"/>
          </a:ln>
        </p:spPr>
      </p:sp>
      <p:sp>
        <p:nvSpPr>
          <p:cNvPr id="14" name="">
            <a:extLst xmlns:a="http://schemas.openxmlformats.org/drawingml/2006/main">
              <a:ext uri="{FF2B5EF4-FFF2-40B4-BE49-F238E27FC236}">
                <a16:creationId xmlns:a16="http://schemas.microsoft.com/office/drawing/2014/main" id="{08AE3FD9-97DE-4B91-9ED4-DB4DB677ADB7}"/>
              </a:ext>
            </a:extLst>
          </p:cNvPr>
          <p:cNvSpPr>
            <a:spLocks xmlns:a="http://schemas.openxmlformats.org/drawingml/2006/main" noGrp="1"/>
          </p:cNvSpPr>
          <p:nvPr/>
        </p:nvSpPr>
        <p:spPr>
          <a:xfrm xmlns:a="http://schemas.openxmlformats.org/drawingml/2006/main">
            <a:off x="4686300" y="4686300"/>
            <a:ext cx="285750" cy="552450"/>
          </a:xfrm>
          <a:prstGeom xmlns:a="http://schemas.openxmlformats.org/drawingml/2006/main" prst="roundRect">
            <a:avLst>
              <a:gd name="adj" fmla="val 16667"/>
            </a:avLst>
          </a:prstGeom>
          <a:solidFill xmlns:a="http://schemas.openxmlformats.org/drawingml/2006/main">
            <a:srgbClr val="4ED6C5"/>
          </a:solidFill>
          <a:ln xmlns:a="http://schemas.openxmlformats.org/drawingml/2006/main" w="9525">
            <a:solidFill>
              <a:srgbClr val="0A1220"/>
            </a:solidFill>
            <a:prstDash val="solid"/>
          </a:ln>
        </p:spPr>
      </p:sp>
      <p:sp>
        <p:nvSpPr>
          <p:cNvPr id="15" name="">
            <a:extLst xmlns:a="http://schemas.openxmlformats.org/drawingml/2006/main">
              <a:ext uri="{FF2B5EF4-FFF2-40B4-BE49-F238E27FC236}">
                <a16:creationId xmlns:a16="http://schemas.microsoft.com/office/drawing/2014/main" id="{182E54D8-B48B-4DB6-9935-A7C247DA1141}"/>
              </a:ext>
            </a:extLst>
          </p:cNvPr>
          <p:cNvSpPr>
            <a:spLocks xmlns:a="http://schemas.openxmlformats.org/drawingml/2006/main" noGrp="1"/>
          </p:cNvSpPr>
          <p:nvPr/>
        </p:nvSpPr>
        <p:spPr>
          <a:xfrm xmlns:a="http://schemas.openxmlformats.org/drawingml/2006/main">
            <a:off x="5086350" y="4686300"/>
            <a:ext cx="285750" cy="552450"/>
          </a:xfrm>
          <a:prstGeom xmlns:a="http://schemas.openxmlformats.org/drawingml/2006/main" prst="roundRect">
            <a:avLst>
              <a:gd name="adj" fmla="val 16667"/>
            </a:avLst>
          </a:prstGeom>
          <a:solidFill xmlns:a="http://schemas.openxmlformats.org/drawingml/2006/main">
            <a:srgbClr val="4ED6C5"/>
          </a:solidFill>
          <a:ln xmlns:a="http://schemas.openxmlformats.org/drawingml/2006/main" w="9525">
            <a:solidFill>
              <a:srgbClr val="0A1220"/>
            </a:solidFill>
            <a:prstDash val="solid"/>
          </a:ln>
        </p:spPr>
      </p:sp>
      <p:sp>
        <p:nvSpPr>
          <p:cNvPr id="16" name="">
            <a:extLst xmlns:a="http://schemas.openxmlformats.org/drawingml/2006/main">
              <a:ext uri="{FF2B5EF4-FFF2-40B4-BE49-F238E27FC236}">
                <a16:creationId xmlns:a16="http://schemas.microsoft.com/office/drawing/2014/main" id="{DDF7F139-7804-448B-B457-0E07E7D42CD4}"/>
              </a:ext>
            </a:extLst>
          </p:cNvPr>
          <p:cNvSpPr>
            <a:spLocks xmlns:a="http://schemas.openxmlformats.org/drawingml/2006/main" noGrp="1"/>
          </p:cNvSpPr>
          <p:nvPr/>
        </p:nvSpPr>
        <p:spPr>
          <a:xfrm xmlns:a="http://schemas.openxmlformats.org/drawingml/2006/main">
            <a:off x="5486400" y="4686300"/>
            <a:ext cx="285750" cy="552450"/>
          </a:xfrm>
          <a:prstGeom xmlns:a="http://schemas.openxmlformats.org/drawingml/2006/main" prst="roundRect">
            <a:avLst>
              <a:gd name="adj" fmla="val 16667"/>
            </a:avLst>
          </a:prstGeom>
          <a:solidFill xmlns:a="http://schemas.openxmlformats.org/drawingml/2006/main">
            <a:srgbClr val="4ED6C5"/>
          </a:solidFill>
          <a:ln xmlns:a="http://schemas.openxmlformats.org/drawingml/2006/main" w="9525">
            <a:solidFill>
              <a:srgbClr val="0A1220"/>
            </a:solidFill>
            <a:prstDash val="solid"/>
          </a:ln>
        </p:spPr>
      </p:sp>
      <p:sp>
        <p:nvSpPr>
          <p:cNvPr id="17" name="">
            <a:extLst xmlns:a="http://schemas.openxmlformats.org/drawingml/2006/main">
              <a:ext uri="{FF2B5EF4-FFF2-40B4-BE49-F238E27FC236}">
                <a16:creationId xmlns:a16="http://schemas.microsoft.com/office/drawing/2014/main" id="{4E769BC8-73D1-4479-B2E0-2669C4CB2C55}"/>
              </a:ext>
            </a:extLst>
          </p:cNvPr>
          <p:cNvSpPr>
            <a:spLocks xmlns:a="http://schemas.openxmlformats.org/drawingml/2006/main" noGrp="1"/>
          </p:cNvSpPr>
          <p:nvPr/>
        </p:nvSpPr>
        <p:spPr>
          <a:xfrm xmlns:a="http://schemas.openxmlformats.org/drawingml/2006/main">
            <a:off x="4095750" y="5410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i="0">
                <a:solidFill>
                  <a:srgbClr val="AFC0D4"/>
                </a:solidFill>
                <a:latin typeface="Helvetica Neue"/>
                <a:ea typeface="Helvetica Neue"/>
                <a:cs typeface="Helvetica Neue"/>
              </a:defRPr>
            </a:pPr>
            <a:r>
              <a:rPr sz="1350" b="0" i="0">
                <a:solidFill>
                  <a:srgbClr val="AFC0D4"/>
                </a:solidFill>
                <a:latin typeface="Helvetica Neue"/>
                <a:ea typeface="Helvetica Neue"/>
                <a:cs typeface="Helvetica Neue"/>
              </a:rPr>
              <a:t>Más instancias</a:t>
            </a:r>
          </a:p>
        </p:txBody>
      </p:sp>
      <p:sp>
        <p:nvSpPr>
          <p:cNvPr id="18" name="">
            <a:extLst xmlns:a="http://schemas.openxmlformats.org/drawingml/2006/main">
              <a:ext uri="{FF2B5EF4-FFF2-40B4-BE49-F238E27FC236}">
                <a16:creationId xmlns:a16="http://schemas.microsoft.com/office/drawing/2014/main" id="{43E5F079-148C-4ED9-803B-2ADCBEB3AE74}"/>
              </a:ext>
            </a:extLst>
          </p:cNvPr>
          <p:cNvSpPr>
            <a:spLocks xmlns:a="http://schemas.openxmlformats.org/drawingml/2006/main" noGrp="1"/>
          </p:cNvSpPr>
          <p:nvPr/>
        </p:nvSpPr>
        <p:spPr>
          <a:xfrm xmlns:a="http://schemas.openxmlformats.org/drawingml/2006/main">
            <a:off x="7620000" y="3409950"/>
            <a:ext cx="3314700" cy="1619250"/>
          </a:xfrm>
          <a:prstGeom xmlns:a="http://schemas.openxmlformats.org/drawingml/2006/main" prst="roundRect">
            <a:avLst>
              <a:gd name="adj" fmla="val 10588"/>
            </a:avLst>
          </a:prstGeom>
          <a:solidFill xmlns:a="http://schemas.openxmlformats.org/drawingml/2006/main">
            <a:srgbClr val="F4C76B"/>
          </a:solidFill>
          <a:ln xmlns:a="http://schemas.openxmlformats.org/drawingml/2006/main" w="9525">
            <a:solidFill>
              <a:srgbClr val="F4C76B"/>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ctr">
              <a:defRPr sz="1650" b="1">
                <a:solidFill>
                  <a:srgbClr val="0A1220"/>
                </a:solidFill>
                <a:latin typeface="Helvetica Neue"/>
                <a:ea typeface="Helvetica Neue"/>
                <a:cs typeface="Helvetica Neue"/>
              </a:defRPr>
            </a:pPr>
            <a:r>
              <a:rPr sz="1650" b="1">
                <a:solidFill>
                  <a:srgbClr val="0A1220"/>
                </a:solidFill>
                <a:latin typeface="Helvetica Neue"/>
                <a:ea typeface="Helvetica Neue"/>
                <a:cs typeface="Helvetica Neue"/>
              </a:rPr>
              <a:t>Resultado esperado</a:t>
            </a:r>
          </a:p>
          <a:p xmlns:a="http://schemas.openxmlformats.org/drawingml/2006/main">
            <a:pPr algn="ctr">
              <a:defRPr sz="1650" b="1">
                <a:solidFill>
                  <a:srgbClr val="0A1220"/>
                </a:solidFill>
                <a:latin typeface="Helvetica Neue"/>
                <a:ea typeface="Helvetica Neue"/>
                <a:cs typeface="Helvetica Neue"/>
              </a:defRPr>
            </a:pPr>
            <a:r>
              <a:rPr sz="1650" b="1">
                <a:solidFill>
                  <a:srgbClr val="0A1220"/>
                </a:solidFill>
                <a:latin typeface="Helvetica Neue"/>
                <a:ea typeface="Helvetica Neue"/>
                <a:cs typeface="Helvetica Neue"/>
              </a:rPr>
              <a:t>La capacidad crece sin una degradación desproporcionada del rendimiento</a:t>
            </a:r>
          </a:p>
        </p:txBody>
      </p:sp>
      <p:sp>
        <p:nvSpPr>
          <p:cNvPr id="19" name="">
            <a:extLst xmlns:a="http://schemas.openxmlformats.org/drawingml/2006/main">
              <a:ext uri="{FF2B5EF4-FFF2-40B4-BE49-F238E27FC236}">
                <a16:creationId xmlns:a16="http://schemas.microsoft.com/office/drawing/2014/main" id="{99B0B990-6A66-4A76-9417-3783FC7205D9}"/>
              </a:ext>
            </a:extLst>
          </p:cNvPr>
          <p:cNvSpPr>
            <a:spLocks xmlns:a="http://schemas.openxmlformats.org/drawingml/2006/main" noGrp="1"/>
          </p:cNvSpPr>
          <p:nvPr/>
        </p:nvSpPr>
        <p:spPr>
          <a:xfrm xmlns:a="http://schemas.openxmlformats.org/drawingml/2006/main">
            <a:off x="6496050" y="3162300"/>
            <a:ext cx="876300" cy="266700"/>
          </a:xfrm>
          <a:prstGeom xmlns:a="http://schemas.openxmlformats.org/drawingml/2006/main" prst="rightArrow">
            <a:avLst/>
          </a:prstGeom>
          <a:solidFill xmlns:a="http://schemas.openxmlformats.org/drawingml/2006/main">
            <a:srgbClr val="6A829C"/>
          </a:solidFill>
          <a:ln xmlns:a="http://schemas.openxmlformats.org/drawingml/2006/main" w="9525">
            <a:solidFill>
              <a:srgbClr val="6A829C"/>
            </a:solidFill>
            <a:prstDash val="solid"/>
          </a:ln>
        </p:spPr>
      </p:sp>
      <p:sp>
        <p:nvSpPr>
          <p:cNvPr id="20" name="">
            <a:extLst xmlns:a="http://schemas.openxmlformats.org/drawingml/2006/main">
              <a:ext uri="{FF2B5EF4-FFF2-40B4-BE49-F238E27FC236}">
                <a16:creationId xmlns:a16="http://schemas.microsoft.com/office/drawing/2014/main" id="{D29DCDE3-6523-4390-BD5B-9C031DE9D95A}"/>
              </a:ext>
            </a:extLst>
          </p:cNvPr>
          <p:cNvSpPr>
            <a:spLocks xmlns:a="http://schemas.openxmlformats.org/drawingml/2006/main" noGrp="1"/>
          </p:cNvSpPr>
          <p:nvPr/>
        </p:nvSpPr>
        <p:spPr>
          <a:xfrm xmlns:a="http://schemas.openxmlformats.org/drawingml/2006/main">
            <a:off x="6496050" y="4686300"/>
            <a:ext cx="876300" cy="266700"/>
          </a:xfrm>
          <a:prstGeom xmlns:a="http://schemas.openxmlformats.org/drawingml/2006/main" prst="rightArrow">
            <a:avLst/>
          </a:prstGeom>
          <a:solidFill xmlns:a="http://schemas.openxmlformats.org/drawingml/2006/main">
            <a:srgbClr val="6A829C"/>
          </a:solidFill>
          <a:ln xmlns:a="http://schemas.openxmlformats.org/drawingml/2006/main" w="9525">
            <a:solidFill>
              <a:srgbClr val="6A829C"/>
            </a:solidFill>
            <a:prstDash val="solid"/>
          </a:ln>
        </p:spPr>
      </p:sp>
    </p:spTree>
    <p:extLst>
      <p:ext uri="{BB962C8B-B14F-4D97-AF65-F5344CB8AC3E}">
        <p14:creationId xmlns:p14="http://schemas.microsoft.com/office/powerpoint/2010/main" val="31353304"/>
      </p:ext>
    </p:extLst>
  </p:cSld>
</p:sld>
</file>

<file path=ppt/slides/slide8.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58824A5-B8A1-4977-AF7B-0E42BFA1DE70}"/>
              </a:ext>
            </a:extLst>
          </p:cNvPr>
          <p:cNvSpPr>
            <a:spLocks xmlns:a="http://schemas.openxmlformats.org/drawingml/2006/main" noGrp="1"/>
          </p:cNvSpPr>
          <p:nvPr/>
        </p:nvSpPr>
        <p:spPr>
          <a:xfrm xmlns:a="http://schemas.openxmlformats.org/drawingml/2006/main">
            <a:off x="685800" y="4000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4ED6C5"/>
                </a:solidFill>
                <a:latin typeface="Helvetica Neue"/>
                <a:ea typeface="Helvetica Neue"/>
                <a:cs typeface="Helvetica Neue"/>
              </a:defRPr>
            </a:pPr>
            <a:r>
              <a:rPr sz="900" b="1" i="0">
                <a:solidFill>
                  <a:srgbClr val="4ED6C5"/>
                </a:solidFill>
                <a:latin typeface="Helvetica Neue"/>
                <a:ea typeface="Helvetica Neue"/>
                <a:cs typeface="Helvetica Neue"/>
              </a:rPr>
              <a:t>07 · COMPATIBILIDAD</a:t>
            </a:r>
          </a:p>
        </p:txBody>
      </p:sp>
      <p:sp>
        <p:nvSpPr>
          <p:cNvPr id="2" name="">
            <a:extLst xmlns:a="http://schemas.openxmlformats.org/drawingml/2006/main">
              <a:ext uri="{FF2B5EF4-FFF2-40B4-BE49-F238E27FC236}">
                <a16:creationId xmlns:a16="http://schemas.microsoft.com/office/drawing/2014/main" id="{05758056-75ED-4BB0-A366-1E957647A928}"/>
              </a:ext>
            </a:extLst>
          </p:cNvPr>
          <p:cNvSpPr>
            <a:spLocks xmlns:a="http://schemas.openxmlformats.org/drawingml/2006/main" noGrp="1"/>
          </p:cNvSpPr>
          <p:nvPr/>
        </p:nvSpPr>
        <p:spPr>
          <a:xfrm xmlns:a="http://schemas.openxmlformats.org/drawingml/2006/main">
            <a:off x="685800" y="7048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F5F7FA"/>
                </a:solidFill>
                <a:latin typeface="Helvetica Neue"/>
                <a:ea typeface="Helvetica Neue"/>
                <a:cs typeface="Helvetica Neue"/>
              </a:defRPr>
            </a:pPr>
            <a:r>
              <a:rPr sz="2925" b="1" i="0">
                <a:solidFill>
                  <a:srgbClr val="F5F7FA"/>
                </a:solidFill>
                <a:latin typeface="Helvetica Neue"/>
                <a:ea typeface="Helvetica Neue"/>
                <a:cs typeface="Helvetica Neue"/>
              </a:rPr>
              <a:t>¿Qué son las pruebas de portabilidad?</a:t>
            </a:r>
          </a:p>
        </p:txBody>
      </p:sp>
      <p:sp>
        <p:nvSpPr>
          <p:cNvPr id="3" name="">
            <a:extLst xmlns:a="http://schemas.openxmlformats.org/drawingml/2006/main">
              <a:ext uri="{FF2B5EF4-FFF2-40B4-BE49-F238E27FC236}">
                <a16:creationId xmlns:a16="http://schemas.microsoft.com/office/drawing/2014/main" id="{9BD54FA1-3579-4400-8BBE-4849274A2536}"/>
              </a:ext>
            </a:extLst>
          </p:cNvPr>
          <p:cNvSpPr>
            <a:spLocks xmlns:a="http://schemas.openxmlformats.org/drawingml/2006/main" noGrp="1"/>
          </p:cNvSpPr>
          <p:nvPr/>
        </p:nvSpPr>
        <p:spPr>
          <a:xfrm xmlns:a="http://schemas.openxmlformats.org/drawingml/2006/main">
            <a:off x="685800" y="1428750"/>
            <a:ext cx="10820400" cy="0"/>
          </a:xfrm>
          <a:prstGeom xmlns:a="http://schemas.openxmlformats.org/drawingml/2006/main" prst="line">
            <a:avLst/>
          </a:prstGeom>
          <a:noFill xmlns:a="http://schemas.openxmlformats.org/drawingml/2006/main"/>
          <a:ln xmlns:a="http://schemas.openxmlformats.org/drawingml/2006/main" w="9525">
            <a:solidFill>
              <a:srgbClr val="2E4965"/>
            </a:solidFill>
            <a:prstDash val="solid"/>
          </a:ln>
        </p:spPr>
      </p:sp>
      <p:sp>
        <p:nvSpPr>
          <p:cNvPr id="4" name="">
            <a:extLst xmlns:a="http://schemas.openxmlformats.org/drawingml/2006/main">
              <a:ext uri="{FF2B5EF4-FFF2-40B4-BE49-F238E27FC236}">
                <a16:creationId xmlns:a16="http://schemas.microsoft.com/office/drawing/2014/main" id="{F74679FC-5DD7-459A-B146-5408D6CC4164}"/>
              </a:ext>
            </a:extLst>
          </p:cNvPr>
          <p:cNvSpPr>
            <a:spLocks xmlns:a="http://schemas.openxmlformats.org/drawingml/2006/main" noGrp="1"/>
          </p:cNvSpPr>
          <p:nvPr/>
        </p:nvSpPr>
        <p:spPr>
          <a:xfrm xmlns:a="http://schemas.openxmlformats.org/drawingml/2006/main">
            <a:off x="685800" y="65532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FC0D4"/>
                </a:solidFill>
                <a:latin typeface="Helvetica Neue"/>
                <a:ea typeface="Helvetica Neue"/>
                <a:cs typeface="Helvetica Neue"/>
              </a:defRPr>
            </a:pPr>
            <a:r>
              <a:rPr sz="825" b="1" i="0">
                <a:solidFill>
                  <a:srgbClr val="AFC0D4"/>
                </a:solidFill>
                <a:latin typeface="Helvetica Neue"/>
                <a:ea typeface="Helvetica Neue"/>
                <a:cs typeface="Helvetica Neue"/>
              </a:rPr>
              <a:t>PRUEBAS NO FUNCIONALES</a:t>
            </a:r>
          </a:p>
        </p:txBody>
      </p:sp>
      <p:sp>
        <p:nvSpPr>
          <p:cNvPr id="5" name="">
            <a:extLst xmlns:a="http://schemas.openxmlformats.org/drawingml/2006/main">
              <a:ext uri="{FF2B5EF4-FFF2-40B4-BE49-F238E27FC236}">
                <a16:creationId xmlns:a16="http://schemas.microsoft.com/office/drawing/2014/main" id="{DD799558-857D-47AA-A9DB-D3CA027B7FD2}"/>
              </a:ext>
            </a:extLst>
          </p:cNvPr>
          <p:cNvSpPr>
            <a:spLocks xmlns:a="http://schemas.openxmlformats.org/drawingml/2006/main" noGrp="1"/>
          </p:cNvSpPr>
          <p:nvPr/>
        </p:nvSpPr>
        <p:spPr>
          <a:xfrm xmlns:a="http://schemas.openxmlformats.org/drawingml/2006/main">
            <a:off x="11049000" y="65151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4ED6C5"/>
                </a:solidFill>
                <a:latin typeface="Helvetica Neue"/>
                <a:ea typeface="Helvetica Neue"/>
                <a:cs typeface="Helvetica Neue"/>
              </a:defRPr>
            </a:pPr>
            <a:r>
              <a:rPr sz="1050" b="1" i="0">
                <a:solidFill>
                  <a:srgbClr val="4ED6C5"/>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FCDF180A-97D5-496E-9917-AB54893207B8}"/>
              </a:ext>
            </a:extLst>
          </p:cNvPr>
          <p:cNvSpPr>
            <a:spLocks xmlns:a="http://schemas.openxmlformats.org/drawingml/2006/main" noGrp="1"/>
          </p:cNvSpPr>
          <p:nvPr/>
        </p:nvSpPr>
        <p:spPr>
          <a:xfrm xmlns:a="http://schemas.openxmlformats.org/drawingml/2006/main">
            <a:off x="685800" y="17335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875" b="1" i="0">
                <a:solidFill>
                  <a:srgbClr val="F5F7FA"/>
                </a:solidFill>
                <a:latin typeface="Helvetica Neue"/>
                <a:ea typeface="Helvetica Neue"/>
                <a:cs typeface="Helvetica Neue"/>
              </a:defRPr>
            </a:pPr>
            <a:r>
              <a:rPr sz="1875" b="1" i="0">
                <a:solidFill>
                  <a:srgbClr val="F5F7FA"/>
                </a:solidFill>
                <a:latin typeface="Helvetica Neue"/>
                <a:ea typeface="Helvetica Neue"/>
                <a:cs typeface="Helvetica Neue"/>
              </a:rPr>
              <a:t>Verifican que el software pueda ejecutarse y comportarse correctamente en distintos entornos.</a:t>
            </a:r>
          </a:p>
        </p:txBody>
      </p:sp>
      <p:sp>
        <p:nvSpPr>
          <p:cNvPr id="7" name="">
            <a:extLst xmlns:a="http://schemas.openxmlformats.org/drawingml/2006/main">
              <a:ext uri="{FF2B5EF4-FFF2-40B4-BE49-F238E27FC236}">
                <a16:creationId xmlns:a16="http://schemas.microsoft.com/office/drawing/2014/main" id="{F285C0B8-5D9E-4097-8AB4-85917BEDBF8A}"/>
              </a:ext>
            </a:extLst>
          </p:cNvPr>
          <p:cNvSpPr>
            <a:spLocks xmlns:a="http://schemas.openxmlformats.org/drawingml/2006/main" noGrp="1"/>
          </p:cNvSpPr>
          <p:nvPr/>
        </p:nvSpPr>
        <p:spPr>
          <a:xfrm xmlns:a="http://schemas.openxmlformats.org/drawingml/2006/main">
            <a:off x="4762500" y="3333750"/>
            <a:ext cx="2476500" cy="1333500"/>
          </a:xfrm>
          <a:prstGeom xmlns:a="http://schemas.openxmlformats.org/drawingml/2006/main" prst="ellipse">
            <a:avLst/>
          </a:prstGeom>
          <a:solidFill xmlns:a="http://schemas.openxmlformats.org/drawingml/2006/main">
            <a:srgbClr val="4ED6C5"/>
          </a:solidFill>
          <a:ln xmlns:a="http://schemas.openxmlformats.org/drawingml/2006/main" w="9525">
            <a:solidFill>
              <a:srgbClr val="4ED6C5"/>
            </a:solidFill>
            <a:prstDash val="solid"/>
          </a:ln>
        </p:spPr>
        <p:txBody>
          <a:bodyPr xmlns:a="http://schemas.openxmlformats.org/drawingml/2006/main" lIns="76200" tIns="76200" rIns="76200" bIns="76200" anchor="ctr">
            <a:normAutofit fontScale="88090"/>
          </a:bodyPr>
          <a:lstStyle xmlns:a="http://schemas.openxmlformats.org/drawingml/2006/main"/>
          <a:p xmlns:a="http://schemas.openxmlformats.org/drawingml/2006/main">
            <a:pPr algn="ctr">
              <a:defRPr sz="1800" b="1">
                <a:solidFill>
                  <a:srgbClr val="0A1220"/>
                </a:solidFill>
                <a:latin typeface="Helvetica Neue"/>
                <a:ea typeface="Helvetica Neue"/>
                <a:cs typeface="Helvetica Neue"/>
              </a:defRPr>
            </a:pPr>
            <a:r>
              <a:rPr sz="1800" b="1">
                <a:solidFill>
                  <a:srgbClr val="0A1220"/>
                </a:solidFill>
                <a:latin typeface="Helvetica Neue"/>
                <a:ea typeface="Helvetica Neue"/>
                <a:cs typeface="Helvetica Neue"/>
              </a:rPr>
              <a:t>Mismo</a:t>
            </a:r>
          </a:p>
          <a:p xmlns:a="http://schemas.openxmlformats.org/drawingml/2006/main">
            <a:pPr algn="ctr">
              <a:defRPr sz="1800" b="1">
                <a:solidFill>
                  <a:srgbClr val="0A1220"/>
                </a:solidFill>
                <a:latin typeface="Helvetica Neue"/>
                <a:ea typeface="Helvetica Neue"/>
                <a:cs typeface="Helvetica Neue"/>
              </a:defRPr>
            </a:pPr>
            <a:r>
              <a:rPr sz="1800" b="1">
                <a:solidFill>
                  <a:srgbClr val="0A1220"/>
                </a:solidFill>
                <a:latin typeface="Helvetica Neue"/>
                <a:ea typeface="Helvetica Neue"/>
                <a:cs typeface="Helvetica Neue"/>
              </a:rPr>
              <a:t>comportamiento</a:t>
            </a:r>
          </a:p>
          <a:p xmlns:a="http://schemas.openxmlformats.org/drawingml/2006/main">
            <a:pPr algn="ctr">
              <a:defRPr sz="1800" b="1">
                <a:solidFill>
                  <a:srgbClr val="0A1220"/>
                </a:solidFill>
                <a:latin typeface="Helvetica Neue"/>
                <a:ea typeface="Helvetica Neue"/>
                <a:cs typeface="Helvetica Neue"/>
              </a:defRPr>
            </a:pPr>
            <a:r>
              <a:rPr sz="1800" b="1">
                <a:solidFill>
                  <a:srgbClr val="0A1220"/>
                </a:solidFill>
                <a:latin typeface="Helvetica Neue"/>
                <a:ea typeface="Helvetica Neue"/>
                <a:cs typeface="Helvetica Neue"/>
              </a:rPr>
              <a:t>esperado</a:t>
            </a:r>
          </a:p>
        </p:txBody>
      </p:sp>
      <p:sp>
        <p:nvSpPr>
          <p:cNvPr id="8" name="">
            <a:extLst xmlns:a="http://schemas.openxmlformats.org/drawingml/2006/main">
              <a:ext uri="{FF2B5EF4-FFF2-40B4-BE49-F238E27FC236}">
                <a16:creationId xmlns:a16="http://schemas.microsoft.com/office/drawing/2014/main" id="{CD741814-0DAA-4E37-9DE2-90B107D8F6A4}"/>
              </a:ext>
            </a:extLst>
          </p:cNvPr>
          <p:cNvSpPr>
            <a:spLocks xmlns:a="http://schemas.openxmlformats.org/drawingml/2006/main" noGrp="1"/>
          </p:cNvSpPr>
          <p:nvPr/>
        </p:nvSpPr>
        <p:spPr>
          <a:xfrm xmlns:a="http://schemas.openxmlformats.org/drawingml/2006/main">
            <a:off x="914400" y="2705100"/>
            <a:ext cx="2381250" cy="590550"/>
          </a:xfrm>
          <a:prstGeom xmlns:a="http://schemas.openxmlformats.org/drawingml/2006/main" prst="roundRect">
            <a:avLst>
              <a:gd name="adj" fmla="val 25806"/>
            </a:avLst>
          </a:prstGeom>
          <a:solidFill xmlns:a="http://schemas.openxmlformats.org/drawingml/2006/main">
            <a:srgbClr val="14253B"/>
          </a:solidFill>
          <a:ln xmlns:a="http://schemas.openxmlformats.org/drawingml/2006/main" w="19050">
            <a:solidFill>
              <a:srgbClr val="80B7FF"/>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ctr">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Sistema operativo</a:t>
            </a:r>
          </a:p>
        </p:txBody>
      </p:sp>
      <p:cxnSp>
        <p:nvCxnSpPr>
          <p:cNvPr id="25" name=""/>
          <p:cNvCxnSpPr>
            <a:stCxn xmlns:a="http://schemas.openxmlformats.org/drawingml/2006/main" id="8" idx="3"/>
            <a:endCxn xmlns:a="http://schemas.openxmlformats.org/drawingml/2006/main" id="7" idx="2"/>
          </p:cNvCxnSpPr>
          <p:nvPr/>
        </p:nvCxnSpPr>
        <p:spPr>
          <a:xfrm xmlns:a="http://schemas.openxmlformats.org/drawingml/2006/main">
            <a:off x="3295650" y="3000375"/>
            <a:ext cx="1466850" cy="1000125"/>
          </a:xfrm>
          <a:prstGeom xmlns:a="http://schemas.openxmlformats.org/drawingml/2006/main" prst="bentConnector3">
            <a:avLst>
              <a:gd name="adj1" fmla="val 50000"/>
            </a:avLst>
          </a:prstGeom>
          <a:ln xmlns:a="http://schemas.openxmlformats.org/drawingml/2006/main" w="19050">
            <a:solidFill>
              <a:srgbClr val="6A829C"/>
            </a:solidFill>
            <a:prstDash val="solid"/>
            <a:tailEnd type="arrow" w="sm" len="sm"/>
          </a:ln>
        </p:spPr>
      </p:cxnSp>
      <p:sp>
        <p:nvSpPr>
          <p:cNvPr id="10" name="">
            <a:extLst xmlns:a="http://schemas.openxmlformats.org/drawingml/2006/main">
              <a:ext uri="{FF2B5EF4-FFF2-40B4-BE49-F238E27FC236}">
                <a16:creationId xmlns:a16="http://schemas.microsoft.com/office/drawing/2014/main" id="{AA594676-A69D-443C-BE84-7BEEB48B44F2}"/>
              </a:ext>
            </a:extLst>
          </p:cNvPr>
          <p:cNvSpPr>
            <a:spLocks xmlns:a="http://schemas.openxmlformats.org/drawingml/2006/main" noGrp="1"/>
          </p:cNvSpPr>
          <p:nvPr/>
        </p:nvSpPr>
        <p:spPr>
          <a:xfrm xmlns:a="http://schemas.openxmlformats.org/drawingml/2006/main">
            <a:off x="914400" y="4514850"/>
            <a:ext cx="2381250" cy="590550"/>
          </a:xfrm>
          <a:prstGeom xmlns:a="http://schemas.openxmlformats.org/drawingml/2006/main" prst="roundRect">
            <a:avLst>
              <a:gd name="adj" fmla="val 25806"/>
            </a:avLst>
          </a:prstGeom>
          <a:solidFill xmlns:a="http://schemas.openxmlformats.org/drawingml/2006/main">
            <a:srgbClr val="14253B"/>
          </a:solidFill>
          <a:ln xmlns:a="http://schemas.openxmlformats.org/drawingml/2006/main" w="19050">
            <a:solidFill>
              <a:srgbClr val="F4C76B"/>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ctr">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Navegador</a:t>
            </a:r>
          </a:p>
        </p:txBody>
      </p:sp>
      <p:cxnSp>
        <p:nvCxnSpPr>
          <p:cNvPr id="27" name=""/>
          <p:cNvCxnSpPr>
            <a:stCxn xmlns:a="http://schemas.openxmlformats.org/drawingml/2006/main" id="10" idx="3"/>
            <a:endCxn xmlns:a="http://schemas.openxmlformats.org/drawingml/2006/main" id="7" idx="2"/>
          </p:cNvCxnSpPr>
          <p:nvPr/>
        </p:nvCxnSpPr>
        <p:spPr>
          <a:xfrm xmlns:a="http://schemas.openxmlformats.org/drawingml/2006/main" flipV="1">
            <a:off x="3295650" y="4000500"/>
            <a:ext cx="1466850" cy="809625"/>
          </a:xfrm>
          <a:prstGeom xmlns:a="http://schemas.openxmlformats.org/drawingml/2006/main" prst="bentConnector3">
            <a:avLst>
              <a:gd name="adj1" fmla="val 50000"/>
            </a:avLst>
          </a:prstGeom>
          <a:ln xmlns:a="http://schemas.openxmlformats.org/drawingml/2006/main" w="19050">
            <a:solidFill>
              <a:srgbClr val="6A829C"/>
            </a:solidFill>
            <a:prstDash val="solid"/>
            <a:tailEnd type="arrow" w="sm" len="sm"/>
          </a:ln>
        </p:spPr>
      </p:cxnSp>
      <p:sp>
        <p:nvSpPr>
          <p:cNvPr id="12" name="">
            <a:extLst xmlns:a="http://schemas.openxmlformats.org/drawingml/2006/main">
              <a:ext uri="{FF2B5EF4-FFF2-40B4-BE49-F238E27FC236}">
                <a16:creationId xmlns:a16="http://schemas.microsoft.com/office/drawing/2014/main" id="{97C210B8-AE06-440A-8D9F-098B87A5C292}"/>
              </a:ext>
            </a:extLst>
          </p:cNvPr>
          <p:cNvSpPr>
            <a:spLocks xmlns:a="http://schemas.openxmlformats.org/drawingml/2006/main" noGrp="1"/>
          </p:cNvSpPr>
          <p:nvPr/>
        </p:nvSpPr>
        <p:spPr>
          <a:xfrm xmlns:a="http://schemas.openxmlformats.org/drawingml/2006/main">
            <a:off x="8191500" y="2705100"/>
            <a:ext cx="2381250" cy="590550"/>
          </a:xfrm>
          <a:prstGeom xmlns:a="http://schemas.openxmlformats.org/drawingml/2006/main" prst="roundRect">
            <a:avLst>
              <a:gd name="adj" fmla="val 25806"/>
            </a:avLst>
          </a:prstGeom>
          <a:solidFill xmlns:a="http://schemas.openxmlformats.org/drawingml/2006/main">
            <a:srgbClr val="14253B"/>
          </a:solidFill>
          <a:ln xmlns:a="http://schemas.openxmlformats.org/drawingml/2006/main" w="19050">
            <a:solidFill>
              <a:srgbClr val="F28B77"/>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ctr">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Nube o servidor</a:t>
            </a:r>
          </a:p>
        </p:txBody>
      </p:sp>
      <p:cxnSp>
        <p:nvCxnSpPr>
          <p:cNvPr id="29" name=""/>
          <p:cNvCxnSpPr>
            <a:stCxn xmlns:a="http://schemas.openxmlformats.org/drawingml/2006/main" id="12" idx="1"/>
            <a:endCxn xmlns:a="http://schemas.openxmlformats.org/drawingml/2006/main" id="7" idx="6"/>
          </p:cNvCxnSpPr>
          <p:nvPr/>
        </p:nvCxnSpPr>
        <p:spPr>
          <a:xfrm xmlns:a="http://schemas.openxmlformats.org/drawingml/2006/main" flipH="1">
            <a:off x="7239000" y="3000375"/>
            <a:ext cx="952500" cy="1000125"/>
          </a:xfrm>
          <a:prstGeom xmlns:a="http://schemas.openxmlformats.org/drawingml/2006/main" prst="bentConnector3">
            <a:avLst>
              <a:gd name="adj1" fmla="val 50000"/>
            </a:avLst>
          </a:prstGeom>
          <a:ln xmlns:a="http://schemas.openxmlformats.org/drawingml/2006/main" w="19050">
            <a:solidFill>
              <a:srgbClr val="6A829C"/>
            </a:solidFill>
            <a:prstDash val="solid"/>
            <a:tailEnd type="arrow" w="sm" len="sm"/>
          </a:ln>
        </p:spPr>
      </p:cxnSp>
      <p:sp>
        <p:nvSpPr>
          <p:cNvPr id="14" name="">
            <a:extLst xmlns:a="http://schemas.openxmlformats.org/drawingml/2006/main">
              <a:ext uri="{FF2B5EF4-FFF2-40B4-BE49-F238E27FC236}">
                <a16:creationId xmlns:a16="http://schemas.microsoft.com/office/drawing/2014/main" id="{E23038D1-BD61-49A7-B082-8ACF86DC89EC}"/>
              </a:ext>
            </a:extLst>
          </p:cNvPr>
          <p:cNvSpPr>
            <a:spLocks xmlns:a="http://schemas.openxmlformats.org/drawingml/2006/main" noGrp="1"/>
          </p:cNvSpPr>
          <p:nvPr/>
        </p:nvSpPr>
        <p:spPr>
          <a:xfrm xmlns:a="http://schemas.openxmlformats.org/drawingml/2006/main">
            <a:off x="8191500" y="4514850"/>
            <a:ext cx="2381250" cy="590550"/>
          </a:xfrm>
          <a:prstGeom xmlns:a="http://schemas.openxmlformats.org/drawingml/2006/main" prst="roundRect">
            <a:avLst>
              <a:gd name="adj" fmla="val 25806"/>
            </a:avLst>
          </a:prstGeom>
          <a:solidFill xmlns:a="http://schemas.openxmlformats.org/drawingml/2006/main">
            <a:srgbClr val="14253B"/>
          </a:solidFill>
          <a:ln xmlns:a="http://schemas.openxmlformats.org/drawingml/2006/main" w="19050">
            <a:solidFill>
              <a:srgbClr val="4ED6C5"/>
            </a:solidFill>
            <a:prstDash val="solid"/>
          </a:ln>
        </p:spPr>
        <p:txBody>
          <a:bodyPr xmlns:a="http://schemas.openxmlformats.org/drawingml/2006/main" lIns="133350" tIns="114300" rIns="133350" bIns="114300" anchor="ctr">
            <a:normAutofit fontScale="100000"/>
          </a:bodyPr>
          <a:lstStyle xmlns:a="http://schemas.openxmlformats.org/drawingml/2006/main"/>
          <a:p xmlns:a="http://schemas.openxmlformats.org/drawingml/2006/main">
            <a:pPr algn="ctr">
              <a:defRPr sz="1500" b="1">
                <a:solidFill>
                  <a:srgbClr val="F5F7FA"/>
                </a:solidFill>
                <a:latin typeface="Helvetica Neue"/>
                <a:ea typeface="Helvetica Neue"/>
                <a:cs typeface="Helvetica Neue"/>
              </a:defRPr>
            </a:pPr>
            <a:r>
              <a:rPr sz="1500" b="1">
                <a:solidFill>
                  <a:srgbClr val="F5F7FA"/>
                </a:solidFill>
                <a:latin typeface="Helvetica Neue"/>
                <a:ea typeface="Helvetica Neue"/>
                <a:cs typeface="Helvetica Neue"/>
              </a:rPr>
              <a:t>Base de datos</a:t>
            </a:r>
          </a:p>
        </p:txBody>
      </p:sp>
      <p:cxnSp>
        <p:nvCxnSpPr>
          <p:cNvPr id="31" name=""/>
          <p:cNvCxnSpPr>
            <a:stCxn xmlns:a="http://schemas.openxmlformats.org/drawingml/2006/main" id="14" idx="1"/>
            <a:endCxn xmlns:a="http://schemas.openxmlformats.org/drawingml/2006/main" id="7" idx="6"/>
          </p:cNvCxnSpPr>
          <p:nvPr/>
        </p:nvCxnSpPr>
        <p:spPr>
          <a:xfrm xmlns:a="http://schemas.openxmlformats.org/drawingml/2006/main" flipH="1" flipV="1">
            <a:off x="7239000" y="4000500"/>
            <a:ext cx="952500" cy="809625"/>
          </a:xfrm>
          <a:prstGeom xmlns:a="http://schemas.openxmlformats.org/drawingml/2006/main" prst="bentConnector3">
            <a:avLst>
              <a:gd name="adj1" fmla="val 50000"/>
            </a:avLst>
          </a:prstGeom>
          <a:ln xmlns:a="http://schemas.openxmlformats.org/drawingml/2006/main" w="19050">
            <a:solidFill>
              <a:srgbClr val="6A829C"/>
            </a:solidFill>
            <a:prstDash val="solid"/>
            <a:tailEnd type="arrow" w="sm" len="sm"/>
          </a:ln>
        </p:spPr>
      </p:cxnSp>
      <p:sp>
        <p:nvSpPr>
          <p:cNvPr id="16" name="">
            <a:extLst xmlns:a="http://schemas.openxmlformats.org/drawingml/2006/main">
              <a:ext uri="{FF2B5EF4-FFF2-40B4-BE49-F238E27FC236}">
                <a16:creationId xmlns:a16="http://schemas.microsoft.com/office/drawing/2014/main" id="{43E28617-2486-486F-B040-6C37896ED330}"/>
              </a:ext>
            </a:extLst>
          </p:cNvPr>
          <p:cNvSpPr>
            <a:spLocks xmlns:a="http://schemas.openxmlformats.org/drawingml/2006/main" noGrp="1"/>
          </p:cNvSpPr>
          <p:nvPr/>
        </p:nvSpPr>
        <p:spPr>
          <a:xfrm xmlns:a="http://schemas.openxmlformats.org/drawingml/2006/main">
            <a:off x="2381250" y="581025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i="0">
                <a:solidFill>
                  <a:srgbClr val="F4C76B"/>
                </a:solidFill>
                <a:latin typeface="Helvetica Neue"/>
                <a:ea typeface="Helvetica Neue"/>
                <a:cs typeface="Helvetica Neue"/>
              </a:defRPr>
            </a:pPr>
            <a:r>
              <a:rPr sz="1500" b="1" i="0">
                <a:solidFill>
                  <a:srgbClr val="F4C76B"/>
                </a:solidFill>
                <a:latin typeface="Helvetica Neue"/>
                <a:ea typeface="Helvetica Neue"/>
                <a:cs typeface="Helvetica Neue"/>
              </a:rPr>
              <a:t>Portar implica adaptar lo necesario sin cambiar el comportamiento esperado.</a:t>
            </a:r>
          </a:p>
        </p:txBody>
      </p:sp>
    </p:spTree>
    <p:extLst>
      <p:ext uri="{BB962C8B-B14F-4D97-AF65-F5344CB8AC3E}">
        <p14:creationId xmlns:p14="http://schemas.microsoft.com/office/powerpoint/2010/main" val="15099177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2026-09-10T22:49:38.2860000Z</dcterms:created>
  <dcterms:modified xsi:type="dcterms:W3CDTF">2026-09-10T22:49:38.2860000Z</dcterms:modified>
</coreProperties>
</file>