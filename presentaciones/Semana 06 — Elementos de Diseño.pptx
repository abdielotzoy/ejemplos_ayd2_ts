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02074b83648a5" /><Relationship Type="http://schemas.openxmlformats.org/officeDocument/2006/relationships/extended-properties" Target="/docProps/app.xml" Id="R75760980c9f144a2" /><Relationship Type="http://schemas.openxmlformats.org/officeDocument/2006/relationships/officeDocument" Target="/ppt/presentation.xml" Id="Re54789a4879f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5f32edaf84033"/>
  </p:sldMasterIdLst>
  <p:notesMasterIdLst>
    <p:notesMasterId xmlns:r="http://schemas.openxmlformats.org/officeDocument/2006/relationships" r:id="Rab3d9740aca74b79"/>
  </p:notesMasterIdLst>
  <p:sldIdLst>
    <p:sldId xmlns:r="http://schemas.openxmlformats.org/officeDocument/2006/relationships" id="256" r:id="Rf92a827b07094a3f"/>
    <p:sldId xmlns:r="http://schemas.openxmlformats.org/officeDocument/2006/relationships" id="257" r:id="Rf80b40bed6b64c43"/>
    <p:sldId xmlns:r="http://schemas.openxmlformats.org/officeDocument/2006/relationships" id="258" r:id="Rfc8c4d5e607a49e5"/>
    <p:sldId xmlns:r="http://schemas.openxmlformats.org/officeDocument/2006/relationships" id="259" r:id="R7b82687f350d4d67"/>
    <p:sldId xmlns:r="http://schemas.openxmlformats.org/officeDocument/2006/relationships" id="260" r:id="R60e2714eec064b09"/>
    <p:sldId xmlns:r="http://schemas.openxmlformats.org/officeDocument/2006/relationships" id="261" r:id="R70f7c037b7c145d0"/>
    <p:sldId xmlns:r="http://schemas.openxmlformats.org/officeDocument/2006/relationships" id="262" r:id="R7b59b5af9f8a402b"/>
    <p:sldId xmlns:r="http://schemas.openxmlformats.org/officeDocument/2006/relationships" id="263" r:id="R3efb11db02f2418a"/>
    <p:sldId xmlns:r="http://schemas.openxmlformats.org/officeDocument/2006/relationships" id="264" r:id="Rf5f8a94ee2d24e39"/>
    <p:sldId xmlns:r="http://schemas.openxmlformats.org/officeDocument/2006/relationships" id="265" r:id="R53cdd3e8570e47f0"/>
    <p:sldId xmlns:r="http://schemas.openxmlformats.org/officeDocument/2006/relationships" id="266" r:id="Rda4ee8800dd3420f"/>
    <p:sldId xmlns:r="http://schemas.openxmlformats.org/officeDocument/2006/relationships" id="267" r:id="Rd75af4c56a744430"/>
    <p:sldId xmlns:r="http://schemas.openxmlformats.org/officeDocument/2006/relationships" id="268" r:id="R68fb2dba36f042a2"/>
    <p:sldId xmlns:r="http://schemas.openxmlformats.org/officeDocument/2006/relationships" id="269" r:id="Rfb3b16236e464a32"/>
    <p:sldId xmlns:r="http://schemas.openxmlformats.org/officeDocument/2006/relationships" id="270" r:id="R52cb8104fa984e13"/>
    <p:sldId xmlns:r="http://schemas.openxmlformats.org/officeDocument/2006/relationships" id="271" r:id="R25b6cf30a85142d0"/>
    <p:sldId xmlns:r="http://schemas.openxmlformats.org/officeDocument/2006/relationships" id="272" r:id="Re5feaab100354035"/>
    <p:sldId xmlns:r="http://schemas.openxmlformats.org/officeDocument/2006/relationships" id="273" r:id="R526c3df6af5749fc"/>
    <p:sldId xmlns:r="http://schemas.openxmlformats.org/officeDocument/2006/relationships" id="274" r:id="Rd4f7eb5c06e8423d"/>
    <p:sldId xmlns:r="http://schemas.openxmlformats.org/officeDocument/2006/relationships" id="275" r:id="Rda743c9850204be9"/>
    <p:sldId xmlns:r="http://schemas.openxmlformats.org/officeDocument/2006/relationships" id="276" r:id="Re67a692d42f744f9"/>
    <p:sldId xmlns:r="http://schemas.openxmlformats.org/officeDocument/2006/relationships" id="277" r:id="R965fab24aa50492f"/>
    <p:sldId xmlns:r="http://schemas.openxmlformats.org/officeDocument/2006/relationships" id="278" r:id="R2b68c86fc9f14a1b"/>
    <p:sldId xmlns:r="http://schemas.openxmlformats.org/officeDocument/2006/relationships" id="279" r:id="Rce8ba0fc6b7b4674"/>
    <p:sldId xmlns:r="http://schemas.openxmlformats.org/officeDocument/2006/relationships" id="280" r:id="R015c75e9640d4a33"/>
    <p:sldId xmlns:r="http://schemas.openxmlformats.org/officeDocument/2006/relationships" id="281" r:id="R5c8282e00de948d7"/>
    <p:sldId xmlns:r="http://schemas.openxmlformats.org/officeDocument/2006/relationships" id="282" r:id="R4f93e9b608644083"/>
    <p:sldId xmlns:r="http://schemas.openxmlformats.org/officeDocument/2006/relationships" id="283" r:id="R47feb08a6cb24886"/>
    <p:sldId xmlns:r="http://schemas.openxmlformats.org/officeDocument/2006/relationships" id="284" r:id="R95c56a4897fe451d"/>
    <p:sldId xmlns:r="http://schemas.openxmlformats.org/officeDocument/2006/relationships" id="285" r:id="Rb8a151b7acdc4161"/>
    <p:sldId xmlns:r="http://schemas.openxmlformats.org/officeDocument/2006/relationships" id="286" r:id="R95a38a7cae014a3d"/>
    <p:sldId xmlns:r="http://schemas.openxmlformats.org/officeDocument/2006/relationships" id="287" r:id="R40fee91628014e65"/>
    <p:sldId xmlns:r="http://schemas.openxmlformats.org/officeDocument/2006/relationships" id="288" r:id="R66297806dfb84a5b"/>
    <p:sldId xmlns:r="http://schemas.openxmlformats.org/officeDocument/2006/relationships" id="289" r:id="R0bb998cf5ddc43b2"/>
    <p:sldId xmlns:r="http://schemas.openxmlformats.org/officeDocument/2006/relationships" id="290" r:id="R3aa0b44081f44ad8"/>
    <p:sldId xmlns:r="http://schemas.openxmlformats.org/officeDocument/2006/relationships" id="291" r:id="Ra24993e30eea44b6"/>
    <p:sldId xmlns:r="http://schemas.openxmlformats.org/officeDocument/2006/relationships" id="292" r:id="R592132d82d7b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865dd17fe34acd" /><Relationship Type="http://schemas.openxmlformats.org/officeDocument/2006/relationships/slideMaster" Target="/ppt/slideMasters/slideMaster1.xml" Id="R3395f32edaf84033" /><Relationship Type="http://schemas.openxmlformats.org/officeDocument/2006/relationships/notesMaster" Target="/ppt/notesMasters/notesMaster1.xml" Id="Rab3d9740aca74b79" /><Relationship Type="http://schemas.openxmlformats.org/officeDocument/2006/relationships/presProps" Target="/ppt/presProps.xml" Id="Racc4faacff734f6c" /><Relationship Type="http://schemas.openxmlformats.org/officeDocument/2006/relationships/tableStyles" Target="/ppt/tableStyles.xml" Id="Rfa154e726c7f4ecc" /><Relationship Type="http://schemas.openxmlformats.org/officeDocument/2006/relationships/slide" Target="/ppt/slides/slide1.xml" Id="Rf92a827b07094a3f" /><Relationship Type="http://schemas.openxmlformats.org/officeDocument/2006/relationships/slide" Target="/ppt/slides/slide2.xml" Id="Rf80b40bed6b64c43" /><Relationship Type="http://schemas.openxmlformats.org/officeDocument/2006/relationships/slide" Target="/ppt/slides/slide3.xml" Id="Rfc8c4d5e607a49e5" /><Relationship Type="http://schemas.openxmlformats.org/officeDocument/2006/relationships/slide" Target="/ppt/slides/slide4.xml" Id="R7b82687f350d4d67" /><Relationship Type="http://schemas.openxmlformats.org/officeDocument/2006/relationships/slide" Target="/ppt/slides/slide5.xml" Id="R60e2714eec064b09" /><Relationship Type="http://schemas.openxmlformats.org/officeDocument/2006/relationships/slide" Target="/ppt/slides/slide6.xml" Id="R70f7c037b7c145d0" /><Relationship Type="http://schemas.openxmlformats.org/officeDocument/2006/relationships/slide" Target="/ppt/slides/slide7.xml" Id="R7b59b5af9f8a402b" /><Relationship Type="http://schemas.openxmlformats.org/officeDocument/2006/relationships/slide" Target="/ppt/slides/slide8.xml" Id="R3efb11db02f2418a" /><Relationship Type="http://schemas.openxmlformats.org/officeDocument/2006/relationships/slide" Target="/ppt/slides/slide9.xml" Id="Rf5f8a94ee2d24e39" /><Relationship Type="http://schemas.openxmlformats.org/officeDocument/2006/relationships/slide" Target="/ppt/slides/slide10.xml" Id="R53cdd3e8570e47f0" /><Relationship Type="http://schemas.openxmlformats.org/officeDocument/2006/relationships/slide" Target="/ppt/slides/slide11.xml" Id="Rda4ee8800dd3420f" /><Relationship Type="http://schemas.openxmlformats.org/officeDocument/2006/relationships/slide" Target="/ppt/slides/slide12.xml" Id="Rd75af4c56a744430" /><Relationship Type="http://schemas.openxmlformats.org/officeDocument/2006/relationships/slide" Target="/ppt/slides/slide13.xml" Id="R68fb2dba36f042a2" /><Relationship Type="http://schemas.openxmlformats.org/officeDocument/2006/relationships/slide" Target="/ppt/slides/slide14.xml" Id="Rfb3b16236e464a32" /><Relationship Type="http://schemas.openxmlformats.org/officeDocument/2006/relationships/slide" Target="/ppt/slides/slide15.xml" Id="R52cb8104fa984e13" /><Relationship Type="http://schemas.openxmlformats.org/officeDocument/2006/relationships/slide" Target="/ppt/slides/slide16.xml" Id="R25b6cf30a85142d0" /><Relationship Type="http://schemas.openxmlformats.org/officeDocument/2006/relationships/slide" Target="/ppt/slides/slide17.xml" Id="Re5feaab100354035" /><Relationship Type="http://schemas.openxmlformats.org/officeDocument/2006/relationships/slide" Target="/ppt/slides/slide18.xml" Id="R526c3df6af5749fc" /><Relationship Type="http://schemas.openxmlformats.org/officeDocument/2006/relationships/slide" Target="/ppt/slides/slide19.xml" Id="Rd4f7eb5c06e8423d" /><Relationship Type="http://schemas.openxmlformats.org/officeDocument/2006/relationships/slide" Target="/ppt/slides/slide20.xml" Id="Rda743c9850204be9" /><Relationship Type="http://schemas.openxmlformats.org/officeDocument/2006/relationships/slide" Target="/ppt/slides/slide21.xml" Id="Re67a692d42f744f9" /><Relationship Type="http://schemas.openxmlformats.org/officeDocument/2006/relationships/slide" Target="/ppt/slides/slide22.xml" Id="R965fab24aa50492f" /><Relationship Type="http://schemas.openxmlformats.org/officeDocument/2006/relationships/slide" Target="/ppt/slides/slide23.xml" Id="R2b68c86fc9f14a1b" /><Relationship Type="http://schemas.openxmlformats.org/officeDocument/2006/relationships/slide" Target="/ppt/slides/slide24.xml" Id="Rce8ba0fc6b7b4674" /><Relationship Type="http://schemas.openxmlformats.org/officeDocument/2006/relationships/slide" Target="/ppt/slides/slide25.xml" Id="R015c75e9640d4a33" /><Relationship Type="http://schemas.openxmlformats.org/officeDocument/2006/relationships/slide" Target="/ppt/slides/slide26.xml" Id="R5c8282e00de948d7" /><Relationship Type="http://schemas.openxmlformats.org/officeDocument/2006/relationships/slide" Target="/ppt/slides/slide27.xml" Id="R4f93e9b608644083" /><Relationship Type="http://schemas.openxmlformats.org/officeDocument/2006/relationships/slide" Target="/ppt/slides/slide28.xml" Id="R47feb08a6cb24886" /><Relationship Type="http://schemas.openxmlformats.org/officeDocument/2006/relationships/slide" Target="/ppt/slides/slide29.xml" Id="R95c56a4897fe451d" /><Relationship Type="http://schemas.openxmlformats.org/officeDocument/2006/relationships/slide" Target="/ppt/slides/slide30.xml" Id="Rb8a151b7acdc4161" /><Relationship Type="http://schemas.openxmlformats.org/officeDocument/2006/relationships/slide" Target="/ppt/slides/slide31.xml" Id="R95a38a7cae014a3d" /><Relationship Type="http://schemas.openxmlformats.org/officeDocument/2006/relationships/slide" Target="/ppt/slides/slide32.xml" Id="R40fee91628014e65" /><Relationship Type="http://schemas.openxmlformats.org/officeDocument/2006/relationships/slide" Target="/ppt/slides/slide33.xml" Id="R66297806dfb84a5b" /><Relationship Type="http://schemas.openxmlformats.org/officeDocument/2006/relationships/slide" Target="/ppt/slides/slide34.xml" Id="R0bb998cf5ddc43b2" /><Relationship Type="http://schemas.openxmlformats.org/officeDocument/2006/relationships/slide" Target="/ppt/slides/slide35.xml" Id="R3aa0b44081f44ad8" /><Relationship Type="http://schemas.openxmlformats.org/officeDocument/2006/relationships/slide" Target="/ppt/slides/slide36.xml" Id="Ra24993e30eea44b6" /><Relationship Type="http://schemas.openxmlformats.org/officeDocument/2006/relationships/slide" Target="/ppt/slides/slide37.xml" Id="R592132d82d7b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17415e8d45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2c72c0f4a54bbd" /><Relationship Type="http://schemas.openxmlformats.org/officeDocument/2006/relationships/notesMaster" Target="/ppt/notesMasters/notesMaster1.xml" Id="R764a1d84aef8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826a3977342db" /><Relationship Type="http://schemas.openxmlformats.org/officeDocument/2006/relationships/notesMaster" Target="/ppt/notesMasters/notesMaster1.xml" Id="R39d2e00badc34c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0042d2c7de4a10" /><Relationship Type="http://schemas.openxmlformats.org/officeDocument/2006/relationships/notesMaster" Target="/ppt/notesMasters/notesMaster1.xml" Id="Rf2e1b132159245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7ef09bb06441f8" /><Relationship Type="http://schemas.openxmlformats.org/officeDocument/2006/relationships/notesMaster" Target="/ppt/notesMasters/notesMaster1.xml" Id="Rc8e54ce8c82b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cf6d763c814ab1" /><Relationship Type="http://schemas.openxmlformats.org/officeDocument/2006/relationships/notesMaster" Target="/ppt/notesMasters/notesMaster1.xml" Id="R9a6b05831ee943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b39f51eeab4aec" /><Relationship Type="http://schemas.openxmlformats.org/officeDocument/2006/relationships/notesMaster" Target="/ppt/notesMasters/notesMaster1.xml" Id="R2ca2c2bb215340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55274debb649b3" /><Relationship Type="http://schemas.openxmlformats.org/officeDocument/2006/relationships/notesMaster" Target="/ppt/notesMasters/notesMaster1.xml" Id="R94d74d61c40947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f05753290434e" /><Relationship Type="http://schemas.openxmlformats.org/officeDocument/2006/relationships/notesMaster" Target="/ppt/notesMasters/notesMaster1.xml" Id="R0ac3bd966aff4c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2b78c19ebe49ab" /><Relationship Type="http://schemas.openxmlformats.org/officeDocument/2006/relationships/notesMaster" Target="/ppt/notesMasters/notesMaster1.xml" Id="R943e48699a9746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b6f36cc679483b" /><Relationship Type="http://schemas.openxmlformats.org/officeDocument/2006/relationships/notesMaster" Target="/ppt/notesMasters/notesMaster1.xml" Id="Re0bb5bfb0df541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39e2cb35c84c38" /><Relationship Type="http://schemas.openxmlformats.org/officeDocument/2006/relationships/notesMaster" Target="/ppt/notesMasters/notesMaster1.xml" Id="R88738268429b4a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39ef5b0d6346ba" /><Relationship Type="http://schemas.openxmlformats.org/officeDocument/2006/relationships/notesMaster" Target="/ppt/notesMasters/notesMaster1.xml" Id="R36e12581df2640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203832ae354a62" /><Relationship Type="http://schemas.openxmlformats.org/officeDocument/2006/relationships/notesMaster" Target="/ppt/notesMasters/notesMaster1.xml" Id="Ra85222f8651b4e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2c0a5feb704bed" /><Relationship Type="http://schemas.openxmlformats.org/officeDocument/2006/relationships/notesMaster" Target="/ppt/notesMasters/notesMaster1.xml" Id="R3057ddb694ad41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9ae7d8f66d488a" /><Relationship Type="http://schemas.openxmlformats.org/officeDocument/2006/relationships/notesMaster" Target="/ppt/notesMasters/notesMaster1.xml" Id="R44c63bb393254b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e1bb5d1f80422c" /><Relationship Type="http://schemas.openxmlformats.org/officeDocument/2006/relationships/notesMaster" Target="/ppt/notesMasters/notesMaster1.xml" Id="R4f4aedd9704a43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7cc564bb51473b" /><Relationship Type="http://schemas.openxmlformats.org/officeDocument/2006/relationships/notesMaster" Target="/ppt/notesMasters/notesMaster1.xml" Id="Rc2877c8ab6714a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a984d452b74f71" /><Relationship Type="http://schemas.openxmlformats.org/officeDocument/2006/relationships/notesMaster" Target="/ppt/notesMasters/notesMaster1.xml" Id="Raf11502a89c54a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1b48d9d4d44e1c" /><Relationship Type="http://schemas.openxmlformats.org/officeDocument/2006/relationships/notesMaster" Target="/ppt/notesMasters/notesMaster1.xml" Id="Rb59ef393c39242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d991155ddd4419" /><Relationship Type="http://schemas.openxmlformats.org/officeDocument/2006/relationships/notesMaster" Target="/ppt/notesMasters/notesMaster1.xml" Id="R3ad3350c8d3248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76745795f6421a" /><Relationship Type="http://schemas.openxmlformats.org/officeDocument/2006/relationships/notesMaster" Target="/ppt/notesMasters/notesMaster1.xml" Id="Re59d81ed55564d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a385e6370649be" /><Relationship Type="http://schemas.openxmlformats.org/officeDocument/2006/relationships/notesMaster" Target="/ppt/notesMasters/notesMaster1.xml" Id="R1e8edd2143fc4f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a038d791474e17" /><Relationship Type="http://schemas.openxmlformats.org/officeDocument/2006/relationships/notesMaster" Target="/ppt/notesMasters/notesMaster1.xml" Id="R8c888e9a608441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57b9f992c5d46ca" /><Relationship Type="http://schemas.openxmlformats.org/officeDocument/2006/relationships/notesMaster" Target="/ppt/notesMasters/notesMaster1.xml" Id="R00378185cdc541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edfc47742b4c7d" /><Relationship Type="http://schemas.openxmlformats.org/officeDocument/2006/relationships/notesMaster" Target="/ppt/notesMasters/notesMaster1.xml" Id="R2793497056d846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52fa02c40e45a2" /><Relationship Type="http://schemas.openxmlformats.org/officeDocument/2006/relationships/notesMaster" Target="/ppt/notesMasters/notesMaster1.xml" Id="Rb4bc6ab8fea54d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7dfa7a22bc4d58" /><Relationship Type="http://schemas.openxmlformats.org/officeDocument/2006/relationships/notesMaster" Target="/ppt/notesMasters/notesMaster1.xml" Id="Rd27dc17274be46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b1de6a6894d42f7" /><Relationship Type="http://schemas.openxmlformats.org/officeDocument/2006/relationships/notesMaster" Target="/ppt/notesMasters/notesMaster1.xml" Id="R36bc013e2c2c4f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8f54bd54bd4c23" /><Relationship Type="http://schemas.openxmlformats.org/officeDocument/2006/relationships/notesMaster" Target="/ppt/notesMasters/notesMaster1.xml" Id="Rd6a937b35bc0467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2d6a967eee480a" /><Relationship Type="http://schemas.openxmlformats.org/officeDocument/2006/relationships/notesMaster" Target="/ppt/notesMasters/notesMaster1.xml" Id="R9c1ad432d34c49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c79be88b7e24d44" /><Relationship Type="http://schemas.openxmlformats.org/officeDocument/2006/relationships/notesMaster" Target="/ppt/notesMasters/notesMaster1.xml" Id="R86609ef96d9b41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bfd486deeca4557" /><Relationship Type="http://schemas.openxmlformats.org/officeDocument/2006/relationships/notesMaster" Target="/ppt/notesMasters/notesMaster1.xml" Id="R743293e6835342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e65bd16b10e4824" /><Relationship Type="http://schemas.openxmlformats.org/officeDocument/2006/relationships/notesMaster" Target="/ppt/notesMasters/notesMaster1.xml" Id="R95519f2ad2a7470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f37db9ed6dc445a" /><Relationship Type="http://schemas.openxmlformats.org/officeDocument/2006/relationships/notesMaster" Target="/ppt/notesMasters/notesMaster1.xml" Id="Rda032ebe2770443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7bacf416f874eb8" /><Relationship Type="http://schemas.openxmlformats.org/officeDocument/2006/relationships/notesMaster" Target="/ppt/notesMasters/notesMaster1.xml" Id="R81878f25d8404c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c3913fbb574489" /><Relationship Type="http://schemas.openxmlformats.org/officeDocument/2006/relationships/notesMaster" Target="/ppt/notesMasters/notesMaster1.xml" Id="R796de4d44f9f4d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4ff01dac2549b1" /><Relationship Type="http://schemas.openxmlformats.org/officeDocument/2006/relationships/notesMaster" Target="/ppt/notesMasters/notesMaster1.xml" Id="Rf5ce16a036ba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Competencias y subtemas proporcionados por el usuario.</a:t>
            </a:r>
          </a:p>
          <a:p xmlns:a="http://schemas.openxmlformats.org/drawingml/2006/main">
            <a:r>
              <a:t>- PDF adjunto 2S2026_Semana_6.pdf, usado como referencia de estructura institucional y secuencia.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agenda de referencia.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Competencias textuales proporcionadas por el usuario.</a:t>
            </a:r>
          </a:p>
          <a:p xmlns:a="http://schemas.openxmlformats.org/drawingml/2006/main">
            <a:r>
              <a:t>- PDF adjunto 2S2026_Semana_6.pdf, usado únicamente como referencia de organización.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Criterio didáctico derivado de las competencias proporcionadas por el usuario.</a:t>
            </a:r>
          </a:p>
          <a:p xmlns:a="http://schemas.openxmlformats.org/drawingml/2006/main">
            <a:r>
              <a:t>- Estructura narrativa inspirada en las presentaciones de las semanas 03 a 05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valor de la semana: Honestidad.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Síntesis didáctica construida a partir de los cuatro subtemas proporcionados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Pausa antes de iniciar la Unidad 1.</a:t>
            </a:r>
          </a:p>
          <a:p xmlns:a="http://schemas.openxmlformats.org/drawingml/2006/main">
            <a:r>
              <a:t>Invita al grupo a formular preguntas concretas de la Fase 1. Usa las cuatro palabras de abajo como un pequeño estacionamiento de dudas: alcance, entregables, decisiones y bloqueos.</a:t>
            </a:r>
          </a:p>
          <a:p xmlns:a="http://schemas.openxmlformats.org/drawingml/2006/main">
            <a:r>
              <a:t>No hace falta resolver aquí preguntas que correspondan a los temas de la sesión; anótalas para retomarlas durante la actividad.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de contenido: consigna de la Fase 1 del proyecto, proporcionada por la persona usuaria.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AWS Community Day Guatemala como una oportunidad para aprender, conectar y conocer a otros builders.</a:t>
            </a:r>
          </a:p>
          <a:p xmlns:a="http://schemas.openxmlformats.org/drawingml/2006/main">
            <a:r>
              <a:t>Invita a registrarse en el QR del afiche y a asistir el 10 de octubre de 2026.</a:t>
            </a:r>
          </a:p>
          <a:p xmlns:a="http://schemas.openxmlformats.org/drawingml/2006/main">
            <a:r>
              <a:t>Recalca la evidencia de asistencia: durante el evento, cada estudiante debe tomarse fotografías y enviarlas después por el medio indicado para reportar su asistencia.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Afiche oficial AWS Community Day Guatemala, imagen proporcionada por la persona usuaria.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sección Catálogo de Estilos.</a:t>
            </a:r>
          </a:p>
          <a:p xmlns:a="http://schemas.openxmlformats.org/drawingml/2006/main">
            <a:r>
              <a:t>- Codecademy, referencia listada en el PDF adjunto.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definición y objetivos de los catálogos de estilos.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apartados Estudia la marca, Tipografía, Paleta de colores, Voz/Tono e Íconos.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objetivos principales de los catálogos.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apartados Tipografía y Paleta de colores.</a:t>
            </a:r>
          </a:p>
          <a:p xmlns:a="http://schemas.openxmlformats.org/drawingml/2006/main">
            <a:r>
              <a:t>- W3C, introducción a accesibilidad visual: https://www.w3.org/WAI/fundamentals/accessibility-intro/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apartado Botones.</a:t>
            </a:r>
          </a:p>
          <a:p xmlns:a="http://schemas.openxmlformats.org/drawingml/2006/main">
            <a:r>
              <a:t>- W3C, principios de accesibilidad para interacción y foco: https://www.w3.org/WAI/fundamentals/accessibility-intro/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Contraejemplo elaborado para esta presentación.</a:t>
            </a:r>
          </a:p>
          <a:p xmlns:a="http://schemas.openxmlformats.org/drawingml/2006/main">
            <a:r>
              <a:t>- PDF adjunto 2S2026_Semana_6.pdf, objetivos de consistencia, colaboración y escalabilidad.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 web creada en /interactivo/semana-06/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sección Arquitectura de la información.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definición de Arquitectura de la información.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Principios de organización y etiquetado sintetizados del PDF adjunto.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segmentación por perfiles, control de acceso y experiencia personalizada.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Contraejemplo elaborado para esta presentación a partir de la definición de Arquitectura de la información del PDF adjunto.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secciones UX y UI.</a:t>
            </a:r>
          </a:p>
          <a:p xmlns:a="http://schemas.openxmlformats.org/drawingml/2006/main">
            <a:r>
              <a:t>- Codecademy, referencia listada en el PDF adjunto.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definiciones y aspectos de UX y UI.</a:t>
            </a:r>
          </a:p>
          <a:p xmlns:a="http://schemas.openxmlformats.org/drawingml/2006/main">
            <a:r>
              <a:t>- Codecademy, referencia listada en el PDF adjunto.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aspectos de UX: investigación, arquitectura, prototipado y pruebas de usabilidad.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aspectos de UI: elementos interactivos, consistencia, accesibilidad y retroalimentación.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aspectos de accesibilidad en UX y UI.</a:t>
            </a:r>
          </a:p>
          <a:p xmlns:a="http://schemas.openxmlformats.org/drawingml/2006/main">
            <a:r>
              <a:t>- W3C, introducción a accesibilidad: https://www.w3.org/WAI/fundamentals/accessibility-intro/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Mapa didáctico construido para conectar los cuatro subtemas de la solicitud.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Ejemplos existentes del repositorio: ejemplos/comportamiento/observer.ts, command.ts, mediator.ts y ejemplos/creacionales/abstract-factory.ts.</a:t>
            </a:r>
          </a:p>
          <a:p xmlns:a="http://schemas.openxmlformats.org/drawingml/2006/main">
            <a:r>
              <a:t>- Competencia 02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ejemplos/comportamiento/observer.ts, command.ts, mediator.ts y ejemplos/creacionales/abstract-factory.ts.</a:t>
            </a:r>
          </a:p>
          <a:p xmlns:a="http://schemas.openxmlformats.org/drawingml/2006/main">
            <a:r>
              <a:t>- Presentaciones de las semanas 03 y 05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 web creada en /interactivo/semana-06/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Fragmentos de código adaptados de la demo web creada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Ejemplos existentes del repositorio y demo web creada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Actividad derivada de las competencias proporcionadas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Actividad didáctica construida para conectar arquitectura, UX/UI y patrones.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conceptos clave aprendidos.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referencia del Foro de la semana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adjunto 2S2026_Semana_6.pdf, diapositiva de cierre usada como referencia.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3d8a76f2e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7784344fa54426" /><Relationship Type="http://schemas.openxmlformats.org/officeDocument/2006/relationships/slideLayout" Target="/ppt/slideLayouts/slideLayout1.xml" Id="R98765e2d4eae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65e2d4eae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528228d840a4" /><Relationship Type="http://schemas.openxmlformats.org/officeDocument/2006/relationships/notesSlide" Target="/ppt/notesSlides/notesSlide1.xml" Id="Rc3502e387b64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40b2829b64818" /><Relationship Type="http://schemas.openxmlformats.org/officeDocument/2006/relationships/notesSlide" Target="/ppt/notesSlides/notesSlide2.xml" Id="Ra2a6f8d5698247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902f8257c47f0" /><Relationship Type="http://schemas.openxmlformats.org/officeDocument/2006/relationships/notesSlide" Target="/ppt/notesSlides/notesSlide3.xml" Id="R0d8bd294def2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79c28189e4100" /><Relationship Type="http://schemas.openxmlformats.org/officeDocument/2006/relationships/notesSlide" Target="/ppt/notesSlides/notesSlide4.xml" Id="Re41546a624d0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b87327d894479" /><Relationship Type="http://schemas.openxmlformats.org/officeDocument/2006/relationships/notesSlide" Target="/ppt/notesSlides/notesSlide5.xml" Id="R99c0b56f8b764b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2583203864caf" /><Relationship Type="http://schemas.openxmlformats.org/officeDocument/2006/relationships/notesSlide" Target="/ppt/notesSlides/notesSlide6.xml" Id="R9584b8f0305f43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6ba55b4644897" /><Relationship Type="http://schemas.openxmlformats.org/officeDocument/2006/relationships/notesSlide" Target="/ppt/notesSlides/notesSlide7.xml" Id="Rf97ce348641b42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4376b863543f1" /><Relationship Type="http://schemas.openxmlformats.org/officeDocument/2006/relationships/image" Target="/ppt/media/image.png" Id="R55906d7066f840a7" /><Relationship Type="http://schemas.openxmlformats.org/officeDocument/2006/relationships/notesSlide" Target="/ppt/notesSlides/notesSlide8.xml" Id="Ra6d07eca0abe40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458443ff74911" /><Relationship Type="http://schemas.openxmlformats.org/officeDocument/2006/relationships/notesSlide" Target="/ppt/notesSlides/notesSlide9.xml" Id="R0c346ba2642846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7c20d19a94a0c" /><Relationship Type="http://schemas.openxmlformats.org/officeDocument/2006/relationships/notesSlide" Target="/ppt/notesSlides/notesSlide10.xml" Id="R9457dd0b2cd14a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3cf31f7604c66" /><Relationship Type="http://schemas.openxmlformats.org/officeDocument/2006/relationships/notesSlide" Target="/ppt/notesSlides/notesSlide11.xml" Id="R43355f97fc3b48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17e9c7fca4545" /><Relationship Type="http://schemas.openxmlformats.org/officeDocument/2006/relationships/notesSlide" Target="/ppt/notesSlides/notesSlide12.xml" Id="R97295760549844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c5ee03814453b" /><Relationship Type="http://schemas.openxmlformats.org/officeDocument/2006/relationships/notesSlide" Target="/ppt/notesSlides/notesSlide13.xml" Id="R66899d6a79534b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b68deaf84f95" /><Relationship Type="http://schemas.openxmlformats.org/officeDocument/2006/relationships/notesSlide" Target="/ppt/notesSlides/notesSlide14.xml" Id="Re555a79f06ad46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001a768a749b9" /><Relationship Type="http://schemas.openxmlformats.org/officeDocument/2006/relationships/notesSlide" Target="/ppt/notesSlides/notesSlide15.xml" Id="R7750e7aab8844e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eb72ce0724d22" /><Relationship Type="http://schemas.openxmlformats.org/officeDocument/2006/relationships/notesSlide" Target="/ppt/notesSlides/notesSlide16.xml" Id="Rd2935c64b4074e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9e15111e045a1" /><Relationship Type="http://schemas.openxmlformats.org/officeDocument/2006/relationships/notesSlide" Target="/ppt/notesSlides/notesSlide17.xml" Id="Re62bf03c0d9b4e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4c6afeb1f4e35" /><Relationship Type="http://schemas.openxmlformats.org/officeDocument/2006/relationships/notesSlide" Target="/ppt/notesSlides/notesSlide18.xml" Id="Rd040b8d34cba43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bbb6976d14aa7" /><Relationship Type="http://schemas.openxmlformats.org/officeDocument/2006/relationships/notesSlide" Target="/ppt/notesSlides/notesSlide19.xml" Id="Rfd9e3bbc83744e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ca98400d64680" /><Relationship Type="http://schemas.openxmlformats.org/officeDocument/2006/relationships/notesSlide" Target="/ppt/notesSlides/notesSlide20.xml" Id="Rdca0cdf56c3d45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7638c71f74c2d" /><Relationship Type="http://schemas.openxmlformats.org/officeDocument/2006/relationships/notesSlide" Target="/ppt/notesSlides/notesSlide21.xml" Id="R60e93651acd548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7385f69a44f6" /><Relationship Type="http://schemas.openxmlformats.org/officeDocument/2006/relationships/notesSlide" Target="/ppt/notesSlides/notesSlide22.xml" Id="Rcb1224c227af40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532510d5c48af" /><Relationship Type="http://schemas.openxmlformats.org/officeDocument/2006/relationships/notesSlide" Target="/ppt/notesSlides/notesSlide23.xml" Id="R8cf2ec3da1254a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6ab41bae848f5" /><Relationship Type="http://schemas.openxmlformats.org/officeDocument/2006/relationships/notesSlide" Target="/ppt/notesSlides/notesSlide24.xml" Id="R63f27d17680f4c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56be05d7240de" /><Relationship Type="http://schemas.openxmlformats.org/officeDocument/2006/relationships/notesSlide" Target="/ppt/notesSlides/notesSlide25.xml" Id="Ra1cfef7e169249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8e792b51d41e1" /><Relationship Type="http://schemas.openxmlformats.org/officeDocument/2006/relationships/notesSlide" Target="/ppt/notesSlides/notesSlide26.xml" Id="R661cb86b6b6b47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f27c81ca343e5" /><Relationship Type="http://schemas.openxmlformats.org/officeDocument/2006/relationships/notesSlide" Target="/ppt/notesSlides/notesSlide27.xml" Id="R722cbbd9d8714b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368649f604025" /><Relationship Type="http://schemas.openxmlformats.org/officeDocument/2006/relationships/notesSlide" Target="/ppt/notesSlides/notesSlide28.xml" Id="Rf542f208cca546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b085b68184252" /><Relationship Type="http://schemas.openxmlformats.org/officeDocument/2006/relationships/notesSlide" Target="/ppt/notesSlides/notesSlide29.xml" Id="Raee8b24408f24d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6480f6d3d48e8" /><Relationship Type="http://schemas.openxmlformats.org/officeDocument/2006/relationships/notesSlide" Target="/ppt/notesSlides/notesSlide30.xml" Id="R0fa6a1fac04f4b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386c3f1d4467c" /><Relationship Type="http://schemas.openxmlformats.org/officeDocument/2006/relationships/notesSlide" Target="/ppt/notesSlides/notesSlide31.xml" Id="Rb8da4f6d4edd426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46a849a884050" /><Relationship Type="http://schemas.openxmlformats.org/officeDocument/2006/relationships/notesSlide" Target="/ppt/notesSlides/notesSlide32.xml" Id="Ra54f73b20a5743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b80bb11244e0c" /><Relationship Type="http://schemas.openxmlformats.org/officeDocument/2006/relationships/notesSlide" Target="/ppt/notesSlides/notesSlide33.xml" Id="Rb269781044e7432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c35a5a5ed45ea" /><Relationship Type="http://schemas.openxmlformats.org/officeDocument/2006/relationships/notesSlide" Target="/ppt/notesSlides/notesSlide34.xml" Id="R0e96fa81b68b49d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c000154e444b0" /><Relationship Type="http://schemas.openxmlformats.org/officeDocument/2006/relationships/notesSlide" Target="/ppt/notesSlides/notesSlide35.xml" Id="R96a270dfc88247f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a47c29cd340f7" /><Relationship Type="http://schemas.openxmlformats.org/officeDocument/2006/relationships/notesSlide" Target="/ppt/notesSlides/notesSlide36.xml" Id="R0cd224603f6e45d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05fcfa85481f" /><Relationship Type="http://schemas.openxmlformats.org/officeDocument/2006/relationships/notesSlide" Target="/ppt/notesSlides/notesSlide37.xml" Id="R88f870405dce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200EC-5238-47CF-A2FD-41B25213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ANÁLISIS Y DISEÑO DE SISTEMAS 2 / SECCIÓN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E5B69-B484-4FDA-B459-456FCF6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Elementos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C2A74-D70B-4A1E-8BD7-C111D04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Catálogos de estilos, arquitectura de la información, UX, UI y patrones para construir interfaces con sentido.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3819F-47A2-440E-AAAF-6EE188C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9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F125-AFD2-4EBB-805B-F6F1000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JUEVES · 20/08/2026 · 17:20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AA962-A9AF-4B5E-A8AD-936EC1E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90625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575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B026-459F-4F2E-8D72-F739A5A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84BF7-8B45-4955-8154-70C523F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529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>
              <a:alpha val="9412"/>
            </a:srgbClr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FA374-D76E-4E41-9985-5BA5E7A9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5BD6-9ECC-4211-96C4-28F65B9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Abdiel Fernando José Otzoy Otzín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6EC7-4483-459E-8596-FEDED91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01 / 37</a:t>
            </a:r>
          </a:p>
        </p:txBody>
      </p:sp>
    </p:spTree>
    <p:extLst>
      <p:ext uri="{BB962C8B-B14F-4D97-AF65-F5344CB8AC3E}">
        <p14:creationId xmlns:p14="http://schemas.microsoft.com/office/powerpoint/2010/main" val="2094294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31BAF-0566-4D95-ADE3-A4F0D3C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SEMANA 06 / RUTA DE LA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94454-DA74-40A6-A11B-46EFB7CF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Hoy conectamos cuatro capas para tomar mejores decisiones.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098A5-7EF1-456C-8DC5-A17F9B60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Antes de la Unidad 1, abrimos una pausa breve para las preguntas de la Fase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67FD7-7D98-47EB-A535-6A526586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ED904-1704-425D-A9F5-F3BCC59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Competencias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A0792-9DB7-4189-968F-BBC6B82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Qué debemos poder justificar al terminar.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3B71C-021F-4883-BCE3-DFC509EA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E1FEB-FDA3-4364-9E64-9DA70D7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3591D-97D6-48D9-9668-2CA502C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Catálogo de estilos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BE6F2-0997-4A31-B79F-EC7C326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Cómo documentar identidad y consistencia.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29A1-47B9-444A-A295-2F23C95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2619D-1A2D-4AEF-BD0C-D3E1F67D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F82A5-3DF7-4CE3-8409-E3772F3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E4A65-042E-4EA5-89CA-5236AEA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Cómo organizar para que se pueda encontrar.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31262-228A-48D0-8FD9-562D11B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DFECC-0CB5-4DD4-9404-50DDDF3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C1098-9927-4E51-AC28-E9BD8AB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UX /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33F06-C41D-452F-89EF-C71BFD88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Cómo convertir necesidades en respuestas visibles.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1C5B-65DE-473B-A258-4F30B13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4F072-D1C6-4CBA-91E9-F4290257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08D74-6905-4271-8B03-E298F21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Ejemplo y actividad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C0067-C0E8-457A-B434-FEDBB03E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De la interfaz problemática a una propuesta.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24F32-E972-4F9D-9405-14FC0BA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CF715-3C7A-4CE8-8EE0-962E450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15F8F-2E37-4BE2-A62F-AED7F8F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Foro y cierre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D8FAB-CBD9-4979-8F38-F096BDF3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86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Aplicar el criterio a una interfaz real.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59C29-AB0E-408C-A5F6-EA69941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9E461-86C1-4B30-B1F3-E76092BF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8D2FF-EF6D-4432-B632-9787DBFA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16BD1-EB40-440B-841F-A3647310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02 / 37</a:t>
            </a:r>
          </a:p>
        </p:txBody>
      </p:sp>
    </p:spTree>
    <p:extLst>
      <p:ext uri="{BB962C8B-B14F-4D97-AF65-F5344CB8AC3E}">
        <p14:creationId xmlns:p14="http://schemas.microsoft.com/office/powerpoint/2010/main" val="686166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F777B-0F58-4CE4-835F-51B2433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ANTES DE EMPEZAR / COMPETENCIAS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B6733-4389-4135-BD66-1096343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Al finalizar, podrás diseñar y explicar, no solo mostrar.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EBE6-354E-4299-99B7-0B67C30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Las dos competencias se encuentran en el mismo criterio: tomar una decisión y justificar por qué responde al problema.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19B5C-4EF6-4F8C-85A0-92DFA406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CC083-90B5-46F7-885A-0E47FB47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61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COMPETENCIA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8F10E-ACA4-4CFA-B181-F484295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61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Integrar catálogos de estilo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DF73A-A59B-4B19-B57E-D40BEE1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61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Relacionar identidad de marca, reglas visuales y componentes para construir interfaces coherentes.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7950C-0E75-491C-A18F-425A190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54864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8C650-941D-431B-B0B8-DBBFD12D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COMPETENCIA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8B1D0-EF0E-4A75-9715-6A2D06F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Identificar patrones de diseño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770C9-7AE6-4040-8868-878CF8A0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Analizar una necesidad, separar la responsabilidad adecuada y elegir el patrón que mejor se adapta.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65B0F-9831-4FC8-87B3-0BC7289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2F2CA-006B-4501-80DB-2521A50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935CB-8353-44AA-B2AE-8E88BB3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03 / 37</a:t>
            </a:r>
          </a:p>
        </p:txBody>
      </p:sp>
    </p:spTree>
    <p:extLst>
      <p:ext uri="{BB962C8B-B14F-4D97-AF65-F5344CB8AC3E}">
        <p14:creationId xmlns:p14="http://schemas.microsoft.com/office/powerpoint/2010/main" val="1335975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53530-9471-44EA-AE40-AC35133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CRITERIO DE LOGRO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9AA5D-7598-421C-868B-207A137B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Una explicación completa sigue cuatro preguntas.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7DA4-868F-4FEC-B59E-99E49A4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Si falta una, la solución puede verse correcta, pero todavía no está bien argumentada.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DDC57-9C98-4416-98D7-AE98DC0F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4E067-D69F-4F75-A81D-4CC33249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38254-E51A-431B-97E9-FDECBCC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problema?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3A2CA-4FC5-407D-899F-945A119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fricción observable, no el gusto personal.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30D74-C94F-42EC-A435-F97B062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493AB-7F44-4802-A6DD-C3CBF61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87164-C421-4E9E-A1B2-722F7C4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capa?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E8D1F-83D5-44AD-B5ED-35028E0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33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Identidad, estructura, experiencia o interfaz.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C8492-67E6-4E07-BC96-1409FC6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E0EF4-011E-4993-B1D1-BAFBE4B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2D4B2-7F1A-42AF-AAFB-4A22D6D1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solución?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7BFF5-0B3B-44C4-86E6-1E94D55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Una regla, componente o patrón concreto.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2AA9D-415C-4F1E-A498-AF6EAD8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38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B99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03616-B384-4608-8411-9345C6C4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1CB7C-9DD9-4E86-BB88-659BD72C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costo?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2DB74-E9DD-4B9B-AAC5-9E2E687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33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Complejidad, mantenimiento y riesgos aceptados.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CE6FC-337E-4D83-9945-6100EA7B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ED1F4-05B7-4B7C-B1A1-805B3298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0BE27-F743-4F95-A4C6-5788D17B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04 / 37</a:t>
            </a:r>
          </a:p>
        </p:txBody>
      </p:sp>
    </p:spTree>
    <p:extLst>
      <p:ext uri="{BB962C8B-B14F-4D97-AF65-F5344CB8AC3E}">
        <p14:creationId xmlns:p14="http://schemas.microsoft.com/office/powerpoint/2010/main" val="1177787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B9110-7534-4FDC-9206-59703C87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VALOR DE LA SEMANA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7D5B6-3D4D-4BE2-ACBB-D567FA6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Honestidad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4229-177B-4D31-A141-29986F5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En diseño, la honestidad también significa hacer visible lo que el sistema sabe, lo que no sabe y qué puede hacer la persona después.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4855D-087A-4E1E-BEEC-6A14280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550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495E5-503E-4A4F-951B-884D85F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Comunicar estados reales y mensajes específicos.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Reconocer límites, errores y decisiones de diseño.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No esconder complejidad detrás de una interfaz confusa.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F17F9-C963-44AB-8156-B18584B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6B">
              <a:alpha val="9412"/>
            </a:srgbClr>
          </a:solidFill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A9B1F-A0EA-49B9-8D92-51EF054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24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16"/>
          </a:solidFill>
          <a:ln xmlns:a="http://schemas.openxmlformats.org/drawingml/2006/main" w="9525">
            <a:solidFill>
              <a:srgbClr val="F1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AE139-43A6-4C48-9F7F-99D4F81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16B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16B6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E397D-A324-4703-AB8A-17BC88C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Una interfaz confiable no promete más de lo que puede cumplir.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6BFB3-3BA0-4D2C-AE57-F99B9727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C5D2F-AFEB-4C1F-9ED3-2CA8FAF0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C35A5-0E82-4781-BDE3-D51090C5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05 / 37</a:t>
            </a:r>
          </a:p>
        </p:txBody>
      </p:sp>
    </p:spTree>
    <p:extLst>
      <p:ext uri="{BB962C8B-B14F-4D97-AF65-F5344CB8AC3E}">
        <p14:creationId xmlns:p14="http://schemas.microsoft.com/office/powerpoint/2010/main" val="1945886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EBFD0-1181-47BA-96B8-40F1600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PREGUNTA DE APERTURA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B5128-DFE7-4065-B399-5DE3F18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Una interfaz puede verse bien y aun así fallar.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D4771-08B7-4E71-81AC-40F849D3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problema aparece cuando la identidad, la información y la interacción empujan en direcciones distintas.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74D1-9092-424F-B92F-E0D9A2D5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6145B-9F45-4D0F-8EA7-B5A8A65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SEÑALES DE FRICCIÓN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05E84-E12C-4B42-B563-47772FD3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Botones con estilos distintos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Menú con etiquetas ambiguas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Errores que no explican qué hacer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7C335-4D81-49FC-B16C-BD4EFB9F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SEÑALES DE COHERENCIA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4B955-6919-492E-846D-925B767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- Reglas compartidas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- Contenido agrupado por tarea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- Retroalimentación específica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02143-B959-40D8-9CD7-D7A0B29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18AAE-14D5-44CA-A458-11792D5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1231B-E0AD-4968-A058-41E42D0E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06 / 37</a:t>
            </a:r>
          </a:p>
        </p:txBody>
      </p:sp>
    </p:spTree>
    <p:extLst>
      <p:ext uri="{BB962C8B-B14F-4D97-AF65-F5344CB8AC3E}">
        <p14:creationId xmlns:p14="http://schemas.microsoft.com/office/powerpoint/2010/main" val="1123830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BF1E5-1638-4CB2-BA10-70424A91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PAUSA DE PROYECTO /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F6883-666E-41D5-ACD4-E3B9460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Preguntas · Fase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041C-54AD-4093-BEE3-9882D348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Antes de entrar a la Unidad 1, aclaremos alcance, entregables y bloqueos.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A7A39-F5DB-445D-BD14-758D4AB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60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260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79874-2881-461D-8ED5-30AE9F3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0B145-1868-4113-90DA-6EFF227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DB33E-65D9-48A8-B296-6429E98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4B0B1-524F-463B-810D-451F4E9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Entregables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AFC56-5F26-4391-8DDB-07592A04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7239-B22A-43D9-ACBB-E29A347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FF255-E6D5-4B3D-885F-3B560CA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AFDC1-72E8-4EA6-ABA2-CA88945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Bloqueos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A0766-E195-4260-B898-A05E828D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9813D-08FF-46BB-B924-14F8690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295BE-F057-411A-9171-6196AB4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PAUSA DE PROYECTO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66B46-7FA8-440B-A73B-6C3CB82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07 / 37</a:t>
            </a:r>
          </a:p>
        </p:txBody>
      </p:sp>
    </p:spTree>
    <p:extLst>
      <p:ext uri="{BB962C8B-B14F-4D97-AF65-F5344CB8AC3E}">
        <p14:creationId xmlns:p14="http://schemas.microsoft.com/office/powerpoint/2010/main" val="264334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200EC-5238-47CF-A2FD-41B25213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INVITACIÓN / COMUNIDAD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E5B69-B484-4FDA-B459-456FCF6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AWS Community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C2A74-D70B-4A1E-8BD7-C111D04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Guatemala · 10 de octubre de 2026.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Regístrate en el QR y participa.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Importante: tómate fotos durante el evento y envíalas por el medio indicado para reportar tu asistencia.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3819F-47A2-440E-AAAF-6EE188C2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9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F125-AFD2-4EBB-805B-F6F1000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AWS DAY · 10/10/2026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AA962-A9AF-4B5E-A8AD-936EC1E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90625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575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B026-459F-4F2E-8D72-F739A5A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84BF7-8B45-4955-8154-70C523F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5292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FA374-D76E-4E41-9985-5BA5E7A9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5BD6-9ECC-4211-96C4-28F65B9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2"/>
                </a:solidFill>
                <a:latin typeface="Aptos"/>
                <a:ea typeface="Aptos"/>
                <a:cs typeface="Aptos"/>
              </a:rPr>
              <a:t>SEMANA 06 · INVITACIÓN 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6EC7-4483-459E-8596-FEDED91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08 / 37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06d7066f840a7"/>
          <a:stretch xmlns:a="http://schemas.openxmlformats.org/drawingml/2006/main"/>
        </p:blipFill>
        <p:spPr>
          <a:xfrm xmlns:a="http://schemas.openxmlformats.org/drawingml/2006/main">
            <a:off x="7622191" y="666750"/>
            <a:ext cx="3805617" cy="47625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</p:spTree>
    <p:extLst>
      <p:ext uri="{BB962C8B-B14F-4D97-AF65-F5344CB8AC3E}">
        <p14:creationId xmlns:p14="http://schemas.microsoft.com/office/powerpoint/2010/main" val="2094294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BF1E5-1638-4CB2-BA10-70424A91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ADS2 / UNIDAD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F6883-666E-41D5-ACD4-E3B9460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Catálogos de estilos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041C-54AD-4093-BEE3-9882D348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identidad se vuelve repetible cuando se documenta.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A7A39-F5DB-445D-BD14-758D4AB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60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2600" b="1">
                <a:solidFill>
                  <a:srgbClr val="F4B942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79874-2881-461D-8ED5-30AE9F3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0B145-1868-4113-90DA-6EFF227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DB33E-65D9-48A8-B296-6429E98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4B0B1-524F-463B-810D-451F4E9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AFC56-5F26-4391-8DDB-07592A04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07239-B22A-43D9-ACBB-E29A347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Componentes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FF255-E6D5-4B3D-885F-3B560CA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AFDC1-72E8-4EA6-ABA2-CA88945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Estados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A0766-E195-4260-B898-A05E828D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9813D-08FF-46BB-B924-14F8690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295BE-F057-411A-9171-6196AB4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CATÁLOGOS DE ESTILOS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66B46-7FA8-440B-A73B-6C3CB82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09 / 37</a:t>
            </a:r>
          </a:p>
        </p:txBody>
      </p:sp>
    </p:spTree>
    <p:extLst>
      <p:ext uri="{BB962C8B-B14F-4D97-AF65-F5344CB8AC3E}">
        <p14:creationId xmlns:p14="http://schemas.microsoft.com/office/powerpoint/2010/main" val="264334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89415-61F4-48FF-AB16-9EA1336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 / CATÁLOGO DE ESTILOS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1FC1-5BAB-4015-A5C8-5E5D254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 catálogo de estilos es un acuerdo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21FFF-8DAC-4550-B3E1-E9C209D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Describe cómo debe verse y comportarse una interfaz para que varias personas puedan construirla sin reinventar cada decisión.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0087-46C9-465B-9F8A-B2B810D2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B922-C929-4C43-863D-AE02489F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MARCA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B6363-D03A-419C-87E7-56D0A83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59723-A958-4F1E-8AA6-1CF52ED8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REGLAS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77F67-D086-4361-8EDE-54E3296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C65CF-DEAB-47BF-9788-9EB6A7B1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COMPONENTES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B04B7-9994-4B0C-A606-9C527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FA2D-4035-4F12-A393-A8270AD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COHERENCIA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9111B-7ABD-495F-8302-3D7C2AC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No es una galería de ejemplos: es una guía para decidir y mantener una identidad.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7AC7F-0676-4714-AD73-26FB340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31919-390C-4E44-BEB7-99E7FC02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CD4AF-52FE-42C2-873C-5287F561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10 / 37</a:t>
            </a:r>
          </a:p>
        </p:txBody>
      </p:sp>
    </p:spTree>
    <p:extLst>
      <p:ext uri="{BB962C8B-B14F-4D97-AF65-F5344CB8AC3E}">
        <p14:creationId xmlns:p14="http://schemas.microsoft.com/office/powerpoint/2010/main" val="1702879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D407D-6344-4413-B6F0-F5520DF6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 / CATÁLOGO DE ESTILOS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7C3C-F4AB-4328-AD9C-5F6804E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47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Primero se estudia la marca; después se eligen los detalles.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FCB59-D351-4DED-A267-2696CD3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Color y tipografía no son adornos aislados. Son decisiones que deben expresar valores y reconocer el contexto de la organización.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9151E-3015-48FB-973B-8795A43B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9731-FF9D-42C9-AF92-2BE2F331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IDENTIDAD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785BE-C45C-4CD4-9601-260F7FD4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¿Qué debe sentir y reconocer la persona?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DBC1B-92BF-49D7-8FF4-232584D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38625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6E142-D4C1-47F7-BC04-E2A8F7E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FBAF-21A6-4674-A664-16B85A1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Color principal, secundarios y complementarios.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Jerarquía tipográfica y tamaños.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Voz, tono e iconografía.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Estados y comportamientos de componentes.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5D1C9-C534-4526-B483-A5381531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E22A-7030-4D2B-B0B8-3260E6D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D9561-A8A0-4A49-8906-13934F0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11 / 37</a:t>
            </a:r>
          </a:p>
        </p:txBody>
      </p:sp>
    </p:spTree>
    <p:extLst>
      <p:ext uri="{BB962C8B-B14F-4D97-AF65-F5344CB8AC3E}">
        <p14:creationId xmlns:p14="http://schemas.microsoft.com/office/powerpoint/2010/main" val="496269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F5080-4260-4583-BE3F-87B662D5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 / CATÁLOGO DE ESTILOS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5EAE8-B608-48DF-9C19-2730276C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El catálogo reduce cuatro tipos de desperdicio.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E7966-01F1-4A7D-A2A5-820669B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Documentar decisiones ayuda a que el equipo sea más rápido sin sacrificar consistencia.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AEE17-84A8-497D-A693-2695DABA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64CF-AD79-4E52-93F3-8C07C7B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Duda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5D819-9341-466A-AEF3-448B5B2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referencia compartida responde antes de preguntar.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57CE6-6B3E-42A9-BF9F-A057722D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AD376-0DF7-4D5D-B6F8-555A566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11BF8-71A4-4A76-A8B6-AC9AC346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Duplicación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B9899-6EC5-4966-B8C4-06AAEC99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No se crean versiones distintas del mismo componente.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AC684-A401-4174-938A-54D2258F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44183-24D8-474A-9531-DA184F47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E693B-9AEC-494E-8E10-725778D9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Desalineación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419E-EB76-4652-8841-69E3AD4B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Diseño y desarrollo hablan con el mismo vocabulario.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C3DCC-110E-4630-93E2-9063E83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B7BF0-BD6D-4597-9742-8630F70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5A72C-D38F-4081-B210-2D69128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Escala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102E5-3920-4C83-A77A-31CD1226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577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Agregar pantallas no implica inventar una identidad nueva.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26D6A-1215-440A-9E5C-99B37B54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B96AC-EE8A-47E6-8D7F-58A36CB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FAD0C-8990-4CD7-B431-C579670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7374F-670A-4ED4-9DCA-966C25C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12 / 37</a:t>
            </a:r>
          </a:p>
        </p:txBody>
      </p:sp>
    </p:spTree>
    <p:extLst>
      <p:ext uri="{BB962C8B-B14F-4D97-AF65-F5344CB8AC3E}">
        <p14:creationId xmlns:p14="http://schemas.microsoft.com/office/powerpoint/2010/main" val="16544745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4D439-C4CE-4AA5-95D5-5C766F9F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 / CATÁLOGO DE ESTILOS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44D18-0E7D-458E-B35B-B6E3BEA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jerarquía hace que una pantalla se pueda leer.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3BE6-FA59-46C1-A9FD-9171FF7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Tipografía y color deben indicar qué es importante, qué es secundario y qué acción está disponible.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1F1A-B434-4B4A-BEAC-19BDD39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3D634-66B3-44B5-BFA1-C777626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Título / 44 px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Subtítulo / 24 px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Cuerpo / 18 px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Nota / 12 px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015B8-EA48-42BA-B327-495C73F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052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36BB7-812A-4ACF-943F-F63CF18E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CONTRASTE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E717-C1F2-4D36-B2D0-CDA016F3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D"/>
          </a:solidFill>
          <a:ln xmlns:a="http://schemas.openxmlformats.org/drawingml/2006/main" w="0">
            <a:solidFill>
              <a:srgbClr val="17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90831-2B4C-4860-AC66-087DB54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3AFAB-F083-4CD8-A23D-4978DDCE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DB909-C354-4760-AD62-BFD7CAE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atención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C35F3-8DF5-4C0E-AE98-AE2DF2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B6B"/>
          </a:solidFill>
          <a:ln xmlns:a="http://schemas.openxmlformats.org/drawingml/2006/main" w="0">
            <a:solidFill>
              <a:srgbClr val="F1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3BC75-D2DC-43F0-9C48-8750539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1CD0-FEB3-4D68-B021-131DB4E8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0AA"/>
          </a:solidFill>
          <a:ln xmlns:a="http://schemas.openxmlformats.org/drawingml/2006/main" w="0">
            <a:solidFill>
              <a:srgbClr val="6FE0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65409-4866-450D-8C4E-08B5984A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éxito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C3DBE-AA1B-4281-9230-CE0DB4D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pregunta no es “¿qué color me gusta?”, sino “¿qué diferencia debe entender la persona?”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43CC1-CB99-4AD0-BCD5-EDCD458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8ED9A-112D-4887-8C3B-EE67EAA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E37F3-9EFC-49A8-9C2F-3BB9D458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13 / 37</a:t>
            </a:r>
          </a:p>
        </p:txBody>
      </p:sp>
    </p:spTree>
    <p:extLst>
      <p:ext uri="{BB962C8B-B14F-4D97-AF65-F5344CB8AC3E}">
        <p14:creationId xmlns:p14="http://schemas.microsoft.com/office/powerpoint/2010/main" val="1108654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63793-2BD1-44CA-865A-EE61557E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 / CATÁLOGO DE ESTILOS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4F60C-F7ED-43A3-A183-BBED88B5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 botón también tiene una gramática.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4A980-0C9F-4A21-8EF9-A8ECCA4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catálogo debe describir no solo el estado normal, sino qué comunica el componente cuando la persona interactúa con él.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6F068-BD37-40A2-A4D1-5D652D63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DEFAULT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59B16-23F0-43FC-AB7A-169A3A54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330"/>
          </a:solidFill>
          <a:ln xmlns:a="http://schemas.openxmlformats.org/drawingml/2006/main" w="9525">
            <a:solidFill>
              <a:srgbClr val="61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CAFF4-FB48-452F-B7AD-B637E0D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Ver cursos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2040-E10E-4E5B-844B-1FB2C66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estado comunica una respuesta.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02423-5271-402B-94E6-FF1F035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HOVER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F488B-B1B6-4356-B249-DF6A30B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F94AD-747C-456D-8843-F375C6C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Ver cursos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94B4D-1930-4058-8CBC-7020FEA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estado comunica una respuesta.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42B31-907D-45E4-9D69-4465898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2D9A3-6B7F-4B0D-89A2-B647D92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330"/>
          </a:solidFill>
          <a:ln xmlns:a="http://schemas.openxmlformats.org/drawingml/2006/main" w="9525">
            <a:solidFill>
              <a:srgbClr val="6FE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EFB08-9189-4DEB-90D3-193E6908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Ver cursos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58AFD-ECD5-4BE8-A390-56074D2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estado comunica una respuesta.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B896E-8490-49FF-B503-C85F7BC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F6D63-5966-4158-9B08-3C100D2A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6B6B">
              <a:alpha val="12549"/>
            </a:srgbClr>
          </a:solidFill>
          <a:ln xmlns:a="http://schemas.openxmlformats.org/drawingml/2006/main" w="9525">
            <a:solidFill>
              <a:srgbClr val="F1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31D56-AB5E-4B4B-960F-B32E6F6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Revisar 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3F813-4518-48D5-AD88-EAED6BA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mensaje explica cómo continuar.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1A2EA-357A-4B08-AE42-ED6F552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21129-B296-4C94-A48A-36CCB0F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569AE-D591-4FCA-A2F1-FDA122B8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14 / 37</a:t>
            </a:r>
          </a:p>
        </p:txBody>
      </p:sp>
    </p:spTree>
    <p:extLst>
      <p:ext uri="{BB962C8B-B14F-4D97-AF65-F5344CB8AC3E}">
        <p14:creationId xmlns:p14="http://schemas.microsoft.com/office/powerpoint/2010/main" val="7527204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5F291-F101-44FB-9A27-F4D26690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01 / CONTRAEJEMPLO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A0C8E-DBB5-4375-BB1C-FCD62658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Sin catálogo, cada pantalla inventa su propio idioma.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D51E9-1AA9-46C7-8FF5-1E29ECC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costo no aparece en una sola decisión: aparece en la acumulación de pequeñas inconsistencias.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D4DDC-A889-43DE-A11D-E298760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857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74328-2DA9-42B5-9D9B-EC29EAC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2253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2253A"/>
                </a:solidFill>
                <a:latin typeface="Aptos Mono"/>
                <a:ea typeface="Aptos Mono"/>
                <a:cs typeface="Aptos Mono"/>
              </a:rPr>
              <a:t>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3B737-A424-4777-9CD7-11AF8EBE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022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238"/>
                </a:solidFill>
                <a:latin typeface="Aptos"/>
                <a:ea typeface="Aptos"/>
                <a:cs typeface="Aptos"/>
              </a:rPr>
              <a:t>Continúa tu aprendizaje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6A317-704A-4ADC-B76A-FC930F7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A"/>
          </a:solidFill>
          <a:ln xmlns:a="http://schemas.openxmlformats.org/drawingml/2006/main" w="0">
            <a:solidFill>
              <a:srgbClr val="1239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AFADE-0006-4A57-BFEF-DC0D8C2E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Ver cursos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5B609-71B4-454F-851E-10A30F71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C"/>
          </a:solidFill>
          <a:ln xmlns:a="http://schemas.openxmlformats.org/drawingml/2006/main" w="0">
            <a:solidFill>
              <a:srgbClr val="E5E8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AE94-D9F0-4F1F-A763-2B18033E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672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232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3245"/>
                </a:solidFill>
                <a:latin typeface="Aptos"/>
                <a:ea typeface="Aptos"/>
                <a:cs typeface="Aptos"/>
              </a:rPr>
              <a:t>Explorar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3E2A4-2C4D-4815-B0F9-F352CF7B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5276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E963-3CAC-4BCC-BB8A-6628F528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16B6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16B6B"/>
                </a:solidFill>
                <a:latin typeface="Aptos"/>
                <a:ea typeface="Aptos"/>
                <a:cs typeface="Aptos"/>
              </a:rPr>
              <a:t>¿Qué se rompe?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141F5-5BA9-4080-8CAF-F252084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El estilo depende de quien implementa.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El usuario aprende reglas distintas en cada pantalla.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Cambiar la identidad implica corregir muchos lugares.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A02A6-3D17-4C98-A284-481E543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79346-C5F5-4EAC-976D-230643E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7B41E-22E0-46D6-BBFF-6B8A8BCE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9377382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32C8D-CC99-47A7-BEE2-2FFDB6BF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EJEMPLO PRÁCTICO / DEMO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11AC8-D160-406A-8EF0-76F1EA82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47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demo convierte la teoría en una comparación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3795-CE5B-4EAE-BCC0-5D911379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Abriremos una página de portal universitario y cambiaremos una decisión a la vez: estilo, estructura, feedback y patrón.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2943F-6840-4434-99DF-A1728B1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6B6B">
              <a:alpha val="9412"/>
            </a:srgbClr>
          </a:solidFill>
          <a:ln xmlns:a="http://schemas.openxmlformats.org/drawingml/2006/main" w="9525">
            <a:solidFill>
              <a:srgbClr val="F1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31ADF-0E29-4CDC-B69B-3330E0BA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605AA-C791-4354-9648-5892677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B6FF">
              <a:alpha val="9412"/>
            </a:srgbClr>
          </a:solidFill>
          <a:ln xmlns:a="http://schemas.openxmlformats.org/drawingml/2006/main" w="9525">
            <a:solidFill>
              <a:srgbClr val="61B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FF6D4-F61C-414B-9BAC-7218986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1F7B6-8E17-40FA-810A-A2A1E022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195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>
              <a:alpha val="9412"/>
            </a:srgbClr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CB73E-913E-4F15-9DEC-160AD8EE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FC932-DCD4-4FDA-859B-B4D5FC9B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02C60-E8B9-4E50-857A-7AF3BE3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CONTRAEJEMPLO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92822-B5AC-4550-9D59-4F372574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43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BA4B8-7C11-4A1B-B0E3-886CB4F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PROPUESTA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3AE5E-C2C5-492C-87BB-7051CB33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71809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18092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E3EEB-D9A5-4B25-AC87-C81AB6F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JUSTIFICACIÓN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05247-1277-46F0-8658-D7134A3B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344CE-41D8-4AA7-9175-BA43545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A5365-B5F8-4442-A81C-4170BC72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16 / 37</a:t>
            </a:r>
          </a:p>
        </p:txBody>
      </p:sp>
    </p:spTree>
    <p:extLst>
      <p:ext uri="{BB962C8B-B14F-4D97-AF65-F5344CB8AC3E}">
        <p14:creationId xmlns:p14="http://schemas.microsoft.com/office/powerpoint/2010/main" val="13679900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F0373-6432-4F64-87F9-E9C7F39A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ADS2 / UNIDAD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6FCC9-3DB6-4216-81C0-009A38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Arquitectura de la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77F77-5BD7-42E5-8E59-B74BCD2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usuario no debería tener que adivinar dónde está algo.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67357-6C59-45C7-B7E6-D08B09E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600" b="1">
                <a:solidFill>
                  <a:srgbClr val="61B6FF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2600" b="1">
                <a:solidFill>
                  <a:srgbClr val="61B6FF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257F-6B86-4965-BDBE-AD0D4C4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6E27A-36BA-4E3B-BAFD-95C75F97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Agrupar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EADE5-139C-4205-9738-13BDE48B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A7A39-1C03-4030-B913-B4C80140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Etiquetar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9DF4C-5E26-4C88-9F02-A704C30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D47D-A8AC-4D1B-AF80-8811155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Navegar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3621F-E776-4039-8B1E-3B89F03B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A1052-DC5F-461C-9E7F-B2EF98E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Encontrar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00C14-3E69-4C05-8ECE-18E4C3EE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15255-A756-4C62-A727-338CC21E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824C1-34FA-4CFE-9915-367F6F3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ARQUITECTURA DE LA INFORMACIÓN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C82E6-EE1E-4E80-A89D-1CCE22F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17 / 37</a:t>
            </a:r>
          </a:p>
        </p:txBody>
      </p:sp>
    </p:spTree>
    <p:extLst>
      <p:ext uri="{BB962C8B-B14F-4D97-AF65-F5344CB8AC3E}">
        <p14:creationId xmlns:p14="http://schemas.microsoft.com/office/powerpoint/2010/main" val="4416679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E69E0-8C30-4937-A301-BFB04AB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 / ARQUITECTURA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AE1F4-23BD-4F68-B9F4-4FB2678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arquitectura reduce el esfuerzo de encontrar.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9920-16A8-40BF-9AFE-DED8548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Organizar, estructurar y etiquetar son decisiones de diseño, aunque todavía no haya colores ni componentes.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8FCBF-72C5-4010-AF79-35690A67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B576-FAE6-4778-AEE5-DFCC0B9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CONTENIDO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DBF78-A4EE-4443-93FB-43107CEF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Qué existe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8AA96-A530-4309-B580-4D5E9645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66DBE-9E5F-46D0-8E29-17B17CF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623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ESTRUCTURA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59F77-0DA4-420A-B6A2-C2B817A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910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Cómo se relaciona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7A088-142B-4A79-AAEF-4C734C8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72BFA-3B71-4A65-B016-1418A9A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ETIQUETAS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EB5D3-9CFF-4EE8-A896-98CF4CB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Cómo se nombra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2B1B4-1559-4CF7-AA1B-4D8C72A5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6FE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ECFA4-4BC8-48E8-8712-262D3ED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623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NAVEGACIÓN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9C587-3289-4A61-B817-FE854564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910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Cómo se recorre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D9ACE-8816-4CA5-8EDF-09D2924B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1AFA5-DFFA-4957-BA15-334F0957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83C3B-D7D0-47D3-A542-619AAFB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18 / 37</a:t>
            </a:r>
          </a:p>
        </p:txBody>
      </p:sp>
    </p:spTree>
    <p:extLst>
      <p:ext uri="{BB962C8B-B14F-4D97-AF65-F5344CB8AC3E}">
        <p14:creationId xmlns:p14="http://schemas.microsoft.com/office/powerpoint/2010/main" val="39855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C7898-5753-4E8C-8E73-516E897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 / ARQUITECTURA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7A785-B36B-4C3F-9660-D2D3FD0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Una buena navegación sigue las tareas de la persona.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D5AC9-12F4-45CE-9AE8-566DFCE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estructura debe responder a cómo se piensa el contenido, no a cómo está organizado el organigrama interno.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2D959-1146-419C-9B7B-E934EFF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TAREA DEL USUARIO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B643-A3B5-4DB3-9403-971F592A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>
              <a:alpha val="9412"/>
            </a:srgbClr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19C32-01F3-4B56-86BC-B0A28B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Encontrar la guía del curso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85B51-60F2-453F-A65D-3E76D87E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61BE9-A0EF-4EC6-8D51-87ADEAFB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6E7F9-E6B1-4B92-95FA-5D17F7A4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B6FF">
              <a:alpha val="9412"/>
            </a:srgbClr>
          </a:solidFill>
          <a:ln xmlns:a="http://schemas.openxmlformats.org/drawingml/2006/main" w="9525">
            <a:solidFill>
              <a:srgbClr val="61B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C6ACD-1862-4164-B74F-84BBE14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43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Recursos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AF6FB-03E1-4E34-8071-6FB836E1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6B161-CE00-4821-B461-1B181B2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DESTINO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C45FA-2A32-4303-B671-28EA0B6A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0AA">
              <a:alpha val="9412"/>
            </a:srgbClr>
          </a:solidFill>
          <a:ln xmlns:a="http://schemas.openxmlformats.org/drawingml/2006/main" w="9525">
            <a:solidFill>
              <a:srgbClr val="6FE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DF377-2D27-47D7-8BEC-5253FC1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Guías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C24BA-75F3-404B-A223-E18EDFE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EBB63-72AB-4009-A9DE-6128884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7F683-F671-42EA-B414-7EB24603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19 / 37</a:t>
            </a:r>
          </a:p>
        </p:txBody>
      </p:sp>
    </p:spTree>
    <p:extLst>
      <p:ext uri="{BB962C8B-B14F-4D97-AF65-F5344CB8AC3E}">
        <p14:creationId xmlns:p14="http://schemas.microsoft.com/office/powerpoint/2010/main" val="150822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F12AA-0CC3-43A9-87D5-075B6BB6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 / ARQUITECTURA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5FA06-181C-4A92-8287-E5FC624D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misma arquitectura puede mostrar experiencias distintas.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9AFC-36FC-4B56-8D55-7690557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Segmentar información por perfil ayuda a controlar el acceso y a reducir ruido, siempre que la regla sea comprensible.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52491-C9A2-40E7-8DAC-D3AE9627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DBEC-AD5C-4B36-9DEC-75B12EA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PERFIL / ESTUDIANTE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C520F-31E8-4E8A-BF8A-AECAD48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Mis cursos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4DA57-E67F-4ACD-ABE7-E907281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Accede a materiales, tareas, calendario y progreso.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FA2E3-94CC-4AEB-BC11-D97FACF8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B2F78-8439-4F72-8768-461F4159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290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PERFIL / DOCENTE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0C213-AFD4-45B7-9531-7F7F351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3382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Gestionar curso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20FDD-79A4-4FFB-B671-2ED0965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9102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Publica recursos, revisa entregas y comunica novedades.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92BFF-001D-4E5A-A3EA-7C1B5EE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D2284-0F31-4CD2-A2E9-81D89156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290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REGLA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3358A-368C-43F0-86B8-95C903C6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Mostrar lo necesario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8A7D-5BE8-4EAD-AFA2-93D1184A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9102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Personalizar no significa esconder sin explicar.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1031E-DC9D-4F18-B931-A84348D3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A4185-1614-4B9E-A98B-0C4045A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B470A-ABC4-4CB0-8C23-36382CC0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20 / 37</a:t>
            </a:r>
          </a:p>
        </p:txBody>
      </p:sp>
    </p:spTree>
    <p:extLst>
      <p:ext uri="{BB962C8B-B14F-4D97-AF65-F5344CB8AC3E}">
        <p14:creationId xmlns:p14="http://schemas.microsoft.com/office/powerpoint/2010/main" val="13339073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727ED-B10D-47D6-BA10-0E020A85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02 / CONTRAEJEMPLO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16F11-B6AF-47B9-9A23-AB8B44D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información existe, pero está escondida detrás de palabras vagas.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2D6C-B45D-4CF1-B890-E4B94533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Cuando una etiqueta no anticipa el contenido, el usuario debe abrir opciones al azar y recordar rutas innecesarias.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5C92E-AB09-4D7A-B388-44485F4C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7"/>
          </a:solidFill>
          <a:ln xmlns:a="http://schemas.openxmlformats.org/drawingml/2006/main" w="0">
            <a:solidFill>
              <a:srgbClr val="EF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3906C-567F-4202-90B8-774E96FB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2253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2253A"/>
                </a:solidFill>
                <a:latin typeface="Aptos Mono"/>
                <a:ea typeface="Aptos Mono"/>
                <a:cs typeface="Aptos Mono"/>
              </a:rPr>
              <a:t>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E1932-C512-4973-830F-2D8592D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9E41-6511-4657-8CC9-8467730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E79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987"/>
                </a:solidFill>
                <a:latin typeface="Aptos"/>
                <a:ea typeface="Aptos"/>
                <a:cs typeface="Aptos"/>
              </a:rPr>
              <a:t>Cosas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95390-4EC9-4F6E-AD51-C032235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97831-059A-4EB3-BE34-B812136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E79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987"/>
                </a:solidFill>
                <a:latin typeface="Aptos"/>
                <a:ea typeface="Aptos"/>
                <a:cs typeface="Aptos"/>
              </a:rPr>
              <a:t>Más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AA227-9410-41FB-B456-A544198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2CF49-599B-4EFB-B02D-C0D9215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E79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987"/>
                </a:solidFill>
                <a:latin typeface="Aptos"/>
                <a:ea typeface="Aptos"/>
                <a:cs typeface="Aptos"/>
              </a:rPr>
              <a:t>Lo de hoy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661CC-8A98-4461-8A5D-3C88AB3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34881-B9FD-4FFE-A712-42C55EF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E79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987"/>
                </a:solidFill>
                <a:latin typeface="Aptos"/>
                <a:ea typeface="Aptos"/>
                <a:cs typeface="Aptos"/>
              </a:rPr>
              <a:t>Varias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8FCD9-BD01-40AD-AADA-2DE9DEB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etiqueta “Más” no es una arquitectura: es una deuda.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91AFC-C48F-4436-9A29-77B8FC0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Corregirla implica volver a las tareas, agrupar contenidos y probar si las personas encuentran lo que buscan.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AE398-2E86-4B25-A2D5-3F305C2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FC06E-6853-43AA-BB4A-A687C622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E0BE8-C8D4-457C-90C5-317921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21 / 37</a:t>
            </a:r>
          </a:p>
        </p:txBody>
      </p:sp>
    </p:spTree>
    <p:extLst>
      <p:ext uri="{BB962C8B-B14F-4D97-AF65-F5344CB8AC3E}">
        <p14:creationId xmlns:p14="http://schemas.microsoft.com/office/powerpoint/2010/main" val="7053908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A6103-36B2-4BBC-9241-72BA6A88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ADS2 / UNIDAD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85F3F-1B83-4640-87D6-F80EF68A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UX /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A6CC1-8FD8-4FF0-93BD-3A404666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experiencia da la dirección; la interfaz hace visible la respuesta.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43C21-65E8-4573-B58B-CFCB24B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600" b="1">
                <a:solidFill>
                  <a:srgbClr val="F16B6B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2600" b="1">
                <a:solidFill>
                  <a:srgbClr val="F16B6B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75925-053C-4E50-BE10-5C31FF5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E4403-7758-444A-8FF9-4B3C052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Investigar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67BC2-BA89-4814-8971-8071587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507DE-FAFB-47D1-9990-DBE5B89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Estructurar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2B172-C970-4741-8820-535594D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83A81-DB5D-467B-91FA-1668076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Diseñar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31C69-364E-4B06-ACE8-CA9E71F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5DB1E-2FA2-42DA-AA29-BD740040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21903-EEC0-424E-BDF5-E83A3100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E832D-4311-470A-9CE7-1E04AE00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44275-20E5-462B-B7DE-1FFC04CB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UX /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12A86-F424-4645-AD16-25ABEA9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22 / 37</a:t>
            </a:r>
          </a:p>
        </p:txBody>
      </p:sp>
    </p:spTree>
    <p:extLst>
      <p:ext uri="{BB962C8B-B14F-4D97-AF65-F5344CB8AC3E}">
        <p14:creationId xmlns:p14="http://schemas.microsoft.com/office/powerpoint/2010/main" val="17294763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3BE8D-6FDF-49C1-A29C-E065F1E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 / UX Y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CC25-A185-4BEE-A56E-DBCA9F1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UX y UI no son sinónimos, pero tampoco trabajan separadas.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10A52-888C-4C14-BBBF-E1E58054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UX pregunta si la solución funciona para la persona. UI define cómo se ve, responde y mantiene coherencia.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08A2C-3043-443D-81AD-339A92E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B6FF">
              <a:alpha val="9412"/>
            </a:srgbClr>
          </a:solidFill>
          <a:ln xmlns:a="http://schemas.openxmlformats.org/drawingml/2006/main" w="9525">
            <a:solidFill>
              <a:srgbClr val="61B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71A46-D471-41A3-83A9-1E1415A0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61B6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1B6FF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97CE3-AFBF-4142-B9B3-649F0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Necesidades y contexto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Recorridos y estructura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Prototipos y validación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E6778-CB2E-4A30-BCCB-CD5ADFCF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953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B6B">
              <a:alpha val="9412"/>
            </a:srgbClr>
          </a:solidFill>
          <a:ln xmlns:a="http://schemas.openxmlformats.org/drawingml/2006/main" w="9525">
            <a:solidFill>
              <a:srgbClr val="F1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F3E96-DCD0-460C-80CB-63AAEB2C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81425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16B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16B6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37938-3175-4F16-8248-2DD22B01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Composición y jerarquía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Componentes y estados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Respuesta visual y accesibilidad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215F8-03F3-4271-BF79-4DD3179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6CCCF-53B4-4227-989C-52C2D583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450C8-E1AA-40B7-B9D0-4FD07DA4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23 / 37</a:t>
            </a:r>
          </a:p>
        </p:txBody>
      </p:sp>
    </p:spTree>
    <p:extLst>
      <p:ext uri="{BB962C8B-B14F-4D97-AF65-F5344CB8AC3E}">
        <p14:creationId xmlns:p14="http://schemas.microsoft.com/office/powerpoint/2010/main" val="12633712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4C873-3AF9-41E8-BA40-6636039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2DE17-FB9B-442A-A48E-3E30A631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UX es un ciclo de aprendizaje, no una fase decorativa.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D9EB7-904F-4BCA-BE81-3D4D61E4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investigación y la validación reducen el riesgo de construir una interfaz que nadie entiende.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D3720-8C5C-4C77-B4A0-B90A666B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4325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4C767-1AB7-4327-9A43-9C317392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16"/>
          </a:solidFill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67048-8796-4131-8AE8-8350907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73410-39C1-4C22-97FA-DD7C231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Investigar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01253-8005-4FD1-993D-55FC6D4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5580-25A1-4DE3-B537-6DEC649B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90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16"/>
          </a:solidFill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3312B-7EA7-483F-9A9D-0681913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38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79489-90FE-4807-BF40-9EBB4C16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Estructurar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F4BAF-5AC0-4D81-AF10-2C87015A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48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9F126-DB91-4ED2-9661-F42E636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16"/>
          </a:solidFill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DFA8F-E980-4988-A896-27DD15E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B86F9-5AF4-41C3-8688-64BF2CBF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Prototipar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52EEE-F33B-4B9A-9ED6-9D89864A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Probar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1CC13-C55D-4026-B989-1010468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90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16"/>
          </a:solidFill>
          <a:ln xmlns:a="http://schemas.openxmlformats.org/drawingml/2006/main" w="19050">
            <a:solidFill>
              <a:srgbClr val="6FE0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088C1-42E3-499D-A803-9AA4530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38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DB909-D9C7-470E-84C7-FDE28C33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17188-6BFD-477B-93DE-43DA356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48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Aprender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56AAF-A87B-4E56-9BA1-45721C9A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D7837-B474-4BC5-8B4F-AAB8F101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1826A-D4BE-434E-8148-2B2DC7D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24 / 37</a:t>
            </a:r>
          </a:p>
        </p:txBody>
      </p:sp>
    </p:spTree>
    <p:extLst>
      <p:ext uri="{BB962C8B-B14F-4D97-AF65-F5344CB8AC3E}">
        <p14:creationId xmlns:p14="http://schemas.microsoft.com/office/powerpoint/2010/main" val="19441519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20D50-6905-49F0-94E1-A493F58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 /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D162D-0C25-4113-AAE9-587B93D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UI responde en cada estado, no solo en la pantalla ideal.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D2E6D-BC43-4503-9CA3-3CBC644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persona necesita saber qué puede hacer, qué está ocurriendo y cómo recuperarse cuando algo falla.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BA3B7-10F3-4866-9B4D-DF25D80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B6FF"/>
          </a:solidFill>
          <a:ln xmlns:a="http://schemas.openxmlformats.org/drawingml/2006/main" w="0">
            <a:solidFill>
              <a:srgbClr val="61B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553D2-3053-4B3B-B22D-F173E35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Reposo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D2F9-AA55-4EA7-9FFF-6AFB9F4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04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control está disponible.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D206B-5965-4992-AB6A-8ED1C7E9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04EFB-81BE-484D-8194-02FB663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127F6-1CC9-4542-9565-BD4871C3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Foco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8AFD2-C24B-414A-893B-1577C2B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teclado muestra dónde estás.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269F4-5789-4957-9A30-DB30A2E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576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FABFD-D7A3-4251-9540-E4410D37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3FF"/>
          </a:solidFill>
          <a:ln xmlns:a="http://schemas.openxmlformats.org/drawingml/2006/main" w="0">
            <a:solidFill>
              <a:srgbClr val="B99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E85F1-0DE7-4163-AE19-91457E8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A3FA6-A882-4052-A102-833AB1A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4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sistema comunica que trabaja.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F96E5-C65A-461D-B661-F4674641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79C7C-F8DA-419F-B1F9-91CC31A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B6B"/>
          </a:solidFill>
          <a:ln xmlns:a="http://schemas.openxmlformats.org/drawingml/2006/main" w="0">
            <a:solidFill>
              <a:srgbClr val="F16B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93CA0-5F65-456A-91F8-8496E1C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A637E-0619-49A0-B5AC-981455D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mensaje explica cómo continuar.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210A8-5699-4876-BDF0-30AA5B1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054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B89CD-F686-44E0-963B-16781BC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0AA"/>
          </a:solidFill>
          <a:ln xmlns:a="http://schemas.openxmlformats.org/drawingml/2006/main" w="0">
            <a:solidFill>
              <a:srgbClr val="6FE0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9ACA6-F257-4B94-85B3-E847BD9C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Éxito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5EE5C-D043-4E04-A799-3613D52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959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acción queda confirmada.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D2D2D-6A56-4D21-AB83-227F881E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29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0160E-BDC4-44B4-B6AF-D14CAF3C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E5AE5-DCB4-43C0-9895-ADD39942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45A25-7F64-43FB-A855-B94E9980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25 / 37</a:t>
            </a:r>
          </a:p>
        </p:txBody>
      </p:sp>
    </p:spTree>
    <p:extLst>
      <p:ext uri="{BB962C8B-B14F-4D97-AF65-F5344CB8AC3E}">
        <p14:creationId xmlns:p14="http://schemas.microsoft.com/office/powerpoint/2010/main" val="19375028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CBAEB-D00B-47E0-92BF-B3B425CC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03 / UI / ACCESIBILIDAD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CB6C3-1024-4F85-BA17-27561AFD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Accesibilidad es parte del diseño, no una revisión al 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E27D9-5082-4C37-B9E0-45BF61F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Una interfaz clara debe poder percibirse, operarse y comprenderse con diferentes habilidades y dispositivos.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5D16C-1C85-4ED6-800D-A31B9F9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B6FF">
              <a:alpha val="9412"/>
            </a:srgbClr>
          </a:solidFill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43DB9-1A6E-4A62-BE10-834A038A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49999-77C4-4003-A8D4-0F456B1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Contraste y tamaño de 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BC879-BE0D-464C-AF59-3BD6CC7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>
              <a:alpha val="9412"/>
            </a:srgbClr>
          </a:solidFill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EAE83-B270-467E-86EE-56233FAA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8142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OPERAR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F7E13-5C76-434C-8954-BC7BCA27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Teclado, foco y objetivos claros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1F9A2-582F-4E76-B4B8-F3456FA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E0AA">
              <a:alpha val="9412"/>
            </a:srgbClr>
          </a:solidFill>
          <a:ln xmlns:a="http://schemas.openxmlformats.org/drawingml/2006/main" w="19050">
            <a:solidFill>
              <a:srgbClr val="6FE0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63B05-F2DE-4B08-909C-72996B5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8142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ENTENDER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73412-766A-46FA-A525-5E67D9BF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Etiquetas, instrucciones y estados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3989A-51E2-4A86-B556-FA8199E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Regla práctica: si una respuesta solo se entiende por color, todavía falta información.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4EA94-473D-4CB3-9920-0991F43E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74A8C-4660-4C9D-B1B8-0BF4B5C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CF0DB-54D1-42AE-BF17-6F0ACB2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26 / 37</a:t>
            </a:r>
          </a:p>
        </p:txBody>
      </p:sp>
    </p:spTree>
    <p:extLst>
      <p:ext uri="{BB962C8B-B14F-4D97-AF65-F5344CB8AC3E}">
        <p14:creationId xmlns:p14="http://schemas.microsoft.com/office/powerpoint/2010/main" val="13288720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72684-CAAF-4CC5-ADC8-F72A48DC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03 / MAPA DE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FCB9E-9CFC-46C7-9A37-7C4714A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Las cuatro capas se corrigen en distinto orden.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8CD0E-76F3-4AC4-ADED-2CB7C6C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No todo problema de una pantalla se resuelve cambiando el color de un botón.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7F794-B632-40CD-AE8D-180F352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90975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EEED1-0F7E-436A-8FAD-D561CB9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909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CBD07-A90A-49AE-BE48-C3D7605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EA523-6E93-42DC-B988-1C97E1E4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71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46E9-6FD3-4484-B3BE-C4607806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542F-CD22-46B8-8D32-40D79273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intenta lograr?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7AAF5-0CFB-4B94-A60F-1EE6D3E3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171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CA6DF-1A9A-4C31-B50E-A1C1EF7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ARQUITECTURA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1ACEC-B44B-448A-8626-9E16EB8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¿Cómo encuentra el contenido?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B20D0-1175-46C1-801C-F06522C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171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E3489-B62A-4344-8840-9B077DA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7C744-1DAD-4FAD-917C-7B508CEB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¿Dónde se frustra?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BC4CC-F147-4D31-ADC7-06BE4B3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171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19050">
            <a:solidFill>
              <a:srgbClr val="6FE0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6F6B7-B82D-44E8-8DD8-384D92E7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UI / STYLE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A99D7-305A-4307-8058-BB645ED3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¿Cómo lo ve y opera?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22C94-342B-4A59-B4C9-BCEAFDAC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Diagnosticar antes de decorar.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95EC0-F103-420A-ADA3-E54A5E2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66CB8-86DE-48EE-820D-D37AC21D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46EC6-1383-4501-920F-CE7315C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27 / 37</a:t>
            </a:r>
          </a:p>
        </p:txBody>
      </p:sp>
    </p:spTree>
    <p:extLst>
      <p:ext uri="{BB962C8B-B14F-4D97-AF65-F5344CB8AC3E}">
        <p14:creationId xmlns:p14="http://schemas.microsoft.com/office/powerpoint/2010/main" val="14937550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1DF1C-BFC2-46BD-A346-32F2F86A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ADS2 / UNIDAD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427BB-C7EC-4CF3-97B0-20ABBF6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Patrones de interacción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E172-1205-450D-AB0D-47783B83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Reconocer el síntoma ayuda a separar la responsabilidad correcta.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C92FA-AFEC-4251-B126-95FC787F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6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600" b="1">
                <a:solidFill>
                  <a:srgbClr val="B993FF">
                    <a:alpha val="1451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sz="12600" b="1">
                <a:solidFill>
                  <a:srgbClr val="B993FF">
                    <a:alpha val="14510"/>
                  </a:srgbClr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B842-66F7-4CC7-BBA4-B07E384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55B87-45CE-4EAE-94B5-137E911C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Observer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D37C-6398-4280-B662-EEBCA53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D1D29-71EC-49BD-942C-850C599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277EA-2DC2-4C97-BFB3-94F9492C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16813-1F40-48F7-B56B-56DBAD9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Mediator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26B73-7FFE-4BFA-B0A6-3665A03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EFF10-3BEC-4417-89DE-607FB41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3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Abstract 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E4485-8E32-41D8-89B2-96D3867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6BC09-FDA5-4E52-B2B6-DAB9C299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352BB-627A-4F4F-8D78-D6C137F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PATRONES DE INTERACCIÓN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CA0AE-8566-4350-8D3B-72B2C560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28 / 37</a:t>
            </a:r>
          </a:p>
        </p:txBody>
      </p:sp>
    </p:spTree>
    <p:extLst>
      <p:ext uri="{BB962C8B-B14F-4D97-AF65-F5344CB8AC3E}">
        <p14:creationId xmlns:p14="http://schemas.microsoft.com/office/powerpoint/2010/main" val="13292676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2AEDB-B777-4914-AFC4-06614C07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 / PATRONES DE INTERACCIÓN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88253-28C1-41D6-9AED-73ECD74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El síntoma del código suele sugerir el patrón.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0AEB3-D3D9-4DAF-B7EF-FBFAC3BD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 nombre llega después del problema: primero se observa qué se repite, quién decide y quién necesita enterarse.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582A6-ABCB-4125-90D3-3C0936EA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Muchos elementos deben enterarse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16C2D-D146-423B-B559-BE539EFF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Observer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D8C3B-433C-43F8-A6DE-78525FB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suscripciones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0D62A-7DA8-4DB9-B721-93304E80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606A7-7053-4DA2-8FCC-AC6C81C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Una acción puede venir de varios controles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2C925-8851-483E-A09C-D18DACE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147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7FE77-481F-46A1-A841-E01773E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147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solicitud como objeto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1E75D-B4DD-4AD6-9525-B0D1CD6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BCC7-1805-4DA9-ADAE-AAD2D69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Los controles se conocen demasiado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C1185-F99A-4615-BC12-9AC5A80C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958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Mediator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B809-CD78-48D7-BDEE-7BF029C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coordinador 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03F06-33A2-455F-BEE4-A8E344F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D8316-6A63-4878-98C3-C3E60FA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Cambian familias completas de estilos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30F44-3ABC-465C-8FBE-597DDFFB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76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Abstract Factory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EF8E8-A4BE-40B6-9537-9A35BA0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productos compatibles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1EF78-3F9A-4927-AA81-3043491E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C0A6D-3CBB-406B-85E6-14DAE9F0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FB434-BEC5-4AC4-86F2-1C69A74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4F778-0732-4146-BD4D-14C19205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29 / 37</a:t>
            </a:r>
          </a:p>
        </p:txBody>
      </p:sp>
    </p:spTree>
    <p:extLst>
      <p:ext uri="{BB962C8B-B14F-4D97-AF65-F5344CB8AC3E}">
        <p14:creationId xmlns:p14="http://schemas.microsoft.com/office/powerpoint/2010/main" val="13379145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E185D-06BC-4ACD-ABF1-4DF9090C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04 / EJEMPLO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DDCF3-59AC-4DB8-9B0C-51B7A87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demo sigue un recorrido: observar, cambiar, justificar.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37D46-F22C-4BD5-9AE7-8E40453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Cada control activa una comparación para que el problema y la propuesta se puedan discutir en vivo.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C1746-FDCC-4BBA-A1E0-E9030BB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E3D66-082B-4ACC-926F-CE44AE7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Catálogo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7A8C2-83FD-4B21-BA7F-DE17514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Cambiar tokens y estados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1DD72-AB26-4016-A90A-9AB2839B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E7A64-EF9A-43B5-8987-6538A27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83AE9-5B90-4D00-819D-8DF36E85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8432-EC1D-4664-9B4F-0DB9400C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62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Ordenar etiquetas y menú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3B91F-2817-41A4-9DF6-EDD12B15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9B7B3-7317-47B5-9511-C8C63060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DEA12-9456-4BB1-BB78-A5E2115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UX /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78DE1-B45F-4B20-AC75-B2F7C1E4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Probar feedback del formulario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A1C89-AF53-4899-A2CC-EE70C2A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482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E749C-58D1-44A2-BF4B-0819BED1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62218-2E1C-4F94-80D1-FE95946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Patrón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1647E-CBAB-4888-932D-0B2F36A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Elegir la separación adecuada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6C7CB-7D0D-47C1-A980-AB09230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12C22-511D-4007-AE60-695E6B9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8E91A-8F3C-4AE7-A5EF-CA3CC55E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5B76D-0E0B-4A02-9D80-8EF40F9B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9575736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291B6-F0D3-450B-B9A4-FF9F436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04 / EJEMPLO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DE748-A43A-4AF1-9CE9-5690BE9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interacción se reparte entre tres responsabilidades.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73909-1934-4CED-A687-3155A9F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HTML estructura la experiencia, CSS expresa reglas y JavaScript cambia el estado sin perder el significado.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FA29F-1A0E-43B4-9164-B97C448A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02FC4-4D57-4737-906B-64DEDAF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estructura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2E5E9-04DC-4132-8A83-F7AC399C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5C20F-0B33-445D-9D8E-FD62237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52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&lt;button data-view="proposal"&gt;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  Propuesta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&lt;/button&gt;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2523C-C808-4400-89BC-9448B6B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7D2D-AC4C-4373-812C-E8A4DD16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sistema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0962B-C39B-47F7-B348-8C2E870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9775F-3822-4212-897E-BEF5DBCC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252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:root {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  --color-action: #1d587e;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  --space: 8px;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92137-43AC-426E-8138-CD2EBAC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1230A-3479-4834-A5CD-56980BC2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26140-998C-469A-B4A6-B9B29882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AEEC8-5487-47D8-8DCB-2ABE5E81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2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state.view =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  button.dataset.view;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render();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1846F-7D84-4378-97B7-4DB4C6E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5677B-D9E1-4389-89F9-BB9616C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41335-DBB1-4977-9483-7A9AE60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31 / 37</a:t>
            </a:r>
          </a:p>
        </p:txBody>
      </p:sp>
    </p:spTree>
    <p:extLst>
      <p:ext uri="{BB962C8B-B14F-4D97-AF65-F5344CB8AC3E}">
        <p14:creationId xmlns:p14="http://schemas.microsoft.com/office/powerpoint/2010/main" val="5201068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61BB0-C8E6-4D0A-B7A8-53B2BFBF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 / EJEMPLO PRÁCTICO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A992A-BF5D-4DF3-99A9-67AB6A9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47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demo también deja ver dónde aparece cada patrón.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B424-D008-4AC4-B70C-1D1B5112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La interacción de una página sencilla puede expresar las mismas responsabilidades que estudiamos en código.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37F5-10F8-4A6D-8AE9-EAAE276C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8E63F-DADC-4110-BB44-E6F31C3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OBSERVER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D9790-7AE7-4892-9698-5F992448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Tema / avisos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4611B-2386-44BB-9BBE-83387AD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 cambio de estado notifica a varias partes de la interfaz.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CB818-B563-4A5E-B652-161CC460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29000"/>
            <a:ext cx="2381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FFCFE-AD63-43E1-BFD2-5E331E3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81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91797-8502-4FDC-8D5C-B02496B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862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5B36B-8EC0-48E0-ACDB-9DD0B8A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434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 botón representa una solicitud que podría registrarse.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DDF93-78F8-4C81-AF2B-1D90A624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2381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0A9F5-9E3C-4009-9C50-F37A6CBE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81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MEDIATOR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FF105-41C6-4229-A02B-F174401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8620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Formulario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0C03C-A2A7-451E-9D77-3F0FB69B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434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 coordinador conecta campos, validación y mensaje.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81FFF-8FFB-4EAD-9125-485C078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29000"/>
            <a:ext cx="3019425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66AAA-A633-4B81-9024-2083C411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581400"/>
            <a:ext cx="2676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ABSTRACT FACTORY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967F3-F7B9-431A-A8CC-80F2141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886200"/>
            <a:ext cx="2676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Familia 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CA70E-7A3B-4624-A801-DCDA7B1D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43400"/>
            <a:ext cx="2676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Una identidad completa puede cambiar sin mezclar componentes.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49B6-0AB9-4E6E-9E56-9B3DAD6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D3CBA-D809-4020-9E08-25F36AAA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742CF-2BCE-4119-8058-88CD976B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32 / 37</a:t>
            </a:r>
          </a:p>
        </p:txBody>
      </p:sp>
    </p:spTree>
    <p:extLst>
      <p:ext uri="{BB962C8B-B14F-4D97-AF65-F5344CB8AC3E}">
        <p14:creationId xmlns:p14="http://schemas.microsoft.com/office/powerpoint/2010/main" val="1842938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7981E-20A4-4EA5-9A02-3F3FFF5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ACTIVIDAD EN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92977-CC8A-4A10-96C8-FA11FA7C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Rediseña una pantalla sin empezar por los colores.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BE6E5-ACDF-4004-9060-7B9B7E3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Trabaja en el orden problema -&gt; capa -&gt; propuesta -&gt; justificación.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12CB5-BC14-4EF9-BDFE-74D015D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7A3C9-0553-4EAA-9EA6-172F0ACB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Observa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D8007-83D2-49F9-92DC-223FA9FB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Describe la fricción que una persona podría experimentar.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B5338-E45A-411D-9541-7E6F7E2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36A0D-10E7-44D9-BF22-27DB7C5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4E97E-49B5-47A0-B149-E0F34CC5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Clasifica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D4EDF-3DEC-494A-A2FC-86EA961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Decide si el problema es de identidad, IA, UX o 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348F3-556A-4A0B-BBFB-E52C1E35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AC930-5932-49B4-BB98-40A18941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577B-5C17-4CA5-AE8D-DFB240B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Propón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9BEE4-615D-4EDC-8880-B9EA5F2F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Cambia la regla, la estructura, el flujo o el componente.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A1A94-6A5D-485C-9930-D22E00D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88AE6-A43C-43B1-8AA3-6C65457D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C9F30-5E0B-4ED1-9A00-AECCA93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Justifica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F7D95-8203-45A5-BA25-F2F32E5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Explica el patrón y el costo que aceptas.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F4472-5393-447A-AB79-9516BD60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530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BD0EB-C588-4479-8197-F12BFCB5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310DB-CD0C-4C43-B6EB-DDA8F1E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F19A8-59C2-4797-A0ED-4F77C000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33 / 37</a:t>
            </a:r>
          </a:p>
        </p:txBody>
      </p:sp>
    </p:spTree>
    <p:extLst>
      <p:ext uri="{BB962C8B-B14F-4D97-AF65-F5344CB8AC3E}">
        <p14:creationId xmlns:p14="http://schemas.microsoft.com/office/powerpoint/2010/main" val="13590595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51A86-8203-41CE-9193-51B4A84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ACTIVIDAD EN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EF7E-BDB5-4E5A-899A-E1052C67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entrega es una decisión explicable.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9128C-3C33-4973-838C-8A7C0B5A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No se evalúa solamente el antes y el después: se evalúa la relación entre problema, solución y razón.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362F8-9B84-4D92-9787-6C7C9982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3CE24-09FF-4C04-A917-2F181878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90B10-6131-4D5A-BB24-8ED0CB9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etiqueta “Más” no indica qué hay dentro.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46E5B-42F3-4FC2-8502-7EF5290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CAPA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16471-D6D4-45D1-AFB9-CABE8B4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Arquitectura de la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9EF3A-95AE-485A-9A73-EAB80D0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PROPUESTA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46AE0-2B96-4664-9DCD-85055534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Agrupar por tareas: Cursos, Recursos, Cuenta.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3C759-DD4D-41F3-A702-D95C517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PATRÓN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2E945-FFC9-43F7-9EEE-35B4092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Mediator si los controles de la navegación coordinan estado.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4C5D6-0860-44EA-9C1B-218B728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Pregunta de cierre: ¿qué complejidad introduce tu solución y por qué vale la pena?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F8DB-04AA-4B2A-B4DD-10367BE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9B682-7ADF-44CE-A374-0DB14B6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272B9-A6C2-4C9B-9EF3-581D192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34 / 37</a:t>
            </a:r>
          </a:p>
        </p:txBody>
      </p:sp>
    </p:spTree>
    <p:extLst>
      <p:ext uri="{BB962C8B-B14F-4D97-AF65-F5344CB8AC3E}">
        <p14:creationId xmlns:p14="http://schemas.microsoft.com/office/powerpoint/2010/main" val="18609675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E740C-C8D2-4706-91D1-BB350EE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CIERRE / CONCEPTOS CLAVE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2F544-FE6A-4CBA-A2B4-30F0681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 mejor interfaz hace visible una buena decisión.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C8962-465B-460F-8DF8-EFA45D8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Antes de cerrar, vuelve a las palabras que deben quedar en tu vocabulario de diseño.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B4654-355C-4EEA-829F-43B8CAF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C0611-FE5C-439A-8480-D0B7052F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94C60-B16E-4A20-839E-9C7164A0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385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BEC88-469E-44F2-A702-1C413FBE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1B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6D191-5C8A-45B0-B6CA-D0C8901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Consistencia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7388C-3495-4165-BEEB-A48BC49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385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B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2EFA-2E31-4238-8FE9-FA8FDFF6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0F632-0838-400B-8486-89D7BFB7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Organización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61124-7AA7-459A-8A97-EADD020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385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3C476-5350-44E0-861A-78E29BC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993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F57EA-9F2B-4BCD-AD9A-AA06D88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Experiencia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74C7C-BCF7-4FA1-AE15-70F66F0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53C64-05D2-4D78-9581-7CEA615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33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E0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E0A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DEDD5-2F4A-41AF-993D-78F9141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Interfaz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96C01-7A8B-4C67-AAE7-D3F352F0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910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E0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58D36-F940-42F1-AB57-81282A89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5CAC1-C491-484E-9C97-DFCACCCE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86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Patrones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7E7B8-A660-4039-9D78-FFFC265E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910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D545A-2F5C-4C5C-81C1-1AFB5D1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10029-09D9-4493-A137-9BC566A3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72209-8254-465F-88FF-AE7BDC6E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35 / 37</a:t>
            </a:r>
          </a:p>
        </p:txBody>
      </p:sp>
    </p:spTree>
    <p:extLst>
      <p:ext uri="{BB962C8B-B14F-4D97-AF65-F5344CB8AC3E}">
        <p14:creationId xmlns:p14="http://schemas.microsoft.com/office/powerpoint/2010/main" val="14566076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A139C-E3D6-4CAA-BFD7-0CDEA4F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16B6B"/>
                </a:solidFill>
                <a:latin typeface="Aptos Mono"/>
                <a:ea typeface="Aptos Mono"/>
                <a:cs typeface="Aptos Mono"/>
              </a:rPr>
              <a:t>FORO DE LA SEMANA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72D7-651A-4659-AF64-64DC2503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23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¿Qué problema de una interfaz usas con frecuencia y qué decisión de diseño cambiarías primero?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300EC-FD45-408C-B17F-72A88966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6B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0D630-5059-40CE-A582-83F7EBE5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16B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6B6B"/>
                </a:solidFill>
                <a:latin typeface="Aptos"/>
                <a:ea typeface="Aptos"/>
                <a:cs typeface="Aptos"/>
              </a:rPr>
              <a:t>Para responder, incluye: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4876-DEB2-4E10-AB1E-4D01BFF7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El problema observable.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La capa afectada: IA, UX, UI o catálogo.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La mejora y el patrón, si aplica.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- El costo o riesgo de tu decisión.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467C9-CAC3-454C-9000-4CF3DDB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00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25/08 al 30/08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A0A82-AB4E-4D55-8FC6-4E884E1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AE96-1E14-42A8-93A5-474CEC03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SEMANA 06 / ELEMENTOS DE DISEÑO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3F289-5C9F-41B3-9AE2-F78EF16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36 / 37</a:t>
            </a:r>
          </a:p>
        </p:txBody>
      </p:sp>
    </p:spTree>
    <p:extLst>
      <p:ext uri="{BB962C8B-B14F-4D97-AF65-F5344CB8AC3E}">
        <p14:creationId xmlns:p14="http://schemas.microsoft.com/office/powerpoint/2010/main" val="738065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C856B-0085-4D14-AB20-A08B245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B942"/>
                </a:solidFill>
                <a:latin typeface="Aptos Mono"/>
                <a:ea typeface="Aptos Mono"/>
                <a:cs typeface="Aptos Mono"/>
              </a:rPr>
              <a:t>DUDAS Y COMENTARIOS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30807-30AA-40F0-923F-25A353E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Diseñar es decidir.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8BD8A-6044-48D7-91B3-A5E76387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9B3C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3C0"/>
                </a:solidFill>
                <a:latin typeface="Aptos"/>
                <a:ea typeface="Aptos"/>
                <a:cs typeface="Aptos"/>
              </a:rPr>
              <a:t>Cuando identidad, información, experiencia e interfaz están alineadas, el usuario no necesita pensar en el diseño: puede concentrarse en su tarea.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71DFE-FD6E-49AF-AB29-0B1020F8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01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9FC24-1ABD-41DA-9636-C5899A15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¿Qué parte de tu próxima interfaz quieres hacer más clara?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DAACE-8EE6-4502-8FEA-EA112C9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7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¡Gracias por su atención!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EF370-D814-4B90-891A-19FCFA81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ADS2 · SECCIÓN B · SEMANA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56D4-348F-4E1F-ACB0-3016799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092"/>
                </a:solidFill>
                <a:latin typeface="Aptos Mono"/>
                <a:ea typeface="Aptos Mono"/>
                <a:cs typeface="Aptos Mono"/>
              </a:rPr>
              <a:t>37 / 37</a:t>
            </a:r>
          </a:p>
        </p:txBody>
      </p:sp>
    </p:spTree>
    <p:extLst>
      <p:ext uri="{BB962C8B-B14F-4D97-AF65-F5344CB8AC3E}">
        <p14:creationId xmlns:p14="http://schemas.microsoft.com/office/powerpoint/2010/main" val="1967002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2026-08-19T20:21:32.2550000Z</dcterms:created>
  <dcterms:modified xsi:type="dcterms:W3CDTF">2026-08-19T20:21:32.2550000Z</dcterms:modified>
</coreProperties>
</file>