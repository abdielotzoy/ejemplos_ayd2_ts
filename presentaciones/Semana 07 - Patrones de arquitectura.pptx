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20ec71cd3d449e" /><Relationship Type="http://schemas.openxmlformats.org/officeDocument/2006/relationships/extended-properties" Target="/docProps/app.xml" Id="R799326563ee3420e" /><Relationship Type="http://schemas.openxmlformats.org/officeDocument/2006/relationships/officeDocument" Target="/ppt/presentation.xml" Id="R7dfb60ecd66f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eea79bf7f447cb"/>
  </p:sldMasterIdLst>
  <p:notesMasterIdLst>
    <p:notesMasterId xmlns:r="http://schemas.openxmlformats.org/officeDocument/2006/relationships" r:id="R31419595de784b16"/>
  </p:notesMasterIdLst>
  <p:sldIdLst>
    <p:sldId xmlns:r="http://schemas.openxmlformats.org/officeDocument/2006/relationships" id="256" r:id="R1d5c4dfbc7924c21"/>
    <p:sldId xmlns:r="http://schemas.openxmlformats.org/officeDocument/2006/relationships" id="257" r:id="R2a0b32b54c114769"/>
    <p:sldId xmlns:r="http://schemas.openxmlformats.org/officeDocument/2006/relationships" id="258" r:id="R87775c050fbe44ba"/>
    <p:sldId xmlns:r="http://schemas.openxmlformats.org/officeDocument/2006/relationships" id="259" r:id="Rc206a69c3c99421a"/>
    <p:sldId xmlns:r="http://schemas.openxmlformats.org/officeDocument/2006/relationships" id="260" r:id="Rf70cde61de8d4c74"/>
    <p:sldId xmlns:r="http://schemas.openxmlformats.org/officeDocument/2006/relationships" id="261" r:id="R821bec18d1ed4236"/>
    <p:sldId xmlns:r="http://schemas.openxmlformats.org/officeDocument/2006/relationships" id="262" r:id="R5635a657d47b4416"/>
    <p:sldId xmlns:r="http://schemas.openxmlformats.org/officeDocument/2006/relationships" id="263" r:id="R4199dea7f6284ae7"/>
    <p:sldId xmlns:r="http://schemas.openxmlformats.org/officeDocument/2006/relationships" id="264" r:id="R80ac9eba9c284f98"/>
    <p:sldId xmlns:r="http://schemas.openxmlformats.org/officeDocument/2006/relationships" id="265" r:id="R857d1ce801a14713"/>
    <p:sldId xmlns:r="http://schemas.openxmlformats.org/officeDocument/2006/relationships" id="266" r:id="R8085efe368ff4416"/>
    <p:sldId xmlns:r="http://schemas.openxmlformats.org/officeDocument/2006/relationships" id="267" r:id="R84fc80b815164739"/>
    <p:sldId xmlns:r="http://schemas.openxmlformats.org/officeDocument/2006/relationships" id="268" r:id="Rabd4ae2c2afc4a81"/>
    <p:sldId xmlns:r="http://schemas.openxmlformats.org/officeDocument/2006/relationships" id="269" r:id="R8ca872303a6f42d1"/>
    <p:sldId xmlns:r="http://schemas.openxmlformats.org/officeDocument/2006/relationships" id="270" r:id="Re7378e518ad9432e"/>
    <p:sldId xmlns:r="http://schemas.openxmlformats.org/officeDocument/2006/relationships" id="271" r:id="R673f4884cb37406d"/>
    <p:sldId xmlns:r="http://schemas.openxmlformats.org/officeDocument/2006/relationships" id="272" r:id="R19e4b8794bca48a2"/>
    <p:sldId xmlns:r="http://schemas.openxmlformats.org/officeDocument/2006/relationships" id="273" r:id="R8c4a095c136140b2"/>
    <p:sldId xmlns:r="http://schemas.openxmlformats.org/officeDocument/2006/relationships" id="274" r:id="R1092258a26f34ef8"/>
    <p:sldId xmlns:r="http://schemas.openxmlformats.org/officeDocument/2006/relationships" id="275" r:id="R470104763c9e40f4"/>
    <p:sldId xmlns:r="http://schemas.openxmlformats.org/officeDocument/2006/relationships" id="276" r:id="R641251ac7abe4523"/>
    <p:sldId xmlns:r="http://schemas.openxmlformats.org/officeDocument/2006/relationships" id="277" r:id="R3ccfb03a05b94a84"/>
    <p:sldId xmlns:r="http://schemas.openxmlformats.org/officeDocument/2006/relationships" id="278" r:id="Rf1110d41f6a44048"/>
    <p:sldId xmlns:r="http://schemas.openxmlformats.org/officeDocument/2006/relationships" id="279" r:id="R64e98d4061594d8f"/>
    <p:sldId xmlns:r="http://schemas.openxmlformats.org/officeDocument/2006/relationships" id="280" r:id="Rbb7d5d9dc7c84432"/>
    <p:sldId xmlns:r="http://schemas.openxmlformats.org/officeDocument/2006/relationships" id="281" r:id="Re6c3cab989a0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1aede780d4b04" /><Relationship Type="http://schemas.openxmlformats.org/officeDocument/2006/relationships/slideMaster" Target="/ppt/slideMasters/slideMaster1.xml" Id="R73eea79bf7f447cb" /><Relationship Type="http://schemas.openxmlformats.org/officeDocument/2006/relationships/notesMaster" Target="/ppt/notesMasters/notesMaster1.xml" Id="R31419595de784b16" /><Relationship Type="http://schemas.openxmlformats.org/officeDocument/2006/relationships/presProps" Target="/ppt/presProps.xml" Id="Ra392887870414a16" /><Relationship Type="http://schemas.openxmlformats.org/officeDocument/2006/relationships/tableStyles" Target="/ppt/tableStyles.xml" Id="Re7f8355d92c3466c" /><Relationship Type="http://schemas.openxmlformats.org/officeDocument/2006/relationships/slide" Target="/ppt/slides/slide1.xml" Id="R1d5c4dfbc7924c21" /><Relationship Type="http://schemas.openxmlformats.org/officeDocument/2006/relationships/slide" Target="/ppt/slides/slide2.xml" Id="R2a0b32b54c114769" /><Relationship Type="http://schemas.openxmlformats.org/officeDocument/2006/relationships/slide" Target="/ppt/slides/slide3.xml" Id="R87775c050fbe44ba" /><Relationship Type="http://schemas.openxmlformats.org/officeDocument/2006/relationships/slide" Target="/ppt/slides/slide4.xml" Id="Rc206a69c3c99421a" /><Relationship Type="http://schemas.openxmlformats.org/officeDocument/2006/relationships/slide" Target="/ppt/slides/slide5.xml" Id="Rf70cde61de8d4c74" /><Relationship Type="http://schemas.openxmlformats.org/officeDocument/2006/relationships/slide" Target="/ppt/slides/slide6.xml" Id="R821bec18d1ed4236" /><Relationship Type="http://schemas.openxmlformats.org/officeDocument/2006/relationships/slide" Target="/ppt/slides/slide7.xml" Id="R5635a657d47b4416" /><Relationship Type="http://schemas.openxmlformats.org/officeDocument/2006/relationships/slide" Target="/ppt/slides/slide8.xml" Id="R4199dea7f6284ae7" /><Relationship Type="http://schemas.openxmlformats.org/officeDocument/2006/relationships/slide" Target="/ppt/slides/slide9.xml" Id="R80ac9eba9c284f98" /><Relationship Type="http://schemas.openxmlformats.org/officeDocument/2006/relationships/slide" Target="/ppt/slides/slide10.xml" Id="R857d1ce801a14713" /><Relationship Type="http://schemas.openxmlformats.org/officeDocument/2006/relationships/slide" Target="/ppt/slides/slide11.xml" Id="R8085efe368ff4416" /><Relationship Type="http://schemas.openxmlformats.org/officeDocument/2006/relationships/slide" Target="/ppt/slides/slide12.xml" Id="R84fc80b815164739" /><Relationship Type="http://schemas.openxmlformats.org/officeDocument/2006/relationships/slide" Target="/ppt/slides/slide13.xml" Id="Rabd4ae2c2afc4a81" /><Relationship Type="http://schemas.openxmlformats.org/officeDocument/2006/relationships/slide" Target="/ppt/slides/slide14.xml" Id="R8ca872303a6f42d1" /><Relationship Type="http://schemas.openxmlformats.org/officeDocument/2006/relationships/slide" Target="/ppt/slides/slide15.xml" Id="Re7378e518ad9432e" /><Relationship Type="http://schemas.openxmlformats.org/officeDocument/2006/relationships/slide" Target="/ppt/slides/slide16.xml" Id="R673f4884cb37406d" /><Relationship Type="http://schemas.openxmlformats.org/officeDocument/2006/relationships/slide" Target="/ppt/slides/slide17.xml" Id="R19e4b8794bca48a2" /><Relationship Type="http://schemas.openxmlformats.org/officeDocument/2006/relationships/slide" Target="/ppt/slides/slide18.xml" Id="R8c4a095c136140b2" /><Relationship Type="http://schemas.openxmlformats.org/officeDocument/2006/relationships/slide" Target="/ppt/slides/slide19.xml" Id="R1092258a26f34ef8" /><Relationship Type="http://schemas.openxmlformats.org/officeDocument/2006/relationships/slide" Target="/ppt/slides/slide20.xml" Id="R470104763c9e40f4" /><Relationship Type="http://schemas.openxmlformats.org/officeDocument/2006/relationships/slide" Target="/ppt/slides/slide21.xml" Id="R641251ac7abe4523" /><Relationship Type="http://schemas.openxmlformats.org/officeDocument/2006/relationships/slide" Target="/ppt/slides/slide22.xml" Id="R3ccfb03a05b94a84" /><Relationship Type="http://schemas.openxmlformats.org/officeDocument/2006/relationships/slide" Target="/ppt/slides/slide23.xml" Id="Rf1110d41f6a44048" /><Relationship Type="http://schemas.openxmlformats.org/officeDocument/2006/relationships/slide" Target="/ppt/slides/slide24.xml" Id="R64e98d4061594d8f" /><Relationship Type="http://schemas.openxmlformats.org/officeDocument/2006/relationships/slide" Target="/ppt/slides/slide25.xml" Id="Rbb7d5d9dc7c84432" /><Relationship Type="http://schemas.openxmlformats.org/officeDocument/2006/relationships/slide" Target="/ppt/slides/slide26.xml" Id="Re6c3cab989a0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2494ba6af944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324cb9894f4f49" /><Relationship Type="http://schemas.openxmlformats.org/officeDocument/2006/relationships/notesMaster" Target="/ppt/notesMasters/notesMaster1.xml" Id="Ra7b9d78c8529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7f53eeab6147df" /><Relationship Type="http://schemas.openxmlformats.org/officeDocument/2006/relationships/notesMaster" Target="/ppt/notesMasters/notesMaster1.xml" Id="R9cb73ea49ac1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567f1b3a64700" /><Relationship Type="http://schemas.openxmlformats.org/officeDocument/2006/relationships/notesMaster" Target="/ppt/notesMasters/notesMaster1.xml" Id="R85be6c6d6e9142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56f17071954300" /><Relationship Type="http://schemas.openxmlformats.org/officeDocument/2006/relationships/notesMaster" Target="/ppt/notesMasters/notesMaster1.xml" Id="R8a7dfef5d72740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bcf052cfa843c0" /><Relationship Type="http://schemas.openxmlformats.org/officeDocument/2006/relationships/notesMaster" Target="/ppt/notesMasters/notesMaster1.xml" Id="Rc90af88e3865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72cffdb1bf45bd" /><Relationship Type="http://schemas.openxmlformats.org/officeDocument/2006/relationships/notesMaster" Target="/ppt/notesMasters/notesMaster1.xml" Id="Recbacb6b9b914c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d9f77fb9844432" /><Relationship Type="http://schemas.openxmlformats.org/officeDocument/2006/relationships/notesMaster" Target="/ppt/notesMasters/notesMaster1.xml" Id="Raf346b68cebf45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71e69032194fef" /><Relationship Type="http://schemas.openxmlformats.org/officeDocument/2006/relationships/notesMaster" Target="/ppt/notesMasters/notesMaster1.xml" Id="R6de10793f99d48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646673f67343da" /><Relationship Type="http://schemas.openxmlformats.org/officeDocument/2006/relationships/notesMaster" Target="/ppt/notesMasters/notesMaster1.xml" Id="R8bc0ccd89cee4b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c179190afe4950" /><Relationship Type="http://schemas.openxmlformats.org/officeDocument/2006/relationships/notesMaster" Target="/ppt/notesMasters/notesMaster1.xml" Id="R7d84cf8a61c647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d4d6441968440c" /><Relationship Type="http://schemas.openxmlformats.org/officeDocument/2006/relationships/notesMaster" Target="/ppt/notesMasters/notesMaster1.xml" Id="R5aad2b263a9944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648dd38a6e4981" /><Relationship Type="http://schemas.openxmlformats.org/officeDocument/2006/relationships/notesMaster" Target="/ppt/notesMasters/notesMaster1.xml" Id="R3610bfef478649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5433c22b814bc4" /><Relationship Type="http://schemas.openxmlformats.org/officeDocument/2006/relationships/notesMaster" Target="/ppt/notesMasters/notesMaster1.xml" Id="Rf6d9f4c63d9e49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81b0000e4e4e00" /><Relationship Type="http://schemas.openxmlformats.org/officeDocument/2006/relationships/notesMaster" Target="/ppt/notesMasters/notesMaster1.xml" Id="R3a21e186152f49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7bf25fdc9b4083" /><Relationship Type="http://schemas.openxmlformats.org/officeDocument/2006/relationships/notesMaster" Target="/ppt/notesMasters/notesMaster1.xml" Id="Rd79d223b8ab54f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72d0553cae4a23" /><Relationship Type="http://schemas.openxmlformats.org/officeDocument/2006/relationships/notesMaster" Target="/ppt/notesMasters/notesMaster1.xml" Id="R35ba9b24e5af4e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4e803304ca4494" /><Relationship Type="http://schemas.openxmlformats.org/officeDocument/2006/relationships/notesMaster" Target="/ppt/notesMasters/notesMaster1.xml" Id="Re90f76861d554a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3671cd625f4380" /><Relationship Type="http://schemas.openxmlformats.org/officeDocument/2006/relationships/notesMaster" Target="/ppt/notesMasters/notesMaster1.xml" Id="Rd62c9c9d5ac848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58cfe45e1b4459" /><Relationship Type="http://schemas.openxmlformats.org/officeDocument/2006/relationships/notesMaster" Target="/ppt/notesMasters/notesMaster1.xml" Id="Rf7a916d224ff40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db41f38e5c4761" /><Relationship Type="http://schemas.openxmlformats.org/officeDocument/2006/relationships/notesMaster" Target="/ppt/notesMasters/notesMaster1.xml" Id="R419f50c81a5640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1723eedfbc4716" /><Relationship Type="http://schemas.openxmlformats.org/officeDocument/2006/relationships/notesMaster" Target="/ppt/notesMasters/notesMaster1.xml" Id="R5edeb576025f47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eeb3716b4443cc" /><Relationship Type="http://schemas.openxmlformats.org/officeDocument/2006/relationships/notesMaster" Target="/ppt/notesMasters/notesMaster1.xml" Id="Rc6031bce1bda43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30a5920b474053" /><Relationship Type="http://schemas.openxmlformats.org/officeDocument/2006/relationships/notesMaster" Target="/ppt/notesMasters/notesMaster1.xml" Id="Ra3a57e714318432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0707c4b7154cb2" /><Relationship Type="http://schemas.openxmlformats.org/officeDocument/2006/relationships/notesMaster" Target="/ppt/notesMasters/notesMaster1.xml" Id="Rb1444a77cb7f4f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b9ee6af4a4454c" /><Relationship Type="http://schemas.openxmlformats.org/officeDocument/2006/relationships/notesMaster" Target="/ppt/notesMasters/notesMaster1.xml" Id="Re4dca3de5f5a4d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7aa0630c7643f8" /><Relationship Type="http://schemas.openxmlformats.org/officeDocument/2006/relationships/notesMaster" Target="/ppt/notesMasters/notesMaster1.xml" Id="Re7587d4a77fc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Apertura: presentar la sesión y conectar el tema con el proyecto. La meta no es memorizar etiquetas, sino reconocer qué problema resuelve cada estilo y justificar los costos.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secuencia sin detenerse todavía en el contenido técnico. Anticipar que los tres primeros puntos serán documentos mostrados en vivo.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Agenda proporcionada por el docente para esta sesión.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Pausa para mostrar los tres documentos. Esta diapositiva solo funciona como señal de navegación: no sustituye la lectura de la hoja, el enunciado ni los horarios.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proporcionado por el docente durante la clase.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con las semanas anteriores: un patrón de diseño organiza colaboraciones locales; un patrón de arquitectura decide relaciones de mayor alcance. La arquitectura debe responder a requisitos y restricciones, no a preferencias estéticas.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las tres preguntas como mapa mental. Pedir a la clase que imagine un sistema académico y anticipe qué parte podría estar centrada en datos, en flujo o en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repositorio no es solo una base de datos: es el punto alrededor del cual se organizan los consumidores. Preguntar qué ocurre si cada consumidor interpreta el esquema de forma distinta.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Bass, Clements y Kazman, Software Architecture in Practice, 4.ª ed. — estilos arquitectónicos y atributos de calidad.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intuición de Pipes and Filters: cada filtro conoce su entrada y salida, no toda la cadena. Destacar que la independencia mejora la composición, pero obliga a pensar en idempotencia, errores y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Pipes and Filters pattern: https://learn.microsoft.com/en-us/azure/architecture/patterns/pipes-and-filters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EDA con el vocabulario productor–evento–consumidor. Aclarar que el evento no tiene por qué ser una orden; es un hecho que otros componentes pueden observar. Introducir consistencia eventual como costo de distribuir el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Event-driven architecture style: https://learn.microsoft.com/en-us/azure/architecture/guide/architecture-styles/event-driven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comparación para evitar tratar EDA como otro nombre de cualquier pipeline. Un pipeline describe etapas de transformación; EDA describe comunicación basada en hechos y reacciones.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Pipes and Filters pattern: https://learn.microsoft.com/en-us/azure/architecture/patterns/pipes-and-filters</a:t>
            </a:r>
          </a:p>
          <a:p xmlns:a="http://schemas.openxmlformats.org/drawingml/2006/main">
            <a:r>
              <a:t>- Microsoft Learn — Event-driven architecture style: https://learn.microsoft.com/en-us/azure/architecture/guide/architecture-styles/event-driven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el nivel empresarial: ya no basta con organizar módulos dentro de una aplicación; hay que definir cómo colaboran sistemas y dominios con ownership distintos. Presentar SOA y EDA como estilos complementarios de integración.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SOA no es sinónimo de SOAP, ESB ni una plataforma concreta. El núcleo es organizar y utilizar capacidades distribuidas mediante servicios y contratos.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desde la pregunta que cada estilo responde. Mostrar que una operación síncrona puede usar SOA y que el hecho resultante puede publicarse como evento; no son decisiones mutuamente excluyentes.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  <a:p xmlns:a="http://schemas.openxmlformats.org/drawingml/2006/main">
            <a:r>
              <a:t>- Microsoft Learn — Event-driven architecture style: https://learn.microsoft.com/en-us/azure/architecture/guide/architecture-styles/event-driven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el sistema académico como ejemplo ilustrativo, no como requisito del proyecto. Señalar que un sistema puede conservar datos de forma centralizada, procesar reportes con un flujo, publicar eventos y exponer servicios al mismo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Event-driven architecture style: https://learn.microsoft.com/en-us/azure/architecture/guide/architecture-styles/event-driven</a:t>
            </a:r>
          </a:p>
          <a:p xmlns:a="http://schemas.openxmlformats.org/drawingml/2006/main">
            <a:r>
              <a:t>- Microsoft Learn — Pipes and Filters pattern: https://learn.microsoft.com/en-us/azure/architecture/patterns/pipes-and-filters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Convertir la tabla en una conversación: para cada fila pedir un ejemplo y una consecuencia. Recordar que las restricciones de calidad —simplicidad, fiabilidad, escalabilidad, evolución— deben orientar la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Profundizar en que el repositorio es también un contrato: define el esquema, la consistencia y las reglas de acceso. Preguntar cómo se haría una migración sin romper los consumidores.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Profundizar en Pipes and Filters. Cada etapa debe ser clara sobre su contrato y su comportamiento ante errores. Resaltar que la independencia de filtros no elimina la necesidad de observar toda la cadena.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Pipes and Filters pattern: https://learn.microsoft.com/en-us/azure/architecture/patterns/pipes-and-filters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evento, comando, mensaje y stream. La distinción ayuda a decidir si el productor espera una respuesta, si hay un destinatario concreto y qué garantías de orden o replay se necesitan.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Event-driven architecture style: https://learn.microsoft.com/en-us/azure/architecture/guide/architecture-styles/event-driven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Profundizar en el contrato como parte de la arquitectura: operaciones, datos, errores, políticas, versionado y retiro. Aclarar que SOA no obliga a una tecnología de transporte específica.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sección como evidencia para discutir trade-offs, no como ranking de empresas. Aclarar que los casos son ejemplos públicos de componentes o capacidades concretas.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Netflix Technology Blog — Keystone Real-time Stream Processing Platform: https://netflixtechblog.com/keystone-real-time-stream-processing-platform-a3ee651812a</a:t>
            </a:r>
          </a:p>
          <a:p xmlns:a="http://schemas.openxmlformats.org/drawingml/2006/main">
            <a:r>
              <a:t>- Uber Engineering — Introducing Domain-Oriented Microservice Architecture: https://www.uber.com/us/en/blog/microservice-architecture/</a:t>
            </a:r>
          </a:p>
          <a:p xmlns:a="http://schemas.openxmlformats.org/drawingml/2006/main">
            <a:r>
              <a:t>- LinkedIn Engineering — Streams &amp; Stream Processing: https://engineering.linkedin.com/teams/data/data-infrastructure/streams-streams-processing</a:t>
            </a:r>
          </a:p>
          <a:p xmlns:a="http://schemas.openxmlformats.org/drawingml/2006/main">
            <a:r>
              <a:t>- Spotify Engineering — Data Platform Explained Part II: https://engineering.atspotify.com/2024/05/data-platform-explained-part-ii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Netflix para mostrar la combinación de EDA y flujo: los eventos se transportan, enrutan, procesan y entregan a sinks. No presentar a Netflix como una arquitectura monolítica única; el caso es Keystone.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Netflix Technology Blog — Keystone Real-time Stream Processing Platform: https://netflixtechblog.com/keystone-real-time-stream-processing-platform-a3ee651812a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Uber con SOA y arquitectura empresarial: la compañía documentó la transición a servicios para mejorar despliegues, separación de responsabilidades y ownership; después describió DOMA para ordenar dominios, gateways y dependencias.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Uber Engineering — Service-Oriented Architecture: https://www.uber.com/qa/en/blog/service-oriented-architecture/</a:t>
            </a:r>
          </a:p>
          <a:p xmlns:a="http://schemas.openxmlformats.org/drawingml/2006/main">
            <a:r>
              <a:t>- Uber Engineering — Introducing Domain-Oriented Microservice Architecture: https://www.uber.com/us/en/blog/microservice-architecture/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LinkedIn para explicar que un broker puede ser más que transporte: tópicos particionados permiten consumo paralelo y la plataforma combina captura de cambios (Datastream), Kafka y procesamiento (Samza). La cifra es la reportada en la página oficial consultada.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LinkedIn Engineering — Streams &amp; Stream Processing: https://engineering.linkedin.com/teams/data/data-infrastructure/streams-streams-processing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Spotify para mostrar un híbrido: entrega de eventos y Pub/Sub, procesamiento por etapas y datasets centralizados. El caso también permite discutir la tensión entre latencia, completitud, esquemas y gobierno.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Spotify Engineering — Spotify’s Event Delivery: https://engineering.atspotify.com/2016/02/spotifys-event-delivery-road-to-the-cloud-part-i</a:t>
            </a:r>
          </a:p>
          <a:p xmlns:a="http://schemas.openxmlformats.org/drawingml/2006/main">
            <a:r>
              <a:t>- Spotify Engineering — Data Platform Explained Part II: https://engineering.atspotify.com/2024/05/data-platform-explained-part-ii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la sección comparando las motivaciones y los costos. Preguntar qué trade-off sería aceptable para un proyecto académico y cuál sería innecesario.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Netflix Technology Blog — Keystone Real-time Stream Processing Platform: https://netflixtechblog.com/keystone-real-time-stream-processing-platform-a3ee651812a</a:t>
            </a:r>
          </a:p>
          <a:p xmlns:a="http://schemas.openxmlformats.org/drawingml/2006/main">
            <a:r>
              <a:t>- Uber Engineering — Service-Oriented Architecture: https://www.uber.com/qa/en/blog/service-oriented-architecture/</a:t>
            </a:r>
          </a:p>
          <a:p xmlns:a="http://schemas.openxmlformats.org/drawingml/2006/main">
            <a:r>
              <a:t>- Uber Engineering — Introducing Domain-Oriented Microservice Architecture: https://www.uber.com/us/en/blog/microservice-architecture/</a:t>
            </a:r>
          </a:p>
          <a:p xmlns:a="http://schemas.openxmlformats.org/drawingml/2006/main">
            <a:r>
              <a:t>- LinkedIn Engineering — Streams &amp; Stream Processing: https://engineering.linkedin.com/teams/data/data-infrastructure/streams-streams-processing</a:t>
            </a:r>
          </a:p>
          <a:p xmlns:a="http://schemas.openxmlformats.org/drawingml/2006/main">
            <a:r>
              <a:t>- Spotify Engineering — Data Platform Explained Part II: https://engineering.atspotify.com/2024/05/data-platform-explained-part-ii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Estas preguntas sirven como guía de análisis para la Fase 2, pero no sustituyen el enunciado oficial. Pedir que cada equipo las use para revisar su propuesta y preparar una justificación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Preguntas de aplicación elaboradas para esta sesión a partir de los patrones explicados.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los tres ejes y dejar visible el recordatorio de completar la evaluación docente. Verificar que el grupo sepa cuál es su siguiente acción sobre la Fase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Architecture Styles: https://learn.microsoft.com/en-gb/azure/architecture/guide/architecture-styles/</a:t>
            </a:r>
          </a:p>
          <a:p xmlns:a="http://schemas.openxmlformats.org/drawingml/2006/main">
            <a:r>
              <a:t>- OASIS — Reference Model for Service Oriented Architecture 1.0: https://docs.oasis-open.org/soa-rm/v1.0/soa-rm.html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b2626170f46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5725d3e0c4ed3" /><Relationship Type="http://schemas.openxmlformats.org/officeDocument/2006/relationships/slideLayout" Target="/ppt/slideLayouts/slideLayout1.xml" Id="Rbf380c813e7b49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380c813e7b49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25280cf03462f" /><Relationship Type="http://schemas.openxmlformats.org/officeDocument/2006/relationships/notesSlide" Target="/ppt/notesSlides/notesSlide1.xml" Id="R230714e3530b4a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5a1fbf61e4ca6" /><Relationship Type="http://schemas.openxmlformats.org/officeDocument/2006/relationships/notesSlide" Target="/ppt/notesSlides/notesSlide2.xml" Id="Raa81aa7540e449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1daa581374ef6" /><Relationship Type="http://schemas.openxmlformats.org/officeDocument/2006/relationships/notesSlide" Target="/ppt/notesSlides/notesSlide3.xml" Id="R8b872deed11547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14e1d96c24ab2" /><Relationship Type="http://schemas.openxmlformats.org/officeDocument/2006/relationships/notesSlide" Target="/ppt/notesSlides/notesSlide4.xml" Id="R97d5dde682f54f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bb1dc0b7a4a01" /><Relationship Type="http://schemas.openxmlformats.org/officeDocument/2006/relationships/notesSlide" Target="/ppt/notesSlides/notesSlide5.xml" Id="R634e51f1293b4b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965f855d74fd7" /><Relationship Type="http://schemas.openxmlformats.org/officeDocument/2006/relationships/notesSlide" Target="/ppt/notesSlides/notesSlide6.xml" Id="R825f102c4d86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e30f446b24354" /><Relationship Type="http://schemas.openxmlformats.org/officeDocument/2006/relationships/notesSlide" Target="/ppt/notesSlides/notesSlide7.xml" Id="Rb09fa153249743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a69f260554e50" /><Relationship Type="http://schemas.openxmlformats.org/officeDocument/2006/relationships/notesSlide" Target="/ppt/notesSlides/notesSlide8.xml" Id="R6df10e080f80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2f36deeb94149" /><Relationship Type="http://schemas.openxmlformats.org/officeDocument/2006/relationships/notesSlide" Target="/ppt/notesSlides/notesSlide9.xml" Id="Rc63c666183084e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410fad7e84163" /><Relationship Type="http://schemas.openxmlformats.org/officeDocument/2006/relationships/notesSlide" Target="/ppt/notesSlides/notesSlide10.xml" Id="R290d37a89e6d48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9cabc9bf44d47" /><Relationship Type="http://schemas.openxmlformats.org/officeDocument/2006/relationships/notesSlide" Target="/ppt/notesSlides/notesSlide11.xml" Id="R26188f38232943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3e7a3cf954be6" /><Relationship Type="http://schemas.openxmlformats.org/officeDocument/2006/relationships/notesSlide" Target="/ppt/notesSlides/notesSlide12.xml" Id="R8105e362fe9c4b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c38a54b6044a9" /><Relationship Type="http://schemas.openxmlformats.org/officeDocument/2006/relationships/notesSlide" Target="/ppt/notesSlides/notesSlide13.xml" Id="R49b4de729e3f45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f0ae4eb3a42d2" /><Relationship Type="http://schemas.openxmlformats.org/officeDocument/2006/relationships/notesSlide" Target="/ppt/notesSlides/notesSlide14.xml" Id="R4af4c5ce0ead41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a42b5fde40b9" /><Relationship Type="http://schemas.openxmlformats.org/officeDocument/2006/relationships/notesSlide" Target="/ppt/notesSlides/notesSlide15.xml" Id="R238159c245b94d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49c2f780046c8" /><Relationship Type="http://schemas.openxmlformats.org/officeDocument/2006/relationships/notesSlide" Target="/ppt/notesSlides/notesSlide16.xml" Id="Ree3ab7a9918f44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cff9993d1400d" /><Relationship Type="http://schemas.openxmlformats.org/officeDocument/2006/relationships/notesSlide" Target="/ppt/notesSlides/notesSlide17.xml" Id="R8cb97f4d4be048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682bc1efe4520" /><Relationship Type="http://schemas.openxmlformats.org/officeDocument/2006/relationships/notesSlide" Target="/ppt/notesSlides/notesSlide18.xml" Id="R67bafb983f424a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d031873c84567" /><Relationship Type="http://schemas.openxmlformats.org/officeDocument/2006/relationships/notesSlide" Target="/ppt/notesSlides/notesSlide19.xml" Id="R08f85d6f49f74a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96da4994b4dd9" /><Relationship Type="http://schemas.openxmlformats.org/officeDocument/2006/relationships/notesSlide" Target="/ppt/notesSlides/notesSlide20.xml" Id="Rc487bafaa0cb49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8fc9c28eb4407" /><Relationship Type="http://schemas.openxmlformats.org/officeDocument/2006/relationships/notesSlide" Target="/ppt/notesSlides/notesSlide21.xml" Id="Rd3592a8a94f84c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1c6d5f65f49e9" /><Relationship Type="http://schemas.openxmlformats.org/officeDocument/2006/relationships/notesSlide" Target="/ppt/notesSlides/notesSlide22.xml" Id="Rf25965a34f9b42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cafa4245646c0" /><Relationship Type="http://schemas.openxmlformats.org/officeDocument/2006/relationships/notesSlide" Target="/ppt/notesSlides/notesSlide23.xml" Id="Rd7f6b92b1f8240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bb771fde34c41" /><Relationship Type="http://schemas.openxmlformats.org/officeDocument/2006/relationships/notesSlide" Target="/ppt/notesSlides/notesSlide24.xml" Id="Rf8b6cdd44bf048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8a4949e854804" /><Relationship Type="http://schemas.openxmlformats.org/officeDocument/2006/relationships/notesSlide" Target="/ppt/notesSlides/notesSlide25.xml" Id="Rb74c41ee41184e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9a985a3dc41e5" /><Relationship Type="http://schemas.openxmlformats.org/officeDocument/2006/relationships/notesSlide" Target="/ppt/notesSlides/notesSlide26.xml" Id="R9e0fc30e18eb45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super">
            <a:extLst xmlns:a="http://schemas.openxmlformats.org/drawingml/2006/main">
              <a:ext uri="{FF2B5EF4-FFF2-40B4-BE49-F238E27FC236}">
                <a16:creationId xmlns:a16="http://schemas.microsoft.com/office/drawing/2014/main" id="{C4EDD9AD-A7A4-44C0-8EAD-24F2EE05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ANÁLISIS Y DISEÑO DE SISTEMAS 2 · SECCIÓN B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6B1307-C8A0-4F27-B0C5-A40680E4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85925"/>
            <a:ext cx="9429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Patrones de</a:t>
            </a:r>
          </a:p>
          <a:p xmlns:a="http://schemas.openxmlformats.org/drawingml/2006/main">
            <a:pPr algn="l">
              <a:defRPr sz="5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arquitectura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9466007-3C45-4C96-BA9A-135EB1FA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29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43749BF-A4F9-42A8-A873-E3F2C975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863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Cómo organizar datos, flujos, eventos e integraciones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para tomar decisiones arquitectónicas con criterio.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FA467CAF-76A2-410D-9E2D-14095757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817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Jueves 27 de agosto de 2026 · 17:20</a:t>
            </a:r>
          </a:p>
          <a:p xmlns:a="http://schemas.openxmlformats.org/drawingml/2006/main">
            <a:pPr algn="l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Abdiel Fernando José Otzoy Otzín</a:t>
            </a:r>
          </a:p>
        </p:txBody>
      </p:sp>
      <p:sp>
        <p:nvSpPr>
          <p:cNvPr id="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15BA98E6-799A-40D6-B578-C8EC6DE7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3073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2">
            <a:extLst xmlns:a="http://schemas.openxmlformats.org/drawingml/2006/main">
              <a:ext uri="{FF2B5EF4-FFF2-40B4-BE49-F238E27FC236}">
                <a16:creationId xmlns:a16="http://schemas.microsoft.com/office/drawing/2014/main" id="{99774BF2-DFB5-4A4D-BEA4-092DA74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RUTA DE LA SESIÓN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0197ACD-F501-4324-AE05-8CB53D48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Agenda de hoy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C7D8A630-DA0D-4E47-8035-7BC71651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E4FD02EA-1659-4835-8327-D64ACE9D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RUTA DE LA SESIÓN</a:t>
            </a:r>
          </a:p>
        </p:txBody>
      </p:sp>
      <p:sp>
        <p:nvSpPr>
          <p:cNvPr id="5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898B0832-FC10-4B34-B6AA-5CA768FF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agenda-lead">
            <a:extLst xmlns:a="http://schemas.openxmlformats.org/drawingml/2006/main">
              <a:ext uri="{FF2B5EF4-FFF2-40B4-BE49-F238E27FC236}">
                <a16:creationId xmlns:a16="http://schemas.microsoft.com/office/drawing/2014/main" id="{EC7374C9-1E4E-4EB0-BAC2-F99BBEAC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9436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Primero despejamos las decisiones del proyecto; después usamos la arquitectura para pensar mejor la Fase 2.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393668" y="2038350"/>
          <a:ext xmlns:a="http://schemas.openxmlformats.org/drawingml/2006/main" cx="11404664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14400"/>
                <a:gridCol w="10490264"/>
              </a:tblGrid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0F1F3"/>
                    </a:solidFill>
                  </a:tcPr>
                </a:tc>
                <a:tc>
                  <a:txBody>
                    <a:bodyPr lIns="13335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Hoja de calificación de la Fase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F0F1F3"/>
                    </a:solidFill>
                  </a:tcPr>
                </a:tc>
                <a:tc>
                  <a:txBody>
                    <a:bodyPr lIns="13335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Enunciado de la Fase 2 del proyecto</a:t>
                      </a:r>
                    </a:p>
                  </a:txBody>
                  <a:tcPr marL="91440" marR="91440" marT="45720" marB="45720" anchor="ctr">
                    <a:solidFill>
                      <a:srgbClr val="F0F1F3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0F1F3"/>
                    </a:solidFill>
                  </a:tcPr>
                </a:tc>
                <a:tc>
                  <a:txBody>
                    <a:bodyPr lIns="13335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Horarios para la calificación de la Fase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3D8DFF"/>
                    </a:solidFill>
                  </a:tcPr>
                </a:tc>
                <a:tc>
                  <a:txBody>
                    <a:bodyPr lIns="13335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Patrones de arquitectura y casos empresariales</a:t>
                      </a:r>
                    </a:p>
                  </a:txBody>
                  <a:tcPr marL="91440" marR="91440" marT="45720" marB="45720" anchor="ctr">
                    <a:solidFill>
                      <a:srgbClr val="EAF5FB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0F1F3"/>
                    </a:solidFill>
                  </a:tcPr>
                </a:tc>
                <a:tc>
                  <a:txBody>
                    <a:bodyPr lIns="13335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Evaluación docente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078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D7A73F56-D355-4A32-B7DB-EFFCE291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AVISOS DEL PROYECTO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B2EE94C-6F15-43CD-9D80-A0007E69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Primero, resolvemos lo académico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F920699-8FFC-42CA-9C46-DB756F3D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18F9799E-A06A-4918-8EA0-52109425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AVISOS DEL PROYECTO</a:t>
            </a:r>
          </a:p>
        </p:txBody>
      </p:sp>
      <p:sp>
        <p:nvSpPr>
          <p:cNvPr id="5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F72656E2-A14F-4AEB-8975-D3D5C893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notices-intro">
            <a:extLst xmlns:a="http://schemas.openxmlformats.org/drawingml/2006/main">
              <a:ext uri="{FF2B5EF4-FFF2-40B4-BE49-F238E27FC236}">
                <a16:creationId xmlns:a16="http://schemas.microsoft.com/office/drawing/2014/main" id="{9275BF57-17BE-4C97-9E4E-CF24BE8B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621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Abriremos cada documento y lo revisaremos juntos.</a:t>
            </a:r>
          </a:p>
        </p:txBody>
      </p:sp>
      <p:sp>
        <p:nvSpPr>
          <p:cNvPr id="7" name="notice-1-number">
            <a:extLst xmlns:a="http://schemas.openxmlformats.org/drawingml/2006/main">
              <a:ext uri="{FF2B5EF4-FFF2-40B4-BE49-F238E27FC236}">
                <a16:creationId xmlns:a16="http://schemas.microsoft.com/office/drawing/2014/main" id="{D29F5672-934B-4BA2-8368-6573700E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notice-1-text">
            <a:extLst xmlns:a="http://schemas.openxmlformats.org/drawingml/2006/main">
              <a:ext uri="{FF2B5EF4-FFF2-40B4-BE49-F238E27FC236}">
                <a16:creationId xmlns:a16="http://schemas.microsoft.com/office/drawing/2014/main" id="{BFD3C8E7-2212-4B40-A801-F56B41B8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Hoja de calificación de la Fase 1</a:t>
            </a:r>
          </a:p>
        </p:txBody>
      </p:sp>
      <p:sp>
        <p:nvSpPr>
          <p:cNvPr id="9" name="notice-1-rule">
            <a:extLst xmlns:a="http://schemas.openxmlformats.org/drawingml/2006/main">
              <a:ext uri="{FF2B5EF4-FFF2-40B4-BE49-F238E27FC236}">
                <a16:creationId xmlns:a16="http://schemas.microsoft.com/office/drawing/2014/main" id="{10A1CD09-2435-4DC6-96CD-514000B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ice-2-number">
            <a:extLst xmlns:a="http://schemas.openxmlformats.org/drawingml/2006/main">
              <a:ext uri="{FF2B5EF4-FFF2-40B4-BE49-F238E27FC236}">
                <a16:creationId xmlns:a16="http://schemas.microsoft.com/office/drawing/2014/main" id="{7A83A599-372C-40F0-9174-B0E2D81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notice-2-text">
            <a:extLst xmlns:a="http://schemas.openxmlformats.org/drawingml/2006/main">
              <a:ext uri="{FF2B5EF4-FFF2-40B4-BE49-F238E27FC236}">
                <a16:creationId xmlns:a16="http://schemas.microsoft.com/office/drawing/2014/main" id="{19A17DDF-D418-4ED8-9C6D-7601C88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Enunciado de la Fase 2 del proyecto</a:t>
            </a:r>
          </a:p>
        </p:txBody>
      </p:sp>
      <p:sp>
        <p:nvSpPr>
          <p:cNvPr id="12" name="notice-2-rule">
            <a:extLst xmlns:a="http://schemas.openxmlformats.org/drawingml/2006/main">
              <a:ext uri="{FF2B5EF4-FFF2-40B4-BE49-F238E27FC236}">
                <a16:creationId xmlns:a16="http://schemas.microsoft.com/office/drawing/2014/main" id="{728F33EC-6803-49FD-B4F1-87BB3731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tice-3-number">
            <a:extLst xmlns:a="http://schemas.openxmlformats.org/drawingml/2006/main">
              <a:ext uri="{FF2B5EF4-FFF2-40B4-BE49-F238E27FC236}">
                <a16:creationId xmlns:a16="http://schemas.microsoft.com/office/drawing/2014/main" id="{598B0488-08E8-4A7A-AA96-32555231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notice-3-text">
            <a:extLst xmlns:a="http://schemas.openxmlformats.org/drawingml/2006/main">
              <a:ext uri="{FF2B5EF4-FFF2-40B4-BE49-F238E27FC236}">
                <a16:creationId xmlns:a16="http://schemas.microsoft.com/office/drawing/2014/main" id="{65491D0A-5B15-415A-A0F6-76EA1F4B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Horarios para la calificación de la Fase 1</a:t>
            </a:r>
          </a:p>
        </p:txBody>
      </p:sp>
      <p:sp>
        <p:nvSpPr>
          <p:cNvPr id="15" name="notice-3-rule">
            <a:extLst xmlns:a="http://schemas.openxmlformats.org/drawingml/2006/main">
              <a:ext uri="{FF2B5EF4-FFF2-40B4-BE49-F238E27FC236}">
                <a16:creationId xmlns:a16="http://schemas.microsoft.com/office/drawing/2014/main" id="{4040C7B7-7671-4491-A559-423D65B1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401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4">
            <a:extLst xmlns:a="http://schemas.openxmlformats.org/drawingml/2006/main">
              <a:ext uri="{FF2B5EF4-FFF2-40B4-BE49-F238E27FC236}">
                <a16:creationId xmlns:a16="http://schemas.microsoft.com/office/drawing/2014/main" id="{0CD6B44A-9CC3-493B-AAD7-6AF8611A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58DF9AB-B580-4A21-8B63-A96A8907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arquitectura decide la forma del sistema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2C603A60-D974-49F1-A298-10A2500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297D7592-E55E-452B-A0E9-88629F5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BF7D358E-90A1-4EDA-A69D-7ED6F9C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definition-lead">
            <a:extLst xmlns:a="http://schemas.openxmlformats.org/drawingml/2006/main">
              <a:ext uri="{FF2B5EF4-FFF2-40B4-BE49-F238E27FC236}">
                <a16:creationId xmlns:a16="http://schemas.microsoft.com/office/drawing/2014/main" id="{5A8605FA-5F57-4445-9718-3AFAF4C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85925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es un dibujo bonito: es un conjunto de decisiones que limita y habilita opciones.</a:t>
            </a:r>
          </a:p>
        </p:txBody>
      </p:sp>
      <p:sp>
        <p:nvSpPr>
          <p:cNvPr id="7" name="definition-divider">
            <a:extLst xmlns:a="http://schemas.openxmlformats.org/drawingml/2006/main">
              <a:ext uri="{FF2B5EF4-FFF2-40B4-BE49-F238E27FC236}">
                <a16:creationId xmlns:a16="http://schemas.microsoft.com/office/drawing/2014/main" id="{787AA827-1E3A-43DE-AB02-79A4FA6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952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finition-architecture-label">
            <a:extLst xmlns:a="http://schemas.openxmlformats.org/drawingml/2006/main">
              <a:ext uri="{FF2B5EF4-FFF2-40B4-BE49-F238E27FC236}">
                <a16:creationId xmlns:a16="http://schemas.microsoft.com/office/drawing/2014/main" id="{D2E7DFBC-3E5D-4F07-BB51-42A75351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71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ARQUITECTURA</a:t>
            </a:r>
          </a:p>
        </p:txBody>
      </p:sp>
      <p:sp>
        <p:nvSpPr>
          <p:cNvPr id="9" name="definition-architecture">
            <a:extLst xmlns:a="http://schemas.openxmlformats.org/drawingml/2006/main">
              <a:ext uri="{FF2B5EF4-FFF2-40B4-BE49-F238E27FC236}">
                <a16:creationId xmlns:a16="http://schemas.microsoft.com/office/drawing/2014/main" id="{1FE069CC-3A65-4F41-8259-B71E4675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Estructura global, relaciones y restricciones del sistema.</a:t>
            </a:r>
          </a:p>
        </p:txBody>
      </p:sp>
      <p:sp>
        <p:nvSpPr>
          <p:cNvPr id="10" name="definition-arch-pattern-label">
            <a:extLst xmlns:a="http://schemas.openxmlformats.org/drawingml/2006/main">
              <a:ext uri="{FF2B5EF4-FFF2-40B4-BE49-F238E27FC236}">
                <a16:creationId xmlns:a16="http://schemas.microsoft.com/office/drawing/2014/main" id="{18A129AE-DA6A-4730-8D06-8B9A1FD2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860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PATRÓN DE ARQUITECTURA</a:t>
            </a:r>
          </a:p>
        </p:txBody>
      </p:sp>
      <p:sp>
        <p:nvSpPr>
          <p:cNvPr id="11" name="definition-arch-pattern">
            <a:extLst xmlns:a="http://schemas.openxmlformats.org/drawingml/2006/main">
              <a:ext uri="{FF2B5EF4-FFF2-40B4-BE49-F238E27FC236}">
                <a16:creationId xmlns:a16="http://schemas.microsoft.com/office/drawing/2014/main" id="{E6805C00-B98F-4F5D-A4D7-BD42FD2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718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Solución recurrente para organizar componentes, datos o comunicación a nivel de sistema.</a:t>
            </a:r>
          </a:p>
        </p:txBody>
      </p:sp>
      <p:sp>
        <p:nvSpPr>
          <p:cNvPr id="12" name="definition-design-pattern-label">
            <a:extLst xmlns:a="http://schemas.openxmlformats.org/drawingml/2006/main">
              <a:ext uri="{FF2B5EF4-FFF2-40B4-BE49-F238E27FC236}">
                <a16:creationId xmlns:a16="http://schemas.microsoft.com/office/drawing/2014/main" id="{3B4C2E0D-BC4D-48C5-A15C-AFC4DF4A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PATRÓN DE DISEÑO</a:t>
            </a:r>
          </a:p>
        </p:txBody>
      </p:sp>
      <p:sp>
        <p:nvSpPr>
          <p:cNvPr id="13" name="definition-design-pattern">
            <a:extLst xmlns:a="http://schemas.openxmlformats.org/drawingml/2006/main">
              <a:ext uri="{FF2B5EF4-FFF2-40B4-BE49-F238E27FC236}">
                <a16:creationId xmlns:a16="http://schemas.microsoft.com/office/drawing/2014/main" id="{CDB6A649-D4CE-414D-A4B6-011EE340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Colaboración más local entre objetos o módulos; las semanas anteriores trabajaron este nivel.</a:t>
            </a:r>
          </a:p>
        </p:txBody>
      </p:sp>
    </p:spTree>
    <p:extLst>
      <p:ext uri="{BB962C8B-B14F-4D97-AF65-F5344CB8AC3E}">
        <p14:creationId xmlns:p14="http://schemas.microsoft.com/office/powerpoint/2010/main" val="34062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06FFEB5E-68E9-4860-8ED3-B4E7FA0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C2C5DF7-3A2F-48F4-9C70-D9BF8500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Tres preguntas revelan el estilo dominante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CD69F94A-497C-4A54-AB12-E909A167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6C5F6AFB-2A12-410D-BCC9-A5A23D49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B76A7648-7BD4-4553-A260-4496A26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question-1-number">
            <a:extLst xmlns:a="http://schemas.openxmlformats.org/drawingml/2006/main">
              <a:ext uri="{FF2B5EF4-FFF2-40B4-BE49-F238E27FC236}">
                <a16:creationId xmlns:a16="http://schemas.microsoft.com/office/drawing/2014/main" id="{5A2FED81-0674-47F7-8863-F009DA4D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question-1-text">
            <a:extLst xmlns:a="http://schemas.openxmlformats.org/drawingml/2006/main">
              <a:ext uri="{FF2B5EF4-FFF2-40B4-BE49-F238E27FC236}">
                <a16:creationId xmlns:a16="http://schemas.microsoft.com/office/drawing/2014/main" id="{6768AE46-32F2-4B2E-A211-D1612CED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¿Dónde vive la información principal?</a:t>
            </a:r>
          </a:p>
        </p:txBody>
      </p:sp>
      <p:sp>
        <p:nvSpPr>
          <p:cNvPr id="8" name="question-1-rule">
            <a:extLst xmlns:a="http://schemas.openxmlformats.org/drawingml/2006/main">
              <a:ext uri="{FF2B5EF4-FFF2-40B4-BE49-F238E27FC236}">
                <a16:creationId xmlns:a16="http://schemas.microsoft.com/office/drawing/2014/main" id="{B9FBD08D-724D-4EB5-989A-5210F8DF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2-number">
            <a:extLst xmlns:a="http://schemas.openxmlformats.org/drawingml/2006/main">
              <a:ext uri="{FF2B5EF4-FFF2-40B4-BE49-F238E27FC236}">
                <a16:creationId xmlns:a16="http://schemas.microsoft.com/office/drawing/2014/main" id="{4E8973CF-BE41-48FD-8D19-FA1FAB4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question-2-text">
            <a:extLst xmlns:a="http://schemas.openxmlformats.org/drawingml/2006/main">
              <a:ext uri="{FF2B5EF4-FFF2-40B4-BE49-F238E27FC236}">
                <a16:creationId xmlns:a16="http://schemas.microsoft.com/office/drawing/2014/main" id="{F7181BFE-1414-4D9A-A0D3-E7913784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¿Cómo se transforma y circula?</a:t>
            </a:r>
          </a:p>
        </p:txBody>
      </p:sp>
      <p:sp>
        <p:nvSpPr>
          <p:cNvPr id="11" name="question-2-rule">
            <a:extLst xmlns:a="http://schemas.openxmlformats.org/drawingml/2006/main">
              <a:ext uri="{FF2B5EF4-FFF2-40B4-BE49-F238E27FC236}">
                <a16:creationId xmlns:a16="http://schemas.microsoft.com/office/drawing/2014/main" id="{2C0187A0-1B1F-4280-8C89-FFB62ACB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estion-3-number">
            <a:extLst xmlns:a="http://schemas.openxmlformats.org/drawingml/2006/main">
              <a:ext uri="{FF2B5EF4-FFF2-40B4-BE49-F238E27FC236}">
                <a16:creationId xmlns:a16="http://schemas.microsoft.com/office/drawing/2014/main" id="{39618137-4E62-4BDB-829D-6E018F81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14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question-3-text">
            <a:extLst xmlns:a="http://schemas.openxmlformats.org/drawingml/2006/main">
              <a:ext uri="{FF2B5EF4-FFF2-40B4-BE49-F238E27FC236}">
                <a16:creationId xmlns:a16="http://schemas.microsoft.com/office/drawing/2014/main" id="{4FD6967E-BC9C-4BD4-A335-8060B98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9298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¿Cómo reaccionan los componentes ante un cambio?</a:t>
            </a:r>
          </a:p>
        </p:txBody>
      </p:sp>
      <p:sp>
        <p:nvSpPr>
          <p:cNvPr id="14" name="question-3-rule">
            <a:extLst xmlns:a="http://schemas.openxmlformats.org/drawingml/2006/main">
              <a:ext uri="{FF2B5EF4-FFF2-40B4-BE49-F238E27FC236}">
                <a16:creationId xmlns:a16="http://schemas.microsoft.com/office/drawing/2014/main" id="{09458648-DB16-4EE3-A925-AD0B76B1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958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estion-callout-accent">
            <a:extLst xmlns:a="http://schemas.openxmlformats.org/drawingml/2006/main">
              <a:ext uri="{FF2B5EF4-FFF2-40B4-BE49-F238E27FC236}">
                <a16:creationId xmlns:a16="http://schemas.microsoft.com/office/drawing/2014/main" id="{296E2A85-1A3F-4023-BA10-DA90D78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uestion-callout-label">
            <a:extLst xmlns:a="http://schemas.openxmlformats.org/drawingml/2006/main">
              <a:ext uri="{FF2B5EF4-FFF2-40B4-BE49-F238E27FC236}">
                <a16:creationId xmlns:a16="http://schemas.microsoft.com/office/drawing/2014/main" id="{200E9F12-87D3-49F8-8FFB-8D16B46A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90775"/>
            <a:ext cx="3600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IDEA CLAVE</a:t>
            </a:r>
          </a:p>
        </p:txBody>
      </p:sp>
      <p:sp>
        <p:nvSpPr>
          <p:cNvPr id="17" name="question-callout-body">
            <a:extLst xmlns:a="http://schemas.openxmlformats.org/drawingml/2006/main">
              <a:ext uri="{FF2B5EF4-FFF2-40B4-BE49-F238E27FC236}">
                <a16:creationId xmlns:a16="http://schemas.microsoft.com/office/drawing/2014/main" id="{73CF5BD7-9129-4781-A1EF-794890EA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3600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misma aplicación puede combinar más de un estilo; lo importante es justificar los límites.</a:t>
            </a:r>
          </a:p>
        </p:txBody>
      </p:sp>
    </p:spTree>
    <p:extLst>
      <p:ext uri="{BB962C8B-B14F-4D97-AF65-F5344CB8AC3E}">
        <p14:creationId xmlns:p14="http://schemas.microsoft.com/office/powerpoint/2010/main" val="388725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6">
            <a:extLst xmlns:a="http://schemas.openxmlformats.org/drawingml/2006/main">
              <a:ext uri="{FF2B5EF4-FFF2-40B4-BE49-F238E27FC236}">
                <a16:creationId xmlns:a16="http://schemas.microsoft.com/office/drawing/2014/main" id="{B2F64381-7A1F-4371-A560-51D770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9DF5B24-2ECE-4A61-A82C-97B0ACA6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Centrada en datos: el repositorio coordina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CCEAE3F-DC8B-4B6A-85C9-9D5E45C1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87A62A9F-19EE-4427-B371-F518832F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5BC38F8E-24AB-40FE-825B-73F96A3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data-lead">
            <a:extLst xmlns:a="http://schemas.openxmlformats.org/drawingml/2006/main">
              <a:ext uri="{FF2B5EF4-FFF2-40B4-BE49-F238E27FC236}">
                <a16:creationId xmlns:a16="http://schemas.microsoft.com/office/drawing/2014/main" id="{168811A8-44DA-47EB-95CE-13619646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76400"/>
            <a:ext cx="4619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Los componentes se integran alrededor de un almacén común que funciona como fuente de verdad.</a:t>
            </a:r>
          </a:p>
        </p:txBody>
      </p:sp>
      <p:sp>
        <p:nvSpPr>
          <p:cNvPr id="7" name="data-when-label">
            <a:extLst xmlns:a="http://schemas.openxmlformats.org/drawingml/2006/main">
              <a:ext uri="{FF2B5EF4-FFF2-40B4-BE49-F238E27FC236}">
                <a16:creationId xmlns:a16="http://schemas.microsoft.com/office/drawing/2014/main" id="{604FD05C-207C-46B0-94FC-048DE94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527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CONVIENE CUANDO</a:t>
            </a:r>
          </a:p>
        </p:txBody>
      </p:sp>
      <p:sp>
        <p:nvSpPr>
          <p:cNvPr id="8" name="data-when">
            <a:extLst xmlns:a="http://schemas.openxmlformats.org/drawingml/2006/main">
              <a:ext uri="{FF2B5EF4-FFF2-40B4-BE49-F238E27FC236}">
                <a16:creationId xmlns:a16="http://schemas.microsoft.com/office/drawing/2014/main" id="{BF06CD9F-D288-48B0-975B-813B6995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575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Muchos consumidores necesitan la misma información.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Se requiere una fuente de verdad compartida.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Las consultas y reportes dependen del mismo estado.</a:t>
            </a:r>
          </a:p>
        </p:txBody>
      </p:sp>
      <p:sp>
        <p:nvSpPr>
          <p:cNvPr id="9" name="data-risk-label">
            <a:extLst xmlns:a="http://schemas.openxmlformats.org/drawingml/2006/main">
              <a:ext uri="{FF2B5EF4-FFF2-40B4-BE49-F238E27FC236}">
                <a16:creationId xmlns:a16="http://schemas.microsoft.com/office/drawing/2014/main" id="{B57183E4-1BF4-4554-AEFC-6E720932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53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CUIDADO</a:t>
            </a:r>
          </a:p>
        </p:txBody>
      </p:sp>
      <p:sp>
        <p:nvSpPr>
          <p:cNvPr id="10" name="data-risk">
            <a:extLst xmlns:a="http://schemas.openxmlformats.org/drawingml/2006/main">
              <a:ext uri="{FF2B5EF4-FFF2-40B4-BE49-F238E27FC236}">
                <a16:creationId xmlns:a16="http://schemas.microsoft.com/office/drawing/2014/main" id="{AD93A7C6-22A2-45DA-96B9-DC59BA92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29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Acoplamiento al esquema · cuello de botella · cambios coordinados</a:t>
            </a:r>
          </a:p>
        </p:txBody>
      </p:sp>
      <p:sp>
        <p:nvSpPr>
          <p:cNvPr id="11" name="data-repository">
            <a:extLst xmlns:a="http://schemas.openxmlformats.org/drawingml/2006/main">
              <a:ext uri="{FF2B5EF4-FFF2-40B4-BE49-F238E27FC236}">
                <a16:creationId xmlns:a16="http://schemas.microsoft.com/office/drawing/2014/main" id="{6431B645-9FC9-481A-BA46-BB126F1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2333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Repositorio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/ fuente de verdad</a:t>
            </a:r>
          </a:p>
        </p:txBody>
      </p:sp>
      <p:sp>
        <p:nvSpPr>
          <p:cNvPr id="12" name="data-client-1">
            <a:extLst xmlns:a="http://schemas.openxmlformats.org/drawingml/2006/main">
              <a:ext uri="{FF2B5EF4-FFF2-40B4-BE49-F238E27FC236}">
                <a16:creationId xmlns:a16="http://schemas.microsoft.com/office/drawing/2014/main" id="{CD8463BE-706E-4496-A227-6C559C1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428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Registro</a:t>
            </a:r>
          </a:p>
        </p:txBody>
      </p:sp>
      <p:sp>
        <p:nvSpPr>
          <p:cNvPr id="13" name="data-client-2">
            <a:extLst xmlns:a="http://schemas.openxmlformats.org/drawingml/2006/main">
              <a:ext uri="{FF2B5EF4-FFF2-40B4-BE49-F238E27FC236}">
                <a16:creationId xmlns:a16="http://schemas.microsoft.com/office/drawing/2014/main" id="{291E5EE7-DEF2-4A67-94DC-6AE4BF6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1428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Consulta</a:t>
            </a:r>
          </a:p>
        </p:txBody>
      </p:sp>
      <p:sp>
        <p:nvSpPr>
          <p:cNvPr id="14" name="data-client-3">
            <a:extLst xmlns:a="http://schemas.openxmlformats.org/drawingml/2006/main">
              <a:ext uri="{FF2B5EF4-FFF2-40B4-BE49-F238E27FC236}">
                <a16:creationId xmlns:a16="http://schemas.microsoft.com/office/drawing/2014/main" id="{3F7007B2-470E-4535-95C3-D2905110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1428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Reportes</a:t>
            </a:r>
          </a:p>
        </p:txBody>
      </p:sp>
      <p:cxnSp>
        <p:nvCxnSpPr>
          <p:cNvPr id="33" name=""/>
          <p:cNvCxnSpPr>
            <a:stCxn xmlns:a="http://schemas.openxmlformats.org/drawingml/2006/main" id="1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286625" y="2809875"/>
            <a:ext cx="1900238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0267950" y="2547938"/>
            <a:ext cx="200025" cy="1428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267950" y="3976688"/>
            <a:ext cx="20002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data-caption">
            <a:extLst xmlns:a="http://schemas.openxmlformats.org/drawingml/2006/main">
              <a:ext uri="{FF2B5EF4-FFF2-40B4-BE49-F238E27FC236}">
                <a16:creationId xmlns:a16="http://schemas.microsoft.com/office/drawing/2014/main" id="{3A7579EC-254F-4A79-AAA1-49372A8B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673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8544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El dato central simplifica la coordinación; también concentra decisiones y riesgos.</a:t>
            </a:r>
          </a:p>
        </p:txBody>
      </p:sp>
    </p:spTree>
    <p:extLst>
      <p:ext uri="{BB962C8B-B14F-4D97-AF65-F5344CB8AC3E}">
        <p14:creationId xmlns:p14="http://schemas.microsoft.com/office/powerpoint/2010/main" val="158087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7">
            <a:extLst xmlns:a="http://schemas.openxmlformats.org/drawingml/2006/main">
              <a:ext uri="{FF2B5EF4-FFF2-40B4-BE49-F238E27FC236}">
                <a16:creationId xmlns:a16="http://schemas.microsoft.com/office/drawing/2014/main" id="{228C9099-8E56-4798-BF91-6C13E4FB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A313C81-66F2-467F-AC04-61E29BB6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Centrada en el flujo: cada etapa transforma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DB1A6C55-B83C-4392-900B-A4C443E7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68807F3A-3160-4B95-B33E-DF44AB93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F956CEFC-DE95-4407-803D-7876500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flow-lead">
            <a:extLst xmlns:a="http://schemas.openxmlformats.org/drawingml/2006/main">
              <a:ext uri="{FF2B5EF4-FFF2-40B4-BE49-F238E27FC236}">
                <a16:creationId xmlns:a16="http://schemas.microsoft.com/office/drawing/2014/main" id="{4B157BCF-9A18-4AFD-AC1E-75E87D25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valor aparece al pasar la información por filtros independientes y composables.</a:t>
            </a:r>
          </a:p>
        </p:txBody>
      </p:sp>
      <p:sp>
        <p:nvSpPr>
          <p:cNvPr id="7" name="flow-input">
            <a:extLst xmlns:a="http://schemas.openxmlformats.org/drawingml/2006/main">
              <a:ext uri="{FF2B5EF4-FFF2-40B4-BE49-F238E27FC236}">
                <a16:creationId xmlns:a16="http://schemas.microsoft.com/office/drawing/2014/main" id="{0F8404EC-2223-4E9E-99D7-2276419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8" name="flow-validate">
            <a:extLst xmlns:a="http://schemas.openxmlformats.org/drawingml/2006/main">
              <a:ext uri="{FF2B5EF4-FFF2-40B4-BE49-F238E27FC236}">
                <a16:creationId xmlns:a16="http://schemas.microsoft.com/office/drawing/2014/main" id="{876C9657-BC7A-4EB7-B11D-A8A0B66B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Validar</a:t>
            </a:r>
          </a:p>
        </p:txBody>
      </p:sp>
      <p:sp>
        <p:nvSpPr>
          <p:cNvPr id="9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5A30D6B-22BC-4DBE-B413-8B23AF6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Transformar</a:t>
            </a:r>
          </a:p>
        </p:txBody>
      </p:sp>
      <p:sp>
        <p:nvSpPr>
          <p:cNvPr id="10" name="flow-output">
            <a:extLst xmlns:a="http://schemas.openxmlformats.org/drawingml/2006/main">
              <a:ext uri="{FF2B5EF4-FFF2-40B4-BE49-F238E27FC236}">
                <a16:creationId xmlns:a16="http://schemas.microsoft.com/office/drawing/2014/main" id="{0FD14057-C6A0-4F61-92CB-ADCDD9FD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Salida</a:t>
            </a:r>
          </a:p>
        </p:txBody>
      </p:sp>
      <p:sp>
        <p:nvSpPr>
          <p:cNvPr id="11" name="flow-report">
            <a:extLst xmlns:a="http://schemas.openxmlformats.org/drawingml/2006/main">
              <a:ext uri="{FF2B5EF4-FFF2-40B4-BE49-F238E27FC236}">
                <a16:creationId xmlns:a16="http://schemas.microsoft.com/office/drawing/2014/main" id="{F146738F-9D12-4859-9F1C-E2F9F141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3476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10125" y="3476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3476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67875" y="3476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flow-gain-accent">
            <a:extLst xmlns:a="http://schemas.openxmlformats.org/drawingml/2006/main">
              <a:ext uri="{FF2B5EF4-FFF2-40B4-BE49-F238E27FC236}">
                <a16:creationId xmlns:a16="http://schemas.microsoft.com/office/drawing/2014/main" id="{76D443D0-FD17-4FEA-97C4-E4055DE5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gain-label">
            <a:extLst xmlns:a="http://schemas.openxmlformats.org/drawingml/2006/main">
              <a:ext uri="{FF2B5EF4-FFF2-40B4-BE49-F238E27FC236}">
                <a16:creationId xmlns:a16="http://schemas.microsoft.com/office/drawing/2014/main" id="{1A193A27-73DA-48BD-8B1F-46777EE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469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GANA</a:t>
            </a:r>
          </a:p>
        </p:txBody>
      </p:sp>
      <p:sp>
        <p:nvSpPr>
          <p:cNvPr id="18" name="flow-gain-body">
            <a:extLst xmlns:a="http://schemas.openxmlformats.org/drawingml/2006/main">
              <a:ext uri="{FF2B5EF4-FFF2-40B4-BE49-F238E27FC236}">
                <a16:creationId xmlns:a16="http://schemas.microsoft.com/office/drawing/2014/main" id="{49CCA120-139D-4DCA-9AB9-870330BB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24425"/>
            <a:ext cx="46958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Reutilización, reordenamiento y escalado por etapa.</a:t>
            </a:r>
          </a:p>
        </p:txBody>
      </p:sp>
      <p:sp>
        <p:nvSpPr>
          <p:cNvPr id="19" name="flow-cost-accent">
            <a:extLst xmlns:a="http://schemas.openxmlformats.org/drawingml/2006/main">
              <a:ext uri="{FF2B5EF4-FFF2-40B4-BE49-F238E27FC236}">
                <a16:creationId xmlns:a16="http://schemas.microsoft.com/office/drawing/2014/main" id="{9731341E-B860-42DF-8B8A-4FB5F1EA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cost-label">
            <a:extLst xmlns:a="http://schemas.openxmlformats.org/drawingml/2006/main">
              <a:ext uri="{FF2B5EF4-FFF2-40B4-BE49-F238E27FC236}">
                <a16:creationId xmlns:a16="http://schemas.microsoft.com/office/drawing/2014/main" id="{33F57455-8884-42B9-9661-70F3B441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67250"/>
            <a:ext cx="469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PAGA</a:t>
            </a:r>
          </a:p>
        </p:txBody>
      </p:sp>
      <p:sp>
        <p:nvSpPr>
          <p:cNvPr id="21" name="flow-cost-body">
            <a:extLst xmlns:a="http://schemas.openxmlformats.org/drawingml/2006/main">
              <a:ext uri="{FF2B5EF4-FFF2-40B4-BE49-F238E27FC236}">
                <a16:creationId xmlns:a16="http://schemas.microsoft.com/office/drawing/2014/main" id="{8206ACB2-7156-4B1A-9410-36819D50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924425"/>
            <a:ext cx="46958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Fallos en cadena, duplicados y contexto distribuido.</a:t>
            </a:r>
          </a:p>
        </p:txBody>
      </p:sp>
    </p:spTree>
    <p:extLst>
      <p:ext uri="{BB962C8B-B14F-4D97-AF65-F5344CB8AC3E}">
        <p14:creationId xmlns:p14="http://schemas.microsoft.com/office/powerpoint/2010/main" val="1892574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8">
            <a:extLst xmlns:a="http://schemas.openxmlformats.org/drawingml/2006/main">
              <a:ext uri="{FF2B5EF4-FFF2-40B4-BE49-F238E27FC236}">
                <a16:creationId xmlns:a16="http://schemas.microsoft.com/office/drawing/2014/main" id="{9E60B166-19A8-49B9-93BC-F9D3AB49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6087D13-8D09-4B07-9A8E-2FC9E922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Orientada a eventos (EDA): el cambio dispara reacciones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6272112-419F-404C-9941-1F8DD496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E3239D8E-285A-4690-B0C4-80B4DB04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DA88B749-FB0F-47D6-B929-082AEE3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eda-lead">
            <a:extLst xmlns:a="http://schemas.openxmlformats.org/drawingml/2006/main">
              <a:ext uri="{FF2B5EF4-FFF2-40B4-BE49-F238E27FC236}">
                <a16:creationId xmlns:a16="http://schemas.microsoft.com/office/drawing/2014/main" id="{EBF16F29-2852-4B5D-906C-DE8CF1F2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EDA = Event-Driven Architecture</a:t>
            </a:r>
          </a:p>
        </p:txBody>
      </p:sp>
      <p:sp>
        <p:nvSpPr>
          <p:cNvPr id="7" name="eda-body">
            <a:extLst xmlns:a="http://schemas.openxmlformats.org/drawingml/2006/main">
              <a:ext uri="{FF2B5EF4-FFF2-40B4-BE49-F238E27FC236}">
                <a16:creationId xmlns:a16="http://schemas.microsoft.com/office/drawing/2014/main" id="{5CCA79EE-A079-4105-99E9-888C388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907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 evento describe un hecho que ocurrió. Los consumidores deciden qué hacer sin que el productor los conozca directamente.</a:t>
            </a:r>
          </a:p>
        </p:txBody>
      </p:sp>
      <p:sp>
        <p:nvSpPr>
          <p:cNvPr id="8" name="eda-gain-accent">
            <a:extLst xmlns:a="http://schemas.openxmlformats.org/drawingml/2006/main">
              <a:ext uri="{FF2B5EF4-FFF2-40B4-BE49-F238E27FC236}">
                <a16:creationId xmlns:a16="http://schemas.microsoft.com/office/drawing/2014/main" id="{5DC5D5CE-6448-4695-B772-97EB4310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da-gain-label">
            <a:extLst xmlns:a="http://schemas.openxmlformats.org/drawingml/2006/main">
              <a:ext uri="{FF2B5EF4-FFF2-40B4-BE49-F238E27FC236}">
                <a16:creationId xmlns:a16="http://schemas.microsoft.com/office/drawing/2014/main" id="{F7AEF27B-168A-4F40-942D-9CD93988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72000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GANA</a:t>
            </a:r>
          </a:p>
        </p:txBody>
      </p:sp>
      <p:sp>
        <p:nvSpPr>
          <p:cNvPr id="10" name="eda-gain-body">
            <a:extLst xmlns:a="http://schemas.openxmlformats.org/drawingml/2006/main">
              <a:ext uri="{FF2B5EF4-FFF2-40B4-BE49-F238E27FC236}">
                <a16:creationId xmlns:a16="http://schemas.microsoft.com/office/drawing/2014/main" id="{C945C36F-869C-4484-9D87-3E95E331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29175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Desacoplamiento y reacciones paralelas.</a:t>
            </a:r>
          </a:p>
        </p:txBody>
      </p:sp>
      <p:sp>
        <p:nvSpPr>
          <p:cNvPr id="11" name="eda-cost-accent">
            <a:extLst xmlns:a="http://schemas.openxmlformats.org/drawingml/2006/main">
              <a:ext uri="{FF2B5EF4-FFF2-40B4-BE49-F238E27FC236}">
                <a16:creationId xmlns:a16="http://schemas.microsoft.com/office/drawing/2014/main" id="{CE6AC8B5-9B67-4372-BC59-19B7CF9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da-cost-label">
            <a:extLst xmlns:a="http://schemas.openxmlformats.org/drawingml/2006/main">
              <a:ext uri="{FF2B5EF4-FFF2-40B4-BE49-F238E27FC236}">
                <a16:creationId xmlns:a16="http://schemas.microsoft.com/office/drawing/2014/main" id="{390FD444-A90C-42B8-AB9E-FE2AE6CE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24500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PAGA</a:t>
            </a:r>
          </a:p>
        </p:txBody>
      </p:sp>
      <p:sp>
        <p:nvSpPr>
          <p:cNvPr id="13" name="eda-cost-body">
            <a:extLst xmlns:a="http://schemas.openxmlformats.org/drawingml/2006/main">
              <a:ext uri="{FF2B5EF4-FFF2-40B4-BE49-F238E27FC236}">
                <a16:creationId xmlns:a16="http://schemas.microsoft.com/office/drawing/2014/main" id="{DC8D4CC5-1BF5-421A-9AFC-67BB5513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81675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Orden, duplicados y consistencia eventual.</a:t>
            </a:r>
          </a:p>
        </p:txBody>
      </p:sp>
      <p:sp>
        <p:nvSpPr>
          <p:cNvPr id="14" name="eda-producer">
            <a:extLst xmlns:a="http://schemas.openxmlformats.org/drawingml/2006/main">
              <a:ext uri="{FF2B5EF4-FFF2-40B4-BE49-F238E27FC236}">
                <a16:creationId xmlns:a16="http://schemas.microsoft.com/office/drawing/2014/main" id="{298AC337-2EF6-4C80-8456-8D19C1F9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666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Productor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Inscripción</a:t>
            </a:r>
          </a:p>
        </p:txBody>
      </p:sp>
      <p:sp>
        <p:nvSpPr>
          <p:cNvPr id="15" name="eda-broker">
            <a:extLst xmlns:a="http://schemas.openxmlformats.org/drawingml/2006/main">
              <a:ext uri="{FF2B5EF4-FFF2-40B4-BE49-F238E27FC236}">
                <a16:creationId xmlns:a16="http://schemas.microsoft.com/office/drawing/2014/main" id="{186E4056-35C4-48B9-AD14-EDCD207C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Broker / canal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Evento publicado</a:t>
            </a:r>
          </a:p>
        </p:txBody>
      </p:sp>
      <p:sp>
        <p:nvSpPr>
          <p:cNvPr id="16" name="eda-consumer">
            <a:extLst xmlns:a="http://schemas.openxmlformats.org/drawingml/2006/main">
              <a:ext uri="{FF2B5EF4-FFF2-40B4-BE49-F238E27FC236}">
                <a16:creationId xmlns:a16="http://schemas.microsoft.com/office/drawing/2014/main" id="{C806BCDE-D3B3-49D8-B5BF-40D0D6A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57500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Consumidores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Notificaciones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Analítica · Auditoría</a:t>
            </a:r>
          </a:p>
        </p:txBody>
      </p:sp>
      <p:cxnSp>
        <p:nvCxnSpPr>
          <p:cNvPr id="3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58125" y="3343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334625" y="33432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eda-caption">
            <a:extLst xmlns:a="http://schemas.openxmlformats.org/drawingml/2006/main">
              <a:ext uri="{FF2B5EF4-FFF2-40B4-BE49-F238E27FC236}">
                <a16:creationId xmlns:a16="http://schemas.microsoft.com/office/drawing/2014/main" id="{28C5ABE5-B3F1-45A9-B760-89D7C7CB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576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Productor y consumidor evolucionan de manera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1351031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9">
            <a:extLst xmlns:a="http://schemas.openxmlformats.org/drawingml/2006/main">
              <a:ext uri="{FF2B5EF4-FFF2-40B4-BE49-F238E27FC236}">
                <a16:creationId xmlns:a16="http://schemas.microsoft.com/office/drawing/2014/main" id="{88B13986-D57A-47A8-9195-E3CD5752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CA009A1-B3A3-4D6F-AB1F-92FE8C97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Flujo de datos y EDA responden preguntas distintas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47A0D8C0-0BFF-4416-B535-915BF66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88EE7FD5-E402-402A-9FF3-658335F8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16B55099-421B-44A6-A36A-398E831C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compare-intro">
            <a:extLst xmlns:a="http://schemas.openxmlformats.org/drawingml/2006/main">
              <a:ext uri="{FF2B5EF4-FFF2-40B4-BE49-F238E27FC236}">
                <a16:creationId xmlns:a16="http://schemas.microsoft.com/office/drawing/2014/main" id="{D7A26745-6C2A-4656-82DE-C8FDADE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9542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Ambas mueven información, pero coordinan de manera diferente.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393668" y="2114550"/>
          <a:ext xmlns:a="http://schemas.openxmlformats.org/drawingml/2006/main" cx="11404664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419600"/>
                <a:gridCol w="4460939"/>
              </a:tblGrid>
              <a:tr h="577850">
                <a:tc>
                  <a:txBody>
                    <a:bodyPr/>
                    <a:lstStyle/>
                    <a:p>
                      <a:r>
                        <a:t>Criterio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Flujo de datos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EDA</a:t>
                      </a:r>
                    </a:p>
                  </a:txBody>
                  <a:tcPr marL="91440" marR="91440" marT="45720" marB="45720"/>
                </a:tc>
              </a:tr>
              <a:tr h="577850">
                <a:tc>
                  <a:txBody>
                    <a:bodyPr/>
                    <a:lstStyle/>
                    <a:p>
                      <a:r>
                        <a:t>Unidad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Dato transformado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Evento ocurrido</a:t>
                      </a:r>
                    </a:p>
                  </a:txBody>
                  <a:tcPr marL="91440" marR="91440" marT="45720" marB="45720"/>
                </a:tc>
              </a:tr>
              <a:tr h="577850">
                <a:tc>
                  <a:txBody>
                    <a:bodyPr/>
                    <a:lstStyle/>
                    <a:p>
                      <a:r>
                        <a:t>Relación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Etapas en secuencia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Productor y consumidores</a:t>
                      </a:r>
                    </a:p>
                  </a:txBody>
                  <a:tcPr marL="91440" marR="91440" marT="45720" marB="45720"/>
                </a:tc>
              </a:tr>
              <a:tr h="577850">
                <a:tc>
                  <a:txBody>
                    <a:bodyPr/>
                    <a:lstStyle/>
                    <a:p>
                      <a:r>
                        <a:t>Tiempo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Pipeline / procesamiento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Reacción asíncrona</a:t>
                      </a:r>
                    </a:p>
                  </a:txBody>
                  <a:tcPr marL="91440" marR="91440" marT="45720" marB="45720"/>
                </a:tc>
              </a:tr>
              <a:tr h="577850">
                <a:tc>
                  <a:txBody>
                    <a:bodyPr/>
                    <a:lstStyle/>
                    <a:p>
                      <a:r>
                        <a:t>Riesgo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Fallos en cadena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Duplicados y orden</a:t>
                      </a:r>
                    </a:p>
                  </a:txBody>
                  <a:tcPr marL="91440" marR="91440" marT="45720" marB="45720"/>
                </a:tc>
              </a:tr>
              <a:tr h="577850">
                <a:tc>
                  <a:txBody>
                    <a:bodyPr/>
                    <a:lstStyle/>
                    <a:p>
                      <a:r>
                        <a:t>Pregunta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¿Cómo llego de A a B?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¿Quién reacciona a este cambio?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737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0">
            <a:extLst xmlns:a="http://schemas.openxmlformats.org/drawingml/2006/main">
              <a:ext uri="{FF2B5EF4-FFF2-40B4-BE49-F238E27FC236}">
                <a16:creationId xmlns:a16="http://schemas.microsoft.com/office/drawing/2014/main" id="{A6FF9FF5-4560-49E8-823F-8565C44E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93E1438-519D-4EEC-AB73-29E4319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arquitectura empresarial conecta capacidades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74F03FC3-7829-45FC-ABE4-6E5A51A3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298BA7C6-F8C7-4703-AE1E-81EE1130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0">
            <a:extLst xmlns:a="http://schemas.openxmlformats.org/drawingml/2006/main">
              <a:ext uri="{FF2B5EF4-FFF2-40B4-BE49-F238E27FC236}">
                <a16:creationId xmlns:a16="http://schemas.microsoft.com/office/drawing/2014/main" id="{20D9B38B-B7F3-446D-985A-A8052CDD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enterprise-lead">
            <a:extLst xmlns:a="http://schemas.openxmlformats.org/drawingml/2006/main">
              <a:ext uri="{FF2B5EF4-FFF2-40B4-BE49-F238E27FC236}">
                <a16:creationId xmlns:a16="http://schemas.microsoft.com/office/drawing/2014/main" id="{184C0B93-609A-4A85-B002-6D92EA76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85925"/>
            <a:ext cx="4905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4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Cuando hay varios sistemas, la arquitectura también debe coordinar contratos, ownership, integración y gobierno.</a:t>
            </a:r>
          </a:p>
        </p:txBody>
      </p:sp>
      <p:sp>
        <p:nvSpPr>
          <p:cNvPr id="7" name="enterprise-cap-label">
            <a:extLst xmlns:a="http://schemas.openxmlformats.org/drawingml/2006/main">
              <a:ext uri="{FF2B5EF4-FFF2-40B4-BE49-F238E27FC236}">
                <a16:creationId xmlns:a16="http://schemas.microsoft.com/office/drawing/2014/main" id="{4BDFD470-A892-416B-8AB6-ED895423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19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CAPACIDADES</a:t>
            </a:r>
          </a:p>
        </p:txBody>
      </p:sp>
      <p:sp>
        <p:nvSpPr>
          <p:cNvPr id="8" name="enterprise-cap">
            <a:extLst xmlns:a="http://schemas.openxmlformats.org/drawingml/2006/main">
              <a:ext uri="{FF2B5EF4-FFF2-40B4-BE49-F238E27FC236}">
                <a16:creationId xmlns:a16="http://schemas.microsoft.com/office/drawing/2014/main" id="{5071DC73-3EC7-4BED-AD95-2819FA28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Qué sabe hacer la organización</a:t>
            </a:r>
          </a:p>
        </p:txBody>
      </p:sp>
      <p:sp>
        <p:nvSpPr>
          <p:cNvPr id="9" name="enterprise-contract-label">
            <a:extLst xmlns:a="http://schemas.openxmlformats.org/drawingml/2006/main">
              <a:ext uri="{FF2B5EF4-FFF2-40B4-BE49-F238E27FC236}">
                <a16:creationId xmlns:a16="http://schemas.microsoft.com/office/drawing/2014/main" id="{266D9E45-1620-429B-93DE-06860F6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CONTRATOS</a:t>
            </a:r>
          </a:p>
        </p:txBody>
      </p:sp>
      <p:sp>
        <p:nvSpPr>
          <p:cNvPr id="10" name="enterprise-contract">
            <a:extLst xmlns:a="http://schemas.openxmlformats.org/drawingml/2006/main">
              <a:ext uri="{FF2B5EF4-FFF2-40B4-BE49-F238E27FC236}">
                <a16:creationId xmlns:a16="http://schemas.microsoft.com/office/drawing/2014/main" id="{B1CAD8C6-5381-4B29-ACA8-CDB1E5F0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194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Cómo se solicita o publica</a:t>
            </a:r>
          </a:p>
        </p:txBody>
      </p:sp>
      <p:sp>
        <p:nvSpPr>
          <p:cNvPr id="11" name="enterprise-integration-label">
            <a:extLst xmlns:a="http://schemas.openxmlformats.org/drawingml/2006/main">
              <a:ext uri="{FF2B5EF4-FFF2-40B4-BE49-F238E27FC236}">
                <a16:creationId xmlns:a16="http://schemas.microsoft.com/office/drawing/2014/main" id="{59DAC981-8F39-4D30-9B24-B013416B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29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INTEGRACIÓN</a:t>
            </a:r>
          </a:p>
        </p:txBody>
      </p:sp>
      <p:sp>
        <p:nvSpPr>
          <p:cNvPr id="12" name="enterprise-integration">
            <a:extLst xmlns:a="http://schemas.openxmlformats.org/drawingml/2006/main">
              <a:ext uri="{FF2B5EF4-FFF2-40B4-BE49-F238E27FC236}">
                <a16:creationId xmlns:a16="http://schemas.microsoft.com/office/drawing/2014/main" id="{A9684DBF-3BA0-4FE9-B32B-A3461980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243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Cómo colaboran sistemas distintos</a:t>
            </a:r>
          </a:p>
        </p:txBody>
      </p:sp>
      <p:sp>
        <p:nvSpPr>
          <p:cNvPr id="13" name="enterprise-governance-label">
            <a:extLst xmlns:a="http://schemas.openxmlformats.org/drawingml/2006/main">
              <a:ext uri="{FF2B5EF4-FFF2-40B4-BE49-F238E27FC236}">
                <a16:creationId xmlns:a16="http://schemas.microsoft.com/office/drawing/2014/main" id="{75597164-681C-417C-8C3B-24A5362A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33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GOBIERNO</a:t>
            </a:r>
          </a:p>
        </p:txBody>
      </p:sp>
      <p:sp>
        <p:nvSpPr>
          <p:cNvPr id="14" name="enterprise-governance">
            <a:extLst xmlns:a="http://schemas.openxmlformats.org/drawingml/2006/main">
              <a:ext uri="{FF2B5EF4-FFF2-40B4-BE49-F238E27FC236}">
                <a16:creationId xmlns:a16="http://schemas.microsoft.com/office/drawing/2014/main" id="{FE1D9C69-DF46-4CF7-88A0-3012784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29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Cómo se versiona, opera y observa</a:t>
            </a:r>
          </a:p>
        </p:txBody>
      </p:sp>
      <p:sp>
        <p:nvSpPr>
          <p:cNvPr id="15" name="enterprise-need">
            <a:extLst xmlns:a="http://schemas.openxmlformats.org/drawingml/2006/main">
              <a:ext uri="{FF2B5EF4-FFF2-40B4-BE49-F238E27FC236}">
                <a16:creationId xmlns:a16="http://schemas.microsoft.com/office/drawing/2014/main" id="{AF75BE5C-696B-4166-950D-DD054CD5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Necesidad</a:t>
            </a:r>
          </a:p>
        </p:txBody>
      </p:sp>
      <p:sp>
        <p:nvSpPr>
          <p:cNvPr id="16" name="enterprise-contract-node">
            <a:extLst xmlns:a="http://schemas.openxmlformats.org/drawingml/2006/main">
              <a:ext uri="{FF2B5EF4-FFF2-40B4-BE49-F238E27FC236}">
                <a16:creationId xmlns:a16="http://schemas.microsoft.com/office/drawing/2014/main" id="{87C034A8-A0B9-4DCE-A519-05C1364A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05425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Contrato</a:t>
            </a:r>
          </a:p>
        </p:txBody>
      </p:sp>
      <p:sp>
        <p:nvSpPr>
          <p:cNvPr id="17" name="enterprise-service">
            <a:extLst xmlns:a="http://schemas.openxmlformats.org/drawingml/2006/main">
              <a:ext uri="{FF2B5EF4-FFF2-40B4-BE49-F238E27FC236}">
                <a16:creationId xmlns:a16="http://schemas.microsoft.com/office/drawing/2014/main" id="{A4B10722-6F6B-470A-AA99-EE8B9B13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0542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Servicio / evento</a:t>
            </a:r>
          </a:p>
        </p:txBody>
      </p:sp>
      <p:sp>
        <p:nvSpPr>
          <p:cNvPr id="18" name="enterprise-capability">
            <a:extLst xmlns:a="http://schemas.openxmlformats.org/drawingml/2006/main">
              <a:ext uri="{FF2B5EF4-FFF2-40B4-BE49-F238E27FC236}">
                <a16:creationId xmlns:a16="http://schemas.microsoft.com/office/drawing/2014/main" id="{070AD977-75E5-4D31-9ECC-7860C88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05425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Capacidad</a:t>
            </a:r>
          </a:p>
        </p:txBody>
      </p: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190750" y="5534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95750" y="5534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286500" y="5534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enterprise-caption">
            <a:extLst xmlns:a="http://schemas.openxmlformats.org/drawingml/2006/main">
              <a:ext uri="{FF2B5EF4-FFF2-40B4-BE49-F238E27FC236}">
                <a16:creationId xmlns:a16="http://schemas.microsoft.com/office/drawing/2014/main" id="{C987F8AB-DA64-4D8D-B24F-C01939D8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SOA y EDA aparecen aquí como formas distintas de integrar capacidades.</a:t>
            </a:r>
          </a:p>
        </p:txBody>
      </p:sp>
    </p:spTree>
    <p:extLst>
      <p:ext uri="{BB962C8B-B14F-4D97-AF65-F5344CB8AC3E}">
        <p14:creationId xmlns:p14="http://schemas.microsoft.com/office/powerpoint/2010/main" val="985168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1">
            <a:extLst xmlns:a="http://schemas.openxmlformats.org/drawingml/2006/main">
              <a:ext uri="{FF2B5EF4-FFF2-40B4-BE49-F238E27FC236}">
                <a16:creationId xmlns:a16="http://schemas.microsoft.com/office/drawing/2014/main" id="{C35EF78E-34C2-4204-9622-1802ED4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30FC2F3-0D3A-40D7-89C2-06037082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SOA expone capacidades como servicios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7D6EA9F5-D36B-465D-8FFD-8E1D11E8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E60C37C1-2153-4D37-908A-EEC63700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1">
            <a:extLst xmlns:a="http://schemas.openxmlformats.org/drawingml/2006/main">
              <a:ext uri="{FF2B5EF4-FFF2-40B4-BE49-F238E27FC236}">
                <a16:creationId xmlns:a16="http://schemas.microsoft.com/office/drawing/2014/main" id="{389BD7A7-0E44-4A4E-A4CD-1AB3BED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soa-lead">
            <a:extLst xmlns:a="http://schemas.openxmlformats.org/drawingml/2006/main">
              <a:ext uri="{FF2B5EF4-FFF2-40B4-BE49-F238E27FC236}">
                <a16:creationId xmlns:a16="http://schemas.microsoft.com/office/drawing/2014/main" id="{2E9754B0-FF3E-4589-B307-22085923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668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SOA organiza y utiliza capacidades distribuidas mediante contratos que permiten combinarlas entre dominios.</a:t>
            </a:r>
          </a:p>
        </p:txBody>
      </p:sp>
      <p:sp>
        <p:nvSpPr>
          <p:cNvPr id="7" name="soa-when-label">
            <a:extLst xmlns:a="http://schemas.openxmlformats.org/drawingml/2006/main">
              <a:ext uri="{FF2B5EF4-FFF2-40B4-BE49-F238E27FC236}">
                <a16:creationId xmlns:a16="http://schemas.microsoft.com/office/drawing/2014/main" id="{A2EBBB85-14F7-407E-9C5A-561B2A23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CONVIENE CUANDO</a:t>
            </a:r>
          </a:p>
        </p:txBody>
      </p:sp>
      <p:sp>
        <p:nvSpPr>
          <p:cNvPr id="8" name="soa-when">
            <a:extLst xmlns:a="http://schemas.openxmlformats.org/drawingml/2006/main">
              <a:ext uri="{FF2B5EF4-FFF2-40B4-BE49-F238E27FC236}">
                <a16:creationId xmlns:a16="http://schemas.microsoft.com/office/drawing/2014/main" id="{418A17A5-7D52-4616-83CB-BEE6C1B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5433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Varias aplicaciones necesitan la misma capacidad.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Hay integración con sistemas existentes.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Los contratos entre dominios deben ser explícitos.</a:t>
            </a:r>
          </a:p>
        </p:txBody>
      </p:sp>
      <p:sp>
        <p:nvSpPr>
          <p:cNvPr id="9" name="soa-cost-label">
            <a:extLst xmlns:a="http://schemas.openxmlformats.org/drawingml/2006/main">
              <a:ext uri="{FF2B5EF4-FFF2-40B4-BE49-F238E27FC236}">
                <a16:creationId xmlns:a16="http://schemas.microsoft.com/office/drawing/2014/main" id="{E3F6B731-6C60-42DC-BB26-8BF1E900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577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COSTO</a:t>
            </a:r>
          </a:p>
        </p:txBody>
      </p:sp>
      <p:sp>
        <p:nvSpPr>
          <p:cNvPr id="10" name="soa-cost">
            <a:extLst xmlns:a="http://schemas.openxmlformats.org/drawingml/2006/main">
              <a:ext uri="{FF2B5EF4-FFF2-40B4-BE49-F238E27FC236}">
                <a16:creationId xmlns:a16="http://schemas.microsoft.com/office/drawing/2014/main" id="{D96A6485-8AFB-48D4-A754-F47E3195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5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Gobierno · versionado · latencia · dependencia de contratos</a:t>
            </a:r>
          </a:p>
        </p:txBody>
      </p:sp>
      <p:sp>
        <p:nvSpPr>
          <p:cNvPr id="11" name="soa-need">
            <a:extLst xmlns:a="http://schemas.openxmlformats.org/drawingml/2006/main">
              <a:ext uri="{FF2B5EF4-FFF2-40B4-BE49-F238E27FC236}">
                <a16:creationId xmlns:a16="http://schemas.microsoft.com/office/drawing/2014/main" id="{C9D91059-0BEB-49EE-9760-713D074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428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Necesidad</a:t>
            </a:r>
          </a:p>
        </p:txBody>
      </p:sp>
      <p:sp>
        <p:nvSpPr>
          <p:cNvPr id="12" name="soa-contract">
            <a:extLst xmlns:a="http://schemas.openxmlformats.org/drawingml/2006/main">
              <a:ext uri="{FF2B5EF4-FFF2-40B4-BE49-F238E27FC236}">
                <a16:creationId xmlns:a16="http://schemas.microsoft.com/office/drawing/2014/main" id="{0EA660F6-CBCF-4811-B0F5-94695528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428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Contrato</a:t>
            </a:r>
          </a:p>
        </p:txBody>
      </p:sp>
      <p:sp>
        <p:nvSpPr>
          <p:cNvPr id="13" name="soa-service">
            <a:extLst xmlns:a="http://schemas.openxmlformats.org/drawingml/2006/main">
              <a:ext uri="{FF2B5EF4-FFF2-40B4-BE49-F238E27FC236}">
                <a16:creationId xmlns:a16="http://schemas.microsoft.com/office/drawing/2014/main" id="{C6FC1555-5BB0-4A9A-A8A9-D5C591A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428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Servicio</a:t>
            </a:r>
          </a:p>
        </p:txBody>
      </p: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001000" y="31670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810750" y="31670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soa-capability">
            <a:extLst xmlns:a="http://schemas.openxmlformats.org/drawingml/2006/main">
              <a:ext uri="{FF2B5EF4-FFF2-40B4-BE49-F238E27FC236}">
                <a16:creationId xmlns:a16="http://schemas.microsoft.com/office/drawing/2014/main" id="{717D6595-F8C1-43FA-88F7-5DA45AE7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57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Capacidad distribuida</a:t>
            </a:r>
          </a:p>
        </p:txBody>
      </p:sp>
      <p:sp>
        <p:nvSpPr>
          <p:cNvPr id="17" name="soa-capability-rule">
            <a:extLst xmlns:a="http://schemas.openxmlformats.org/drawingml/2006/main">
              <a:ext uri="{FF2B5EF4-FFF2-40B4-BE49-F238E27FC236}">
                <a16:creationId xmlns:a16="http://schemas.microsoft.com/office/drawing/2014/main" id="{187AC11B-62C1-4945-B88F-7580E442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86225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a-caption">
            <a:extLst xmlns:a="http://schemas.openxmlformats.org/drawingml/2006/main">
              <a:ext uri="{FF2B5EF4-FFF2-40B4-BE49-F238E27FC236}">
                <a16:creationId xmlns:a16="http://schemas.microsoft.com/office/drawing/2014/main" id="{5DE1929F-5DF1-40E1-BFE9-CF031200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42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El servicio es una frontera de colaboración, no una tecnología específica.</a:t>
            </a:r>
          </a:p>
        </p:txBody>
      </p:sp>
    </p:spTree>
    <p:extLst>
      <p:ext uri="{BB962C8B-B14F-4D97-AF65-F5344CB8AC3E}">
        <p14:creationId xmlns:p14="http://schemas.microsoft.com/office/powerpoint/2010/main" val="1702224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12">
            <a:extLst xmlns:a="http://schemas.openxmlformats.org/drawingml/2006/main">
              <a:ext uri="{FF2B5EF4-FFF2-40B4-BE49-F238E27FC236}">
                <a16:creationId xmlns:a16="http://schemas.microsoft.com/office/drawing/2014/main" id="{7E2E31AC-CA1C-4EE3-9A63-0CD598F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7D367AE-68D5-412A-98C8-BEE9339E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SOA expone; EDA comunica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4D67F287-0DBC-4B0F-A665-EE02ED54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2">
            <a:extLst xmlns:a="http://schemas.openxmlformats.org/drawingml/2006/main">
              <a:ext uri="{FF2B5EF4-FFF2-40B4-BE49-F238E27FC236}">
                <a16:creationId xmlns:a16="http://schemas.microsoft.com/office/drawing/2014/main" id="{A8A4AFBA-DA79-467E-874E-39E8ECCA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2">
            <a:extLst xmlns:a="http://schemas.openxmlformats.org/drawingml/2006/main">
              <a:ext uri="{FF2B5EF4-FFF2-40B4-BE49-F238E27FC236}">
                <a16:creationId xmlns:a16="http://schemas.microsoft.com/office/drawing/2014/main" id="{A8E03663-4A46-4EA8-ADAF-1552ACB1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soa-eda-intro">
            <a:extLst xmlns:a="http://schemas.openxmlformats.org/drawingml/2006/main">
              <a:ext uri="{FF2B5EF4-FFF2-40B4-BE49-F238E27FC236}">
                <a16:creationId xmlns:a16="http://schemas.microsoft.com/office/drawing/2014/main" id="{B94936F6-F885-4909-A4CF-09B48B58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954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669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Son complementarios: uno organiza capacidades solicitables; el otro difunde hechos que pueden activar reacciones.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93668" y="2219325"/>
          <a:ext xmlns:a="http://schemas.openxmlformats.org/drawingml/2006/main" cx="11404664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48175"/>
                <a:gridCol w="4479989"/>
              </a:tblGrid>
              <a:tr h="619125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EDA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Pregunta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¿Qué capacidad puedo solicitar?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¿Qué cambio ocurrió?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Interacción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Solicitud y respuesta mediante contrato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Publicación y suscripción a eventos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Acoplamiento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 contrato del servicio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 esquema y semántica del evento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soa-eda-together-accent">
            <a:extLst xmlns:a="http://schemas.openxmlformats.org/drawingml/2006/main">
              <a:ext uri="{FF2B5EF4-FFF2-40B4-BE49-F238E27FC236}">
                <a16:creationId xmlns:a16="http://schemas.microsoft.com/office/drawing/2014/main" id="{FEBA2B69-538E-495F-95A2-C75716A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a-eda-together-label">
            <a:extLst xmlns:a="http://schemas.openxmlformats.org/drawingml/2006/main">
              <a:ext uri="{FF2B5EF4-FFF2-40B4-BE49-F238E27FC236}">
                <a16:creationId xmlns:a16="http://schemas.microsoft.com/office/drawing/2014/main" id="{5D8FA5AD-7529-4EFD-B012-C1B90350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1045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 UNA MISMA SOLUCIÓN</a:t>
            </a:r>
          </a:p>
        </p:txBody>
      </p:sp>
      <p:sp>
        <p:nvSpPr>
          <p:cNvPr id="10" name="soa-eda-together-body">
            <a:extLst xmlns:a="http://schemas.openxmlformats.org/drawingml/2006/main">
              <a:ext uri="{FF2B5EF4-FFF2-40B4-BE49-F238E27FC236}">
                <a16:creationId xmlns:a16="http://schemas.microsoft.com/office/drawing/2014/main" id="{F24F5289-27DF-480F-B082-B35616FE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95925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Una inscripción puede solicitar un servicio y, después, publicar un evento para notificaciones y analítica.</a:t>
            </a:r>
          </a:p>
        </p:txBody>
      </p:sp>
    </p:spTree>
    <p:extLst>
      <p:ext uri="{BB962C8B-B14F-4D97-AF65-F5344CB8AC3E}">
        <p14:creationId xmlns:p14="http://schemas.microsoft.com/office/powerpoint/2010/main" val="1570907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13">
            <a:extLst xmlns:a="http://schemas.openxmlformats.org/drawingml/2006/main">
              <a:ext uri="{FF2B5EF4-FFF2-40B4-BE49-F238E27FC236}">
                <a16:creationId xmlns:a16="http://schemas.microsoft.com/office/drawing/2014/main" id="{235F6458-5FCD-476A-B430-AB1BC843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493CFF32-147E-48E5-BCEC-C4187657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Una arquitectura híbrida combina estilos con intención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8929C8AF-6D3D-4DF4-B769-2A0733D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3">
            <a:extLst xmlns:a="http://schemas.openxmlformats.org/drawingml/2006/main">
              <a:ext uri="{FF2B5EF4-FFF2-40B4-BE49-F238E27FC236}">
                <a16:creationId xmlns:a16="http://schemas.microsoft.com/office/drawing/2014/main" id="{9F3AF0FF-1F3A-48BB-A4EB-2CC85078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3">
            <a:extLst xmlns:a="http://schemas.openxmlformats.org/drawingml/2006/main">
              <a:ext uri="{FF2B5EF4-FFF2-40B4-BE49-F238E27FC236}">
                <a16:creationId xmlns:a16="http://schemas.microsoft.com/office/drawing/2014/main" id="{16672783-D48C-4F3D-905C-5D0DA57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hybrid-lead">
            <a:extLst xmlns:a="http://schemas.openxmlformats.org/drawingml/2006/main">
              <a:ext uri="{FF2B5EF4-FFF2-40B4-BE49-F238E27FC236}">
                <a16:creationId xmlns:a16="http://schemas.microsoft.com/office/drawing/2014/main" id="{25C8E0EB-EA4D-404A-BC8E-3B8644C9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4782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híbrido no es mezclar por gusto: cada parte responde a una restricción distinta.</a:t>
            </a:r>
          </a:p>
        </p:txBody>
      </p:sp>
      <p:sp>
        <p:nvSpPr>
          <p:cNvPr id="7" name="hybrid-data-label">
            <a:extLst xmlns:a="http://schemas.openxmlformats.org/drawingml/2006/main">
              <a:ext uri="{FF2B5EF4-FFF2-40B4-BE49-F238E27FC236}">
                <a16:creationId xmlns:a16="http://schemas.microsoft.com/office/drawing/2014/main" id="{0F1FAAB6-19A9-4980-894C-78C75BC1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</p:txBody>
      </p:sp>
      <p:sp>
        <p:nvSpPr>
          <p:cNvPr id="8" name="hybrid-data">
            <a:extLst xmlns:a="http://schemas.openxmlformats.org/drawingml/2006/main">
              <a:ext uri="{FF2B5EF4-FFF2-40B4-BE49-F238E27FC236}">
                <a16:creationId xmlns:a16="http://schemas.microsoft.com/office/drawing/2014/main" id="{5E2A8E54-E60D-4503-A46F-E2914CB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576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repositorio conserva el estado académico.</a:t>
            </a:r>
          </a:p>
        </p:txBody>
      </p:sp>
      <p:sp>
        <p:nvSpPr>
          <p:cNvPr id="9" name="hybrid-flow-label">
            <a:extLst xmlns:a="http://schemas.openxmlformats.org/drawingml/2006/main">
              <a:ext uri="{FF2B5EF4-FFF2-40B4-BE49-F238E27FC236}">
                <a16:creationId xmlns:a16="http://schemas.microsoft.com/office/drawing/2014/main" id="{90DB55B4-76C1-4BF0-88E2-26A24452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FLUJO</a:t>
            </a:r>
          </a:p>
        </p:txBody>
      </p:sp>
      <p:sp>
        <p:nvSpPr>
          <p:cNvPr id="10" name="hybrid-flow">
            <a:extLst xmlns:a="http://schemas.openxmlformats.org/drawingml/2006/main">
              <a:ext uri="{FF2B5EF4-FFF2-40B4-BE49-F238E27FC236}">
                <a16:creationId xmlns:a16="http://schemas.microsoft.com/office/drawing/2014/main" id="{33086E9C-9E71-44C9-9CCC-956F1D2D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pipeline prepara reportes por etapas.</a:t>
            </a:r>
          </a:p>
        </p:txBody>
      </p:sp>
      <p:sp>
        <p:nvSpPr>
          <p:cNvPr id="11" name="hybrid-events-label">
            <a:extLst xmlns:a="http://schemas.openxmlformats.org/drawingml/2006/main">
              <a:ext uri="{FF2B5EF4-FFF2-40B4-BE49-F238E27FC236}">
                <a16:creationId xmlns:a16="http://schemas.microsoft.com/office/drawing/2014/main" id="{AC89EBF6-208E-4C0A-877C-B523D38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81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EVENTOS</a:t>
            </a:r>
          </a:p>
        </p:txBody>
      </p:sp>
      <p:sp>
        <p:nvSpPr>
          <p:cNvPr id="12" name="hybrid-events">
            <a:extLst xmlns:a="http://schemas.openxmlformats.org/drawingml/2006/main">
              <a:ext uri="{FF2B5EF4-FFF2-40B4-BE49-F238E27FC236}">
                <a16:creationId xmlns:a16="http://schemas.microsoft.com/office/drawing/2014/main" id="{D29C6EB7-06D6-4750-9FD0-23BBBB53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578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Las notificaciones reaccionan a cambios.</a:t>
            </a:r>
          </a:p>
        </p:txBody>
      </p:sp>
      <p:sp>
        <p:nvSpPr>
          <p:cNvPr id="13" name="hybrid-portal">
            <a:extLst xmlns:a="http://schemas.openxmlformats.org/drawingml/2006/main">
              <a:ext uri="{FF2B5EF4-FFF2-40B4-BE49-F238E27FC236}">
                <a16:creationId xmlns:a16="http://schemas.microsoft.com/office/drawing/2014/main" id="{66A0683E-EA3F-42F3-A364-81895345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Portal</a:t>
            </a:r>
          </a:p>
        </p:txBody>
      </p:sp>
      <p:sp>
        <p:nvSpPr>
          <p:cNvPr id="14" name="hybrid-service">
            <a:extLst xmlns:a="http://schemas.openxmlformats.org/drawingml/2006/main">
              <a:ext uri="{FF2B5EF4-FFF2-40B4-BE49-F238E27FC236}">
                <a16:creationId xmlns:a16="http://schemas.microsoft.com/office/drawing/2014/main" id="{BC57DB85-E71C-467C-868A-AC65BBB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1714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Servicio de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inscripción</a:t>
            </a:r>
          </a:p>
        </p:txBody>
      </p:sp>
      <p:sp>
        <p:nvSpPr>
          <p:cNvPr id="15" name="hybrid-repo">
            <a:extLst xmlns:a="http://schemas.openxmlformats.org/drawingml/2006/main">
              <a:ext uri="{FF2B5EF4-FFF2-40B4-BE49-F238E27FC236}">
                <a16:creationId xmlns:a16="http://schemas.microsoft.com/office/drawing/2014/main" id="{C81B7301-F84B-40EC-9606-E7629000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619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Repositorio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académico</a:t>
            </a:r>
          </a:p>
        </p:txBody>
      </p:sp>
      <p:sp>
        <p:nvSpPr>
          <p:cNvPr id="16" name="hybrid-event">
            <a:extLst xmlns:a="http://schemas.openxmlformats.org/drawingml/2006/main">
              <a:ext uri="{FF2B5EF4-FFF2-40B4-BE49-F238E27FC236}">
                <a16:creationId xmlns:a16="http://schemas.microsoft.com/office/drawing/2014/main" id="{A4BB5300-B2F9-4181-BE6D-8C76B991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1714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429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Evento: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inscripción registrada</a:t>
            </a:r>
          </a:p>
        </p:txBody>
      </p:sp>
      <p:sp>
        <p:nvSpPr>
          <p:cNvPr id="17" name="hybrid-notify">
            <a:extLst xmlns:a="http://schemas.openxmlformats.org/drawingml/2006/main">
              <a:ext uri="{FF2B5EF4-FFF2-40B4-BE49-F238E27FC236}">
                <a16:creationId xmlns:a16="http://schemas.microsoft.com/office/drawing/2014/main" id="{9F278D20-1BFD-4C06-942C-0EF6F6C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71875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Notificaciones</a:t>
            </a:r>
          </a:p>
        </p:txBody>
      </p:sp>
      <p:sp>
        <p:nvSpPr>
          <p:cNvPr id="18" name="hybrid-analytics">
            <a:extLst xmlns:a="http://schemas.openxmlformats.org/drawingml/2006/main">
              <a:ext uri="{FF2B5EF4-FFF2-40B4-BE49-F238E27FC236}">
                <a16:creationId xmlns:a16="http://schemas.microsoft.com/office/drawing/2014/main" id="{A3FCE830-4B59-42E4-A266-A8A59FC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29125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Analítica</a:t>
            </a:r>
          </a:p>
        </p:txBody>
      </p:sp>
      <p:sp>
        <p:nvSpPr>
          <p:cNvPr id="19" name="hybrid-pipeline">
            <a:extLst xmlns:a="http://schemas.openxmlformats.org/drawingml/2006/main">
              <a:ext uri="{FF2B5EF4-FFF2-40B4-BE49-F238E27FC236}">
                <a16:creationId xmlns:a16="http://schemas.microsoft.com/office/drawing/2014/main" id="{8C9D660E-AA68-4A40-98F1-0A460642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9112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Pipeline de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reportes</a:t>
            </a:r>
          </a:p>
        </p:txBody>
      </p:sp>
      <p:sp>
        <p:nvSpPr>
          <p:cNvPr id="20" name="hybrid-report">
            <a:extLst xmlns:a="http://schemas.openxmlformats.org/drawingml/2006/main">
              <a:ext uri="{FF2B5EF4-FFF2-40B4-BE49-F238E27FC236}">
                <a16:creationId xmlns:a16="http://schemas.microsoft.com/office/drawing/2014/main" id="{6C1D0E61-A426-4AEB-AFED-0B372844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387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</a:t>
            </a:r>
          </a:p>
        </p:txBody>
      </p: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29500" y="2514600"/>
            <a:ext cx="523875" cy="80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667875" y="2595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810625" y="29527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9667875" y="3848100"/>
            <a:ext cx="523875" cy="223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667875" y="4071938"/>
            <a:ext cx="523875" cy="633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810625" y="2952750"/>
            <a:ext cx="2190750" cy="2238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9667875" y="5514975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82100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4">
            <a:extLst xmlns:a="http://schemas.openxmlformats.org/drawingml/2006/main">
              <a:ext uri="{FF2B5EF4-FFF2-40B4-BE49-F238E27FC236}">
                <a16:creationId xmlns:a16="http://schemas.microsoft.com/office/drawing/2014/main" id="{E8F36D65-33E6-4452-A68E-1DD328CA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66803D92-1A2B-4072-9461-84189D0A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Elegir arquitectura es justificar restricciones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114A0950-982E-4972-B7E8-AA8D22B2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4">
            <a:extLst xmlns:a="http://schemas.openxmlformats.org/drawingml/2006/main">
              <a:ext uri="{FF2B5EF4-FFF2-40B4-BE49-F238E27FC236}">
                <a16:creationId xmlns:a16="http://schemas.microsoft.com/office/drawing/2014/main" id="{1D449A46-4817-4B96-8FEA-FC06985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4">
            <a:extLst xmlns:a="http://schemas.openxmlformats.org/drawingml/2006/main">
              <a:ext uri="{FF2B5EF4-FFF2-40B4-BE49-F238E27FC236}">
                <a16:creationId xmlns:a16="http://schemas.microsoft.com/office/drawing/2014/main" id="{E4A2B75C-BD95-4ABC-B8AF-41B713B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decision-intro">
            <a:extLst xmlns:a="http://schemas.openxmlformats.org/drawingml/2006/main">
              <a:ext uri="{FF2B5EF4-FFF2-40B4-BE49-F238E27FC236}">
                <a16:creationId xmlns:a16="http://schemas.microsoft.com/office/drawing/2014/main" id="{10BE5D70-6C7C-4868-9D75-7514BF56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954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El patrón es una respuesta a un problema y a unas prioridades; no una etiqueta para decorar el diagrama.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393668" y="2076450"/>
          <a:ext xmlns:a="http://schemas.openxmlformats.org/drawingml/2006/main" cx="11404664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686050"/>
                <a:gridCol w="5241989"/>
              </a:tblGrid>
              <a:tr h="635000">
                <a:tc>
                  <a:txBody>
                    <a:bodyPr/>
                    <a:lstStyle/>
                    <a:p>
                      <a:r>
                        <a:t>Si el problema exige…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Considera…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Porque…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Fuente de verdad compartida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Centrada en datos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Coordina el acceso alrededor de un repositorio.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Transformación por etapas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Flujo de datos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Separa filtros y permite reusar pasos.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Reacción a cambios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Desacopla productores y consumidores.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Capacidades reutilizables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Expone contratos entre dominios.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Necesidades mixtas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Híbrida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Combina estilos con límites claros.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3675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15">
            <a:extLst xmlns:a="http://schemas.openxmlformats.org/drawingml/2006/main">
              <a:ext uri="{FF2B5EF4-FFF2-40B4-BE49-F238E27FC236}">
                <a16:creationId xmlns:a16="http://schemas.microsoft.com/office/drawing/2014/main" id="{A5C41342-9F4E-426B-973F-47F4E761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34899B06-A856-4EB2-A8A7-9DBC1E6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Centrada en datos: la decisión clave es el esquema</a:t>
            </a:r>
          </a:p>
        </p:txBody>
      </p:sp>
      <p:sp>
        <p:nvSpPr>
          <p:cNvPr id="3" name="title-rule-15">
            <a:extLst xmlns:a="http://schemas.openxmlformats.org/drawingml/2006/main">
              <a:ext uri="{FF2B5EF4-FFF2-40B4-BE49-F238E27FC236}">
                <a16:creationId xmlns:a16="http://schemas.microsoft.com/office/drawing/2014/main" id="{5B369423-0652-4121-AF4F-F624D231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5">
            <a:extLst xmlns:a="http://schemas.openxmlformats.org/drawingml/2006/main">
              <a:ext uri="{FF2B5EF4-FFF2-40B4-BE49-F238E27FC236}">
                <a16:creationId xmlns:a16="http://schemas.microsoft.com/office/drawing/2014/main" id="{1B76DCF9-17A6-4A3F-AE13-A8DCCB68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5">
            <a:extLst xmlns:a="http://schemas.openxmlformats.org/drawingml/2006/main">
              <a:ext uri="{FF2B5EF4-FFF2-40B4-BE49-F238E27FC236}">
                <a16:creationId xmlns:a16="http://schemas.microsoft.com/office/drawing/2014/main" id="{2C0C8006-C239-46FF-B965-267EC89F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data-deep-lead">
            <a:extLst xmlns:a="http://schemas.openxmlformats.org/drawingml/2006/main">
              <a:ext uri="{FF2B5EF4-FFF2-40B4-BE49-F238E27FC236}">
                <a16:creationId xmlns:a16="http://schemas.microsoft.com/office/drawing/2014/main" id="{3B37E956-C9DA-4F85-878D-56CC398B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repositorio central simplifica la consistencia; a cambio, obliga a acordar quién define y cambia el modelo.</a:t>
            </a:r>
          </a:p>
        </p:txBody>
      </p:sp>
      <p:sp>
        <p:nvSpPr>
          <p:cNvPr id="7" name="data-deep-question-label">
            <a:extLst xmlns:a="http://schemas.openxmlformats.org/drawingml/2006/main">
              <a:ext uri="{FF2B5EF4-FFF2-40B4-BE49-F238E27FC236}">
                <a16:creationId xmlns:a16="http://schemas.microsoft.com/office/drawing/2014/main" id="{FD76539E-4534-47B9-B2A2-E15D5924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PREGUNTAS DE DISEÑO</a:t>
            </a:r>
          </a:p>
        </p:txBody>
      </p:sp>
      <p:sp>
        <p:nvSpPr>
          <p:cNvPr id="8" name="data-deep-question">
            <a:extLst xmlns:a="http://schemas.openxmlformats.org/drawingml/2006/main">
              <a:ext uri="{FF2B5EF4-FFF2-40B4-BE49-F238E27FC236}">
                <a16:creationId xmlns:a16="http://schemas.microsoft.com/office/drawing/2014/main" id="{FB42F5FC-2DD7-49F4-9E67-52CC0C75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766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¿Quién es dueño del esquema?</a:t>
            </a:r>
          </a:p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¿Cómo se validan las escrituras?</a:t>
            </a:r>
          </a:p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¿Qué pasa mientras se migra una versión?</a:t>
            </a:r>
          </a:p>
        </p:txBody>
      </p:sp>
      <p:sp>
        <p:nvSpPr>
          <p:cNvPr id="9" name="data-deep-consequence-label">
            <a:extLst xmlns:a="http://schemas.openxmlformats.org/drawingml/2006/main">
              <a:ext uri="{FF2B5EF4-FFF2-40B4-BE49-F238E27FC236}">
                <a16:creationId xmlns:a16="http://schemas.microsoft.com/office/drawing/2014/main" id="{89C3286C-88BD-46EA-AA32-38D2F2B8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53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CONSECUENCIA</a:t>
            </a:r>
          </a:p>
        </p:txBody>
      </p:sp>
      <p:sp>
        <p:nvSpPr>
          <p:cNvPr id="10" name="data-deep-consequence">
            <a:extLst xmlns:a="http://schemas.openxmlformats.org/drawingml/2006/main">
              <a:ext uri="{FF2B5EF4-FFF2-40B4-BE49-F238E27FC236}">
                <a16:creationId xmlns:a16="http://schemas.microsoft.com/office/drawing/2014/main" id="{BF54AC87-F2A3-42DB-9AA6-35678E0F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6732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Todos los consumidores comparten disponibilidad, permisos y contrato del dato.</a:t>
            </a:r>
          </a:p>
        </p:txBody>
      </p:sp>
      <p:sp>
        <p:nvSpPr>
          <p:cNvPr id="11" name="data-deep-writers-label">
            <a:extLst xmlns:a="http://schemas.openxmlformats.org/drawingml/2006/main">
              <a:ext uri="{FF2B5EF4-FFF2-40B4-BE49-F238E27FC236}">
                <a16:creationId xmlns:a16="http://schemas.microsoft.com/office/drawing/2014/main" id="{39054C4C-6A43-421E-B339-D57E700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ESCRIBEN</a:t>
            </a:r>
          </a:p>
        </p:txBody>
      </p:sp>
      <p:sp>
        <p:nvSpPr>
          <p:cNvPr id="12" name="data-deep-repository-label">
            <a:extLst xmlns:a="http://schemas.openxmlformats.org/drawingml/2006/main">
              <a:ext uri="{FF2B5EF4-FFF2-40B4-BE49-F238E27FC236}">
                <a16:creationId xmlns:a16="http://schemas.microsoft.com/office/drawing/2014/main" id="{7316D180-3870-4263-8446-CBF66AD7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CENTRO</a:t>
            </a:r>
          </a:p>
        </p:txBody>
      </p:sp>
      <p:sp>
        <p:nvSpPr>
          <p:cNvPr id="13" name="data-deep-readers-label">
            <a:extLst xmlns:a="http://schemas.openxmlformats.org/drawingml/2006/main">
              <a:ext uri="{FF2B5EF4-FFF2-40B4-BE49-F238E27FC236}">
                <a16:creationId xmlns:a16="http://schemas.microsoft.com/office/drawing/2014/main" id="{02F915EE-DE18-4B29-9709-9D468D13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752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CONSUMEN</a:t>
            </a:r>
          </a:p>
        </p:txBody>
      </p:sp>
      <p:sp>
        <p:nvSpPr>
          <p:cNvPr id="14" name="data-deep-writer-1">
            <a:extLst xmlns:a="http://schemas.openxmlformats.org/drawingml/2006/main">
              <a:ext uri="{FF2B5EF4-FFF2-40B4-BE49-F238E27FC236}">
                <a16:creationId xmlns:a16="http://schemas.microsoft.com/office/drawing/2014/main" id="{0E20E781-6280-4568-A3CF-C6466283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Registro</a:t>
            </a:r>
          </a:p>
        </p:txBody>
      </p:sp>
      <p:sp>
        <p:nvSpPr>
          <p:cNvPr id="15" name="data-deep-writer-2">
            <a:extLst xmlns:a="http://schemas.openxmlformats.org/drawingml/2006/main">
              <a:ext uri="{FF2B5EF4-FFF2-40B4-BE49-F238E27FC236}">
                <a16:creationId xmlns:a16="http://schemas.microsoft.com/office/drawing/2014/main" id="{C718A443-3213-4288-B9B6-5FCD4C07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Pagos</a:t>
            </a:r>
          </a:p>
        </p:txBody>
      </p:sp>
      <p:sp>
        <p:nvSpPr>
          <p:cNvPr id="16" name="data-deep-repository">
            <a:extLst xmlns:a="http://schemas.openxmlformats.org/drawingml/2006/main">
              <a:ext uri="{FF2B5EF4-FFF2-40B4-BE49-F238E27FC236}">
                <a16:creationId xmlns:a16="http://schemas.microsoft.com/office/drawing/2014/main" id="{645115BB-D5E4-4D0C-A84B-2B3CC00A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Repositorio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fuente de verdad</a:t>
            </a:r>
          </a:p>
        </p:txBody>
      </p:sp>
      <p:sp>
        <p:nvSpPr>
          <p:cNvPr id="17" name="data-deep-reader-1">
            <a:extLst xmlns:a="http://schemas.openxmlformats.org/drawingml/2006/main">
              <a:ext uri="{FF2B5EF4-FFF2-40B4-BE49-F238E27FC236}">
                <a16:creationId xmlns:a16="http://schemas.microsoft.com/office/drawing/2014/main" id="{EA89A083-81C8-4E15-8ED1-FD691B2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81250"/>
            <a:ext cx="1333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Consultas</a:t>
            </a:r>
          </a:p>
        </p:txBody>
      </p:sp>
      <p:sp>
        <p:nvSpPr>
          <p:cNvPr id="18" name="data-deep-reader-2">
            <a:extLst xmlns:a="http://schemas.openxmlformats.org/drawingml/2006/main">
              <a:ext uri="{FF2B5EF4-FFF2-40B4-BE49-F238E27FC236}">
                <a16:creationId xmlns:a16="http://schemas.microsoft.com/office/drawing/2014/main" id="{ACF77E8F-1D0E-4495-B951-4AF32087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0"/>
            <a:ext cx="1333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Reportes</a:t>
            </a:r>
          </a:p>
        </p:txBody>
      </p: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15250" y="2667000"/>
            <a:ext cx="33337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715250" y="3609975"/>
            <a:ext cx="333375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0239375" y="2667000"/>
            <a:ext cx="23812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239375" y="3609975"/>
            <a:ext cx="238125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data-deep-caption">
            <a:extLst xmlns:a="http://schemas.openxmlformats.org/drawingml/2006/main">
              <a:ext uri="{FF2B5EF4-FFF2-40B4-BE49-F238E27FC236}">
                <a16:creationId xmlns:a16="http://schemas.microsoft.com/office/drawing/2014/main" id="{2F73C5DD-DBC1-4820-9EDD-9199B8E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Coordinación simple → dependencia compartida</a:t>
            </a:r>
          </a:p>
        </p:txBody>
      </p:sp>
    </p:spTree>
    <p:extLst>
      <p:ext uri="{BB962C8B-B14F-4D97-AF65-F5344CB8AC3E}">
        <p14:creationId xmlns:p14="http://schemas.microsoft.com/office/powerpoint/2010/main" val="6334720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16">
            <a:extLst xmlns:a="http://schemas.openxmlformats.org/drawingml/2006/main">
              <a:ext uri="{FF2B5EF4-FFF2-40B4-BE49-F238E27FC236}">
                <a16:creationId xmlns:a16="http://schemas.microsoft.com/office/drawing/2014/main" id="{29AF9FD5-B547-48EF-B60C-4DF27DE4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3F3C9C59-6581-4E66-8782-BFF767FA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Flujo de datos: el contrato entre etapas importa</a:t>
            </a:r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7259E12B-F2F9-483C-AA0C-7342F27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6">
            <a:extLst xmlns:a="http://schemas.openxmlformats.org/drawingml/2006/main">
              <a:ext uri="{FF2B5EF4-FFF2-40B4-BE49-F238E27FC236}">
                <a16:creationId xmlns:a16="http://schemas.microsoft.com/office/drawing/2014/main" id="{5D1D14F7-A9B0-4A58-A2DE-8CE8AA6D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6">
            <a:extLst xmlns:a="http://schemas.openxmlformats.org/drawingml/2006/main">
              <a:ext uri="{FF2B5EF4-FFF2-40B4-BE49-F238E27FC236}">
                <a16:creationId xmlns:a16="http://schemas.microsoft.com/office/drawing/2014/main" id="{4FE4EB6C-AFE7-4B21-B2EE-60AFF84E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flow-deep-lead">
            <a:extLst xmlns:a="http://schemas.openxmlformats.org/drawingml/2006/main">
              <a:ext uri="{FF2B5EF4-FFF2-40B4-BE49-F238E27FC236}">
                <a16:creationId xmlns:a16="http://schemas.microsoft.com/office/drawing/2014/main" id="{56B88699-F685-4D1E-BEAE-C7707ABC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68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Cada filtro debe declarar entrada, salida, errores y capacidad de repetirse.</a:t>
            </a:r>
          </a:p>
        </p:txBody>
      </p:sp>
      <p:sp>
        <p:nvSpPr>
          <p:cNvPr id="7" name="flow-deep-input">
            <a:extLst xmlns:a="http://schemas.openxmlformats.org/drawingml/2006/main">
              <a:ext uri="{FF2B5EF4-FFF2-40B4-BE49-F238E27FC236}">
                <a16:creationId xmlns:a16="http://schemas.microsoft.com/office/drawing/2014/main" id="{6FA9DC8D-B3B9-4B1B-B259-8BAFDDC7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8" name="flow-deep-validate">
            <a:extLst xmlns:a="http://schemas.openxmlformats.org/drawingml/2006/main">
              <a:ext uri="{FF2B5EF4-FFF2-40B4-BE49-F238E27FC236}">
                <a16:creationId xmlns:a16="http://schemas.microsoft.com/office/drawing/2014/main" id="{6A068D3D-268A-48B7-A6CC-1509D71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47950"/>
            <a:ext cx="1666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Validar</a:t>
            </a:r>
          </a:p>
        </p:txBody>
      </p:sp>
      <p:sp>
        <p:nvSpPr>
          <p:cNvPr id="9" name="flow-deep-enrich">
            <a:extLst xmlns:a="http://schemas.openxmlformats.org/drawingml/2006/main">
              <a:ext uri="{FF2B5EF4-FFF2-40B4-BE49-F238E27FC236}">
                <a16:creationId xmlns:a16="http://schemas.microsoft.com/office/drawing/2014/main" id="{B4BD191A-748B-4B82-8D9D-A7ED5246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Enriquecer</a:t>
            </a:r>
          </a:p>
        </p:txBody>
      </p:sp>
      <p:sp>
        <p:nvSpPr>
          <p:cNvPr id="10" name="flow-deep-publish">
            <a:extLst xmlns:a="http://schemas.openxmlformats.org/drawingml/2006/main">
              <a:ext uri="{FF2B5EF4-FFF2-40B4-BE49-F238E27FC236}">
                <a16:creationId xmlns:a16="http://schemas.microsoft.com/office/drawing/2014/main" id="{C1B231FE-9C40-423B-AAA9-F2829612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1666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Publicar</a:t>
            </a:r>
          </a:p>
        </p:txBody>
      </p:sp>
      <p:sp>
        <p:nvSpPr>
          <p:cNvPr id="11" name="flow-deep-consume">
            <a:extLst xmlns:a="http://schemas.openxmlformats.org/drawingml/2006/main">
              <a:ext uri="{FF2B5EF4-FFF2-40B4-BE49-F238E27FC236}">
                <a16:creationId xmlns:a16="http://schemas.microsoft.com/office/drawing/2014/main" id="{F30DD6D1-C388-4F00-8377-13F5FA7D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47950"/>
            <a:ext cx="1666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Consumir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47875" y="29718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29718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58000" y="29718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191625" y="29718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flow-deep-schema-1">
            <a:extLst xmlns:a="http://schemas.openxmlformats.org/drawingml/2006/main">
              <a:ext uri="{FF2B5EF4-FFF2-40B4-BE49-F238E27FC236}">
                <a16:creationId xmlns:a16="http://schemas.microsoft.com/office/drawing/2014/main" id="{9475533D-1267-4873-8317-C2DD6E1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registro crudo</a:t>
            </a:r>
          </a:p>
        </p:txBody>
      </p:sp>
      <p:sp>
        <p:nvSpPr>
          <p:cNvPr id="17" name="flow-deep-schema-2">
            <a:extLst xmlns:a="http://schemas.openxmlformats.org/drawingml/2006/main">
              <a:ext uri="{FF2B5EF4-FFF2-40B4-BE49-F238E27FC236}">
                <a16:creationId xmlns:a16="http://schemas.microsoft.com/office/drawing/2014/main" id="{30CB33D5-068B-40E5-A5EF-EAD816D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385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válido / inválido</a:t>
            </a:r>
          </a:p>
        </p:txBody>
      </p:sp>
      <p:sp>
        <p:nvSpPr>
          <p:cNvPr id="18" name="flow-deep-schema-3">
            <a:extLst xmlns:a="http://schemas.openxmlformats.org/drawingml/2006/main">
              <a:ext uri="{FF2B5EF4-FFF2-40B4-BE49-F238E27FC236}">
                <a16:creationId xmlns:a16="http://schemas.microsoft.com/office/drawing/2014/main" id="{59B76D51-26DB-4439-9F02-F3A72D9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38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dato enriquecido</a:t>
            </a:r>
          </a:p>
        </p:txBody>
      </p:sp>
      <p:sp>
        <p:nvSpPr>
          <p:cNvPr id="19" name="flow-deep-schema-4">
            <a:extLst xmlns:a="http://schemas.openxmlformats.org/drawingml/2006/main">
              <a:ext uri="{FF2B5EF4-FFF2-40B4-BE49-F238E27FC236}">
                <a16:creationId xmlns:a16="http://schemas.microsoft.com/office/drawing/2014/main" id="{D0E0E58C-5B7B-4F0F-8202-B13169FB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385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contrato de salida</a:t>
            </a:r>
          </a:p>
        </p:txBody>
      </p:sp>
      <p:sp>
        <p:nvSpPr>
          <p:cNvPr id="20" name="flow-deep-schema-5">
            <a:extLst xmlns:a="http://schemas.openxmlformats.org/drawingml/2006/main">
              <a:ext uri="{FF2B5EF4-FFF2-40B4-BE49-F238E27FC236}">
                <a16:creationId xmlns:a16="http://schemas.microsoft.com/office/drawing/2014/main" id="{0B542278-5CDF-46EA-9717-57A5FA62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385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reporte / servicio</a:t>
            </a:r>
          </a:p>
        </p:txBody>
      </p:sp>
      <p:sp>
        <p:nvSpPr>
          <p:cNvPr id="21" name="flow-deep-compose-accent">
            <a:extLst xmlns:a="http://schemas.openxmlformats.org/drawingml/2006/main">
              <a:ext uri="{FF2B5EF4-FFF2-40B4-BE49-F238E27FC236}">
                <a16:creationId xmlns:a16="http://schemas.microsoft.com/office/drawing/2014/main" id="{B7E3FD41-CC23-4957-ABB8-B45E6037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05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deep-compose-label">
            <a:extLst xmlns:a="http://schemas.openxmlformats.org/drawingml/2006/main">
              <a:ext uri="{FF2B5EF4-FFF2-40B4-BE49-F238E27FC236}">
                <a16:creationId xmlns:a16="http://schemas.microsoft.com/office/drawing/2014/main" id="{4A353B1E-317A-4E9A-A783-5BC43A3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COMPOSICIÓN</a:t>
            </a:r>
          </a:p>
        </p:txBody>
      </p:sp>
      <p:sp>
        <p:nvSpPr>
          <p:cNvPr id="23" name="flow-deep-compose-body">
            <a:extLst xmlns:a="http://schemas.openxmlformats.org/drawingml/2006/main">
              <a:ext uri="{FF2B5EF4-FFF2-40B4-BE49-F238E27FC236}">
                <a16:creationId xmlns:a16="http://schemas.microsoft.com/office/drawing/2014/main" id="{F94E0265-06F0-4D6C-9394-461923FF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3124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Filtros pequeños se pueden reordenar, reutilizar o paralelizar.</a:t>
            </a:r>
          </a:p>
        </p:txBody>
      </p:sp>
      <p:sp>
        <p:nvSpPr>
          <p:cNvPr id="24" name="flow-deep-operate-accent">
            <a:extLst xmlns:a="http://schemas.openxmlformats.org/drawingml/2006/main">
              <a:ext uri="{FF2B5EF4-FFF2-40B4-BE49-F238E27FC236}">
                <a16:creationId xmlns:a16="http://schemas.microsoft.com/office/drawing/2014/main" id="{6C03F512-DC76-4B76-989F-6FF12AF2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005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deep-operate-label">
            <a:extLst xmlns:a="http://schemas.openxmlformats.org/drawingml/2006/main">
              <a:ext uri="{FF2B5EF4-FFF2-40B4-BE49-F238E27FC236}">
                <a16:creationId xmlns:a16="http://schemas.microsoft.com/office/drawing/2014/main" id="{3DB3094C-6B88-4C2B-9787-2FC5880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4817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OPERACIÓN</a:t>
            </a:r>
          </a:p>
        </p:txBody>
      </p:sp>
      <p:sp>
        <p:nvSpPr>
          <p:cNvPr id="26" name="flow-deep-operate-body">
            <a:extLst xmlns:a="http://schemas.openxmlformats.org/drawingml/2006/main">
              <a:ext uri="{FF2B5EF4-FFF2-40B4-BE49-F238E27FC236}">
                <a16:creationId xmlns:a16="http://schemas.microsoft.com/office/drawing/2014/main" id="{CC7DD39A-F74D-4144-A8D7-1A20E95E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3124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Colas, backpressure y observabilidad protegen la cadena.</a:t>
            </a:r>
          </a:p>
        </p:txBody>
      </p:sp>
      <p:sp>
        <p:nvSpPr>
          <p:cNvPr id="27" name="flow-deep-recover-accent">
            <a:extLst xmlns:a="http://schemas.openxmlformats.org/drawingml/2006/main">
              <a:ext uri="{FF2B5EF4-FFF2-40B4-BE49-F238E27FC236}">
                <a16:creationId xmlns:a16="http://schemas.microsoft.com/office/drawing/2014/main" id="{0C266D78-E5EA-487C-82A0-EA3CF243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deep-recover-label">
            <a:extLst xmlns:a="http://schemas.openxmlformats.org/drawingml/2006/main">
              <a:ext uri="{FF2B5EF4-FFF2-40B4-BE49-F238E27FC236}">
                <a16:creationId xmlns:a16="http://schemas.microsoft.com/office/drawing/2014/main" id="{5A206852-12DE-4EC6-A01C-8D08A981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4817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RECUPERACIÓN</a:t>
            </a:r>
          </a:p>
        </p:txBody>
      </p:sp>
      <p:sp>
        <p:nvSpPr>
          <p:cNvPr id="29" name="flow-deep-recover-body">
            <a:extLst xmlns:a="http://schemas.openxmlformats.org/drawingml/2006/main">
              <a:ext uri="{FF2B5EF4-FFF2-40B4-BE49-F238E27FC236}">
                <a16:creationId xmlns:a16="http://schemas.microsoft.com/office/drawing/2014/main" id="{8F79C9AA-E24A-4A12-89D7-8402CCB1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05350"/>
            <a:ext cx="3124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Reintentos e idempotencia evitan duplicados y resultados inconsistentes.</a:t>
            </a:r>
          </a:p>
        </p:txBody>
      </p:sp>
    </p:spTree>
    <p:extLst>
      <p:ext uri="{BB962C8B-B14F-4D97-AF65-F5344CB8AC3E}">
        <p14:creationId xmlns:p14="http://schemas.microsoft.com/office/powerpoint/2010/main" val="6546619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17">
            <a:extLst xmlns:a="http://schemas.openxmlformats.org/drawingml/2006/main">
              <a:ext uri="{FF2B5EF4-FFF2-40B4-BE49-F238E27FC236}">
                <a16:creationId xmlns:a16="http://schemas.microsoft.com/office/drawing/2014/main" id="{C5E4B99E-ABEF-45F6-86BA-9B6B8A4F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89B4DBF1-A08D-46F3-B6CF-7D77CEBA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EDA: no todo mensaje es un evento</a:t>
            </a:r>
          </a:p>
        </p:txBody>
      </p:sp>
      <p:sp>
        <p:nvSpPr>
          <p:cNvPr id="3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D14B4C97-5D65-4374-B44E-1A7CD45F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7">
            <a:extLst xmlns:a="http://schemas.openxmlformats.org/drawingml/2006/main">
              <a:ext uri="{FF2B5EF4-FFF2-40B4-BE49-F238E27FC236}">
                <a16:creationId xmlns:a16="http://schemas.microsoft.com/office/drawing/2014/main" id="{70AF22E0-17B2-4646-9FA4-6233316C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7">
            <a:extLst xmlns:a="http://schemas.openxmlformats.org/drawingml/2006/main">
              <a:ext uri="{FF2B5EF4-FFF2-40B4-BE49-F238E27FC236}">
                <a16:creationId xmlns:a16="http://schemas.microsoft.com/office/drawing/2014/main" id="{9D737D88-F789-47CD-8CAE-FA8A45D4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6" name="event-vocab-intro">
            <a:extLst xmlns:a="http://schemas.openxmlformats.org/drawingml/2006/main">
              <a:ext uri="{FF2B5EF4-FFF2-40B4-BE49-F238E27FC236}">
                <a16:creationId xmlns:a16="http://schemas.microsoft.com/office/drawing/2014/main" id="{ECC3D1A1-4245-4D44-8AF5-7FDA6A9A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954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La precisión del vocabulario evita diseñar un sistema asíncrono con semántica confusa.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93668" y="2000250"/>
          <a:ext xmlns:a="http://schemas.openxmlformats.org/drawingml/2006/main" cx="11404664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29125"/>
                <a:gridCol w="4594289"/>
              </a:tblGrid>
              <a:tr h="647700">
                <a:tc>
                  <a:txBody>
                    <a:bodyPr/>
                    <a:lstStyle/>
                    <a:p>
                      <a:r>
                        <a:t>Concepto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Qué significa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Ejemplo académico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Hecho que ya ocurrió; informa a quien pueda interesarse.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InscripciónRegistrada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Comando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Solicitud dirigida a un componente para que realice una acción.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RegistrarInscripción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Mensaje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Envoltorio de transporte: payload, metadatos y destino.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payload + timestamp + schema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Stream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Secuencia de eventos que puede particionarse, procesarse y —según la plataforma— reproducirse.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eventos del curso por período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event-vocab-key-accent">
            <a:extLst xmlns:a="http://schemas.openxmlformats.org/drawingml/2006/main">
              <a:ext uri="{FF2B5EF4-FFF2-40B4-BE49-F238E27FC236}">
                <a16:creationId xmlns:a16="http://schemas.microsoft.com/office/drawing/2014/main" id="{2C98961D-74E1-4602-A81B-142ECFB2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ent-vocab-key-label">
            <a:extLst xmlns:a="http://schemas.openxmlformats.org/drawingml/2006/main">
              <a:ext uri="{FF2B5EF4-FFF2-40B4-BE49-F238E27FC236}">
                <a16:creationId xmlns:a16="http://schemas.microsoft.com/office/drawing/2014/main" id="{064D294D-4888-4DDA-AAE4-423F86B5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53075"/>
            <a:ext cx="1045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REGLA PRÁCTICA</a:t>
            </a:r>
          </a:p>
        </p:txBody>
      </p:sp>
      <p:sp>
        <p:nvSpPr>
          <p:cNvPr id="10" name="event-vocab-key-body">
            <a:extLst xmlns:a="http://schemas.openxmlformats.org/drawingml/2006/main">
              <a:ext uri="{FF2B5EF4-FFF2-40B4-BE49-F238E27FC236}">
                <a16:creationId xmlns:a16="http://schemas.microsoft.com/office/drawing/2014/main" id="{E2C8FE56-5F87-47B7-B882-20095E8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1045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 evento se publica para informar; no es una orden disfrazada para un consumidor específico.</a:t>
            </a:r>
          </a:p>
        </p:txBody>
      </p:sp>
    </p:spTree>
    <p:extLst>
      <p:ext uri="{BB962C8B-B14F-4D97-AF65-F5344CB8AC3E}">
        <p14:creationId xmlns:p14="http://schemas.microsoft.com/office/powerpoint/2010/main" val="476548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18">
            <a:extLst xmlns:a="http://schemas.openxmlformats.org/drawingml/2006/main">
              <a:ext uri="{FF2B5EF4-FFF2-40B4-BE49-F238E27FC236}">
                <a16:creationId xmlns:a16="http://schemas.microsoft.com/office/drawing/2014/main" id="{62C68D6C-5142-41FA-A0D3-11A23033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4D88147E-6D49-4640-A45D-9410A66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SOA: el contrato es parte de la arquitectura</a:t>
            </a:r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4051F6A2-0ADD-45CF-B690-6F904255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8">
            <a:extLst xmlns:a="http://schemas.openxmlformats.org/drawingml/2006/main">
              <a:ext uri="{FF2B5EF4-FFF2-40B4-BE49-F238E27FC236}">
                <a16:creationId xmlns:a16="http://schemas.microsoft.com/office/drawing/2014/main" id="{97AAC4C7-2F1D-4DD0-B322-D03EF6BD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18">
            <a:extLst xmlns:a="http://schemas.openxmlformats.org/drawingml/2006/main">
              <a:ext uri="{FF2B5EF4-FFF2-40B4-BE49-F238E27FC236}">
                <a16:creationId xmlns:a16="http://schemas.microsoft.com/office/drawing/2014/main" id="{FDF23811-E5A6-4C83-ACAA-8681816D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6" name="soa-deep-lead">
            <a:extLst xmlns:a="http://schemas.openxmlformats.org/drawingml/2006/main">
              <a:ext uri="{FF2B5EF4-FFF2-40B4-BE49-F238E27FC236}">
                <a16:creationId xmlns:a16="http://schemas.microsoft.com/office/drawing/2014/main" id="{014857B8-0F28-42B4-B771-CF148B38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 servicio ofrece una capacidad con reglas de acceso, versionado y operación.</a:t>
            </a:r>
          </a:p>
        </p:txBody>
      </p:sp>
      <p:sp>
        <p:nvSpPr>
          <p:cNvPr id="7" name="soa-deep-1-number">
            <a:extLst xmlns:a="http://schemas.openxmlformats.org/drawingml/2006/main">
              <a:ext uri="{FF2B5EF4-FFF2-40B4-BE49-F238E27FC236}">
                <a16:creationId xmlns:a16="http://schemas.microsoft.com/office/drawing/2014/main" id="{409F3506-58BF-4DD7-BD4A-0258C7E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soa-deep-1-text">
            <a:extLst xmlns:a="http://schemas.openxmlformats.org/drawingml/2006/main">
              <a:ext uri="{FF2B5EF4-FFF2-40B4-BE49-F238E27FC236}">
                <a16:creationId xmlns:a16="http://schemas.microsoft.com/office/drawing/2014/main" id="{EDB4F7A8-481B-419D-87B9-2A2933BB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38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Capacidad que se comparte</a:t>
            </a:r>
          </a:p>
        </p:txBody>
      </p:sp>
      <p:sp>
        <p:nvSpPr>
          <p:cNvPr id="9" name="soa-deep-1-rule">
            <a:extLst xmlns:a="http://schemas.openxmlformats.org/drawingml/2006/main">
              <a:ext uri="{FF2B5EF4-FFF2-40B4-BE49-F238E27FC236}">
                <a16:creationId xmlns:a16="http://schemas.microsoft.com/office/drawing/2014/main" id="{152FF886-C993-492E-8A85-F7634C4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oa-deep-2-number">
            <a:extLst xmlns:a="http://schemas.openxmlformats.org/drawingml/2006/main">
              <a:ext uri="{FF2B5EF4-FFF2-40B4-BE49-F238E27FC236}">
                <a16:creationId xmlns:a16="http://schemas.microsoft.com/office/drawing/2014/main" id="{C1E43740-57F7-4ED2-8038-0884087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soa-deep-2-text">
            <a:extLst xmlns:a="http://schemas.openxmlformats.org/drawingml/2006/main">
              <a:ext uri="{FF2B5EF4-FFF2-40B4-BE49-F238E27FC236}">
                <a16:creationId xmlns:a16="http://schemas.microsoft.com/office/drawing/2014/main" id="{B57D68B8-5050-4504-AF4F-785A7D89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Contrato que explicita</a:t>
            </a:r>
          </a:p>
        </p:txBody>
      </p:sp>
      <p:sp>
        <p:nvSpPr>
          <p:cNvPr id="12" name="soa-deep-2-rule">
            <a:extLst xmlns:a="http://schemas.openxmlformats.org/drawingml/2006/main">
              <a:ext uri="{FF2B5EF4-FFF2-40B4-BE49-F238E27FC236}">
                <a16:creationId xmlns:a16="http://schemas.microsoft.com/office/drawing/2014/main" id="{065577D3-C6C7-4DE9-9D79-914F8D4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a-deep-3-number">
            <a:extLst xmlns:a="http://schemas.openxmlformats.org/drawingml/2006/main">
              <a:ext uri="{FF2B5EF4-FFF2-40B4-BE49-F238E27FC236}">
                <a16:creationId xmlns:a16="http://schemas.microsoft.com/office/drawing/2014/main" id="{24E09F8C-1C3C-42BD-9339-19307E7C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oa-deep-3-text">
            <a:extLst xmlns:a="http://schemas.openxmlformats.org/drawingml/2006/main">
              <a:ext uri="{FF2B5EF4-FFF2-40B4-BE49-F238E27FC236}">
                <a16:creationId xmlns:a16="http://schemas.microsoft.com/office/drawing/2014/main" id="{722C9EB0-96AC-4C4A-A38B-58A0FE5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719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Servicio que expone</a:t>
            </a:r>
          </a:p>
        </p:txBody>
      </p:sp>
      <p:sp>
        <p:nvSpPr>
          <p:cNvPr id="15" name="soa-deep-3-rule">
            <a:extLst xmlns:a="http://schemas.openxmlformats.org/drawingml/2006/main">
              <a:ext uri="{FF2B5EF4-FFF2-40B4-BE49-F238E27FC236}">
                <a16:creationId xmlns:a16="http://schemas.microsoft.com/office/drawing/2014/main" id="{4DC1C2D0-1379-4482-B7AC-31CDFB1D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oa-deep-4-number">
            <a:extLst xmlns:a="http://schemas.openxmlformats.org/drawingml/2006/main">
              <a:ext uri="{FF2B5EF4-FFF2-40B4-BE49-F238E27FC236}">
                <a16:creationId xmlns:a16="http://schemas.microsoft.com/office/drawing/2014/main" id="{88796121-ABCC-4382-83BD-F97C2DA0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soa-deep-4-text">
            <a:extLst xmlns:a="http://schemas.openxmlformats.org/drawingml/2006/main">
              <a:ext uri="{FF2B5EF4-FFF2-40B4-BE49-F238E27FC236}">
                <a16:creationId xmlns:a16="http://schemas.microsoft.com/office/drawing/2014/main" id="{87033189-CF62-49D0-B0FB-CD4E9984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Gobierno que sostiene</a:t>
            </a:r>
          </a:p>
        </p:txBody>
      </p:sp>
      <p:sp>
        <p:nvSpPr>
          <p:cNvPr id="18" name="soa-deep-4-rule">
            <a:extLst xmlns:a="http://schemas.openxmlformats.org/drawingml/2006/main">
              <a:ext uri="{FF2B5EF4-FFF2-40B4-BE49-F238E27FC236}">
                <a16:creationId xmlns:a16="http://schemas.microsoft.com/office/drawing/2014/main" id="{2F74C39D-40F4-429A-943D-FD8DFC89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oa-deep-consumer">
            <a:extLst xmlns:a="http://schemas.openxmlformats.org/drawingml/2006/main">
              <a:ext uri="{FF2B5EF4-FFF2-40B4-BE49-F238E27FC236}">
                <a16:creationId xmlns:a16="http://schemas.microsoft.com/office/drawing/2014/main" id="{5A5850FE-AECC-4E04-B78C-AE292497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381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Cliente</a:t>
            </a:r>
          </a:p>
        </p:txBody>
      </p:sp>
      <p:sp>
        <p:nvSpPr>
          <p:cNvPr id="20" name="soa-deep-contract">
            <a:extLst xmlns:a="http://schemas.openxmlformats.org/drawingml/2006/main">
              <a:ext uri="{FF2B5EF4-FFF2-40B4-BE49-F238E27FC236}">
                <a16:creationId xmlns:a16="http://schemas.microsoft.com/office/drawing/2014/main" id="{0B41827E-3208-40D1-ACD4-A105C6E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Contrato</a:t>
            </a:r>
          </a:p>
        </p:txBody>
      </p:sp>
      <p:sp>
        <p:nvSpPr>
          <p:cNvPr id="21" name="soa-deep-service">
            <a:extLst xmlns:a="http://schemas.openxmlformats.org/drawingml/2006/main">
              <a:ext uri="{FF2B5EF4-FFF2-40B4-BE49-F238E27FC236}">
                <a16:creationId xmlns:a16="http://schemas.microsoft.com/office/drawing/2014/main" id="{78B8FDE0-B09F-4420-BE3A-A517F5B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33625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Servicio</a:t>
            </a:r>
          </a:p>
        </p:txBody>
      </p:sp>
      <p:sp>
        <p:nvSpPr>
          <p:cNvPr id="22" name="soa-deep-capability">
            <a:extLst xmlns:a="http://schemas.openxmlformats.org/drawingml/2006/main">
              <a:ext uri="{FF2B5EF4-FFF2-40B4-BE49-F238E27FC236}">
                <a16:creationId xmlns:a16="http://schemas.microsoft.com/office/drawing/2014/main" id="{9CD17729-32F5-4CCA-AD33-66DC1B9D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Capacidad</a:t>
            </a:r>
          </a:p>
        </p:txBody>
      </p:sp>
      <p:sp>
        <p:nvSpPr>
          <p:cNvPr id="23" name="soa-deep-policies">
            <a:extLst xmlns:a="http://schemas.openxmlformats.org/drawingml/2006/main">
              <a:ext uri="{FF2B5EF4-FFF2-40B4-BE49-F238E27FC236}">
                <a16:creationId xmlns:a16="http://schemas.microsoft.com/office/drawing/2014/main" id="{E41AEB1B-7E49-4690-A593-38634553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Políticas y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observabilidad</a:t>
            </a:r>
          </a:p>
        </p:txBody>
      </p:sp>
      <p:cxnSp>
        <p:nvCxnSpPr>
          <p:cNvPr id="5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239125" y="2628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096500" y="2628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9334500" y="2924175"/>
            <a:ext cx="1809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9334500" y="2924175"/>
            <a:ext cx="1809750" cy="1838325"/>
          </a:xfrm>
          <a:prstGeom xmlns:a="http://schemas.openxmlformats.org/drawingml/2006/main" prst="bentConnector4">
            <a:avLst>
              <a:gd name="adj1" fmla="val 0"/>
              <a:gd name="adj2" fmla="val 87565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soa-deep-caption">
            <a:extLst xmlns:a="http://schemas.openxmlformats.org/drawingml/2006/main">
              <a:ext uri="{FF2B5EF4-FFF2-40B4-BE49-F238E27FC236}">
                <a16:creationId xmlns:a16="http://schemas.microsoft.com/office/drawing/2014/main" id="{77BB0409-5F3A-4080-A37A-44DFBE2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SOA no es sinónimo de SOAP: es un estilo de colaboración basado en capacidades y contratos.</a:t>
            </a:r>
          </a:p>
        </p:txBody>
      </p:sp>
    </p:spTree>
    <p:extLst>
      <p:ext uri="{BB962C8B-B14F-4D97-AF65-F5344CB8AC3E}">
        <p14:creationId xmlns:p14="http://schemas.microsoft.com/office/powerpoint/2010/main" val="872334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19">
            <a:extLst xmlns:a="http://schemas.openxmlformats.org/drawingml/2006/main">
              <a:ext uri="{FF2B5EF4-FFF2-40B4-BE49-F238E27FC236}">
                <a16:creationId xmlns:a16="http://schemas.microsoft.com/office/drawing/2014/main" id="{C529F379-81FE-4FDE-9191-7B31A9D4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CASOS EMPRESARIALES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FFF17358-A589-4790-B85B-B13E1F1E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Casos empresariales: ningún estilo vive aislado</a:t>
            </a:r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DC30C7F4-376E-4A15-9943-C3DF7E1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19">
            <a:extLst xmlns:a="http://schemas.openxmlformats.org/drawingml/2006/main">
              <a:ext uri="{FF2B5EF4-FFF2-40B4-BE49-F238E27FC236}">
                <a16:creationId xmlns:a16="http://schemas.microsoft.com/office/drawing/2014/main" id="{2132AC58-D86C-4672-81EA-D3A3234A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CASOS EMPRESARIALES</a:t>
            </a:r>
          </a:p>
        </p:txBody>
      </p:sp>
      <p:sp>
        <p:nvSpPr>
          <p:cNvPr id="5" name="footer-right-19">
            <a:extLst xmlns:a="http://schemas.openxmlformats.org/drawingml/2006/main">
              <a:ext uri="{FF2B5EF4-FFF2-40B4-BE49-F238E27FC236}">
                <a16:creationId xmlns:a16="http://schemas.microsoft.com/office/drawing/2014/main" id="{CD7A1B49-DB88-44FB-B229-A11AEC6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case-section-lead">
            <a:extLst xmlns:a="http://schemas.openxmlformats.org/drawingml/2006/main">
              <a:ext uri="{FF2B5EF4-FFF2-40B4-BE49-F238E27FC236}">
                <a16:creationId xmlns:a16="http://schemas.microsoft.com/office/drawing/2014/main" id="{6CBDA68F-AC87-41CE-88A6-A6306FA4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Las organizaciones grandes combinan estilos; observaremos qué restricción atendió cada decisión.</a:t>
            </a:r>
          </a:p>
        </p:txBody>
      </p:sp>
      <p:sp>
        <p:nvSpPr>
          <p:cNvPr id="7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FC78B80-0ABE-47B9-B85A-31858B77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case-card-1-company">
            <a:extLst xmlns:a="http://schemas.openxmlformats.org/drawingml/2006/main">
              <a:ext uri="{FF2B5EF4-FFF2-40B4-BE49-F238E27FC236}">
                <a16:creationId xmlns:a16="http://schemas.microsoft.com/office/drawing/2014/main" id="{44D8138F-8417-4BD8-B803-6750FEF6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NETFLIX</a:t>
            </a:r>
          </a:p>
        </p:txBody>
      </p:sp>
      <p:sp>
        <p:nvSpPr>
          <p:cNvPr id="9" name="case-card-1-style">
            <a:extLst xmlns:a="http://schemas.openxmlformats.org/drawingml/2006/main">
              <a:ext uri="{FF2B5EF4-FFF2-40B4-BE49-F238E27FC236}">
                <a16:creationId xmlns:a16="http://schemas.microsoft.com/office/drawing/2014/main" id="{975D6C92-E9F5-4D1F-AB2F-CD5EC95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Eventos + flujo</a:t>
            </a:r>
          </a:p>
        </p:txBody>
      </p:sp>
      <p:sp>
        <p:nvSpPr>
          <p:cNvPr id="10" name="case-card-1-why">
            <a:extLst xmlns:a="http://schemas.openxmlformats.org/drawingml/2006/main">
              <a:ext uri="{FF2B5EF4-FFF2-40B4-BE49-F238E27FC236}">
                <a16:creationId xmlns:a16="http://schemas.microsoft.com/office/drawing/2014/main" id="{CBD98093-F869-4101-9C66-82822FD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Escala y analítica casi en tiempo real</a:t>
            </a:r>
          </a:p>
        </p:txBody>
      </p:sp>
      <p:sp>
        <p:nvSpPr>
          <p:cNvPr id="11" name="case-card-2">
            <a:extLst xmlns:a="http://schemas.openxmlformats.org/drawingml/2006/main">
              <a:ext uri="{FF2B5EF4-FFF2-40B4-BE49-F238E27FC236}">
                <a16:creationId xmlns:a16="http://schemas.microsoft.com/office/drawing/2014/main" id="{0EC4A7C0-E4B5-4BE7-A893-4C40A49B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00375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ase-card-2-company">
            <a:extLst xmlns:a="http://schemas.openxmlformats.org/drawingml/2006/main">
              <a:ext uri="{FF2B5EF4-FFF2-40B4-BE49-F238E27FC236}">
                <a16:creationId xmlns:a16="http://schemas.microsoft.com/office/drawing/2014/main" id="{D0EA3B5C-5908-4AA0-8802-3667C37E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UBER</a:t>
            </a:r>
          </a:p>
        </p:txBody>
      </p:sp>
      <p:sp>
        <p:nvSpPr>
          <p:cNvPr id="13" name="case-card-2-style">
            <a:extLst xmlns:a="http://schemas.openxmlformats.org/drawingml/2006/main">
              <a:ext uri="{FF2B5EF4-FFF2-40B4-BE49-F238E27FC236}">
                <a16:creationId xmlns:a16="http://schemas.microsoft.com/office/drawing/2014/main" id="{C5A28383-F761-4E6F-BF64-3F14301E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71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Servicios + dominios</a:t>
            </a:r>
          </a:p>
        </p:txBody>
      </p:sp>
      <p:sp>
        <p:nvSpPr>
          <p:cNvPr id="14" name="case-card-2-why">
            <a:extLst xmlns:a="http://schemas.openxmlformats.org/drawingml/2006/main">
              <a:ext uri="{FF2B5EF4-FFF2-40B4-BE49-F238E27FC236}">
                <a16:creationId xmlns:a16="http://schemas.microsoft.com/office/drawing/2014/main" id="{BE8900BF-CF56-42AC-ADB9-1475F5C6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Autonomía, ownership y evolución</a:t>
            </a:r>
          </a:p>
        </p:txBody>
      </p:sp>
      <p:sp>
        <p:nvSpPr>
          <p:cNvPr id="15" name="case-card-3">
            <a:extLst xmlns:a="http://schemas.openxmlformats.org/drawingml/2006/main">
              <a:ext uri="{FF2B5EF4-FFF2-40B4-BE49-F238E27FC236}">
                <a16:creationId xmlns:a16="http://schemas.microsoft.com/office/drawing/2014/main" id="{14424078-4DFB-44A1-B4D8-E91595A4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0375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case-card-3-company">
            <a:extLst xmlns:a="http://schemas.openxmlformats.org/drawingml/2006/main">
              <a:ext uri="{FF2B5EF4-FFF2-40B4-BE49-F238E27FC236}">
                <a16:creationId xmlns:a16="http://schemas.microsoft.com/office/drawing/2014/main" id="{3BC344D5-EEEE-4CF2-9EEF-D0338EB6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LINKEDIN</a:t>
            </a:r>
          </a:p>
        </p:txBody>
      </p:sp>
      <p:sp>
        <p:nvSpPr>
          <p:cNvPr id="17" name="case-card-3-style">
            <a:extLst xmlns:a="http://schemas.openxmlformats.org/drawingml/2006/main">
              <a:ext uri="{FF2B5EF4-FFF2-40B4-BE49-F238E27FC236}">
                <a16:creationId xmlns:a16="http://schemas.microsoft.com/office/drawing/2014/main" id="{CAEF001A-7FE7-4222-9791-274E4192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Pub-sub + streams</a:t>
            </a:r>
          </a:p>
        </p:txBody>
      </p:sp>
      <p:sp>
        <p:nvSpPr>
          <p:cNvPr id="18" name="case-card-3-why">
            <a:extLst xmlns:a="http://schemas.openxmlformats.org/drawingml/2006/main">
              <a:ext uri="{FF2B5EF4-FFF2-40B4-BE49-F238E27FC236}">
                <a16:creationId xmlns:a16="http://schemas.microsoft.com/office/drawing/2014/main" id="{A9AD6BC2-7422-4782-B028-4F215E0E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52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Paralelismo y consumo por equipos</a:t>
            </a:r>
          </a:p>
        </p:txBody>
      </p:sp>
      <p:sp>
        <p:nvSpPr>
          <p:cNvPr id="19" name="case-card-4">
            <a:extLst xmlns:a="http://schemas.openxmlformats.org/drawingml/2006/main">
              <a:ext uri="{FF2B5EF4-FFF2-40B4-BE49-F238E27FC236}">
                <a16:creationId xmlns:a16="http://schemas.microsoft.com/office/drawing/2014/main" id="{B6071410-4895-4618-84F8-089E4D40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case-card-4-company">
            <a:extLst xmlns:a="http://schemas.openxmlformats.org/drawingml/2006/main">
              <a:ext uri="{FF2B5EF4-FFF2-40B4-BE49-F238E27FC236}">
                <a16:creationId xmlns:a16="http://schemas.microsoft.com/office/drawing/2014/main" id="{252B061E-57A7-478E-8E94-42F405C6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SPOTIFY</a:t>
            </a:r>
          </a:p>
        </p:txBody>
      </p:sp>
      <p:sp>
        <p:nvSpPr>
          <p:cNvPr id="21" name="case-card-4-style">
            <a:extLst xmlns:a="http://schemas.openxmlformats.org/drawingml/2006/main">
              <a:ext uri="{FF2B5EF4-FFF2-40B4-BE49-F238E27FC236}">
                <a16:creationId xmlns:a16="http://schemas.microsoft.com/office/drawing/2014/main" id="{234530CF-AB85-4AF3-A4D3-7CA8B659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71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Eventos + pipelines</a:t>
            </a:r>
          </a:p>
        </p:txBody>
      </p:sp>
      <p:sp>
        <p:nvSpPr>
          <p:cNvPr id="22" name="case-card-4-why">
            <a:extLst xmlns:a="http://schemas.openxmlformats.org/drawingml/2006/main">
              <a:ext uri="{FF2B5EF4-FFF2-40B4-BE49-F238E27FC236}">
                <a16:creationId xmlns:a16="http://schemas.microsoft.com/office/drawing/2014/main" id="{AEF37FD9-4D96-416D-A73B-4380BC2F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52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Producto, datos y aprendizaje</a:t>
            </a:r>
          </a:p>
        </p:txBody>
      </p:sp>
      <p:sp>
        <p:nvSpPr>
          <p:cNvPr id="23" name="case-section-note-accent">
            <a:extLst xmlns:a="http://schemas.openxmlformats.org/drawingml/2006/main">
              <a:ext uri="{FF2B5EF4-FFF2-40B4-BE49-F238E27FC236}">
                <a16:creationId xmlns:a16="http://schemas.microsoft.com/office/drawing/2014/main" id="{E74D30E5-CC1B-4BE6-8ED8-E2722025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se-section-note-label">
            <a:extLst xmlns:a="http://schemas.openxmlformats.org/drawingml/2006/main">
              <a:ext uri="{FF2B5EF4-FFF2-40B4-BE49-F238E27FC236}">
                <a16:creationId xmlns:a16="http://schemas.microsoft.com/office/drawing/2014/main" id="{6206E8C6-9BA5-46B8-A7D5-CFC15290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48250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CÓMO LEERLOS</a:t>
            </a:r>
          </a:p>
        </p:txBody>
      </p:sp>
      <p:sp>
        <p:nvSpPr>
          <p:cNvPr id="25" name="case-section-note-body">
            <a:extLst xmlns:a="http://schemas.openxmlformats.org/drawingml/2006/main">
              <a:ext uri="{FF2B5EF4-FFF2-40B4-BE49-F238E27FC236}">
                <a16:creationId xmlns:a16="http://schemas.microsoft.com/office/drawing/2014/main" id="{243446A2-D71F-4913-80BF-AAE2639E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05425"/>
            <a:ext cx="1055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Cada caso ilustra una capacidad documentada públicamente; no significa que toda la empresa use un único patrón.</a:t>
            </a:r>
          </a:p>
        </p:txBody>
      </p:sp>
    </p:spTree>
    <p:extLst>
      <p:ext uri="{BB962C8B-B14F-4D97-AF65-F5344CB8AC3E}">
        <p14:creationId xmlns:p14="http://schemas.microsoft.com/office/powerpoint/2010/main" val="11483304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0">
            <a:extLst xmlns:a="http://schemas.openxmlformats.org/drawingml/2006/main">
              <a:ext uri="{FF2B5EF4-FFF2-40B4-BE49-F238E27FC236}">
                <a16:creationId xmlns:a16="http://schemas.microsoft.com/office/drawing/2014/main" id="{AEA539C1-93E4-41AA-B674-BB75657F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CASOS EMPRESARIALES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15207A4A-E7FB-4E2A-A0D8-00B3BA68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Netflix: eventos y flujos para operar a escala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D06CC684-6C5E-49F2-9B2A-866ABE6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0">
            <a:extLst xmlns:a="http://schemas.openxmlformats.org/drawingml/2006/main">
              <a:ext uri="{FF2B5EF4-FFF2-40B4-BE49-F238E27FC236}">
                <a16:creationId xmlns:a16="http://schemas.microsoft.com/office/drawing/2014/main" id="{881B1802-7346-43AD-9D69-1518247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CASOS EMPRESARIALES</a:t>
            </a:r>
          </a:p>
        </p:txBody>
      </p:sp>
      <p:sp>
        <p:nvSpPr>
          <p:cNvPr id="5" name="footer-right-20">
            <a:extLst xmlns:a="http://schemas.openxmlformats.org/drawingml/2006/main">
              <a:ext uri="{FF2B5EF4-FFF2-40B4-BE49-F238E27FC236}">
                <a16:creationId xmlns:a16="http://schemas.microsoft.com/office/drawing/2014/main" id="{30384AC6-0ECE-4FB0-BBE7-7E27D985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netflix-lead">
            <a:extLst xmlns:a="http://schemas.openxmlformats.org/drawingml/2006/main">
              <a:ext uri="{FF2B5EF4-FFF2-40B4-BE49-F238E27FC236}">
                <a16:creationId xmlns:a16="http://schemas.microsoft.com/office/drawing/2014/main" id="{9F5D3811-DBB8-4A05-B9C7-E9259AF4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Netflix documenta Keystone como backbone de datos para mover y procesar eventos de microservicios cerca del tiempo real.</a:t>
            </a:r>
          </a:p>
        </p:txBody>
      </p:sp>
      <p:sp>
        <p:nvSpPr>
          <p:cNvPr id="7" name="netflix-observed-label">
            <a:extLst xmlns:a="http://schemas.openxmlformats.org/drawingml/2006/main">
              <a:ext uri="{FF2B5EF4-FFF2-40B4-BE49-F238E27FC236}">
                <a16:creationId xmlns:a16="http://schemas.microsoft.com/office/drawing/2014/main" id="{8EAA9DAA-7ABF-453E-A66F-099B1AB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ARQUITECTURA OBSERVADA</a:t>
            </a:r>
          </a:p>
        </p:txBody>
      </p:sp>
      <p:sp>
        <p:nvSpPr>
          <p:cNvPr id="8" name="netflix-observed">
            <a:extLst xmlns:a="http://schemas.openxmlformats.org/drawingml/2006/main">
              <a:ext uri="{FF2B5EF4-FFF2-40B4-BE49-F238E27FC236}">
                <a16:creationId xmlns:a16="http://schemas.microsoft.com/office/drawing/2014/main" id="{A187D54D-582F-4A82-9186-A23BD9A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6707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Routing y mensajería reciben eventos.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Stream processing transforma y agrega.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Los resultados llegan a sinks para analítica o procesamiento posterior.</a:t>
            </a:r>
          </a:p>
        </p:txBody>
      </p:sp>
      <p:sp>
        <p:nvSpPr>
          <p:cNvPr id="9" name="netflix-why-label">
            <a:extLst xmlns:a="http://schemas.openxmlformats.org/drawingml/2006/main">
              <a:ext uri="{FF2B5EF4-FFF2-40B4-BE49-F238E27FC236}">
                <a16:creationId xmlns:a16="http://schemas.microsoft.com/office/drawing/2014/main" id="{964BC5EF-F4B7-4B36-9C4D-49593D0B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POR QUÉ</a:t>
            </a:r>
          </a:p>
        </p:txBody>
      </p:sp>
      <p:sp>
        <p:nvSpPr>
          <p:cNvPr id="10" name="netflix-why">
            <a:extLst xmlns:a="http://schemas.openxmlformats.org/drawingml/2006/main">
              <a:ext uri="{FF2B5EF4-FFF2-40B4-BE49-F238E27FC236}">
                <a16:creationId xmlns:a16="http://schemas.microsoft.com/office/drawing/2014/main" id="{D1C1EDC0-4BFD-4E7E-88BE-7A57D55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62550"/>
            <a:ext cx="509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Escalar la plataforma y permitir que los equipos se concentren en la lógica de negocio, sin operar toda la infraestructura de streams.</a:t>
            </a:r>
          </a:p>
        </p:txBody>
      </p:sp>
      <p:sp>
        <p:nvSpPr>
          <p:cNvPr id="11" name="netflix-micro">
            <a:extLst xmlns:a="http://schemas.openxmlformats.org/drawingml/2006/main">
              <a:ext uri="{FF2B5EF4-FFF2-40B4-BE49-F238E27FC236}">
                <a16:creationId xmlns:a16="http://schemas.microsoft.com/office/drawing/2014/main" id="{A1342AE7-14BD-4C62-8988-6D4CE32B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Microservicios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eventos</a:t>
            </a:r>
          </a:p>
        </p:txBody>
      </p:sp>
      <p:sp>
        <p:nvSpPr>
          <p:cNvPr id="12" name="netflix-routing">
            <a:extLst xmlns:a="http://schemas.openxmlformats.org/drawingml/2006/main">
              <a:ext uri="{FF2B5EF4-FFF2-40B4-BE49-F238E27FC236}">
                <a16:creationId xmlns:a16="http://schemas.microsoft.com/office/drawing/2014/main" id="{3E468A51-CD71-4622-A4F0-04588521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Routing +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Kafka</a:t>
            </a:r>
          </a:p>
        </p:txBody>
      </p:sp>
      <p:sp>
        <p:nvSpPr>
          <p:cNvPr id="13" name="netflix-stream">
            <a:extLst xmlns:a="http://schemas.openxmlformats.org/drawingml/2006/main">
              <a:ext uri="{FF2B5EF4-FFF2-40B4-BE49-F238E27FC236}">
                <a16:creationId xmlns:a16="http://schemas.microsoft.com/office/drawing/2014/main" id="{A63D9CDE-8FE9-4699-A46D-DDDFF402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71750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Stream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processing</a:t>
            </a:r>
          </a:p>
        </p:txBody>
      </p:sp>
      <p:sp>
        <p:nvSpPr>
          <p:cNvPr id="14" name="netflix-sinks">
            <a:extLst xmlns:a="http://schemas.openxmlformats.org/drawingml/2006/main">
              <a:ext uri="{FF2B5EF4-FFF2-40B4-BE49-F238E27FC236}">
                <a16:creationId xmlns:a16="http://schemas.microsoft.com/office/drawing/2014/main" id="{4B57A70C-ADBE-48F9-AD38-8369306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Sinks /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analítica</a:t>
            </a:r>
          </a:p>
        </p:txBody>
      </p:sp>
      <p:cxnSp>
        <p:nvCxnSpPr>
          <p:cNvPr id="3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905750" y="2914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239375" y="2914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9286875" y="3257550"/>
            <a:ext cx="2071688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netflix-tradeoff-accent">
            <a:extLst xmlns:a="http://schemas.openxmlformats.org/drawingml/2006/main">
              <a:ext uri="{FF2B5EF4-FFF2-40B4-BE49-F238E27FC236}">
                <a16:creationId xmlns:a16="http://schemas.microsoft.com/office/drawing/2014/main" id="{D7FF48D8-EE6B-4CCC-8369-1637D1DD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etflix-tradeoff-label">
            <a:extLst xmlns:a="http://schemas.openxmlformats.org/drawingml/2006/main">
              <a:ext uri="{FF2B5EF4-FFF2-40B4-BE49-F238E27FC236}">
                <a16:creationId xmlns:a16="http://schemas.microsoft.com/office/drawing/2014/main" id="{7D0B000E-7910-4C34-8876-AADF5D96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5648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TRADE-OFF</a:t>
            </a:r>
          </a:p>
        </p:txBody>
      </p:sp>
      <p:sp>
        <p:nvSpPr>
          <p:cNvPr id="20" name="netflix-tradeoff-body">
            <a:extLst xmlns:a="http://schemas.openxmlformats.org/drawingml/2006/main">
              <a:ext uri="{FF2B5EF4-FFF2-40B4-BE49-F238E27FC236}">
                <a16:creationId xmlns:a16="http://schemas.microsoft.com/office/drawing/2014/main" id="{B33C5633-2780-4488-8EF1-BF6B8B0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91175"/>
            <a:ext cx="564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Keystone documenta entrega at-least-once: la escala y la recuperación exigen diseñar para posibles duplicados.</a:t>
            </a:r>
          </a:p>
        </p:txBody>
      </p:sp>
    </p:spTree>
    <p:extLst>
      <p:ext uri="{BB962C8B-B14F-4D97-AF65-F5344CB8AC3E}">
        <p14:creationId xmlns:p14="http://schemas.microsoft.com/office/powerpoint/2010/main" val="15295534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21">
            <a:extLst xmlns:a="http://schemas.openxmlformats.org/drawingml/2006/main">
              <a:ext uri="{FF2B5EF4-FFF2-40B4-BE49-F238E27FC236}">
                <a16:creationId xmlns:a16="http://schemas.microsoft.com/office/drawing/2014/main" id="{149CB9C9-ED55-40DB-9AFF-EF1B10C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CASOS EMPRESARIALES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D2133849-4F1B-42B0-A024-0317E024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Uber: servicios por dominio y autonomía de equipos</a:t>
            </a:r>
          </a:p>
        </p:txBody>
      </p:sp>
      <p:sp>
        <p:nvSpPr>
          <p:cNvPr id="3" name="title-rule-21">
            <a:extLst xmlns:a="http://schemas.openxmlformats.org/drawingml/2006/main">
              <a:ext uri="{FF2B5EF4-FFF2-40B4-BE49-F238E27FC236}">
                <a16:creationId xmlns:a16="http://schemas.microsoft.com/office/drawing/2014/main" id="{35FE61EA-AFBF-4163-9A98-5E32928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1">
            <a:extLst xmlns:a="http://schemas.openxmlformats.org/drawingml/2006/main">
              <a:ext uri="{FF2B5EF4-FFF2-40B4-BE49-F238E27FC236}">
                <a16:creationId xmlns:a16="http://schemas.microsoft.com/office/drawing/2014/main" id="{20A02A04-DD92-4BF9-9E3A-A35C579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CASOS EMPRESARIALES</a:t>
            </a:r>
          </a:p>
        </p:txBody>
      </p:sp>
      <p:sp>
        <p:nvSpPr>
          <p:cNvPr id="5" name="footer-right-21">
            <a:extLst xmlns:a="http://schemas.openxmlformats.org/drawingml/2006/main">
              <a:ext uri="{FF2B5EF4-FFF2-40B4-BE49-F238E27FC236}">
                <a16:creationId xmlns:a16="http://schemas.microsoft.com/office/drawing/2014/main" id="{D307BD5C-8E43-4789-AEF2-F0B5F55A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6" name="uber-lead">
            <a:extLst xmlns:a="http://schemas.openxmlformats.org/drawingml/2006/main">
              <a:ext uri="{FF2B5EF4-FFF2-40B4-BE49-F238E27FC236}">
                <a16:creationId xmlns:a16="http://schemas.microsoft.com/office/drawing/2014/main" id="{275C3600-4F49-4304-B5B6-309C3A9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Uber describe la evolución desde un monolito hacia servicios por dominio y un modelo para reducir la complejidad distribuida.</a:t>
            </a:r>
          </a:p>
        </p:txBody>
      </p:sp>
      <p:sp>
        <p:nvSpPr>
          <p:cNvPr id="7" name="uber-problem-accent">
            <a:extLst xmlns:a="http://schemas.openxmlformats.org/drawingml/2006/main">
              <a:ext uri="{FF2B5EF4-FFF2-40B4-BE49-F238E27FC236}">
                <a16:creationId xmlns:a16="http://schemas.microsoft.com/office/drawing/2014/main" id="{13FC809F-E2A5-4983-9306-1C42F7C8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uber-problem-label">
            <a:extLst xmlns:a="http://schemas.openxmlformats.org/drawingml/2006/main">
              <a:ext uri="{FF2B5EF4-FFF2-40B4-BE49-F238E27FC236}">
                <a16:creationId xmlns:a16="http://schemas.microsoft.com/office/drawing/2014/main" id="{A82135D0-E1D3-4369-96FE-3E7E1DB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000375"/>
            <a:ext cx="4886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PROBLEMA INICIAL</a:t>
            </a:r>
          </a:p>
        </p:txBody>
      </p:sp>
      <p:sp>
        <p:nvSpPr>
          <p:cNvPr id="9" name="uber-problem-body">
            <a:extLst xmlns:a="http://schemas.openxmlformats.org/drawingml/2006/main">
              <a:ext uri="{FF2B5EF4-FFF2-40B4-BE49-F238E27FC236}">
                <a16:creationId xmlns:a16="http://schemas.microsoft.com/office/drawing/2014/main" id="{A056CF92-C6DD-4DB5-9227-87E375DD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7550"/>
            <a:ext cx="4886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Crecimiento + un solo código: acoplamiento, despliegues riesgosos y ownership difuso.</a:t>
            </a:r>
          </a:p>
        </p:txBody>
      </p:sp>
      <p:sp>
        <p:nvSpPr>
          <p:cNvPr id="10" name="uber-response-accent">
            <a:extLst xmlns:a="http://schemas.openxmlformats.org/drawingml/2006/main">
              <a:ext uri="{FF2B5EF4-FFF2-40B4-BE49-F238E27FC236}">
                <a16:creationId xmlns:a16="http://schemas.microsoft.com/office/drawing/2014/main" id="{5108C82E-7AEC-4B98-A60E-4318ABD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3862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ber-response-label">
            <a:extLst xmlns:a="http://schemas.openxmlformats.org/drawingml/2006/main">
              <a:ext uri="{FF2B5EF4-FFF2-40B4-BE49-F238E27FC236}">
                <a16:creationId xmlns:a16="http://schemas.microsoft.com/office/drawing/2014/main" id="{6741CB57-1DF0-4E53-A45C-06190326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4286250"/>
            <a:ext cx="4886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RESPUESTA</a:t>
            </a:r>
          </a:p>
        </p:txBody>
      </p:sp>
      <p:sp>
        <p:nvSpPr>
          <p:cNvPr id="12" name="uber-response-body">
            <a:extLst xmlns:a="http://schemas.openxmlformats.org/drawingml/2006/main">
              <a:ext uri="{FF2B5EF4-FFF2-40B4-BE49-F238E27FC236}">
                <a16:creationId xmlns:a16="http://schemas.microsoft.com/office/drawing/2014/main" id="{D4722609-577F-4010-AEBA-7EC69A31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4543425"/>
            <a:ext cx="4886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Servicios pequeños, dominios, gateways y puntos de extensión para organizar la colaboración.</a:t>
            </a:r>
          </a:p>
        </p:txBody>
      </p:sp>
      <p:sp>
        <p:nvSpPr>
          <p:cNvPr id="13" name="uber-experience">
            <a:extLst xmlns:a="http://schemas.openxmlformats.org/drawingml/2006/main">
              <a:ext uri="{FF2B5EF4-FFF2-40B4-BE49-F238E27FC236}">
                <a16:creationId xmlns:a16="http://schemas.microsoft.com/office/drawing/2014/main" id="{59B789FC-72F1-43C4-9B93-78E5B4BC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Productos</a:t>
            </a:r>
          </a:p>
        </p:txBody>
      </p:sp>
      <p:sp>
        <p:nvSpPr>
          <p:cNvPr id="14" name="uber-gateway">
            <a:extLst xmlns:a="http://schemas.openxmlformats.org/drawingml/2006/main">
              <a:ext uri="{FF2B5EF4-FFF2-40B4-BE49-F238E27FC236}">
                <a16:creationId xmlns:a16="http://schemas.microsoft.com/office/drawing/2014/main" id="{D87F9D27-996E-4E6A-AC52-2BC41847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Gateway de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dominio</a:t>
            </a:r>
          </a:p>
        </p:txBody>
      </p:sp>
      <p:sp>
        <p:nvSpPr>
          <p:cNvPr id="15" name="uber-maps">
            <a:extLst xmlns:a="http://schemas.openxmlformats.org/drawingml/2006/main">
              <a:ext uri="{FF2B5EF4-FFF2-40B4-BE49-F238E27FC236}">
                <a16:creationId xmlns:a16="http://schemas.microsoft.com/office/drawing/2014/main" id="{D6C40EDE-F075-4BC9-96AB-F9B94223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Mapas</a:t>
            </a:r>
          </a:p>
        </p:txBody>
      </p:sp>
      <p:sp>
        <p:nvSpPr>
          <p:cNvPr id="16" name="uber-fares">
            <a:extLst xmlns:a="http://schemas.openxmlformats.org/drawingml/2006/main">
              <a:ext uri="{FF2B5EF4-FFF2-40B4-BE49-F238E27FC236}">
                <a16:creationId xmlns:a16="http://schemas.microsoft.com/office/drawing/2014/main" id="{F43CDEC9-D007-418F-A54A-6FDA9EFD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Tarifas</a:t>
            </a:r>
          </a:p>
        </p:txBody>
      </p:sp>
      <p:sp>
        <p:nvSpPr>
          <p:cNvPr id="17" name="uber-matching">
            <a:extLst xmlns:a="http://schemas.openxmlformats.org/drawingml/2006/main">
              <a:ext uri="{FF2B5EF4-FFF2-40B4-BE49-F238E27FC236}">
                <a16:creationId xmlns:a16="http://schemas.microsoft.com/office/drawing/2014/main" id="{C0818804-459C-4B06-A1F0-556BAE95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05250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Matching</a:t>
            </a:r>
          </a:p>
        </p:txBody>
      </p: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15250" y="2533650"/>
            <a:ext cx="6191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905625" y="2905125"/>
            <a:ext cx="238125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9048750" y="2905125"/>
            <a:ext cx="23812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286875" y="2905125"/>
            <a:ext cx="190500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uber-caption">
            <a:extLst xmlns:a="http://schemas.openxmlformats.org/drawingml/2006/main">
              <a:ext uri="{FF2B5EF4-FFF2-40B4-BE49-F238E27FC236}">
                <a16:creationId xmlns:a16="http://schemas.microsoft.com/office/drawing/2014/main" id="{7059B8B0-FB30-416D-A952-C4BD292B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Ganancia buscada: desplegar y escalar con independencia. Costo: dependencias distribuidas y necesidad de observabilidad.</a:t>
            </a:r>
          </a:p>
        </p:txBody>
      </p:sp>
    </p:spTree>
    <p:extLst>
      <p:ext uri="{BB962C8B-B14F-4D97-AF65-F5344CB8AC3E}">
        <p14:creationId xmlns:p14="http://schemas.microsoft.com/office/powerpoint/2010/main" val="4634473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2">
            <a:extLst xmlns:a="http://schemas.openxmlformats.org/drawingml/2006/main">
              <a:ext uri="{FF2B5EF4-FFF2-40B4-BE49-F238E27FC236}">
                <a16:creationId xmlns:a16="http://schemas.microsoft.com/office/drawing/2014/main" id="{EEF4259F-1776-4C57-A35C-BE50FF4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CASOS EMPRESARIALES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E6143EF9-F7A6-4B0E-AD31-C6245A5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LinkedIn: Kafka como columna vertebral de eventos y datos</a:t>
            </a:r>
          </a:p>
        </p:txBody>
      </p:sp>
      <p:sp>
        <p:nvSpPr>
          <p:cNvPr id="3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7A97B917-DB2C-4E96-B546-1F7D33BB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2">
            <a:extLst xmlns:a="http://schemas.openxmlformats.org/drawingml/2006/main">
              <a:ext uri="{FF2B5EF4-FFF2-40B4-BE49-F238E27FC236}">
                <a16:creationId xmlns:a16="http://schemas.microsoft.com/office/drawing/2014/main" id="{18B2039B-FDB6-49BE-96B0-89A46B27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CASOS EMPRESARIALES</a:t>
            </a:r>
          </a:p>
        </p:txBody>
      </p:sp>
      <p:sp>
        <p:nvSpPr>
          <p:cNvPr id="5" name="footer-right-22">
            <a:extLst xmlns:a="http://schemas.openxmlformats.org/drawingml/2006/main">
              <a:ext uri="{FF2B5EF4-FFF2-40B4-BE49-F238E27FC236}">
                <a16:creationId xmlns:a16="http://schemas.microsoft.com/office/drawing/2014/main" id="{236B0ACD-58E7-4DA6-9D71-2CECD1EA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linkedin-lead">
            <a:extLst xmlns:a="http://schemas.openxmlformats.org/drawingml/2006/main">
              <a:ext uri="{FF2B5EF4-FFF2-40B4-BE49-F238E27FC236}">
                <a16:creationId xmlns:a16="http://schemas.microsoft.com/office/drawing/2014/main" id="{CC3E2ADE-3FFA-40F1-B705-1C77FC2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LinkedIn documenta un ecosistema donde pub-sub, captura de cambios y procesamiento de streams trabajan juntos.</a:t>
            </a:r>
          </a:p>
        </p:txBody>
      </p:sp>
      <p:sp>
        <p:nvSpPr>
          <p:cNvPr id="7" name="linkedin-metric">
            <a:extLst xmlns:a="http://schemas.openxmlformats.org/drawingml/2006/main">
              <a:ext uri="{FF2B5EF4-FFF2-40B4-BE49-F238E27FC236}">
                <a16:creationId xmlns:a16="http://schemas.microsoft.com/office/drawing/2014/main" id="{0B431620-171B-4201-8863-84CA399E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2.1 T</a:t>
            </a:r>
          </a:p>
        </p:txBody>
      </p:sp>
      <p:sp>
        <p:nvSpPr>
          <p:cNvPr id="8" name="linkedin-metric-caption">
            <a:extLst xmlns:a="http://schemas.openxmlformats.org/drawingml/2006/main">
              <a:ext uri="{FF2B5EF4-FFF2-40B4-BE49-F238E27FC236}">
                <a16:creationId xmlns:a16="http://schemas.microsoft.com/office/drawing/2014/main" id="{340E9537-BDE2-4EE8-A28B-9EA99D3D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mensajes/día reportados en la página de plataforma de LinkedIn</a:t>
            </a:r>
          </a:p>
        </p:txBody>
      </p:sp>
      <p:sp>
        <p:nvSpPr>
          <p:cNvPr id="9" name="linkedin-why-label">
            <a:extLst xmlns:a="http://schemas.openxmlformats.org/drawingml/2006/main">
              <a:ext uri="{FF2B5EF4-FFF2-40B4-BE49-F238E27FC236}">
                <a16:creationId xmlns:a16="http://schemas.microsoft.com/office/drawing/2014/main" id="{DD1015C3-2D82-4DEA-87E5-448599F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POR QUÉ</a:t>
            </a:r>
          </a:p>
        </p:txBody>
      </p:sp>
      <p:sp>
        <p:nvSpPr>
          <p:cNvPr id="10" name="linkedin-why">
            <a:extLst xmlns:a="http://schemas.openxmlformats.org/drawingml/2006/main">
              <a:ext uri="{FF2B5EF4-FFF2-40B4-BE49-F238E27FC236}">
                <a16:creationId xmlns:a16="http://schemas.microsoft.com/office/drawing/2014/main" id="{D3F245AF-D20A-4CE1-9820-696FAAA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863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81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Varios consumidores pueden leer el mismo flujo en paralelo; captura, procesamiento y aplicaciones evolucionan con menor acoplamiento.</a:t>
            </a:r>
          </a:p>
        </p:txBody>
      </p:sp>
      <p:sp>
        <p:nvSpPr>
          <p:cNvPr id="11" name="linkedin-datastream">
            <a:extLst xmlns:a="http://schemas.openxmlformats.org/drawingml/2006/main">
              <a:ext uri="{FF2B5EF4-FFF2-40B4-BE49-F238E27FC236}">
                <a16:creationId xmlns:a16="http://schemas.microsoft.com/office/drawing/2014/main" id="{A3EE98B3-D771-4ABD-8B90-932EFBC1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Datastream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Cambios</a:t>
            </a:r>
          </a:p>
        </p:txBody>
      </p:sp>
      <p:sp>
        <p:nvSpPr>
          <p:cNvPr id="12" name="linkedin-kafka">
            <a:extLst xmlns:a="http://schemas.openxmlformats.org/drawingml/2006/main">
              <a:ext uri="{FF2B5EF4-FFF2-40B4-BE49-F238E27FC236}">
                <a16:creationId xmlns:a16="http://schemas.microsoft.com/office/drawing/2014/main" id="{3C31FDC1-B400-432D-8CCE-82E0A87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Kafka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tópicos</a:t>
            </a:r>
          </a:p>
        </p:txBody>
      </p:sp>
      <p:sp>
        <p:nvSpPr>
          <p:cNvPr id="13" name="linkedin-samza">
            <a:extLst xmlns:a="http://schemas.openxmlformats.org/drawingml/2006/main">
              <a:ext uri="{FF2B5EF4-FFF2-40B4-BE49-F238E27FC236}">
                <a16:creationId xmlns:a16="http://schemas.microsoft.com/office/drawing/2014/main" id="{F2DB4335-C2BD-4D39-AA06-1102A7A4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Samza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streams</a:t>
            </a:r>
          </a:p>
        </p:txBody>
      </p:sp>
      <p:sp>
        <p:nvSpPr>
          <p:cNvPr id="14" name="linkedin-consumers">
            <a:extLst xmlns:a="http://schemas.openxmlformats.org/drawingml/2006/main">
              <a:ext uri="{FF2B5EF4-FFF2-40B4-BE49-F238E27FC236}">
                <a16:creationId xmlns:a16="http://schemas.microsoft.com/office/drawing/2014/main" id="{70E12926-3A20-4AC2-89A1-F69C3C36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Apps /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consumidores</a:t>
            </a:r>
          </a:p>
        </p:txBody>
      </p:sp>
      <p:sp>
        <p:nvSpPr>
          <p:cNvPr id="15" name="linkedin-partitions">
            <a:extLst xmlns:a="http://schemas.openxmlformats.org/drawingml/2006/main">
              <a:ext uri="{FF2B5EF4-FFF2-40B4-BE49-F238E27FC236}">
                <a16:creationId xmlns:a16="http://schemas.microsoft.com/office/drawing/2014/main" id="{1A83DDF1-3D84-43D5-9325-B335E8E9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Particiones: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paralelismo + orden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096250" y="2381250"/>
            <a:ext cx="76200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096250" y="2914650"/>
            <a:ext cx="76200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191375" y="3257550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linkedin-tradeoff">
            <a:extLst xmlns:a="http://schemas.openxmlformats.org/drawingml/2006/main">
              <a:ext uri="{FF2B5EF4-FFF2-40B4-BE49-F238E27FC236}">
                <a16:creationId xmlns:a16="http://schemas.microsoft.com/office/drawing/2014/main" id="{3EA772FA-0BB7-41E5-BDF2-81F68503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Cuidado: esquemas, orden y retraso de cada consumidor también son decisiones de arquitectura.</a:t>
            </a:r>
          </a:p>
        </p:txBody>
      </p:sp>
    </p:spTree>
    <p:extLst>
      <p:ext uri="{BB962C8B-B14F-4D97-AF65-F5344CB8AC3E}">
        <p14:creationId xmlns:p14="http://schemas.microsoft.com/office/powerpoint/2010/main" val="5712411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23">
            <a:extLst xmlns:a="http://schemas.openxmlformats.org/drawingml/2006/main">
              <a:ext uri="{FF2B5EF4-FFF2-40B4-BE49-F238E27FC236}">
                <a16:creationId xmlns:a16="http://schemas.microsoft.com/office/drawing/2014/main" id="{95605818-4952-4EBC-AEE0-46CEC86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CASOS EMPRESARIALES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DA9BF272-9EAB-4951-A8D9-FD5FEC2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Spotify: eventos para producto, analítica y pipelines</a:t>
            </a:r>
          </a:p>
        </p:txBody>
      </p:sp>
      <p:sp>
        <p:nvSpPr>
          <p:cNvPr id="3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3D5B1B7A-3B65-4624-B9C9-6710B1B5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3">
            <a:extLst xmlns:a="http://schemas.openxmlformats.org/drawingml/2006/main">
              <a:ext uri="{FF2B5EF4-FFF2-40B4-BE49-F238E27FC236}">
                <a16:creationId xmlns:a16="http://schemas.microsoft.com/office/drawing/2014/main" id="{8A9C24D7-386C-4351-A8BE-BE0FA1E4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CASOS EMPRESARIALES</a:t>
            </a:r>
          </a:p>
        </p:txBody>
      </p:sp>
      <p:sp>
        <p:nvSpPr>
          <p:cNvPr id="5" name="footer-right-23">
            <a:extLst xmlns:a="http://schemas.openxmlformats.org/drawingml/2006/main">
              <a:ext uri="{FF2B5EF4-FFF2-40B4-BE49-F238E27FC236}">
                <a16:creationId xmlns:a16="http://schemas.microsoft.com/office/drawing/2014/main" id="{BB48CA6D-46A3-4D07-8719-EAD2288B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6" name="spotify-lead">
            <a:extLst xmlns:a="http://schemas.openxmlformats.org/drawingml/2006/main">
              <a:ext uri="{FF2B5EF4-FFF2-40B4-BE49-F238E27FC236}">
                <a16:creationId xmlns:a16="http://schemas.microsoft.com/office/drawing/2014/main" id="{CD7B2E0A-9DEF-4AED-825A-D4611E30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28775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Spotify combina entrega de eventos, procesamiento y datos centralizados para entender el uso del producto.</a:t>
            </a:r>
          </a:p>
        </p:txBody>
      </p:sp>
      <p:sp>
        <p:nvSpPr>
          <p:cNvPr id="7" name="spotify-use-label">
            <a:extLst xmlns:a="http://schemas.openxmlformats.org/drawingml/2006/main">
              <a:ext uri="{FF2B5EF4-FFF2-40B4-BE49-F238E27FC236}">
                <a16:creationId xmlns:a16="http://schemas.microsoft.com/office/drawing/2014/main" id="{61880559-EC1E-406E-BE46-51EF078E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USO</a:t>
            </a:r>
          </a:p>
        </p:txBody>
      </p:sp>
      <p:sp>
        <p:nvSpPr>
          <p:cNvPr id="8" name="spotify-use">
            <a:extLst xmlns:a="http://schemas.openxmlformats.org/drawingml/2006/main">
              <a:ext uri="{FF2B5EF4-FFF2-40B4-BE49-F238E27FC236}">
                <a16:creationId xmlns:a16="http://schemas.microsoft.com/office/drawing/2014/main" id="{590DD607-9226-4082-B7EB-72D93103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67075"/>
            <a:ext cx="5095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Reproducciones y búsquedas alimentan experimentos, recomendaciones, feedback y decisiones de producto.</a:t>
            </a:r>
          </a:p>
        </p:txBody>
      </p:sp>
      <p:sp>
        <p:nvSpPr>
          <p:cNvPr id="9" name="spotify-why-label">
            <a:extLst xmlns:a="http://schemas.openxmlformats.org/drawingml/2006/main">
              <a:ext uri="{FF2B5EF4-FFF2-40B4-BE49-F238E27FC236}">
                <a16:creationId xmlns:a16="http://schemas.microsoft.com/office/drawing/2014/main" id="{287BADA3-C139-4D1C-B46C-FFFBEDCF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24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POR QUÉ</a:t>
            </a:r>
          </a:p>
        </p:txBody>
      </p:sp>
      <p:sp>
        <p:nvSpPr>
          <p:cNvPr id="10" name="spotify-why">
            <a:extLst xmlns:a="http://schemas.openxmlformats.org/drawingml/2006/main">
              <a:ext uri="{FF2B5EF4-FFF2-40B4-BE49-F238E27FC236}">
                <a16:creationId xmlns:a16="http://schemas.microsoft.com/office/drawing/2014/main" id="{6443A319-B96E-4A5F-92D3-675C33EB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El evento se vuelve una señal reutilizable por muchos equipos; el esquema y la infraestructura hacen posible escalar el consumo.</a:t>
            </a:r>
          </a:p>
        </p:txBody>
      </p:sp>
      <p:sp>
        <p:nvSpPr>
          <p:cNvPr id="11" name="spotify-actions">
            <a:extLst xmlns:a="http://schemas.openxmlformats.org/drawingml/2006/main">
              <a:ext uri="{FF2B5EF4-FFF2-40B4-BE49-F238E27FC236}">
                <a16:creationId xmlns:a16="http://schemas.microsoft.com/office/drawing/2014/main" id="{8EDC738F-E8C6-4A38-8BF3-D8FF0CDB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Acciones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del usuario</a:t>
            </a:r>
          </a:p>
        </p:txBody>
      </p:sp>
      <p:sp>
        <p:nvSpPr>
          <p:cNvPr id="12" name="spotify-delivery">
            <a:extLst xmlns:a="http://schemas.openxmlformats.org/drawingml/2006/main">
              <a:ext uri="{FF2B5EF4-FFF2-40B4-BE49-F238E27FC236}">
                <a16:creationId xmlns:a16="http://schemas.microsoft.com/office/drawing/2014/main" id="{D611D127-F7CA-449B-833B-34374025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Gateways /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 delivery</a:t>
            </a:r>
          </a:p>
        </p:txBody>
      </p:sp>
      <p:sp>
        <p:nvSpPr>
          <p:cNvPr id="13" name="spotify-pubsub">
            <a:extLst xmlns:a="http://schemas.openxmlformats.org/drawingml/2006/main">
              <a:ext uri="{FF2B5EF4-FFF2-40B4-BE49-F238E27FC236}">
                <a16:creationId xmlns:a16="http://schemas.microsoft.com/office/drawing/2014/main" id="{F3B6527D-B71E-4E7F-BFF1-BD65F94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33625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Pub/Sub</a:t>
            </a:r>
          </a:p>
        </p:txBody>
      </p:sp>
      <p:sp>
        <p:nvSpPr>
          <p:cNvPr id="14" name="spotify-anonym">
            <a:extLst xmlns:a="http://schemas.openxmlformats.org/drawingml/2006/main">
              <a:ext uri="{FF2B5EF4-FFF2-40B4-BE49-F238E27FC236}">
                <a16:creationId xmlns:a16="http://schemas.microsoft.com/office/drawing/2014/main" id="{0CC75653-7A86-4708-B031-DE6845B9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Anonimización</a:t>
            </a:r>
          </a:p>
        </p:txBody>
      </p:sp>
      <p:sp>
        <p:nvSpPr>
          <p:cNvPr id="15" name="spotify-jobs">
            <a:extLst xmlns:a="http://schemas.openxmlformats.org/drawingml/2006/main">
              <a:ext uri="{FF2B5EF4-FFF2-40B4-BE49-F238E27FC236}">
                <a16:creationId xmlns:a16="http://schemas.microsoft.com/office/drawing/2014/main" id="{30397C53-07CA-4581-8E9E-78DB1F88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Streaming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6" name="spotify-datasets">
            <a:extLst xmlns:a="http://schemas.openxmlformats.org/drawingml/2006/main">
              <a:ext uri="{FF2B5EF4-FFF2-40B4-BE49-F238E27FC236}">
                <a16:creationId xmlns:a16="http://schemas.microsoft.com/office/drawing/2014/main" id="{5877CCDB-2D11-4876-AB19-F9519C95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00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Datasets /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producto</a:t>
            </a:r>
          </a:p>
        </p:txBody>
      </p: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10500" y="2667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287000" y="2667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8096250" y="3000375"/>
            <a:ext cx="326231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0477500" y="3000375"/>
            <a:ext cx="8810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477500" y="444817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spotify-caption">
            <a:extLst xmlns:a="http://schemas.openxmlformats.org/drawingml/2006/main">
              <a:ext uri="{FF2B5EF4-FFF2-40B4-BE49-F238E27FC236}">
                <a16:creationId xmlns:a16="http://schemas.microsoft.com/office/drawing/2014/main" id="{6DF87849-13F5-4917-905C-96FCAF99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5787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Escala + gobierno del esquema = híbrido deliberado</a:t>
            </a:r>
          </a:p>
        </p:txBody>
      </p:sp>
    </p:spTree>
    <p:extLst>
      <p:ext uri="{BB962C8B-B14F-4D97-AF65-F5344CB8AC3E}">
        <p14:creationId xmlns:p14="http://schemas.microsoft.com/office/powerpoint/2010/main" val="18229316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24">
            <a:extLst xmlns:a="http://schemas.openxmlformats.org/drawingml/2006/main">
              <a:ext uri="{FF2B5EF4-FFF2-40B4-BE49-F238E27FC236}">
                <a16:creationId xmlns:a16="http://schemas.microsoft.com/office/drawing/2014/main" id="{8CE7564A-95FF-4A2A-B865-7D3699C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CASOS EMPRESARIALES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1FA6DE7C-4DC9-4CBF-AFC4-109E4CA1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Qué aprendemos de los casos</a:t>
            </a:r>
          </a:p>
        </p:txBody>
      </p:sp>
      <p:sp>
        <p:nvSpPr>
          <p:cNvPr id="3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F83A725B-3605-4988-B36C-58E9CF39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4">
            <a:extLst xmlns:a="http://schemas.openxmlformats.org/drawingml/2006/main">
              <a:ext uri="{FF2B5EF4-FFF2-40B4-BE49-F238E27FC236}">
                <a16:creationId xmlns:a16="http://schemas.microsoft.com/office/drawing/2014/main" id="{E92D0CFB-4E72-48B0-B1D3-C5F0B201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CASOS EMPRESARIALES</a:t>
            </a:r>
          </a:p>
        </p:txBody>
      </p:sp>
      <p:sp>
        <p:nvSpPr>
          <p:cNvPr id="5" name="footer-right-24">
            <a:extLst xmlns:a="http://schemas.openxmlformats.org/drawingml/2006/main">
              <a:ext uri="{FF2B5EF4-FFF2-40B4-BE49-F238E27FC236}">
                <a16:creationId xmlns:a16="http://schemas.microsoft.com/office/drawing/2014/main" id="{E09D8263-E68D-4DA6-8DC1-21D544B7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case-synthesis-intro">
            <a:extLst xmlns:a="http://schemas.openxmlformats.org/drawingml/2006/main">
              <a:ext uri="{FF2B5EF4-FFF2-40B4-BE49-F238E27FC236}">
                <a16:creationId xmlns:a16="http://schemas.microsoft.com/office/drawing/2014/main" id="{0541E9F0-CB28-45D7-B0D4-E42C888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954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La etiqueta importa menos que la restricción que motivó la decisión.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93668" y="2019300"/>
          <a:ext xmlns:a="http://schemas.openxmlformats.org/drawingml/2006/main" cx="11404664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714625"/>
                <a:gridCol w="3733800"/>
                <a:gridCol w="3575113"/>
              </a:tblGrid>
              <a:tr h="628650">
                <a:tc>
                  <a:txBody>
                    <a:bodyPr/>
                    <a:lstStyle/>
                    <a:p>
                      <a:r>
                        <a:t>Empresa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Estilo / pieza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Motivo observado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Trade-off para discutir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Netflix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EDA + flujo / Keystone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Tiempo real + jobs para muchos equipos.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At-least-once y duplicados.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Uber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SOA + dominios / DOMA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Despliegues y ownership por dominio.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Dependencias distribuidas.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LinkedIn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EDA + datos / Kafka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Pub-sub, particiones y consumo paralelo.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Esquemas, orden y retraso.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Spotify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EDA + datos + pipelines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Eventos reutilizables para producto.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Latencia, completitud y gobierno.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case-synthesis-key-accent">
            <a:extLst xmlns:a="http://schemas.openxmlformats.org/drawingml/2006/main">
              <a:ext uri="{FF2B5EF4-FFF2-40B4-BE49-F238E27FC236}">
                <a16:creationId xmlns:a16="http://schemas.microsoft.com/office/drawing/2014/main" id="{E6893E53-93F0-412C-93A6-E0FD115F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se-synthesis-key-label">
            <a:extLst xmlns:a="http://schemas.openxmlformats.org/drawingml/2006/main">
              <a:ext uri="{FF2B5EF4-FFF2-40B4-BE49-F238E27FC236}">
                <a16:creationId xmlns:a16="http://schemas.microsoft.com/office/drawing/2014/main" id="{BE0CFF37-4504-4459-90A6-DD584A7E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429250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CONCLUSIÓN</a:t>
            </a:r>
          </a:p>
        </p:txBody>
      </p:sp>
      <p:sp>
        <p:nvSpPr>
          <p:cNvPr id="10" name="case-synthesis-key-body">
            <a:extLst xmlns:a="http://schemas.openxmlformats.org/drawingml/2006/main">
              <a:ext uri="{FF2B5EF4-FFF2-40B4-BE49-F238E27FC236}">
                <a16:creationId xmlns:a16="http://schemas.microsoft.com/office/drawing/2014/main" id="{C8A7001E-69D0-4E91-9358-43FCA829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86425"/>
            <a:ext cx="1055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 sistemas reales, la arquitectura se decide por contexto y se combina por dominio.</a:t>
            </a:r>
          </a:p>
        </p:txBody>
      </p:sp>
    </p:spTree>
    <p:extLst>
      <p:ext uri="{BB962C8B-B14F-4D97-AF65-F5344CB8AC3E}">
        <p14:creationId xmlns:p14="http://schemas.microsoft.com/office/powerpoint/2010/main" val="13043681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25">
            <a:extLst xmlns:a="http://schemas.openxmlformats.org/drawingml/2006/main">
              <a:ext uri="{FF2B5EF4-FFF2-40B4-BE49-F238E27FC236}">
                <a16:creationId xmlns:a16="http://schemas.microsoft.com/office/drawing/2014/main" id="{FB56B3AC-C8A3-403B-93AC-AA8324B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PATRONES DE ARQUITECTURA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4B1C0F7D-B779-4795-AA58-6A4DA30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Lleven estas preguntas a la Fase 2</a:t>
            </a:r>
          </a:p>
        </p:txBody>
      </p:sp>
      <p:sp>
        <p:nvSpPr>
          <p:cNvPr id="3" name="title-rule-25">
            <a:extLst xmlns:a="http://schemas.openxmlformats.org/drawingml/2006/main">
              <a:ext uri="{FF2B5EF4-FFF2-40B4-BE49-F238E27FC236}">
                <a16:creationId xmlns:a16="http://schemas.microsoft.com/office/drawing/2014/main" id="{508D0384-20F2-4335-AA14-601FD9DE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5">
            <a:extLst xmlns:a="http://schemas.openxmlformats.org/drawingml/2006/main">
              <a:ext uri="{FF2B5EF4-FFF2-40B4-BE49-F238E27FC236}">
                <a16:creationId xmlns:a16="http://schemas.microsoft.com/office/drawing/2014/main" id="{DD943C96-A1D8-4538-BCFA-DD81FE65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PATRONES DE ARQUITECTURA</a:t>
            </a:r>
          </a:p>
        </p:txBody>
      </p:sp>
      <p:sp>
        <p:nvSpPr>
          <p:cNvPr id="5" name="footer-right-25">
            <a:extLst xmlns:a="http://schemas.openxmlformats.org/drawingml/2006/main">
              <a:ext uri="{FF2B5EF4-FFF2-40B4-BE49-F238E27FC236}">
                <a16:creationId xmlns:a16="http://schemas.microsoft.com/office/drawing/2014/main" id="{162F58AD-D1BB-474A-9934-96C517E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6" name="phase-1-number">
            <a:extLst xmlns:a="http://schemas.openxmlformats.org/drawingml/2006/main">
              <a:ext uri="{FF2B5EF4-FFF2-40B4-BE49-F238E27FC236}">
                <a16:creationId xmlns:a16="http://schemas.microsoft.com/office/drawing/2014/main" id="{798881CE-57DD-4D1A-80DB-5292CB55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phase-1-text">
            <a:extLst xmlns:a="http://schemas.openxmlformats.org/drawingml/2006/main">
              <a:ext uri="{FF2B5EF4-FFF2-40B4-BE49-F238E27FC236}">
                <a16:creationId xmlns:a16="http://schemas.microsoft.com/office/drawing/2014/main" id="{0E08E7DA-01E4-4A57-9DC4-8C453B9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954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¿Cuál es la fuente de verdad?</a:t>
            </a:r>
          </a:p>
        </p:txBody>
      </p:sp>
      <p:sp>
        <p:nvSpPr>
          <p:cNvPr id="8" name="phase-1-rule">
            <a:extLst xmlns:a="http://schemas.openxmlformats.org/drawingml/2006/main">
              <a:ext uri="{FF2B5EF4-FFF2-40B4-BE49-F238E27FC236}">
                <a16:creationId xmlns:a16="http://schemas.microsoft.com/office/drawing/2014/main" id="{373BD7A0-172C-4011-8123-9A351CB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hase-2-number">
            <a:extLst xmlns:a="http://schemas.openxmlformats.org/drawingml/2006/main">
              <a:ext uri="{FF2B5EF4-FFF2-40B4-BE49-F238E27FC236}">
                <a16:creationId xmlns:a16="http://schemas.microsoft.com/office/drawing/2014/main" id="{0C43B4B8-266D-4740-BD4C-72E26C1D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phase-2-text">
            <a:extLst xmlns:a="http://schemas.openxmlformats.org/drawingml/2006/main">
              <a:ext uri="{FF2B5EF4-FFF2-40B4-BE49-F238E27FC236}">
                <a16:creationId xmlns:a16="http://schemas.microsoft.com/office/drawing/2014/main" id="{8AE61C9F-3FDA-4215-8BCF-7AD8EDD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574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¿Qué información debe transformarse?</a:t>
            </a:r>
          </a:p>
        </p:txBody>
      </p:sp>
      <p:sp>
        <p:nvSpPr>
          <p:cNvPr id="11" name="phase-2-rule">
            <a:extLst xmlns:a="http://schemas.openxmlformats.org/drawingml/2006/main">
              <a:ext uri="{FF2B5EF4-FFF2-40B4-BE49-F238E27FC236}">
                <a16:creationId xmlns:a16="http://schemas.microsoft.com/office/drawing/2014/main" id="{3FB24CC5-BD30-4193-860F-F0992692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3-number">
            <a:extLst xmlns:a="http://schemas.openxmlformats.org/drawingml/2006/main">
              <a:ext uri="{FF2B5EF4-FFF2-40B4-BE49-F238E27FC236}">
                <a16:creationId xmlns:a16="http://schemas.microsoft.com/office/drawing/2014/main" id="{7608CF17-9B10-4BFB-B869-072E5B28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phase-3-text">
            <a:extLst xmlns:a="http://schemas.openxmlformats.org/drawingml/2006/main">
              <a:ext uri="{FF2B5EF4-FFF2-40B4-BE49-F238E27FC236}">
                <a16:creationId xmlns:a16="http://schemas.microsoft.com/office/drawing/2014/main" id="{9C215E5A-074B-4F13-B7E0-990888D1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¿Qué cambios necesitan disparar reacciones?</a:t>
            </a:r>
          </a:p>
        </p:txBody>
      </p:sp>
      <p:sp>
        <p:nvSpPr>
          <p:cNvPr id="14" name="phase-3-rule">
            <a:extLst xmlns:a="http://schemas.openxmlformats.org/drawingml/2006/main">
              <a:ext uri="{FF2B5EF4-FFF2-40B4-BE49-F238E27FC236}">
                <a16:creationId xmlns:a16="http://schemas.microsoft.com/office/drawing/2014/main" id="{E6ED1771-B38B-43AE-B9C9-48EDEF5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ase-4-number">
            <a:extLst xmlns:a="http://schemas.openxmlformats.org/drawingml/2006/main">
              <a:ext uri="{FF2B5EF4-FFF2-40B4-BE49-F238E27FC236}">
                <a16:creationId xmlns:a16="http://schemas.microsoft.com/office/drawing/2014/main" id="{4A48808E-4308-4A36-BD03-71355C9A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phase-4-text">
            <a:extLst xmlns:a="http://schemas.openxmlformats.org/drawingml/2006/main">
              <a:ext uri="{FF2B5EF4-FFF2-40B4-BE49-F238E27FC236}">
                <a16:creationId xmlns:a16="http://schemas.microsoft.com/office/drawing/2014/main" id="{C17D6406-CCCF-4182-8E43-F40F5D92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111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¿Qué capacidades deben exponerse entre sistemas?</a:t>
            </a:r>
          </a:p>
        </p:txBody>
      </p:sp>
      <p:sp>
        <p:nvSpPr>
          <p:cNvPr id="17" name="phase-4-rule">
            <a:extLst xmlns:a="http://schemas.openxmlformats.org/drawingml/2006/main">
              <a:ext uri="{FF2B5EF4-FFF2-40B4-BE49-F238E27FC236}">
                <a16:creationId xmlns:a16="http://schemas.microsoft.com/office/drawing/2014/main" id="{E874DDF3-0596-4DED-AD6A-0DDCB2DF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5-number">
            <a:extLst xmlns:a="http://schemas.openxmlformats.org/drawingml/2006/main">
              <a:ext uri="{FF2B5EF4-FFF2-40B4-BE49-F238E27FC236}">
                <a16:creationId xmlns:a16="http://schemas.microsoft.com/office/drawing/2014/main" id="{2C7ADB68-A9AD-45B3-8C23-072FCB4E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phase-5-text">
            <a:extLst xmlns:a="http://schemas.openxmlformats.org/drawingml/2006/main">
              <a:ext uri="{FF2B5EF4-FFF2-40B4-BE49-F238E27FC236}">
                <a16:creationId xmlns:a16="http://schemas.microsoft.com/office/drawing/2014/main" id="{4367CD41-F2BF-44A3-A099-CDF311AF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519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¿Qué trade-off aceptamos y cómo lo justificamos?</a:t>
            </a:r>
          </a:p>
        </p:txBody>
      </p:sp>
      <p:sp>
        <p:nvSpPr>
          <p:cNvPr id="20" name="phase-5-rule">
            <a:extLst xmlns:a="http://schemas.openxmlformats.org/drawingml/2006/main">
              <a:ext uri="{FF2B5EF4-FFF2-40B4-BE49-F238E27FC236}">
                <a16:creationId xmlns:a16="http://schemas.microsoft.com/office/drawing/2014/main" id="{C47B4D4C-6F95-4678-9EAE-26F839C4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hase-callout-accent">
            <a:extLst xmlns:a="http://schemas.openxmlformats.org/drawingml/2006/main">
              <a:ext uri="{FF2B5EF4-FFF2-40B4-BE49-F238E27FC236}">
                <a16:creationId xmlns:a16="http://schemas.microsoft.com/office/drawing/2014/main" id="{A0EB6132-F924-4BC0-A4ED-CB3479E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ase-callout-label">
            <a:extLst xmlns:a="http://schemas.openxmlformats.org/drawingml/2006/main">
              <a:ext uri="{FF2B5EF4-FFF2-40B4-BE49-F238E27FC236}">
                <a16:creationId xmlns:a16="http://schemas.microsoft.com/office/drawing/2014/main" id="{0CD8BBAF-6D2A-4610-A5B0-A0A0426C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CRITERIO DE CALIDAD</a:t>
            </a:r>
          </a:p>
        </p:txBody>
      </p:sp>
      <p:sp>
        <p:nvSpPr>
          <p:cNvPr id="23" name="phase-callout-body">
            <a:extLst xmlns:a="http://schemas.openxmlformats.org/drawingml/2006/main">
              <a:ext uri="{FF2B5EF4-FFF2-40B4-BE49-F238E27FC236}">
                <a16:creationId xmlns:a16="http://schemas.microsoft.com/office/drawing/2014/main" id="{F13AB1A5-C895-48C3-9CF0-37046D74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14675"/>
            <a:ext cx="3505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basta con nombrar un patrón: hay que explicar el problema que resuelve y el costo que introduce.</a:t>
            </a:r>
          </a:p>
        </p:txBody>
      </p:sp>
    </p:spTree>
    <p:extLst>
      <p:ext uri="{BB962C8B-B14F-4D97-AF65-F5344CB8AC3E}">
        <p14:creationId xmlns:p14="http://schemas.microsoft.com/office/powerpoint/2010/main" val="14589529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26">
            <a:extLst xmlns:a="http://schemas.openxmlformats.org/drawingml/2006/main">
              <a:ext uri="{FF2B5EF4-FFF2-40B4-BE49-F238E27FC236}">
                <a16:creationId xmlns:a16="http://schemas.microsoft.com/office/drawing/2014/main" id="{CB90D6AE-2A57-419F-899E-D1F9F63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// CIERRE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8CBE931E-5F20-4593-8EFB-EF7516A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"/>
            <a:ext cx="11404664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Para cerrar: elijan con criterio</a:t>
            </a:r>
          </a:p>
        </p:txBody>
      </p:sp>
      <p:sp>
        <p:nvSpPr>
          <p:cNvPr id="3" name="title-rule-26">
            <a:extLst xmlns:a="http://schemas.openxmlformats.org/drawingml/2006/main">
              <a:ext uri="{FF2B5EF4-FFF2-40B4-BE49-F238E27FC236}">
                <a16:creationId xmlns:a16="http://schemas.microsoft.com/office/drawing/2014/main" id="{B8B146B1-DEC9-4F4C-A3A9-166D32C1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4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-26">
            <a:extLst xmlns:a="http://schemas.openxmlformats.org/drawingml/2006/main">
              <a:ext uri="{FF2B5EF4-FFF2-40B4-BE49-F238E27FC236}">
                <a16:creationId xmlns:a16="http://schemas.microsoft.com/office/drawing/2014/main" id="{1FB3E280-602E-4ADE-A2F7-06FC5D1A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ADS2 · SECCIÓN B · CIERRE</a:t>
            </a:r>
          </a:p>
        </p:txBody>
      </p:sp>
      <p:sp>
        <p:nvSpPr>
          <p:cNvPr id="5" name="footer-right-26">
            <a:extLst xmlns:a="http://schemas.openxmlformats.org/drawingml/2006/main">
              <a:ext uri="{FF2B5EF4-FFF2-40B4-BE49-F238E27FC236}">
                <a16:creationId xmlns:a16="http://schemas.microsoft.com/office/drawing/2014/main" id="{FE7C3B59-F4FF-40E3-B396-5D8604B5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883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6" name="closing-lead">
            <a:extLst xmlns:a="http://schemas.openxmlformats.org/drawingml/2006/main">
              <a:ext uri="{FF2B5EF4-FFF2-40B4-BE49-F238E27FC236}">
                <a16:creationId xmlns:a16="http://schemas.microsoft.com/office/drawing/2014/main" id="{B56844CD-6FD7-4A0F-A17B-D6EFAD17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62125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Una buena arquitectura hace explícitos sus trade-offs.</a:t>
            </a:r>
          </a:p>
        </p:txBody>
      </p:sp>
      <p:sp>
        <p:nvSpPr>
          <p:cNvPr id="7" name="closing-takeaways">
            <a:extLst xmlns:a="http://schemas.openxmlformats.org/drawingml/2006/main">
              <a:ext uri="{FF2B5EF4-FFF2-40B4-BE49-F238E27FC236}">
                <a16:creationId xmlns:a16="http://schemas.microsoft.com/office/drawing/2014/main" id="{B4B5EBDB-E56B-4864-BEC1-B3D04515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581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Datos: quién conserva la verdad.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Flujo: cómo se transforma.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Eventos y servicios: cómo se integra y evoluciona.</a:t>
            </a:r>
          </a:p>
        </p:txBody>
      </p:sp>
      <p:sp>
        <p:nvSpPr>
          <p:cNvPr id="8" name="closing-reminder-band">
            <a:extLst xmlns:a="http://schemas.openxmlformats.org/drawingml/2006/main">
              <a:ext uri="{FF2B5EF4-FFF2-40B4-BE49-F238E27FC236}">
                <a16:creationId xmlns:a16="http://schemas.microsoft.com/office/drawing/2014/main" id="{0F5CA633-AE6F-4B72-A5F6-24E7257F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619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closing-reminder-label">
            <a:extLst xmlns:a="http://schemas.openxmlformats.org/drawingml/2006/main">
              <a:ext uri="{FF2B5EF4-FFF2-40B4-BE49-F238E27FC236}">
                <a16:creationId xmlns:a16="http://schemas.microsoft.com/office/drawing/2014/main" id="{19AB51E4-8356-4570-9365-0A1C55F2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57A6"/>
                </a:solidFill>
                <a:latin typeface="Helvetica Neue"/>
                <a:ea typeface="Helvetica Neue"/>
                <a:cs typeface="Helvetica Neue"/>
              </a:rPr>
              <a:t>ANTES DE RETIRARSE</a:t>
            </a:r>
          </a:p>
        </p:txBody>
      </p:sp>
      <p:sp>
        <p:nvSpPr>
          <p:cNvPr id="10" name="closing-reminder">
            <a:extLst xmlns:a="http://schemas.openxmlformats.org/drawingml/2006/main">
              <a:ext uri="{FF2B5EF4-FFF2-40B4-BE49-F238E27FC236}">
                <a16:creationId xmlns:a16="http://schemas.microsoft.com/office/drawing/2014/main" id="{22C58E81-3E4B-432D-90D8-B50A071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Completar la</a:t>
            </a:r>
          </a:p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evaluación docente.</a:t>
            </a:r>
          </a:p>
        </p:txBody>
      </p:sp>
      <p:sp>
        <p:nvSpPr>
          <p:cNvPr id="11" name="closing-footer-note">
            <a:extLst xmlns:a="http://schemas.openxmlformats.org/drawingml/2006/main">
              <a:ext uri="{FF2B5EF4-FFF2-40B4-BE49-F238E27FC236}">
                <a16:creationId xmlns:a16="http://schemas.microsoft.com/office/drawing/2014/main" id="{FC6FC2FB-7D3A-4B37-95E5-D61AD25E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5F68"/>
                </a:solidFill>
                <a:latin typeface="Helvetica Neue"/>
                <a:ea typeface="Helvetica Neue"/>
                <a:cs typeface="Helvetica Neue"/>
              </a:rPr>
              <a:t>Gracias. Nos vemos en la revisión del proyecto.</a:t>
            </a:r>
          </a:p>
        </p:txBody>
      </p:sp>
    </p:spTree>
    <p:extLst>
      <p:ext uri="{BB962C8B-B14F-4D97-AF65-F5344CB8AC3E}">
        <p14:creationId xmlns:p14="http://schemas.microsoft.com/office/powerpoint/2010/main" val="1098830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2026-08-27T22:58:03.4590000Z</dcterms:created>
  <dcterms:modified xsi:type="dcterms:W3CDTF">2026-08-27T22:58:03.4590000Z</dcterms:modified>
</coreProperties>
</file>