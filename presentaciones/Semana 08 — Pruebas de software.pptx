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208ae9dfe3407d" /><Relationship Type="http://schemas.openxmlformats.org/officeDocument/2006/relationships/extended-properties" Target="/docProps/app.xml" Id="R86c5e56fe27d4371" /><Relationship Type="http://schemas.openxmlformats.org/officeDocument/2006/relationships/officeDocument" Target="/ppt/presentation.xml" Id="R4549b3d7a8404b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a9f07ac4314971"/>
  </p:sldMasterIdLst>
  <p:notesMasterIdLst>
    <p:notesMasterId xmlns:r="http://schemas.openxmlformats.org/officeDocument/2006/relationships" r:id="Rca3e97d4e3634149"/>
  </p:notesMasterIdLst>
  <p:sldIdLst>
    <p:sldId xmlns:r="http://schemas.openxmlformats.org/officeDocument/2006/relationships" id="256" r:id="Rb89b37b75ace44ac"/>
    <p:sldId xmlns:r="http://schemas.openxmlformats.org/officeDocument/2006/relationships" id="257" r:id="R6a251b3ffd0a46c0"/>
    <p:sldId xmlns:r="http://schemas.openxmlformats.org/officeDocument/2006/relationships" id="258" r:id="R1484814643b242d5"/>
    <p:sldId xmlns:r="http://schemas.openxmlformats.org/officeDocument/2006/relationships" id="259" r:id="Rd2215227d7ff4f95"/>
    <p:sldId xmlns:r="http://schemas.openxmlformats.org/officeDocument/2006/relationships" id="260" r:id="Recb47d0a0593417d"/>
    <p:sldId xmlns:r="http://schemas.openxmlformats.org/officeDocument/2006/relationships" id="261" r:id="Rfbb54c51695a4e35"/>
    <p:sldId xmlns:r="http://schemas.openxmlformats.org/officeDocument/2006/relationships" id="262" r:id="R9c53d1aac1044ba0"/>
    <p:sldId xmlns:r="http://schemas.openxmlformats.org/officeDocument/2006/relationships" id="263" r:id="Rd544a70bb3f448cb"/>
    <p:sldId xmlns:r="http://schemas.openxmlformats.org/officeDocument/2006/relationships" id="264" r:id="Rcf59e73f0340472f"/>
    <p:sldId xmlns:r="http://schemas.openxmlformats.org/officeDocument/2006/relationships" id="265" r:id="R5c91c85494df4d9e"/>
    <p:sldId xmlns:r="http://schemas.openxmlformats.org/officeDocument/2006/relationships" id="266" r:id="Rcac6781968e245a2"/>
    <p:sldId xmlns:r="http://schemas.openxmlformats.org/officeDocument/2006/relationships" id="267" r:id="R555d668be7e24a30"/>
    <p:sldId xmlns:r="http://schemas.openxmlformats.org/officeDocument/2006/relationships" id="268" r:id="R37c2701353ef4afa"/>
    <p:sldId xmlns:r="http://schemas.openxmlformats.org/officeDocument/2006/relationships" id="269" r:id="R8e15041a40334223"/>
    <p:sldId xmlns:r="http://schemas.openxmlformats.org/officeDocument/2006/relationships" id="270" r:id="R15760ed963b742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33c71cc6742b5" /><Relationship Type="http://schemas.openxmlformats.org/officeDocument/2006/relationships/slideMaster" Target="/ppt/slideMasters/slideMaster1.xml" Id="Re5a9f07ac4314971" /><Relationship Type="http://schemas.openxmlformats.org/officeDocument/2006/relationships/notesMaster" Target="/ppt/notesMasters/notesMaster1.xml" Id="Rca3e97d4e3634149" /><Relationship Type="http://schemas.openxmlformats.org/officeDocument/2006/relationships/presProps" Target="/ppt/presProps.xml" Id="Racdf92f57fa14480" /><Relationship Type="http://schemas.openxmlformats.org/officeDocument/2006/relationships/tableStyles" Target="/ppt/tableStyles.xml" Id="R531195e1271c447d" /><Relationship Type="http://schemas.openxmlformats.org/officeDocument/2006/relationships/slide" Target="/ppt/slides/slide1.xml" Id="Rb89b37b75ace44ac" /><Relationship Type="http://schemas.openxmlformats.org/officeDocument/2006/relationships/slide" Target="/ppt/slides/slide2.xml" Id="R6a251b3ffd0a46c0" /><Relationship Type="http://schemas.openxmlformats.org/officeDocument/2006/relationships/slide" Target="/ppt/slides/slide3.xml" Id="R1484814643b242d5" /><Relationship Type="http://schemas.openxmlformats.org/officeDocument/2006/relationships/slide" Target="/ppt/slides/slide4.xml" Id="Rd2215227d7ff4f95" /><Relationship Type="http://schemas.openxmlformats.org/officeDocument/2006/relationships/slide" Target="/ppt/slides/slide5.xml" Id="Recb47d0a0593417d" /><Relationship Type="http://schemas.openxmlformats.org/officeDocument/2006/relationships/slide" Target="/ppt/slides/slide6.xml" Id="Rfbb54c51695a4e35" /><Relationship Type="http://schemas.openxmlformats.org/officeDocument/2006/relationships/slide" Target="/ppt/slides/slide7.xml" Id="R9c53d1aac1044ba0" /><Relationship Type="http://schemas.openxmlformats.org/officeDocument/2006/relationships/slide" Target="/ppt/slides/slide8.xml" Id="Rd544a70bb3f448cb" /><Relationship Type="http://schemas.openxmlformats.org/officeDocument/2006/relationships/slide" Target="/ppt/slides/slide9.xml" Id="Rcf59e73f0340472f" /><Relationship Type="http://schemas.openxmlformats.org/officeDocument/2006/relationships/slide" Target="/ppt/slides/slide10.xml" Id="R5c91c85494df4d9e" /><Relationship Type="http://schemas.openxmlformats.org/officeDocument/2006/relationships/slide" Target="/ppt/slides/slide11.xml" Id="Rcac6781968e245a2" /><Relationship Type="http://schemas.openxmlformats.org/officeDocument/2006/relationships/slide" Target="/ppt/slides/slide12.xml" Id="R555d668be7e24a30" /><Relationship Type="http://schemas.openxmlformats.org/officeDocument/2006/relationships/slide" Target="/ppt/slides/slide13.xml" Id="R37c2701353ef4afa" /><Relationship Type="http://schemas.openxmlformats.org/officeDocument/2006/relationships/slide" Target="/ppt/slides/slide14.xml" Id="R8e15041a40334223" /><Relationship Type="http://schemas.openxmlformats.org/officeDocument/2006/relationships/slide" Target="/ppt/slides/slide15.xml" Id="R15760ed963b742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8df2c1e1a4f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75fe4f74546f3" /><Relationship Type="http://schemas.openxmlformats.org/officeDocument/2006/relationships/notesMaster" Target="/ppt/notesMasters/notesMaster1.xml" Id="Rd84b01187db644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3e245d9a1043d2" /><Relationship Type="http://schemas.openxmlformats.org/officeDocument/2006/relationships/notesMaster" Target="/ppt/notesMasters/notesMaster1.xml" Id="R2030f31ddc5346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c41ef899e94fcb" /><Relationship Type="http://schemas.openxmlformats.org/officeDocument/2006/relationships/notesMaster" Target="/ppt/notesMasters/notesMaster1.xml" Id="R40183e6bceac4b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b5eaf3bd284a34" /><Relationship Type="http://schemas.openxmlformats.org/officeDocument/2006/relationships/notesMaster" Target="/ppt/notesMasters/notesMaster1.xml" Id="R47303a4761c64c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424e24745248c3" /><Relationship Type="http://schemas.openxmlformats.org/officeDocument/2006/relationships/notesMaster" Target="/ppt/notesMasters/notesMaster1.xml" Id="Rc0283a178c524a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1d4428cca04862" /><Relationship Type="http://schemas.openxmlformats.org/officeDocument/2006/relationships/notesMaster" Target="/ppt/notesMasters/notesMaster1.xml" Id="Rb2dfd10c9e2b4b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65da9aa2324717" /><Relationship Type="http://schemas.openxmlformats.org/officeDocument/2006/relationships/notesMaster" Target="/ppt/notesMasters/notesMaster1.xml" Id="Re77b30eb650540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e811b1352b4d4d" /><Relationship Type="http://schemas.openxmlformats.org/officeDocument/2006/relationships/notesMaster" Target="/ppt/notesMasters/notesMaster1.xml" Id="Re91bb93ffab84a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c26325ef2c4c17" /><Relationship Type="http://schemas.openxmlformats.org/officeDocument/2006/relationships/notesMaster" Target="/ppt/notesMasters/notesMaster1.xml" Id="R8e47f76ff64b42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4975a928a6415c" /><Relationship Type="http://schemas.openxmlformats.org/officeDocument/2006/relationships/notesMaster" Target="/ppt/notesMasters/notesMaster1.xml" Id="R250e3621a37743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7e5d20fdb94997" /><Relationship Type="http://schemas.openxmlformats.org/officeDocument/2006/relationships/notesMaster" Target="/ppt/notesMasters/notesMaster1.xml" Id="Rc6a7ef53b6944e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d319220cc7426c" /><Relationship Type="http://schemas.openxmlformats.org/officeDocument/2006/relationships/notesMaster" Target="/ppt/notesMasters/notesMaster1.xml" Id="Ra913f129f31d40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69a7aa84c640a1" /><Relationship Type="http://schemas.openxmlformats.org/officeDocument/2006/relationships/notesMaster" Target="/ppt/notesMasters/notesMaster1.xml" Id="Ra063715152c84e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3f2fc41c954f01" /><Relationship Type="http://schemas.openxmlformats.org/officeDocument/2006/relationships/notesMaster" Target="/ppt/notesMasters/notesMaster1.xml" Id="Rb4b7de6399e348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23807f42584251" /><Relationship Type="http://schemas.openxmlformats.org/officeDocument/2006/relationships/notesMaster" Target="/ppt/notesMasters/notesMaster1.xml" Id="Rfbfd871af3ab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sesión como un recorrido desde los requisitos hasta la evidencia que permite tomar decisiones.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testing; functional testing; test 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orden de la sesión y señalar que los dos primeros bloques son administrativos.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como espacio visible para preguntas y decisiones de los equipos. No convertirla en una exposición 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Comunicar los horarios durante la reunión y completar verbalmente los campos de la diapositiva.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la idea de prueba como comparación contra un resultado esperado y como fuente de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testing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pruebas funcionales desde el comportamiento observable y conectar la definición con un escenario sencillo.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functional testing; functionality; test 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una prueba funcional es verificable cuando deja explícitos el requisito, las condiciones, los datos, el resultado esperado y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functional testing; test case; expected result; traceability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las fronteras de la arquitectura con las preguntas que puede responder cada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test level; integration testing; acceptance testing; regression testing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el cálculo como ejemplo de una unidad con entradas, resultado esperado y casos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unit testing; unit; unit test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la integración prueba la relación entre componentes, no solo cada componente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integration testing; integration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ambas estrategias sin presentarlas como una secuencia obligatoria para todos los proyectos.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integration testing; top-down integration; bottom-up integration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la aceptación técnica de la decisión de aceptar el producto para su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acceptance testing; acceptance criteria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motivo de la regresión y distinguirla de repetir únicamente el caso que confirmó un defecto.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regression testing; regression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 tabla para consolidar las diferencias y remarcar que objetivo, nivel y propósito pueden combinarse.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test type; functional testing; unit testing; integration testing; acceptance testing; regression testing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la estrategia de pruebas con el trabajo de la Fase 2: requisitos, arquitectura y decisiones que deben quedar verificadas.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de referencia proporcionado por el docente: /Users/abdielo/Downloads/2S2026_Semana_8.pdf</a:t>
            </a:r>
          </a:p>
          <a:p xmlns:a="http://schemas.openxmlformats.org/drawingml/2006/main">
            <a:r>
              <a:t>- Glosario oficial ISTQB: https://glossary.istqb.org/en_US/search</a:t>
            </a:r>
          </a:p>
          <a:p xmlns:a="http://schemas.openxmlformats.org/drawingml/2006/main">
            <a:r>
              <a:t>- Términos consultados: test case; acceptance criteria; regression testing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cc77d598b4d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a4beca10f74b23" /><Relationship Type="http://schemas.openxmlformats.org/officeDocument/2006/relationships/slideLayout" Target="/ppt/slideLayouts/slideLayout1.xml" Id="R46f4e830b7fd44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f4e830b7fd44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d61a33c11495b" /><Relationship Type="http://schemas.openxmlformats.org/officeDocument/2006/relationships/notesSlide" Target="/ppt/notesSlides/notesSlide1.xml" Id="Rb61e57c7a269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27cfce447417b" /><Relationship Type="http://schemas.openxmlformats.org/officeDocument/2006/relationships/notesSlide" Target="/ppt/notesSlides/notesSlide2.xml" Id="Re491832b92e64e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848cf42ac4140" /><Relationship Type="http://schemas.openxmlformats.org/officeDocument/2006/relationships/notesSlide" Target="/ppt/notesSlides/notesSlide3.xml" Id="R89abdd6e14284c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06dc7c7294a25" /><Relationship Type="http://schemas.openxmlformats.org/officeDocument/2006/relationships/notesSlide" Target="/ppt/notesSlides/notesSlide4.xml" Id="R2203bf59603548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f1b36e1174076" /><Relationship Type="http://schemas.openxmlformats.org/officeDocument/2006/relationships/notesSlide" Target="/ppt/notesSlides/notesSlide5.xml" Id="R83e1171698a349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883f72bb24d0b" /><Relationship Type="http://schemas.openxmlformats.org/officeDocument/2006/relationships/notesSlide" Target="/ppt/notesSlides/notesSlide6.xml" Id="Rbca0ccca9ca14e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bd6d113ce4821" /><Relationship Type="http://schemas.openxmlformats.org/officeDocument/2006/relationships/notesSlide" Target="/ppt/notesSlides/notesSlide7.xml" Id="Rf0a5f7ec732345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99f8a0b0f4109" /><Relationship Type="http://schemas.openxmlformats.org/officeDocument/2006/relationships/notesSlide" Target="/ppt/notesSlides/notesSlide8.xml" Id="R353e9cb3095248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37678e1074a59" /><Relationship Type="http://schemas.openxmlformats.org/officeDocument/2006/relationships/notesSlide" Target="/ppt/notesSlides/notesSlide9.xml" Id="R836d6de430ca4b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d7647b2494a5f" /><Relationship Type="http://schemas.openxmlformats.org/officeDocument/2006/relationships/notesSlide" Target="/ppt/notesSlides/notesSlide10.xml" Id="R7a3b441833a34c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9183631f74fed" /><Relationship Type="http://schemas.openxmlformats.org/officeDocument/2006/relationships/notesSlide" Target="/ppt/notesSlides/notesSlide11.xml" Id="R0fb2cf3aa42a4a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955d7001b4ca7" /><Relationship Type="http://schemas.openxmlformats.org/officeDocument/2006/relationships/notesSlide" Target="/ppt/notesSlides/notesSlide12.xml" Id="R96eb41f518a740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412229b93442b" /><Relationship Type="http://schemas.openxmlformats.org/officeDocument/2006/relationships/notesSlide" Target="/ppt/notesSlides/notesSlide13.xml" Id="Rd4e41902affd48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3560b08984cae" /><Relationship Type="http://schemas.openxmlformats.org/officeDocument/2006/relationships/notesSlide" Target="/ppt/notesSlides/notesSlide14.xml" Id="R0256aba373ad4b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253f08a9840cb" /><Relationship Type="http://schemas.openxmlformats.org/officeDocument/2006/relationships/notesSlide" Target="/ppt/notesSlides/notesSlide15.xml" Id="R33b42906e82f49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F87E5BB-36A8-46A8-AB35-30AEABF0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CE7D935-5628-4910-A76D-5B3F2F44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LABORATORIO · ANÁLISIS Y DISEÑO DE SISTEMAS 2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A0AF3E-EEDE-43AD-91BC-D9B22BF5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6858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Semana 8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Pruebas de software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BD53A95-7B10-40FC-AE12-39837B32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Del requisito a la evidencia verificable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60AC3896-1186-4CC4-82F8-B92B4D6C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6" name="cover-outcome">
            <a:extLst xmlns:a="http://schemas.openxmlformats.org/drawingml/2006/main">
              <a:ext uri="{FF2B5EF4-FFF2-40B4-BE49-F238E27FC236}">
                <a16:creationId xmlns:a16="http://schemas.microsoft.com/office/drawing/2014/main" id="{98DCF4F9-ED3A-4606-B228-654FF742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Comprender qué pregunta responde cada prueba y dónde aplicarla dentro del sistema.</a:t>
            </a:r>
          </a:p>
        </p:txBody>
      </p:sp>
      <p:sp>
        <p:nvSpPr>
          <p:cNvPr id="7" name="cover-visual">
            <a:extLst xmlns:a="http://schemas.openxmlformats.org/drawingml/2006/main">
              <a:ext uri="{FF2B5EF4-FFF2-40B4-BE49-F238E27FC236}">
                <a16:creationId xmlns:a16="http://schemas.microsoft.com/office/drawing/2014/main" id="{1A44B875-3B89-4579-8C59-3FD68D38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3429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8" name="cover-visual-label">
            <a:extLst xmlns:a="http://schemas.openxmlformats.org/drawingml/2006/main">
              <a:ext uri="{FF2B5EF4-FFF2-40B4-BE49-F238E27FC236}">
                <a16:creationId xmlns:a16="http://schemas.microsoft.com/office/drawing/2014/main" id="{FD392A35-CD3F-4FE7-B0BE-610C6552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90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evidencia de calidad</a:t>
            </a:r>
          </a:p>
        </p:txBody>
      </p:sp>
      <p:sp>
        <p:nvSpPr>
          <p:cNvPr id="9" name="cover-arrow-1">
            <a:extLst xmlns:a="http://schemas.openxmlformats.org/drawingml/2006/main">
              <a:ext uri="{FF2B5EF4-FFF2-40B4-BE49-F238E27FC236}">
                <a16:creationId xmlns:a16="http://schemas.microsoft.com/office/drawing/2014/main" id="{A68A0944-D03B-4263-AEBC-A1C005E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0" name="cover-arrow-2">
            <a:extLst xmlns:a="http://schemas.openxmlformats.org/drawingml/2006/main">
              <a:ext uri="{FF2B5EF4-FFF2-40B4-BE49-F238E27FC236}">
                <a16:creationId xmlns:a16="http://schemas.microsoft.com/office/drawing/2014/main" id="{94CD652E-43DB-46DA-8C07-2E053593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718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1" name="cover-node-1">
            <a:extLst xmlns:a="http://schemas.openxmlformats.org/drawingml/2006/main">
              <a:ext uri="{FF2B5EF4-FFF2-40B4-BE49-F238E27FC236}">
                <a16:creationId xmlns:a16="http://schemas.microsoft.com/office/drawing/2014/main" id="{8D96709C-5684-46D3-B3A9-8CF86C11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2" name="cover-node-2">
            <a:extLst xmlns:a="http://schemas.openxmlformats.org/drawingml/2006/main">
              <a:ext uri="{FF2B5EF4-FFF2-40B4-BE49-F238E27FC236}">
                <a16:creationId xmlns:a16="http://schemas.microsoft.com/office/drawing/2014/main" id="{226EB74B-7873-42A0-A060-6A825DA8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3" name="cover-node-3">
            <a:extLst xmlns:a="http://schemas.openxmlformats.org/drawingml/2006/main">
              <a:ext uri="{FF2B5EF4-FFF2-40B4-BE49-F238E27FC236}">
                <a16:creationId xmlns:a16="http://schemas.microsoft.com/office/drawing/2014/main" id="{C18DD9AE-EC5D-4BF1-9386-ACCEC51B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19050">
            <a:solidFill>
              <a:srgbClr val="183B56"/>
            </a:solidFill>
            <a:prstDash val="solid"/>
          </a:ln>
        </p:spPr>
      </p:sp>
      <p:sp>
        <p:nvSpPr>
          <p:cNvPr id="14" name="cover-node-1-text">
            <a:extLst xmlns:a="http://schemas.openxmlformats.org/drawingml/2006/main">
              <a:ext uri="{FF2B5EF4-FFF2-40B4-BE49-F238E27FC236}">
                <a16:creationId xmlns:a16="http://schemas.microsoft.com/office/drawing/2014/main" id="{58F4A9F3-D9B7-4941-82C8-8FF4DC5A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812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REQUISITO</a:t>
            </a:r>
          </a:p>
        </p:txBody>
      </p:sp>
      <p:sp>
        <p:nvSpPr>
          <p:cNvPr id="15" name="cover-node-2-text">
            <a:extLst xmlns:a="http://schemas.openxmlformats.org/drawingml/2006/main">
              <a:ext uri="{FF2B5EF4-FFF2-40B4-BE49-F238E27FC236}">
                <a16:creationId xmlns:a16="http://schemas.microsoft.com/office/drawing/2014/main" id="{191C834E-D3A1-4893-8972-1356F6E0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04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16" name="cover-node-3-text">
            <a:extLst xmlns:a="http://schemas.openxmlformats.org/drawingml/2006/main">
              <a:ext uri="{FF2B5EF4-FFF2-40B4-BE49-F238E27FC236}">
                <a16:creationId xmlns:a16="http://schemas.microsoft.com/office/drawing/2014/main" id="{D61F6953-08A6-4EF8-A8B1-4C4F699F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96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</a:t>
            </a:r>
          </a:p>
        </p:txBody>
      </p:sp>
      <p:sp>
        <p:nvSpPr>
          <p:cNvPr id="17" name="cover-vertical-1">
            <a:extLst xmlns:a="http://schemas.openxmlformats.org/drawingml/2006/main">
              <a:ext uri="{FF2B5EF4-FFF2-40B4-BE49-F238E27FC236}">
                <a16:creationId xmlns:a16="http://schemas.microsoft.com/office/drawing/2014/main" id="{37A7821D-E912-4FE1-B418-7946292D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2415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8" name="cover-vertical-2">
            <a:extLst xmlns:a="http://schemas.openxmlformats.org/drawingml/2006/main">
              <a:ext uri="{FF2B5EF4-FFF2-40B4-BE49-F238E27FC236}">
                <a16:creationId xmlns:a16="http://schemas.microsoft.com/office/drawing/2014/main" id="{4375A70D-D954-467A-B00D-6E8C6B17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4335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9" name="cover-visual-note">
            <a:extLst xmlns:a="http://schemas.openxmlformats.org/drawingml/2006/main">
              <a:ext uri="{FF2B5EF4-FFF2-40B4-BE49-F238E27FC236}">
                <a16:creationId xmlns:a16="http://schemas.microsoft.com/office/drawing/2014/main" id="{EE65352E-D1D4-4BA3-8A55-9FF2654C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911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observar · comparar · decidir</a:t>
            </a:r>
          </a:p>
        </p:txBody>
      </p:sp>
    </p:spTree>
    <p:extLst>
      <p:ext uri="{BB962C8B-B14F-4D97-AF65-F5344CB8AC3E}">
        <p14:creationId xmlns:p14="http://schemas.microsoft.com/office/powerpoint/2010/main" val="860291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4D783AA1-19F8-49F0-BF08-B8CC9D88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Hoy conectamos el proyecto con la calidad del software</a:t>
            </a:r>
          </a:p>
        </p:txBody>
      </p:sp>
      <p:sp>
        <p:nvSpPr>
          <p:cNvPr id="2" name="agenda-subtitle">
            <a:extLst xmlns:a="http://schemas.openxmlformats.org/drawingml/2006/main">
              <a:ext uri="{FF2B5EF4-FFF2-40B4-BE49-F238E27FC236}">
                <a16:creationId xmlns:a16="http://schemas.microsoft.com/office/drawing/2014/main" id="{FCA61822-521F-41E5-9C9E-C9975AA8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Primero resolvemos asuntos de la Fase 2 y la Fase 1; después construimos el lenguaje de pruebas.</a:t>
            </a:r>
          </a:p>
        </p:txBody>
      </p:sp>
      <p:sp>
        <p:nvSpPr>
          <p:cNvPr id="3" name="agenda-row-0">
            <a:extLst xmlns:a="http://schemas.openxmlformats.org/drawingml/2006/main">
              <a:ext uri="{FF2B5EF4-FFF2-40B4-BE49-F238E27FC236}">
                <a16:creationId xmlns:a16="http://schemas.microsoft.com/office/drawing/2014/main" id="{039A5715-3647-4DDA-9CF5-2F1CF66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4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3EAE06E9-00EC-447A-8B75-3D6C9B9B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agenda-label-0">
            <a:extLst xmlns:a="http://schemas.openxmlformats.org/drawingml/2006/main">
              <a:ext uri="{FF2B5EF4-FFF2-40B4-BE49-F238E27FC236}">
                <a16:creationId xmlns:a16="http://schemas.microsoft.com/office/drawing/2014/main" id="{4A88DACA-958D-4213-A7D1-81768949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28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Preguntas y decisiones pendientes de la Fase 2</a:t>
            </a:r>
          </a:p>
        </p:txBody>
      </p:sp>
      <p:sp>
        <p:nvSpPr>
          <p:cNvPr id="6" name="agenda-row-1">
            <a:extLst xmlns:a="http://schemas.openxmlformats.org/drawingml/2006/main">
              <a:ext uri="{FF2B5EF4-FFF2-40B4-BE49-F238E27FC236}">
                <a16:creationId xmlns:a16="http://schemas.microsoft.com/office/drawing/2014/main" id="{F610F4A3-F732-4746-BAE1-91C9F84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7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7A2C448A-FA4F-41C3-A238-ACF075E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agenda-label-1">
            <a:extLst xmlns:a="http://schemas.openxmlformats.org/drawingml/2006/main">
              <a:ext uri="{FF2B5EF4-FFF2-40B4-BE49-F238E27FC236}">
                <a16:creationId xmlns:a16="http://schemas.microsoft.com/office/drawing/2014/main" id="{3471EB87-52FB-4F88-AB0C-BCEE177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384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Aviso de horarios de calificación de la Fase 1</a:t>
            </a:r>
          </a:p>
        </p:txBody>
      </p:sp>
      <p:sp>
        <p:nvSpPr>
          <p:cNvPr id="9" name="agenda-row-2">
            <a:extLst xmlns:a="http://schemas.openxmlformats.org/drawingml/2006/main">
              <a:ext uri="{FF2B5EF4-FFF2-40B4-BE49-F238E27FC236}">
                <a16:creationId xmlns:a16="http://schemas.microsoft.com/office/drawing/2014/main" id="{E9053822-46E9-4101-8151-912B9B2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0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B181173E-FA3A-4E05-A5B3-F471A9D3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agenda-label-2">
            <a:extLst xmlns:a="http://schemas.openxmlformats.org/drawingml/2006/main">
              <a:ext uri="{FF2B5EF4-FFF2-40B4-BE49-F238E27FC236}">
                <a16:creationId xmlns:a16="http://schemas.microsoft.com/office/drawing/2014/main" id="{49FAABDA-72FE-49C6-8127-548F878A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Qué significa probar y qué verifican las pruebas funcionales</a:t>
            </a:r>
          </a:p>
        </p:txBody>
      </p:sp>
      <p:sp>
        <p:nvSpPr>
          <p:cNvPr id="12" name="agenda-row-3">
            <a:extLst xmlns:a="http://schemas.openxmlformats.org/drawingml/2006/main">
              <a:ext uri="{FF2B5EF4-FFF2-40B4-BE49-F238E27FC236}">
                <a16:creationId xmlns:a16="http://schemas.microsoft.com/office/drawing/2014/main" id="{C8096E6D-0EA0-4B89-BEEE-4CDB8D28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3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25A1E184-3DF6-413B-84E5-3235A2EE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agenda-label-3">
            <a:extLst xmlns:a="http://schemas.openxmlformats.org/drawingml/2006/main">
              <a:ext uri="{FF2B5EF4-FFF2-40B4-BE49-F238E27FC236}">
                <a16:creationId xmlns:a16="http://schemas.microsoft.com/office/drawing/2014/main" id="{3E4DB223-1965-47AD-A7B9-5E89C51E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Principios y relación con la arquitectura</a:t>
            </a:r>
          </a:p>
        </p:txBody>
      </p:sp>
      <p:sp>
        <p:nvSpPr>
          <p:cNvPr id="15" name="agenda-row-4">
            <a:extLst xmlns:a="http://schemas.openxmlformats.org/drawingml/2006/main">
              <a:ext uri="{FF2B5EF4-FFF2-40B4-BE49-F238E27FC236}">
                <a16:creationId xmlns:a16="http://schemas.microsoft.com/office/drawing/2014/main" id="{413858D9-081B-441E-9DA9-E8B27439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6" name="agenda-num-4">
            <a:extLst xmlns:a="http://schemas.openxmlformats.org/drawingml/2006/main">
              <a:ext uri="{FF2B5EF4-FFF2-40B4-BE49-F238E27FC236}">
                <a16:creationId xmlns:a16="http://schemas.microsoft.com/office/drawing/2014/main" id="{0B2BC668-221C-4531-8576-AE1E8170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agenda-label-4">
            <a:extLst xmlns:a="http://schemas.openxmlformats.org/drawingml/2006/main">
              <a:ext uri="{FF2B5EF4-FFF2-40B4-BE49-F238E27FC236}">
                <a16:creationId xmlns:a16="http://schemas.microsoft.com/office/drawing/2014/main" id="{DDB4EDFC-2F4D-4D5D-8277-70B366F8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67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Pruebas unitarias, de integración y de aceptación</a:t>
            </a:r>
          </a:p>
        </p:txBody>
      </p:sp>
      <p:sp>
        <p:nvSpPr>
          <p:cNvPr id="18" name="agenda-row-5">
            <a:extLst xmlns:a="http://schemas.openxmlformats.org/drawingml/2006/main">
              <a:ext uri="{FF2B5EF4-FFF2-40B4-BE49-F238E27FC236}">
                <a16:creationId xmlns:a16="http://schemas.microsoft.com/office/drawing/2014/main" id="{ADE1D216-55BA-4D75-9593-102E5AEF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9" name="agenda-num-5">
            <a:extLst xmlns:a="http://schemas.openxmlformats.org/drawingml/2006/main">
              <a:ext uri="{FF2B5EF4-FFF2-40B4-BE49-F238E27FC236}">
                <a16:creationId xmlns:a16="http://schemas.microsoft.com/office/drawing/2014/main" id="{47734E5B-2413-4898-8038-86F3CF84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agenda-label-5">
            <a:extLst xmlns:a="http://schemas.openxmlformats.org/drawingml/2006/main">
              <a:ext uri="{FF2B5EF4-FFF2-40B4-BE49-F238E27FC236}">
                <a16:creationId xmlns:a16="http://schemas.microsoft.com/office/drawing/2014/main" id="{D1C5E7DE-500C-4EFC-BEFF-06B0AC60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Regresión y aplicación al proyecto</a:t>
            </a:r>
          </a:p>
        </p:txBody>
      </p:sp>
      <p:sp>
        <p:nvSpPr>
          <p:cNvPr id="21" name="agenda-note">
            <a:extLst xmlns:a="http://schemas.openxmlformats.org/drawingml/2006/main">
              <a:ext uri="{FF2B5EF4-FFF2-40B4-BE49-F238E27FC236}">
                <a16:creationId xmlns:a16="http://schemas.microsoft.com/office/drawing/2014/main" id="{FED23197-7923-4BCE-9B68-A68CE231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 parte técnica comienza después de los dos avisos iniciales.</a:t>
            </a:r>
          </a:p>
        </p:txBody>
      </p:sp>
      <p:sp>
        <p:nvSpPr>
          <p:cNvPr id="22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142F3C9-A01F-445D-BBF3-463C486F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6DF9A3C2-944E-4697-9343-2C2FEB6B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2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65344DEB-7CA0-47C6-8B02-97CC0829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3419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ECCE9447-9885-4C88-8064-D3EF106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Preguntas de la Fase 2</a:t>
            </a:r>
          </a:p>
        </p:txBody>
      </p:sp>
      <p:sp>
        <p:nvSpPr>
          <p:cNvPr id="2" name="questions-subtitle">
            <a:extLst xmlns:a="http://schemas.openxmlformats.org/drawingml/2006/main">
              <a:ext uri="{FF2B5EF4-FFF2-40B4-BE49-F238E27FC236}">
                <a16:creationId xmlns:a16="http://schemas.microsoft.com/office/drawing/2014/main" id="{A7F0E9A7-FD15-4387-BC51-AD17E31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Espacio para revisar decisiones, requisitos, arquitectura, diseño y entregables.</a:t>
            </a:r>
          </a:p>
        </p:txBody>
      </p:sp>
      <p:sp>
        <p:nvSpPr>
          <p:cNvPr id="3" name="questions-writing-area">
            <a:extLst xmlns:a="http://schemas.openxmlformats.org/drawingml/2006/main">
              <a:ext uri="{FF2B5EF4-FFF2-40B4-BE49-F238E27FC236}">
                <a16:creationId xmlns:a16="http://schemas.microsoft.com/office/drawing/2014/main" id="{530431F7-3ACA-4397-8CF9-FC3871F5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4" name="questions-writing-title">
            <a:extLst xmlns:a="http://schemas.openxmlformats.org/drawingml/2006/main">
              <a:ext uri="{FF2B5EF4-FFF2-40B4-BE49-F238E27FC236}">
                <a16:creationId xmlns:a16="http://schemas.microsoft.com/office/drawing/2014/main" id="{13A71AC5-46A7-46A0-A056-3BA73364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Preguntas y decisiones pendientes</a:t>
            </a:r>
          </a:p>
        </p:txBody>
      </p:sp>
      <p:sp>
        <p:nvSpPr>
          <p:cNvPr id="5" name="questions-writing-help">
            <a:extLst xmlns:a="http://schemas.openxmlformats.org/drawingml/2006/main">
              <a:ext uri="{FF2B5EF4-FFF2-40B4-BE49-F238E27FC236}">
                <a16:creationId xmlns:a16="http://schemas.microsoft.com/office/drawing/2014/main" id="{7446DA27-7EBE-49B6-86F7-36F393EF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Anota aquí los puntos que necesitan aclaración durante la reunión.</a:t>
            </a:r>
          </a:p>
        </p:txBody>
      </p:sp>
      <p:sp>
        <p:nvSpPr>
          <p:cNvPr id="6" name="questions-line-0">
            <a:extLst xmlns:a="http://schemas.openxmlformats.org/drawingml/2006/main">
              <a:ext uri="{FF2B5EF4-FFF2-40B4-BE49-F238E27FC236}">
                <a16:creationId xmlns:a16="http://schemas.microsoft.com/office/drawing/2014/main" id="{440646B7-2243-4889-868C-0943B33B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7" name="questions-line-1">
            <a:extLst xmlns:a="http://schemas.openxmlformats.org/drawingml/2006/main">
              <a:ext uri="{FF2B5EF4-FFF2-40B4-BE49-F238E27FC236}">
                <a16:creationId xmlns:a16="http://schemas.microsoft.com/office/drawing/2014/main" id="{ADC7918B-BCE9-4EBA-A4BD-88DFE4D2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8" name="questions-line-2">
            <a:extLst xmlns:a="http://schemas.openxmlformats.org/drawingml/2006/main">
              <a:ext uri="{FF2B5EF4-FFF2-40B4-BE49-F238E27FC236}">
                <a16:creationId xmlns:a16="http://schemas.microsoft.com/office/drawing/2014/main" id="{E2B2A5FA-5DF0-49EA-8D87-DBD6A4E5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9" name="questions-line-3">
            <a:extLst xmlns:a="http://schemas.openxmlformats.org/drawingml/2006/main">
              <a:ext uri="{FF2B5EF4-FFF2-40B4-BE49-F238E27FC236}">
                <a16:creationId xmlns:a16="http://schemas.microsoft.com/office/drawing/2014/main" id="{AD2F821E-6D5C-47DC-AAA9-2B028682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0" name="questions-tag">
            <a:extLst xmlns:a="http://schemas.openxmlformats.org/drawingml/2006/main">
              <a:ext uri="{FF2B5EF4-FFF2-40B4-BE49-F238E27FC236}">
                <a16:creationId xmlns:a16="http://schemas.microsoft.com/office/drawing/2014/main" id="{1F2D35DD-7957-4841-893F-41004550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478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1" name="questions-tag-text">
            <a:extLst xmlns:a="http://schemas.openxmlformats.org/drawingml/2006/main">
              <a:ext uri="{FF2B5EF4-FFF2-40B4-BE49-F238E27FC236}">
                <a16:creationId xmlns:a16="http://schemas.microsoft.com/office/drawing/2014/main" id="{ADED2391-CCCB-4330-B4E9-B9931AA9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95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PARA ORIENTAR LA DISCUSIÓN</a:t>
            </a:r>
          </a:p>
        </p:txBody>
      </p:sp>
      <p:sp>
        <p:nvSpPr>
          <p:cNvPr id="12" name="questions-prompts">
            <a:extLst xmlns:a="http://schemas.openxmlformats.org/drawingml/2006/main">
              <a:ext uri="{FF2B5EF4-FFF2-40B4-BE49-F238E27FC236}">
                <a16:creationId xmlns:a16="http://schemas.microsoft.com/office/drawing/2014/main" id="{B29D5412-5516-4784-A94B-F4A4418F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400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¿Qué decisión de análisis o diseño sigue abierta?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¿Qué requisito o riesgo necesita validarse?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¿Qué evidencia debe quedar lista para avanzar?</a:t>
            </a:r>
          </a:p>
        </p:txBody>
      </p:sp>
      <p:sp>
        <p:nvSpPr>
          <p:cNvPr id="13" name="questions-close">
            <a:extLst xmlns:a="http://schemas.openxmlformats.org/drawingml/2006/main">
              <a:ext uri="{FF2B5EF4-FFF2-40B4-BE49-F238E27FC236}">
                <a16:creationId xmlns:a16="http://schemas.microsoft.com/office/drawing/2014/main" id="{DA38B744-D52A-432B-BD76-9DC96878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91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El objetivo es salir con decisiones claras y próximos pasos verificables.</a:t>
            </a:r>
          </a:p>
        </p:txBody>
      </p:sp>
      <p:sp>
        <p:nvSpPr>
          <p:cNvPr id="1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89837CF0-BBB6-4408-BED3-575EEC0D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39BEDC80-595E-4B89-BD85-9DB96D43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16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2929D20D-BEED-498B-AC82-63D40171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8030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chedule-title">
            <a:extLst xmlns:a="http://schemas.openxmlformats.org/drawingml/2006/main">
              <a:ext uri="{FF2B5EF4-FFF2-40B4-BE49-F238E27FC236}">
                <a16:creationId xmlns:a16="http://schemas.microsoft.com/office/drawing/2014/main" id="{3A5E90E9-49B7-408F-993C-9B10EAA2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Horarios de calificación · Fase 1</a:t>
            </a:r>
          </a:p>
        </p:txBody>
      </p:sp>
      <p:sp>
        <p:nvSpPr>
          <p:cNvPr id="2" name="schedule-subtitle">
            <a:extLst xmlns:a="http://schemas.openxmlformats.org/drawingml/2006/main">
              <a:ext uri="{FF2B5EF4-FFF2-40B4-BE49-F238E27FC236}">
                <a16:creationId xmlns:a16="http://schemas.microsoft.com/office/drawing/2014/main" id="{279138BA-15EA-4D88-AFDB-432CEAD1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Aviso para la reunión.</a:t>
            </a:r>
          </a:p>
        </p:txBody>
      </p:sp>
      <p:sp>
        <p:nvSpPr>
          <p:cNvPr id="3" name="schedule-message">
            <a:extLst xmlns:a="http://schemas.openxmlformats.org/drawingml/2006/main">
              <a:ext uri="{FF2B5EF4-FFF2-40B4-BE49-F238E27FC236}">
                <a16:creationId xmlns:a16="http://schemas.microsoft.com/office/drawing/2014/main" id="{60C6117D-7D1A-43AB-BD8C-575EFEE1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4" name="schedule-accent">
            <a:extLst xmlns:a="http://schemas.openxmlformats.org/drawingml/2006/main">
              <a:ext uri="{FF2B5EF4-FFF2-40B4-BE49-F238E27FC236}">
                <a16:creationId xmlns:a16="http://schemas.microsoft.com/office/drawing/2014/main" id="{478D2433-D6E9-4AB2-A21E-4F21231B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33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5" name="schedule-message-title">
            <a:extLst xmlns:a="http://schemas.openxmlformats.org/drawingml/2006/main">
              <a:ext uri="{FF2B5EF4-FFF2-40B4-BE49-F238E27FC236}">
                <a16:creationId xmlns:a16="http://schemas.microsoft.com/office/drawing/2014/main" id="{4071F585-A482-40C0-A5A3-E98F9432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Durante esta reunión se comunicarán los horarios y la modalidad de calificación.</a:t>
            </a:r>
          </a:p>
        </p:txBody>
      </p:sp>
      <p:sp>
        <p:nvSpPr>
          <p:cNvPr id="6" name="schedule-message-subtitle">
            <a:extLst xmlns:a="http://schemas.openxmlformats.org/drawingml/2006/main">
              <a:ext uri="{FF2B5EF4-FFF2-40B4-BE49-F238E27FC236}">
                <a16:creationId xmlns:a16="http://schemas.microsoft.com/office/drawing/2014/main" id="{B8A68697-E114-4F1A-9505-DAFA9B30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Toma nota de la fecha, hora, modalidad y canal de atención.</a:t>
            </a:r>
          </a:p>
        </p:txBody>
      </p:sp>
      <p:sp>
        <p:nvSpPr>
          <p:cNvPr id="7" name="schedule-notes-label">
            <a:extLst xmlns:a="http://schemas.openxmlformats.org/drawingml/2006/main">
              <a:ext uri="{FF2B5EF4-FFF2-40B4-BE49-F238E27FC236}">
                <a16:creationId xmlns:a16="http://schemas.microsoft.com/office/drawing/2014/main" id="{783193AE-A7EA-4AED-A278-A69339CB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Información que se compartirá en vivo</a:t>
            </a:r>
          </a:p>
        </p:txBody>
      </p:sp>
      <p:sp>
        <p:nvSpPr>
          <p:cNvPr id="8" name="schedule-field-label-0">
            <a:extLst xmlns:a="http://schemas.openxmlformats.org/drawingml/2006/main">
              <a:ext uri="{FF2B5EF4-FFF2-40B4-BE49-F238E27FC236}">
                <a16:creationId xmlns:a16="http://schemas.microsoft.com/office/drawing/2014/main" id="{AB76FCFB-678C-4811-9A29-B84215F0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9" name="schedule-field-line-0">
            <a:extLst xmlns:a="http://schemas.openxmlformats.org/drawingml/2006/main">
              <a:ext uri="{FF2B5EF4-FFF2-40B4-BE49-F238E27FC236}">
                <a16:creationId xmlns:a16="http://schemas.microsoft.com/office/drawing/2014/main" id="{8E4C5716-378F-4940-B2D0-68B82080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0" name="schedule-field-label-1">
            <a:extLst xmlns:a="http://schemas.openxmlformats.org/drawingml/2006/main">
              <a:ext uri="{FF2B5EF4-FFF2-40B4-BE49-F238E27FC236}">
                <a16:creationId xmlns:a16="http://schemas.microsoft.com/office/drawing/2014/main" id="{12077B88-332C-4971-90F2-82EB8721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1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Hora</a:t>
            </a:r>
          </a:p>
        </p:txBody>
      </p:sp>
      <p:sp>
        <p:nvSpPr>
          <p:cNvPr id="11" name="schedule-field-line-1">
            <a:extLst xmlns:a="http://schemas.openxmlformats.org/drawingml/2006/main">
              <a:ext uri="{FF2B5EF4-FFF2-40B4-BE49-F238E27FC236}">
                <a16:creationId xmlns:a16="http://schemas.microsoft.com/office/drawing/2014/main" id="{EFEE9E36-D3FE-4B1E-905D-438B8969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2" name="schedule-field-label-2">
            <a:extLst xmlns:a="http://schemas.openxmlformats.org/drawingml/2006/main">
              <a:ext uri="{FF2B5EF4-FFF2-40B4-BE49-F238E27FC236}">
                <a16:creationId xmlns:a16="http://schemas.microsoft.com/office/drawing/2014/main" id="{BCE03CE7-70A7-453A-8D4B-584F339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91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Modalidad</a:t>
            </a:r>
          </a:p>
        </p:txBody>
      </p:sp>
      <p:sp>
        <p:nvSpPr>
          <p:cNvPr id="13" name="schedule-field-line-2">
            <a:extLst xmlns:a="http://schemas.openxmlformats.org/drawingml/2006/main">
              <a:ext uri="{FF2B5EF4-FFF2-40B4-BE49-F238E27FC236}">
                <a16:creationId xmlns:a16="http://schemas.microsoft.com/office/drawing/2014/main" id="{23B95791-4A01-4DEC-BD99-3EA5E4FB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4" name="schedule-field-label-3">
            <a:extLst xmlns:a="http://schemas.openxmlformats.org/drawingml/2006/main">
              <a:ext uri="{FF2B5EF4-FFF2-40B4-BE49-F238E27FC236}">
                <a16:creationId xmlns:a16="http://schemas.microsoft.com/office/drawing/2014/main" id="{823BF869-84A8-41C1-BF56-CCC7A40E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91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Canal / aula</a:t>
            </a:r>
          </a:p>
        </p:txBody>
      </p:sp>
      <p:sp>
        <p:nvSpPr>
          <p:cNvPr id="15" name="schedule-field-line-3">
            <a:extLst xmlns:a="http://schemas.openxmlformats.org/drawingml/2006/main">
              <a:ext uri="{FF2B5EF4-FFF2-40B4-BE49-F238E27FC236}">
                <a16:creationId xmlns:a16="http://schemas.microsoft.com/office/drawing/2014/main" id="{18EFC2DC-4316-4D5B-AF4D-13D8F29C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911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6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91362D15-1ED1-4B65-B5CD-7E82652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7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4981ADAF-AF5B-458D-B66A-2EE4C08A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18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77BE88B0-B477-4095-918D-E4F7BCCA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8716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sting-frame-title">
            <a:extLst xmlns:a="http://schemas.openxmlformats.org/drawingml/2006/main">
              <a:ext uri="{FF2B5EF4-FFF2-40B4-BE49-F238E27FC236}">
                <a16:creationId xmlns:a16="http://schemas.microsoft.com/office/drawing/2014/main" id="{282DEFB2-E77B-4AD0-BC9D-1EB7C703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Probar es comparar lo observado con lo esperado</a:t>
            </a:r>
          </a:p>
        </p:txBody>
      </p:sp>
      <p:sp>
        <p:nvSpPr>
          <p:cNvPr id="2" name="testing-frame-subtitle">
            <a:extLst xmlns:a="http://schemas.openxmlformats.org/drawingml/2006/main">
              <a:ext uri="{FF2B5EF4-FFF2-40B4-BE49-F238E27FC236}">
                <a16:creationId xmlns:a16="http://schemas.microsoft.com/office/drawing/2014/main" id="{A1EE7EC0-E591-4B96-8B64-95767D2E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Una prueba produce evidencia para reducir incertidumbre sobre el comportamiento del sistema.</a:t>
            </a:r>
          </a:p>
        </p:txBody>
      </p:sp>
      <p:sp>
        <p:nvSpPr>
          <p:cNvPr id="3" name="testing-frame-explanation">
            <a:extLst xmlns:a="http://schemas.openxmlformats.org/drawingml/2006/main">
              <a:ext uri="{FF2B5EF4-FFF2-40B4-BE49-F238E27FC236}">
                <a16:creationId xmlns:a16="http://schemas.microsoft.com/office/drawing/2014/main" id="{9A73D2AE-918F-4A71-8339-FEBD3368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El resultado de una prueba no es solo “pasó” o “falló”: muestra si una decisión del sistema cumple un criterio definido.</a:t>
            </a:r>
          </a:p>
        </p:txBody>
      </p:sp>
      <p:sp>
        <p:nvSpPr>
          <p:cNvPr id="4" name="testing-frame-arrow-0">
            <a:extLst xmlns:a="http://schemas.openxmlformats.org/drawingml/2006/main">
              <a:ext uri="{FF2B5EF4-FFF2-40B4-BE49-F238E27FC236}">
                <a16:creationId xmlns:a16="http://schemas.microsoft.com/office/drawing/2014/main" id="{4A1EE8AB-EF1A-4C36-A284-F692A16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5" name="testing-frame-arrow-1">
            <a:extLst xmlns:a="http://schemas.openxmlformats.org/drawingml/2006/main">
              <a:ext uri="{FF2B5EF4-FFF2-40B4-BE49-F238E27FC236}">
                <a16:creationId xmlns:a16="http://schemas.microsoft.com/office/drawing/2014/main" id="{0FDA6526-694B-44E7-A3E5-8F1619DA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1470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6" name="testing-frame-arrow-2">
            <a:extLst xmlns:a="http://schemas.openxmlformats.org/drawingml/2006/main">
              <a:ext uri="{FF2B5EF4-FFF2-40B4-BE49-F238E27FC236}">
                <a16:creationId xmlns:a16="http://schemas.microsoft.com/office/drawing/2014/main" id="{7234571C-28D2-4AFA-BEFB-8E3BC057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7" name="testing-frame-box-0">
            <a:extLst xmlns:a="http://schemas.openxmlformats.org/drawingml/2006/main">
              <a:ext uri="{FF2B5EF4-FFF2-40B4-BE49-F238E27FC236}">
                <a16:creationId xmlns:a16="http://schemas.microsoft.com/office/drawing/2014/main" id="{9B4EE82F-BAA0-42C6-B9E6-7419EB59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8" name="testing-frame-box-label-0">
            <a:extLst xmlns:a="http://schemas.openxmlformats.org/drawingml/2006/main">
              <a:ext uri="{FF2B5EF4-FFF2-40B4-BE49-F238E27FC236}">
                <a16:creationId xmlns:a16="http://schemas.microsoft.com/office/drawing/2014/main" id="{EDFD907F-B669-4759-8577-DEBAB59F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REQUISITO</a:t>
            </a:r>
          </a:p>
        </p:txBody>
      </p:sp>
      <p:sp>
        <p:nvSpPr>
          <p:cNvPr id="9" name="testing-frame-box-example-0">
            <a:extLst xmlns:a="http://schemas.openxmlformats.org/drawingml/2006/main">
              <a:ext uri="{FF2B5EF4-FFF2-40B4-BE49-F238E27FC236}">
                <a16:creationId xmlns:a16="http://schemas.microsoft.com/office/drawing/2014/main" id="{AB1D4B95-9A9B-4948-B49D-4C50C8B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Qué debe hacer</a:t>
            </a:r>
          </a:p>
        </p:txBody>
      </p:sp>
      <p:sp>
        <p:nvSpPr>
          <p:cNvPr id="10" name="testing-frame-box-1">
            <a:extLst xmlns:a="http://schemas.openxmlformats.org/drawingml/2006/main">
              <a:ext uri="{FF2B5EF4-FFF2-40B4-BE49-F238E27FC236}">
                <a16:creationId xmlns:a16="http://schemas.microsoft.com/office/drawing/2014/main" id="{0C17E956-5FC6-4042-8858-45358E1C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1" name="testing-frame-box-label-1">
            <a:extLst xmlns:a="http://schemas.openxmlformats.org/drawingml/2006/main">
              <a:ext uri="{FF2B5EF4-FFF2-40B4-BE49-F238E27FC236}">
                <a16:creationId xmlns:a16="http://schemas.microsoft.com/office/drawing/2014/main" id="{E15B2447-9285-4B2C-B331-7E5E9825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CASO</a:t>
            </a:r>
          </a:p>
        </p:txBody>
      </p:sp>
      <p:sp>
        <p:nvSpPr>
          <p:cNvPr id="12" name="testing-frame-box-example-1">
            <a:extLst xmlns:a="http://schemas.openxmlformats.org/drawingml/2006/main">
              <a:ext uri="{FF2B5EF4-FFF2-40B4-BE49-F238E27FC236}">
                <a16:creationId xmlns:a16="http://schemas.microsoft.com/office/drawing/2014/main" id="{97B18964-5D8F-46C7-B702-10EBEC2F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Condiciones y datos</a:t>
            </a:r>
          </a:p>
        </p:txBody>
      </p:sp>
      <p:sp>
        <p:nvSpPr>
          <p:cNvPr id="13" name="testing-frame-box-2">
            <a:extLst xmlns:a="http://schemas.openxmlformats.org/drawingml/2006/main">
              <a:ext uri="{FF2B5EF4-FFF2-40B4-BE49-F238E27FC236}">
                <a16:creationId xmlns:a16="http://schemas.microsoft.com/office/drawing/2014/main" id="{B3034786-84D9-4214-9DA5-9B27D2D1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4" name="testing-frame-box-label-2">
            <a:extLst xmlns:a="http://schemas.openxmlformats.org/drawingml/2006/main">
              <a:ext uri="{FF2B5EF4-FFF2-40B4-BE49-F238E27FC236}">
                <a16:creationId xmlns:a16="http://schemas.microsoft.com/office/drawing/2014/main" id="{C845548E-ED0F-4EAE-A2CF-82658D6B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15" name="testing-frame-box-example-2">
            <a:extLst xmlns:a="http://schemas.openxmlformats.org/drawingml/2006/main">
              <a:ext uri="{FF2B5EF4-FFF2-40B4-BE49-F238E27FC236}">
                <a16:creationId xmlns:a16="http://schemas.microsoft.com/office/drawing/2014/main" id="{2E96FFF3-B136-4190-BEA0-D690AB9C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Qué ocurrió</a:t>
            </a:r>
          </a:p>
        </p:txBody>
      </p:sp>
      <p:sp>
        <p:nvSpPr>
          <p:cNvPr id="16" name="testing-frame-box-3">
            <a:extLst xmlns:a="http://schemas.openxmlformats.org/drawingml/2006/main">
              <a:ext uri="{FF2B5EF4-FFF2-40B4-BE49-F238E27FC236}">
                <a16:creationId xmlns:a16="http://schemas.microsoft.com/office/drawing/2014/main" id="{14F68A0B-07E6-438E-9129-338F4B1B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19050">
            <a:solidFill>
              <a:srgbClr val="183B56"/>
            </a:solidFill>
            <a:prstDash val="solid"/>
          </a:ln>
        </p:spPr>
      </p:sp>
      <p:sp>
        <p:nvSpPr>
          <p:cNvPr id="17" name="testing-frame-box-label-3">
            <a:extLst xmlns:a="http://schemas.openxmlformats.org/drawingml/2006/main">
              <a:ext uri="{FF2B5EF4-FFF2-40B4-BE49-F238E27FC236}">
                <a16:creationId xmlns:a16="http://schemas.microsoft.com/office/drawing/2014/main" id="{1B173C6B-008D-4A76-AD80-B70691BA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</a:t>
            </a:r>
          </a:p>
        </p:txBody>
      </p:sp>
      <p:sp>
        <p:nvSpPr>
          <p:cNvPr id="18" name="testing-frame-box-example-3">
            <a:extLst xmlns:a="http://schemas.openxmlformats.org/drawingml/2006/main">
              <a:ext uri="{FF2B5EF4-FFF2-40B4-BE49-F238E27FC236}">
                <a16:creationId xmlns:a16="http://schemas.microsoft.com/office/drawing/2014/main" id="{8FEF1D26-24DF-4AF4-A4F9-DD8E332A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48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Decidir y registrar</a:t>
            </a:r>
          </a:p>
        </p:txBody>
      </p:sp>
      <p:sp>
        <p:nvSpPr>
          <p:cNvPr id="19" name="testing-frame-bottom">
            <a:extLst xmlns:a="http://schemas.openxmlformats.org/drawingml/2006/main">
              <a:ext uri="{FF2B5EF4-FFF2-40B4-BE49-F238E27FC236}">
                <a16:creationId xmlns:a16="http://schemas.microsoft.com/office/drawing/2014/main" id="{A2EA3B9B-D935-42F6-BF95-8AF81A5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62500"/>
            <a:ext cx="8877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0" name="testing-frame-bottom-text">
            <a:extLst xmlns:a="http://schemas.openxmlformats.org/drawingml/2006/main">
              <a:ext uri="{FF2B5EF4-FFF2-40B4-BE49-F238E27FC236}">
                <a16:creationId xmlns:a16="http://schemas.microsoft.com/office/drawing/2014/main" id="{8230CD47-8DAF-41B6-A5E9-ADA792D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La calidad se discute con condiciones y evidencia, no solo con intuiciones.</a:t>
            </a:r>
          </a:p>
        </p:txBody>
      </p:sp>
      <p:sp>
        <p:nvSpPr>
          <p:cNvPr id="2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3A1853A5-B8D6-44E5-9FC2-28DD9888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2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8748B9F3-0AFC-46C8-BF38-37124A3E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23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AB25C29F-61A7-4F0F-8BAE-5E14FDDB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8063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unctional-title">
            <a:extLst xmlns:a="http://schemas.openxmlformats.org/drawingml/2006/main">
              <a:ext uri="{FF2B5EF4-FFF2-40B4-BE49-F238E27FC236}">
                <a16:creationId xmlns:a16="http://schemas.microsoft.com/office/drawing/2014/main" id="{165BA122-39F9-4648-91E4-40908096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Las pruebas funcionales verifican el comportamiento</a:t>
            </a:r>
          </a:p>
        </p:txBody>
      </p:sp>
      <p:sp>
        <p:nvSpPr>
          <p:cNvPr id="2" name="functional-subtitle">
            <a:extLst xmlns:a="http://schemas.openxmlformats.org/drawingml/2006/main">
              <a:ext uri="{FF2B5EF4-FFF2-40B4-BE49-F238E27FC236}">
                <a16:creationId xmlns:a16="http://schemas.microsoft.com/office/drawing/2014/main" id="{B6710425-8863-4612-8BCB-74FF2C33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 basan en requisitos y comparan el resultado observado con el esperado.</a:t>
            </a:r>
          </a:p>
        </p:txBody>
      </p:sp>
      <p:sp>
        <p:nvSpPr>
          <p:cNvPr id="3" name="functional-tag">
            <a:extLst xmlns:a="http://schemas.openxmlformats.org/drawingml/2006/main">
              <a:ext uri="{FF2B5EF4-FFF2-40B4-BE49-F238E27FC236}">
                <a16:creationId xmlns:a16="http://schemas.microsoft.com/office/drawing/2014/main" id="{4DE6F053-DD28-45BA-8D2C-DFA82FB9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4" name="functional-tag-text">
            <a:extLst xmlns:a="http://schemas.openxmlformats.org/drawingml/2006/main">
              <a:ext uri="{FF2B5EF4-FFF2-40B4-BE49-F238E27FC236}">
                <a16:creationId xmlns:a16="http://schemas.microsoft.com/office/drawing/2014/main" id="{B8C7E211-A6BD-4534-89EE-B27A7FC6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OBJETIVO: COMPORTAMIENTO</a:t>
            </a:r>
          </a:p>
        </p:txBody>
      </p:sp>
      <p:sp>
        <p:nvSpPr>
          <p:cNvPr id="5" name="functional-definition">
            <a:extLst xmlns:a="http://schemas.openxmlformats.org/drawingml/2006/main">
              <a:ext uri="{FF2B5EF4-FFF2-40B4-BE49-F238E27FC236}">
                <a16:creationId xmlns:a16="http://schemas.microsoft.com/office/drawing/2014/main" id="{A42F7CE3-4A05-45CE-8CA2-79F35AE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19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Una prueba funcional comprueba que una funcionalidad produzca los resultados y efectos esperados bajo condiciones definidas.</a:t>
            </a:r>
          </a:p>
        </p:txBody>
      </p:sp>
      <p:sp>
        <p:nvSpPr>
          <p:cNvPr id="6" name="functional-scope-title">
            <a:extLst xmlns:a="http://schemas.openxmlformats.org/drawingml/2006/main">
              <a:ext uri="{FF2B5EF4-FFF2-40B4-BE49-F238E27FC236}">
                <a16:creationId xmlns:a16="http://schemas.microsoft.com/office/drawing/2014/main" id="{BC99E649-717B-4CD3-A080-ECA3927B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19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Qué observa</a:t>
            </a:r>
          </a:p>
        </p:txBody>
      </p:sp>
      <p:sp>
        <p:nvSpPr>
          <p:cNvPr id="7" name="functional-scope">
            <a:extLst xmlns:a="http://schemas.openxmlformats.org/drawingml/2006/main">
              <a:ext uri="{FF2B5EF4-FFF2-40B4-BE49-F238E27FC236}">
                <a16:creationId xmlns:a16="http://schemas.microsoft.com/office/drawing/2014/main" id="{90B11E97-DA08-4DBD-AA72-3A5085C6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145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Entradas aceptadas y rechazadas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Reglas de negocio aplicadas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Salidas, mensajes y efectos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Comportamiento observable en la interfaz o API</a:t>
            </a:r>
          </a:p>
        </p:txBody>
      </p:sp>
      <p:sp>
        <p:nvSpPr>
          <p:cNvPr id="8" name="functional-example">
            <a:extLst xmlns:a="http://schemas.openxmlformats.org/drawingml/2006/main">
              <a:ext uri="{FF2B5EF4-FFF2-40B4-BE49-F238E27FC236}">
                <a16:creationId xmlns:a16="http://schemas.microsoft.com/office/drawing/2014/main" id="{E652BA8B-0DD1-409B-8D2B-593277BC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9" name="functional-example-title">
            <a:extLst xmlns:a="http://schemas.openxmlformats.org/drawingml/2006/main">
              <a:ext uri="{FF2B5EF4-FFF2-40B4-BE49-F238E27FC236}">
                <a16:creationId xmlns:a16="http://schemas.microsoft.com/office/drawing/2014/main" id="{8CEB0F74-D94D-4343-ADAD-3C644C2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Ejemplo · Registrar una cuenta</a:t>
            </a:r>
          </a:p>
        </p:txBody>
      </p:sp>
      <p:sp>
        <p:nvSpPr>
          <p:cNvPr id="10" name="functional-example-body">
            <a:extLst xmlns:a="http://schemas.openxmlformats.org/drawingml/2006/main">
              <a:ext uri="{FF2B5EF4-FFF2-40B4-BE49-F238E27FC236}">
                <a16:creationId xmlns:a16="http://schemas.microsoft.com/office/drawing/2014/main" id="{90E35321-8F47-43B9-892A-4393F4D5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0058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Datos válidos → crea la cuenta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Correo ya registrado → informa el conflicto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Campo obligatorio vacío → rechaza la solicitud</a:t>
            </a:r>
          </a:p>
        </p:txBody>
      </p:sp>
      <p:sp>
        <p:nvSpPr>
          <p:cNvPr id="11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6D8F707-8614-48E8-8C1C-B72C44F2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2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E21840BC-66A5-4294-8473-7171ABBC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13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5FBFE728-B4A0-4197-95EA-C052B9C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458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rinciples-title">
            <a:extLst xmlns:a="http://schemas.openxmlformats.org/drawingml/2006/main">
              <a:ext uri="{FF2B5EF4-FFF2-40B4-BE49-F238E27FC236}">
                <a16:creationId xmlns:a16="http://schemas.microsoft.com/office/drawing/2014/main" id="{607F6A90-D1F6-4C8B-8932-B2EAF38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Una buena prueba funcional deja claro qué se verifica</a:t>
            </a:r>
          </a:p>
        </p:txBody>
      </p:sp>
      <p:sp>
        <p:nvSpPr>
          <p:cNvPr id="2" name="principles-subtitle">
            <a:extLst xmlns:a="http://schemas.openxmlformats.org/drawingml/2006/main">
              <a:ext uri="{FF2B5EF4-FFF2-40B4-BE49-F238E27FC236}">
                <a16:creationId xmlns:a16="http://schemas.microsoft.com/office/drawing/2014/main" id="{F35E3F30-C6AE-402F-9D23-E8713A86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El caso de prueba debe poder entenderse, ejecutarse y revisarse sin depender de explicaciones informales.</a:t>
            </a:r>
          </a:p>
        </p:txBody>
      </p:sp>
      <p:sp>
        <p:nvSpPr>
          <p:cNvPr id="3" name="principles-line">
            <a:extLst xmlns:a="http://schemas.openxmlformats.org/drawingml/2006/main">
              <a:ext uri="{FF2B5EF4-FFF2-40B4-BE49-F238E27FC236}">
                <a16:creationId xmlns:a16="http://schemas.microsoft.com/office/drawing/2014/main" id="{A5DA661D-3769-43A0-8048-45BE7093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00350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9"/>
            </a:solidFill>
            <a:prstDash val="solid"/>
          </a:ln>
        </p:spPr>
      </p:sp>
      <p:sp>
        <p:nvSpPr>
          <p:cNvPr id="4" name="principles-circle-0">
            <a:extLst xmlns:a="http://schemas.openxmlformats.org/drawingml/2006/main">
              <a:ext uri="{FF2B5EF4-FFF2-40B4-BE49-F238E27FC236}">
                <a16:creationId xmlns:a16="http://schemas.microsoft.com/office/drawing/2014/main" id="{2C6DEA2B-5CCD-4305-A104-EF98D06D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solidFill>
              <a:srgbClr val="183B56"/>
            </a:solidFill>
            <a:prstDash val="solid"/>
          </a:ln>
        </p:spPr>
      </p:sp>
      <p:sp>
        <p:nvSpPr>
          <p:cNvPr id="5" name="principles-number-0">
            <a:extLst xmlns:a="http://schemas.openxmlformats.org/drawingml/2006/main">
              <a:ext uri="{FF2B5EF4-FFF2-40B4-BE49-F238E27FC236}">
                <a16:creationId xmlns:a16="http://schemas.microsoft.com/office/drawing/2014/main" id="{4789ADA7-B698-473D-B2B1-8F3FC989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principles-label-0">
            <a:extLst xmlns:a="http://schemas.openxmlformats.org/drawingml/2006/main">
              <a:ext uri="{FF2B5EF4-FFF2-40B4-BE49-F238E27FC236}">
                <a16:creationId xmlns:a16="http://schemas.microsoft.com/office/drawing/2014/main" id="{EEF3CB2B-9231-4A35-9556-93E01F19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Requisito</a:t>
            </a:r>
          </a:p>
        </p:txBody>
      </p:sp>
      <p:sp>
        <p:nvSpPr>
          <p:cNvPr id="7" name="principles-desc-0">
            <a:extLst xmlns:a="http://schemas.openxmlformats.org/drawingml/2006/main">
              <a:ext uri="{FF2B5EF4-FFF2-40B4-BE49-F238E27FC236}">
                <a16:creationId xmlns:a16="http://schemas.microsoft.com/office/drawing/2014/main" id="{2515DA3E-7CA9-4A77-8712-227C34B1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Qué debe cumplirse</a:t>
            </a:r>
          </a:p>
        </p:txBody>
      </p:sp>
      <p:sp>
        <p:nvSpPr>
          <p:cNvPr id="8" name="principles-circle-1">
            <a:extLst xmlns:a="http://schemas.openxmlformats.org/drawingml/2006/main">
              <a:ext uri="{FF2B5EF4-FFF2-40B4-BE49-F238E27FC236}">
                <a16:creationId xmlns:a16="http://schemas.microsoft.com/office/drawing/2014/main" id="{091EDFD6-492C-4C2F-A12D-487691CB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33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solidFill>
              <a:srgbClr val="183B56"/>
            </a:solidFill>
            <a:prstDash val="solid"/>
          </a:ln>
        </p:spPr>
      </p:sp>
      <p:sp>
        <p:nvSpPr>
          <p:cNvPr id="9" name="principles-number-1">
            <a:extLst xmlns:a="http://schemas.openxmlformats.org/drawingml/2006/main">
              <a:ext uri="{FF2B5EF4-FFF2-40B4-BE49-F238E27FC236}">
                <a16:creationId xmlns:a16="http://schemas.microsoft.com/office/drawing/2014/main" id="{22525493-F25A-474D-A50C-6611FC84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rinciples-label-1">
            <a:extLst xmlns:a="http://schemas.openxmlformats.org/drawingml/2006/main">
              <a:ext uri="{FF2B5EF4-FFF2-40B4-BE49-F238E27FC236}">
                <a16:creationId xmlns:a16="http://schemas.microsoft.com/office/drawing/2014/main" id="{D978DE9B-4093-499F-BAE3-103A9F5F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57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Condiciones</a:t>
            </a:r>
          </a:p>
        </p:txBody>
      </p:sp>
      <p:sp>
        <p:nvSpPr>
          <p:cNvPr id="11" name="principles-desc-1">
            <a:extLst xmlns:a="http://schemas.openxmlformats.org/drawingml/2006/main">
              <a:ext uri="{FF2B5EF4-FFF2-40B4-BE49-F238E27FC236}">
                <a16:creationId xmlns:a16="http://schemas.microsoft.com/office/drawing/2014/main" id="{FD67FE56-6D5A-459B-A88F-A704C705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Estado inicial</a:t>
            </a:r>
          </a:p>
        </p:txBody>
      </p:sp>
      <p:sp>
        <p:nvSpPr>
          <p:cNvPr id="12" name="principles-circle-2">
            <a:extLst xmlns:a="http://schemas.openxmlformats.org/drawingml/2006/main">
              <a:ext uri="{FF2B5EF4-FFF2-40B4-BE49-F238E27FC236}">
                <a16:creationId xmlns:a16="http://schemas.microsoft.com/office/drawing/2014/main" id="{1383E331-5E04-476D-8DAE-5C231D6F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solidFill>
              <a:srgbClr val="183B56"/>
            </a:solidFill>
            <a:prstDash val="solid"/>
          </a:ln>
        </p:spPr>
      </p:sp>
      <p:sp>
        <p:nvSpPr>
          <p:cNvPr id="13" name="principles-number-2">
            <a:extLst xmlns:a="http://schemas.openxmlformats.org/drawingml/2006/main">
              <a:ext uri="{FF2B5EF4-FFF2-40B4-BE49-F238E27FC236}">
                <a16:creationId xmlns:a16="http://schemas.microsoft.com/office/drawing/2014/main" id="{EA1B1DDF-FFDD-4F2A-A4BC-90FD144F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principles-label-2">
            <a:extLst xmlns:a="http://schemas.openxmlformats.org/drawingml/2006/main">
              <a:ext uri="{FF2B5EF4-FFF2-40B4-BE49-F238E27FC236}">
                <a16:creationId xmlns:a16="http://schemas.microsoft.com/office/drawing/2014/main" id="{B8720EF3-8B20-4319-9839-8B0824AB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5" name="principles-desc-2">
            <a:extLst xmlns:a="http://schemas.openxmlformats.org/drawingml/2006/main">
              <a:ext uri="{FF2B5EF4-FFF2-40B4-BE49-F238E27FC236}">
                <a16:creationId xmlns:a16="http://schemas.microsoft.com/office/drawing/2014/main" id="{68842D2F-03C1-4653-89E2-4530D67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814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Entradas representativas</a:t>
            </a:r>
          </a:p>
        </p:txBody>
      </p:sp>
      <p:sp>
        <p:nvSpPr>
          <p:cNvPr id="16" name="principles-circle-3">
            <a:extLst xmlns:a="http://schemas.openxmlformats.org/drawingml/2006/main">
              <a:ext uri="{FF2B5EF4-FFF2-40B4-BE49-F238E27FC236}">
                <a16:creationId xmlns:a16="http://schemas.microsoft.com/office/drawing/2014/main" id="{BD63E582-21AC-40CD-903E-037BDE17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33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7" name="principles-number-3">
            <a:extLst xmlns:a="http://schemas.openxmlformats.org/drawingml/2006/main">
              <a:ext uri="{FF2B5EF4-FFF2-40B4-BE49-F238E27FC236}">
                <a16:creationId xmlns:a16="http://schemas.microsoft.com/office/drawing/2014/main" id="{17A5030F-273E-42ED-8C45-C933A8F8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rinciples-label-3">
            <a:extLst xmlns:a="http://schemas.openxmlformats.org/drawingml/2006/main">
              <a:ext uri="{FF2B5EF4-FFF2-40B4-BE49-F238E27FC236}">
                <a16:creationId xmlns:a16="http://schemas.microsoft.com/office/drawing/2014/main" id="{7BC1824D-361E-4C80-A128-ADF096A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Esperado</a:t>
            </a:r>
          </a:p>
        </p:txBody>
      </p:sp>
      <p:sp>
        <p:nvSpPr>
          <p:cNvPr id="19" name="principles-desc-3">
            <a:extLst xmlns:a="http://schemas.openxmlformats.org/drawingml/2006/main">
              <a:ext uri="{FF2B5EF4-FFF2-40B4-BE49-F238E27FC236}">
                <a16:creationId xmlns:a16="http://schemas.microsoft.com/office/drawing/2014/main" id="{D65158C7-6A44-4B83-97A9-644A11BF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814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Resultado verificable</a:t>
            </a:r>
          </a:p>
        </p:txBody>
      </p:sp>
      <p:sp>
        <p:nvSpPr>
          <p:cNvPr id="20" name="principles-circle-4">
            <a:extLst xmlns:a="http://schemas.openxmlformats.org/drawingml/2006/main">
              <a:ext uri="{FF2B5EF4-FFF2-40B4-BE49-F238E27FC236}">
                <a16:creationId xmlns:a16="http://schemas.microsoft.com/office/drawing/2014/main" id="{94B8E6ED-4391-4491-8FE5-D55AF0CA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solidFill>
              <a:srgbClr val="183B56"/>
            </a:solidFill>
            <a:prstDash val="solid"/>
          </a:ln>
        </p:spPr>
      </p:sp>
      <p:sp>
        <p:nvSpPr>
          <p:cNvPr id="21" name="principles-number-4">
            <a:extLst xmlns:a="http://schemas.openxmlformats.org/drawingml/2006/main">
              <a:ext uri="{FF2B5EF4-FFF2-40B4-BE49-F238E27FC236}">
                <a16:creationId xmlns:a16="http://schemas.microsoft.com/office/drawing/2014/main" id="{7C9EA012-12A1-47D3-91AD-3D4FAA9F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principles-label-4">
            <a:extLst xmlns:a="http://schemas.openxmlformats.org/drawingml/2006/main">
              <a:ext uri="{FF2B5EF4-FFF2-40B4-BE49-F238E27FC236}">
                <a16:creationId xmlns:a16="http://schemas.microsoft.com/office/drawing/2014/main" id="{3DA63AAC-F22C-4464-886C-B92CDFE6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Evidencia</a:t>
            </a:r>
          </a:p>
        </p:txBody>
      </p:sp>
      <p:sp>
        <p:nvSpPr>
          <p:cNvPr id="23" name="principles-desc-4">
            <a:extLst xmlns:a="http://schemas.openxmlformats.org/drawingml/2006/main">
              <a:ext uri="{FF2B5EF4-FFF2-40B4-BE49-F238E27FC236}">
                <a16:creationId xmlns:a16="http://schemas.microsoft.com/office/drawing/2014/main" id="{302FC8BC-2C15-4615-9A18-81ADCD82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814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Registro del resultado</a:t>
            </a:r>
          </a:p>
        </p:txBody>
      </p:sp>
      <p:sp>
        <p:nvSpPr>
          <p:cNvPr id="24" name="principles-note">
            <a:extLst xmlns:a="http://schemas.openxmlformats.org/drawingml/2006/main">
              <a:ext uri="{FF2B5EF4-FFF2-40B4-BE49-F238E27FC236}">
                <a16:creationId xmlns:a16="http://schemas.microsoft.com/office/drawing/2014/main" id="{EB649CCA-9227-44F7-812B-879772FB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5" name="principles-note-text">
            <a:extLst xmlns:a="http://schemas.openxmlformats.org/drawingml/2006/main">
              <a:ext uri="{FF2B5EF4-FFF2-40B4-BE49-F238E27FC236}">
                <a16:creationId xmlns:a16="http://schemas.microsoft.com/office/drawing/2014/main" id="{F86615B4-1BD4-4D07-9138-713EC86E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Principios: trazabilidad entre requisito y caso · repetibilidad de las condiciones · resultado esperado explícito · cobertura de escenarios válidos, inválidos y de límite.</a:t>
            </a:r>
          </a:p>
        </p:txBody>
      </p:sp>
      <p:sp>
        <p:nvSpPr>
          <p:cNvPr id="26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C6942CEB-AADD-4B04-AE26-91D02EAF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7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7B20CEBB-F858-4971-8D9D-55EBD2D1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28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0F0E28D7-C8FE-4040-A8F6-8CCC806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49845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DD62E003-1737-482B-932A-1362D0B4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 arquitectura define dónde observar el comportamiento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7B6D92E6-07F0-4678-BFB1-A760FCB0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Las pruebas se distribuyen según las fronteras del sistema y el riesgo de cada interacción.</a:t>
            </a:r>
          </a:p>
        </p:txBody>
      </p:sp>
      <p:sp>
        <p:nvSpPr>
          <p:cNvPr id="3" name="architecture-layer-0">
            <a:extLst xmlns:a="http://schemas.openxmlformats.org/drawingml/2006/main">
              <a:ext uri="{FF2B5EF4-FFF2-40B4-BE49-F238E27FC236}">
                <a16:creationId xmlns:a16="http://schemas.microsoft.com/office/drawing/2014/main" id="{A1CF14BF-2F7D-46AC-A0ED-0168EBB7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552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" name="architecture-layer-label-0">
            <a:extLst xmlns:a="http://schemas.openxmlformats.org/drawingml/2006/main">
              <a:ext uri="{FF2B5EF4-FFF2-40B4-BE49-F238E27FC236}">
                <a16:creationId xmlns:a16="http://schemas.microsoft.com/office/drawing/2014/main" id="{B5E5F948-A4D9-42D4-810C-54ECE521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145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Interfaz / API</a:t>
            </a:r>
          </a:p>
        </p:txBody>
      </p:sp>
      <p:sp>
        <p:nvSpPr>
          <p:cNvPr id="5" name="architecture-layer-desc-0">
            <a:extLst xmlns:a="http://schemas.openxmlformats.org/drawingml/2006/main">
              <a:ext uri="{FF2B5EF4-FFF2-40B4-BE49-F238E27FC236}">
                <a16:creationId xmlns:a16="http://schemas.microsoft.com/office/drawing/2014/main" id="{54A2DFA1-D964-4D89-BAFA-915C63D4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145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Escenarios y contratos visibles</a:t>
            </a:r>
          </a:p>
        </p:txBody>
      </p:sp>
      <p:sp>
        <p:nvSpPr>
          <p:cNvPr id="6" name="architecture-layer-1">
            <a:extLst xmlns:a="http://schemas.openxmlformats.org/drawingml/2006/main">
              <a:ext uri="{FF2B5EF4-FFF2-40B4-BE49-F238E27FC236}">
                <a16:creationId xmlns:a16="http://schemas.microsoft.com/office/drawing/2014/main" id="{EDD84F25-E5FC-4DEC-91AE-6EC3274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552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solidFill>
              <a:srgbClr val="183B56"/>
            </a:solidFill>
            <a:prstDash val="solid"/>
          </a:ln>
        </p:spPr>
      </p:sp>
      <p:sp>
        <p:nvSpPr>
          <p:cNvPr id="7" name="architecture-layer-label-1">
            <a:extLst xmlns:a="http://schemas.openxmlformats.org/drawingml/2006/main">
              <a:ext uri="{FF2B5EF4-FFF2-40B4-BE49-F238E27FC236}">
                <a16:creationId xmlns:a16="http://schemas.microsoft.com/office/drawing/2014/main" id="{DCBB21E8-CA21-47A2-BD3B-7ACAF01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8" name="architecture-layer-desc-1">
            <a:extLst xmlns:a="http://schemas.openxmlformats.org/drawingml/2006/main">
              <a:ext uri="{FF2B5EF4-FFF2-40B4-BE49-F238E27FC236}">
                <a16:creationId xmlns:a16="http://schemas.microsoft.com/office/drawing/2014/main" id="{EEB3FEE1-3851-4F33-90E6-A053F278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9557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Orquestación y casos de uso</a:t>
            </a:r>
          </a:p>
        </p:txBody>
      </p:sp>
      <p:sp>
        <p:nvSpPr>
          <p:cNvPr id="9" name="architecture-layer-2">
            <a:extLst xmlns:a="http://schemas.openxmlformats.org/drawingml/2006/main">
              <a:ext uri="{FF2B5EF4-FFF2-40B4-BE49-F238E27FC236}">
                <a16:creationId xmlns:a16="http://schemas.microsoft.com/office/drawing/2014/main" id="{F89AC603-6345-427B-87AA-3C991E9D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552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0" name="architecture-layer-label-2">
            <a:extLst xmlns:a="http://schemas.openxmlformats.org/drawingml/2006/main">
              <a:ext uri="{FF2B5EF4-FFF2-40B4-BE49-F238E27FC236}">
                <a16:creationId xmlns:a16="http://schemas.microsoft.com/office/drawing/2014/main" id="{84BCF227-4FF0-4EA3-B749-0D2EA5B3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Dominio</a:t>
            </a:r>
          </a:p>
        </p:txBody>
      </p:sp>
      <p:sp>
        <p:nvSpPr>
          <p:cNvPr id="11" name="architecture-layer-desc-2">
            <a:extLst xmlns:a="http://schemas.openxmlformats.org/drawingml/2006/main">
              <a:ext uri="{FF2B5EF4-FFF2-40B4-BE49-F238E27FC236}">
                <a16:creationId xmlns:a16="http://schemas.microsoft.com/office/drawing/2014/main" id="{DA85E178-FDB8-4AD0-807D-619D1581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766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3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Reglas y decisiones de negocio</a:t>
            </a:r>
          </a:p>
        </p:txBody>
      </p:sp>
      <p:sp>
        <p:nvSpPr>
          <p:cNvPr id="12" name="architecture-layer-3">
            <a:extLst xmlns:a="http://schemas.openxmlformats.org/drawingml/2006/main">
              <a:ext uri="{FF2B5EF4-FFF2-40B4-BE49-F238E27FC236}">
                <a16:creationId xmlns:a16="http://schemas.microsoft.com/office/drawing/2014/main" id="{59768062-38E5-4ABC-8D5C-5096DAAB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552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solidFill>
              <a:srgbClr val="183B56"/>
            </a:solidFill>
            <a:prstDash val="solid"/>
          </a:ln>
        </p:spPr>
      </p:sp>
      <p:sp>
        <p:nvSpPr>
          <p:cNvPr id="13" name="architecture-layer-label-3">
            <a:extLst xmlns:a="http://schemas.openxmlformats.org/drawingml/2006/main">
              <a:ext uri="{FF2B5EF4-FFF2-40B4-BE49-F238E27FC236}">
                <a16:creationId xmlns:a16="http://schemas.microsoft.com/office/drawing/2014/main" id="{C85C3A7C-8391-45AF-BC29-418E02C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576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Persistencia / externos</a:t>
            </a:r>
          </a:p>
        </p:txBody>
      </p:sp>
      <p:sp>
        <p:nvSpPr>
          <p:cNvPr id="14" name="architecture-layer-desc-3">
            <a:extLst xmlns:a="http://schemas.openxmlformats.org/drawingml/2006/main">
              <a:ext uri="{FF2B5EF4-FFF2-40B4-BE49-F238E27FC236}">
                <a16:creationId xmlns:a16="http://schemas.microsoft.com/office/drawing/2014/main" id="{D025FCA4-598C-48F4-ACF1-7512BF2E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5767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Datos, integraciones y fallos</a:t>
            </a:r>
          </a:p>
        </p:txBody>
      </p:sp>
      <p:sp>
        <p:nvSpPr>
          <p:cNvPr id="15" name="architecture-divider">
            <a:extLst xmlns:a="http://schemas.openxmlformats.org/drawingml/2006/main">
              <a:ext uri="{FF2B5EF4-FFF2-40B4-BE49-F238E27FC236}">
                <a16:creationId xmlns:a16="http://schemas.microsoft.com/office/drawing/2014/main" id="{76B59DA2-B6DF-41FF-9F64-7CA3B6E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6" name="architecture-right-title">
            <a:extLst xmlns:a="http://schemas.openxmlformats.org/drawingml/2006/main">
              <a:ext uri="{FF2B5EF4-FFF2-40B4-BE49-F238E27FC236}">
                <a16:creationId xmlns:a16="http://schemas.microsoft.com/office/drawing/2014/main" id="{220F63AF-02F7-4C95-82DA-715E6AB2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71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Preguntas de prueba</a:t>
            </a:r>
          </a:p>
        </p:txBody>
      </p:sp>
      <p:sp>
        <p:nvSpPr>
          <p:cNvPr id="17" name="architecture-right">
            <a:extLst xmlns:a="http://schemas.openxmlformats.org/drawingml/2006/main">
              <a:ext uri="{FF2B5EF4-FFF2-40B4-BE49-F238E27FC236}">
                <a16:creationId xmlns:a16="http://schemas.microsoft.com/office/drawing/2014/main" id="{7F17806B-6963-403A-AD8B-15418C10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2862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¿El componente cumple su regla?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¿Los módulos intercambian datos correctamente?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¿El flujo completo satisface el escenario?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¿Un cambio afectó una capacidad existente?</a:t>
            </a:r>
          </a:p>
        </p:txBody>
      </p:sp>
      <p:sp>
        <p:nvSpPr>
          <p:cNvPr id="18" name="architecture-bottom">
            <a:extLst xmlns:a="http://schemas.openxmlformats.org/drawingml/2006/main">
              <a:ext uri="{FF2B5EF4-FFF2-40B4-BE49-F238E27FC236}">
                <a16:creationId xmlns:a16="http://schemas.microsoft.com/office/drawing/2014/main" id="{BFAEEB20-7AB6-42B0-B81E-0950F380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428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9" name="architecture-bottom-text">
            <a:extLst xmlns:a="http://schemas.openxmlformats.org/drawingml/2006/main">
              <a:ext uri="{FF2B5EF4-FFF2-40B4-BE49-F238E27FC236}">
                <a16:creationId xmlns:a16="http://schemas.microsoft.com/office/drawing/2014/main" id="{11A28337-D52E-49CE-9980-E43A70BE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720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 prueba end-to-end no sustituye las pruebas unitarias e integración: cada nivel reduce una incertidumbre distinta.</a:t>
            </a:r>
          </a:p>
        </p:txBody>
      </p:sp>
      <p:sp>
        <p:nvSpPr>
          <p:cNvPr id="2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11B29A24-9562-4C63-8281-044BCC86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6D928FFE-8E77-46E4-966A-3E3C3FC2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2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A69416A7-7EBA-4588-8DC3-FB23490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789478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unit-title">
            <a:extLst xmlns:a="http://schemas.openxmlformats.org/drawingml/2006/main">
              <a:ext uri="{FF2B5EF4-FFF2-40B4-BE49-F238E27FC236}">
                <a16:creationId xmlns:a16="http://schemas.microsoft.com/office/drawing/2014/main" id="{2F0D8B73-D30F-4C74-B7F1-A6049E97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Las pruebas unitarias aíslan una unidad</a:t>
            </a:r>
          </a:p>
        </p:txBody>
      </p:sp>
      <p:sp>
        <p:nvSpPr>
          <p:cNvPr id="2" name="unit-subtitle">
            <a:extLst xmlns:a="http://schemas.openxmlformats.org/drawingml/2006/main">
              <a:ext uri="{FF2B5EF4-FFF2-40B4-BE49-F238E27FC236}">
                <a16:creationId xmlns:a16="http://schemas.microsoft.com/office/drawing/2014/main" id="{39F95B6A-E85D-4ED8-B5F4-14ECC2CE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 concentran en una función, método, clase o regla pequeña para dar feedback rápido.</a:t>
            </a:r>
          </a:p>
        </p:txBody>
      </p:sp>
      <p:sp>
        <p:nvSpPr>
          <p:cNvPr id="3" name="unit-tag">
            <a:extLst xmlns:a="http://schemas.openxmlformats.org/drawingml/2006/main">
              <a:ext uri="{FF2B5EF4-FFF2-40B4-BE49-F238E27FC236}">
                <a16:creationId xmlns:a16="http://schemas.microsoft.com/office/drawing/2014/main" id="{74233B79-0CDC-4AE8-9134-DDB8A6A2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4" name="unit-tag-text">
            <a:extLst xmlns:a="http://schemas.openxmlformats.org/drawingml/2006/main">
              <a:ext uri="{FF2B5EF4-FFF2-40B4-BE49-F238E27FC236}">
                <a16:creationId xmlns:a16="http://schemas.microsoft.com/office/drawing/2014/main" id="{4D56404B-2775-409F-B137-23112504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UNIDAD PEQUEÑA · EJECUCIÓN RÁPIDA</a:t>
            </a:r>
          </a:p>
        </p:txBody>
      </p:sp>
      <p:sp>
        <p:nvSpPr>
          <p:cNvPr id="5" name="unit-points">
            <a:extLst xmlns:a="http://schemas.openxmlformats.org/drawingml/2006/main">
              <a:ext uri="{FF2B5EF4-FFF2-40B4-BE49-F238E27FC236}">
                <a16:creationId xmlns:a16="http://schemas.microsoft.com/office/drawing/2014/main" id="{DF93A6FE-F8E3-4B88-A452-598B9864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2197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Detectan fallos cerca de su origen.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Permiten localizar con precisión qué regla no se cumple.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Pueden reemplazar dependencias externas por dobles de prueba.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Conviene cubrir casos normales, inválidos y límites.</a:t>
            </a:r>
          </a:p>
        </p:txBody>
      </p:sp>
      <p:sp>
        <p:nvSpPr>
          <p:cNvPr id="6" name="unit-example">
            <a:extLst xmlns:a="http://schemas.openxmlformats.org/drawingml/2006/main">
              <a:ext uri="{FF2B5EF4-FFF2-40B4-BE49-F238E27FC236}">
                <a16:creationId xmlns:a16="http://schemas.microsoft.com/office/drawing/2014/main" id="{C80DF77A-1B61-4972-8B80-31D8A6EC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95450"/>
            <a:ext cx="4152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7" name="unit-example-title">
            <a:extLst xmlns:a="http://schemas.openxmlformats.org/drawingml/2006/main">
              <a:ext uri="{FF2B5EF4-FFF2-40B4-BE49-F238E27FC236}">
                <a16:creationId xmlns:a16="http://schemas.microsoft.com/office/drawing/2014/main" id="{BA4770CE-A039-40DB-A6C8-C58B3047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19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Ejemplo · calcularTotal</a:t>
            </a:r>
          </a:p>
        </p:txBody>
      </p:sp>
      <p:sp>
        <p:nvSpPr>
          <p:cNvPr id="8" name="unit-example-code">
            <a:extLst xmlns:a="http://schemas.openxmlformats.org/drawingml/2006/main">
              <a:ext uri="{FF2B5EF4-FFF2-40B4-BE49-F238E27FC236}">
                <a16:creationId xmlns:a16="http://schemas.microsoft.com/office/drawing/2014/main" id="{468D1FA6-BFF7-4C01-9562-C236A4C6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14600"/>
            <a:ext cx="3429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2 artículos × Q50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Descuento: 10%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Esperado → Q90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0 artículos → Q0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Precio negativo → error</a:t>
            </a:r>
          </a:p>
        </p:txBody>
      </p:sp>
      <p:sp>
        <p:nvSpPr>
          <p:cNvPr id="9" name="unit-bottom">
            <a:extLst xmlns:a="http://schemas.openxmlformats.org/drawingml/2006/main">
              <a:ext uri="{FF2B5EF4-FFF2-40B4-BE49-F238E27FC236}">
                <a16:creationId xmlns:a16="http://schemas.microsoft.com/office/drawing/2014/main" id="{7277AAA7-40E6-4873-8DEB-1D65EA06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10" name="unit-bottom-text">
            <a:extLst xmlns:a="http://schemas.openxmlformats.org/drawingml/2006/main">
              <a:ext uri="{FF2B5EF4-FFF2-40B4-BE49-F238E27FC236}">
                <a16:creationId xmlns:a16="http://schemas.microsoft.com/office/drawing/2014/main" id="{4C00D066-4C56-4967-8B51-524FC1A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Una prueba unitaria no demuestra que el sistema completo funcione; demuestra que una unidad cumple su contrato.</a:t>
            </a:r>
          </a:p>
        </p:txBody>
      </p:sp>
      <p:sp>
        <p:nvSpPr>
          <p:cNvPr id="11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2651A514-4F93-4222-AD0E-B59ACC0A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2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E681A95F-08F2-4F0F-A8FA-D02E53E8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13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577A5CD4-CD08-4245-B731-2C9F2ED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52390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ntegration-title">
            <a:extLst xmlns:a="http://schemas.openxmlformats.org/drawingml/2006/main">
              <a:ext uri="{FF2B5EF4-FFF2-40B4-BE49-F238E27FC236}">
                <a16:creationId xmlns:a16="http://schemas.microsoft.com/office/drawing/2014/main" id="{A7750CCF-ADA2-47CB-A880-F5F63E07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 integración verifica contratos entre módulos</a:t>
            </a:r>
          </a:p>
        </p:txBody>
      </p:sp>
      <p:sp>
        <p:nvSpPr>
          <p:cNvPr id="2" name="integration-subtitle">
            <a:extLst xmlns:a="http://schemas.openxmlformats.org/drawingml/2006/main">
              <a:ext uri="{FF2B5EF4-FFF2-40B4-BE49-F238E27FC236}">
                <a16:creationId xmlns:a16="http://schemas.microsoft.com/office/drawing/2014/main" id="{030A1ADD-0374-4D1F-A40B-61AD31A7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Busca defectos en las interfaces y en las interacciones que aparecen cuando los componentes colaboran.</a:t>
            </a:r>
          </a:p>
        </p:txBody>
      </p:sp>
      <p:sp>
        <p:nvSpPr>
          <p:cNvPr id="3" name="integration-arrow-0">
            <a:extLst xmlns:a="http://schemas.openxmlformats.org/drawingml/2006/main">
              <a:ext uri="{FF2B5EF4-FFF2-40B4-BE49-F238E27FC236}">
                <a16:creationId xmlns:a16="http://schemas.microsoft.com/office/drawing/2014/main" id="{5E25D957-D55D-415F-9367-4A5D68DD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" name="integration-arrow-1">
            <a:extLst xmlns:a="http://schemas.openxmlformats.org/drawingml/2006/main">
              <a:ext uri="{FF2B5EF4-FFF2-40B4-BE49-F238E27FC236}">
                <a16:creationId xmlns:a16="http://schemas.microsoft.com/office/drawing/2014/main" id="{4184B14D-A250-4D6B-8CE2-E34F3F62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956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5" name="integration-arrow-2">
            <a:extLst xmlns:a="http://schemas.openxmlformats.org/drawingml/2006/main">
              <a:ext uri="{FF2B5EF4-FFF2-40B4-BE49-F238E27FC236}">
                <a16:creationId xmlns:a16="http://schemas.microsoft.com/office/drawing/2014/main" id="{E4183405-E023-41AA-B436-92B65D9B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6" name="integration-node-0">
            <a:extLst xmlns:a="http://schemas.openxmlformats.org/drawingml/2006/main">
              <a:ext uri="{FF2B5EF4-FFF2-40B4-BE49-F238E27FC236}">
                <a16:creationId xmlns:a16="http://schemas.microsoft.com/office/drawing/2014/main" id="{31BC5315-0882-4B95-B7DA-C1A234CB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962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7" name="integration-node-text-0">
            <a:extLst xmlns:a="http://schemas.openxmlformats.org/drawingml/2006/main">
              <a:ext uri="{FF2B5EF4-FFF2-40B4-BE49-F238E27FC236}">
                <a16:creationId xmlns:a16="http://schemas.microsoft.com/office/drawing/2014/main" id="{B92BE1E4-0109-4BA4-A1E3-123C289B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Cliente / API</a:t>
            </a:r>
          </a:p>
        </p:txBody>
      </p:sp>
      <p:sp>
        <p:nvSpPr>
          <p:cNvPr id="8" name="integration-node-1">
            <a:extLst xmlns:a="http://schemas.openxmlformats.org/drawingml/2006/main">
              <a:ext uri="{FF2B5EF4-FFF2-40B4-BE49-F238E27FC236}">
                <a16:creationId xmlns:a16="http://schemas.microsoft.com/office/drawing/2014/main" id="{6C6C4CBD-6E0C-4402-91DC-57DF27A3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1962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9" name="integration-node-text-1">
            <a:extLst xmlns:a="http://schemas.openxmlformats.org/drawingml/2006/main">
              <a:ext uri="{FF2B5EF4-FFF2-40B4-BE49-F238E27FC236}">
                <a16:creationId xmlns:a16="http://schemas.microsoft.com/office/drawing/2014/main" id="{D0928866-C644-4C8A-89DD-14313B56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0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Servicio de pedidos</a:t>
            </a:r>
          </a:p>
        </p:txBody>
      </p:sp>
      <p:sp>
        <p:nvSpPr>
          <p:cNvPr id="10" name="integration-node-2">
            <a:extLst xmlns:a="http://schemas.openxmlformats.org/drawingml/2006/main">
              <a:ext uri="{FF2B5EF4-FFF2-40B4-BE49-F238E27FC236}">
                <a16:creationId xmlns:a16="http://schemas.microsoft.com/office/drawing/2014/main" id="{D8502F89-3CD3-4546-A1A3-65798B33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1962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1" name="integration-node-text-2">
            <a:extLst xmlns:a="http://schemas.openxmlformats.org/drawingml/2006/main">
              <a:ext uri="{FF2B5EF4-FFF2-40B4-BE49-F238E27FC236}">
                <a16:creationId xmlns:a16="http://schemas.microsoft.com/office/drawing/2014/main" id="{30E0287C-4075-424A-9C42-6E1F32AB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2" name="integration-node-3">
            <a:extLst xmlns:a="http://schemas.openxmlformats.org/drawingml/2006/main">
              <a:ext uri="{FF2B5EF4-FFF2-40B4-BE49-F238E27FC236}">
                <a16:creationId xmlns:a16="http://schemas.microsoft.com/office/drawing/2014/main" id="{E666A815-E24C-47DB-94FB-D86BFBDD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1962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19050">
            <a:solidFill>
              <a:srgbClr val="183B56"/>
            </a:solidFill>
            <a:prstDash val="solid"/>
          </a:ln>
        </p:spPr>
      </p:sp>
      <p:sp>
        <p:nvSpPr>
          <p:cNvPr id="13" name="integration-node-text-3">
            <a:extLst xmlns:a="http://schemas.openxmlformats.org/drawingml/2006/main">
              <a:ext uri="{FF2B5EF4-FFF2-40B4-BE49-F238E27FC236}">
                <a16:creationId xmlns:a16="http://schemas.microsoft.com/office/drawing/2014/main" id="{93F6EA40-4FC7-45D3-95F9-C5E03ED8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de datos</a:t>
            </a:r>
          </a:p>
        </p:txBody>
      </p:sp>
      <p:sp>
        <p:nvSpPr>
          <p:cNvPr id="14" name="integration-arrow-labels">
            <a:extLst xmlns:a="http://schemas.openxmlformats.org/drawingml/2006/main">
              <a:ext uri="{FF2B5EF4-FFF2-40B4-BE49-F238E27FC236}">
                <a16:creationId xmlns:a16="http://schemas.microsoft.com/office/drawing/2014/main" id="{1C553847-97E4-406A-AFCC-6A718D45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5" name="integration-arrow-labels-2">
            <a:extLst xmlns:a="http://schemas.openxmlformats.org/drawingml/2006/main">
              <a:ext uri="{FF2B5EF4-FFF2-40B4-BE49-F238E27FC236}">
                <a16:creationId xmlns:a16="http://schemas.microsoft.com/office/drawing/2014/main" id="{BB4DE90C-72E9-4B50-8B4E-AC884885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813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errores</a:t>
            </a:r>
          </a:p>
        </p:txBody>
      </p:sp>
      <p:sp>
        <p:nvSpPr>
          <p:cNvPr id="16" name="integration-arrow-labels-3">
            <a:extLst xmlns:a="http://schemas.openxmlformats.org/drawingml/2006/main">
              <a:ext uri="{FF2B5EF4-FFF2-40B4-BE49-F238E27FC236}">
                <a16:creationId xmlns:a16="http://schemas.microsoft.com/office/drawing/2014/main" id="{DE9BFB4D-8A1C-42F9-8CF7-D7362760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813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persist.</a:t>
            </a:r>
          </a:p>
        </p:txBody>
      </p:sp>
      <p:sp>
        <p:nvSpPr>
          <p:cNvPr id="17" name="integration-checks">
            <a:extLst xmlns:a="http://schemas.openxmlformats.org/drawingml/2006/main">
              <a:ext uri="{FF2B5EF4-FFF2-40B4-BE49-F238E27FC236}">
                <a16:creationId xmlns:a16="http://schemas.microsoft.com/office/drawing/2014/main" id="{6361617E-445C-49C5-9F93-6EAAE0E1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948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8" name="integration-checks-text">
            <a:extLst xmlns:a="http://schemas.openxmlformats.org/drawingml/2006/main">
              <a:ext uri="{FF2B5EF4-FFF2-40B4-BE49-F238E27FC236}">
                <a16:creationId xmlns:a16="http://schemas.microsoft.com/office/drawing/2014/main" id="{D98BB81B-727D-4687-A286-DE83B7C4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482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Verificar: nombres y formatos de datos · códigos y mensajes de error · transacciones · tiempos y dependencias · propagación de fallos.</a:t>
            </a:r>
          </a:p>
        </p:txBody>
      </p:sp>
      <p:sp>
        <p:nvSpPr>
          <p:cNvPr id="19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418BDF12-E127-4213-BB97-74119A64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0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79E3EBEB-C6F7-4C28-B4C2-58B4D50F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21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0A63075B-77B6-4C4E-A170-B2C24FD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7784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trategies-title">
            <a:extLst xmlns:a="http://schemas.openxmlformats.org/drawingml/2006/main">
              <a:ext uri="{FF2B5EF4-FFF2-40B4-BE49-F238E27FC236}">
                <a16:creationId xmlns:a16="http://schemas.microsoft.com/office/drawing/2014/main" id="{E4672799-27EB-4589-A996-96577556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El orden de integración cambia qué se detecta primero</a:t>
            </a:r>
          </a:p>
        </p:txBody>
      </p:sp>
      <p:sp>
        <p:nvSpPr>
          <p:cNvPr id="2" name="strategies-subtitle">
            <a:extLst xmlns:a="http://schemas.openxmlformats.org/drawingml/2006/main">
              <a:ext uri="{FF2B5EF4-FFF2-40B4-BE49-F238E27FC236}">
                <a16:creationId xmlns:a16="http://schemas.microsoft.com/office/drawing/2014/main" id="{D19A269A-72A8-46FC-812A-43D477C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Top-down y bottom-up son estrategias para ensamblar y probar módulos de forma progresiva.</a:t>
            </a:r>
          </a:p>
        </p:txBody>
      </p:sp>
      <p:sp>
        <p:nvSpPr>
          <p:cNvPr id="3" name="topdown-panel">
            <a:extLst xmlns:a="http://schemas.openxmlformats.org/drawingml/2006/main">
              <a:ext uri="{FF2B5EF4-FFF2-40B4-BE49-F238E27FC236}">
                <a16:creationId xmlns:a16="http://schemas.microsoft.com/office/drawing/2014/main" id="{D901F04C-1BF0-4686-B1D6-F772920B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435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4" name="bottomup-panel">
            <a:extLst xmlns:a="http://schemas.openxmlformats.org/drawingml/2006/main">
              <a:ext uri="{FF2B5EF4-FFF2-40B4-BE49-F238E27FC236}">
                <a16:creationId xmlns:a16="http://schemas.microsoft.com/office/drawing/2014/main" id="{BAC9ECAF-B92F-4017-BFB9-318EC4F4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51435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5" name="topdown-title">
            <a:extLst xmlns:a="http://schemas.openxmlformats.org/drawingml/2006/main">
              <a:ext uri="{FF2B5EF4-FFF2-40B4-BE49-F238E27FC236}">
                <a16:creationId xmlns:a16="http://schemas.microsoft.com/office/drawing/2014/main" id="{4EA0776F-585F-4478-BECC-57E1D65D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TOP-DOWN</a:t>
            </a:r>
          </a:p>
        </p:txBody>
      </p:sp>
      <p:sp>
        <p:nvSpPr>
          <p:cNvPr id="6" name="bottomup-title">
            <a:extLst xmlns:a="http://schemas.openxmlformats.org/drawingml/2006/main">
              <a:ext uri="{FF2B5EF4-FFF2-40B4-BE49-F238E27FC236}">
                <a16:creationId xmlns:a16="http://schemas.microsoft.com/office/drawing/2014/main" id="{9DB4D182-EEDF-4CFD-8B60-69136F89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14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BOTTOM-UP</a:t>
            </a:r>
          </a:p>
        </p:txBody>
      </p:sp>
      <p:sp>
        <p:nvSpPr>
          <p:cNvPr id="7" name="topdown-line">
            <a:extLst xmlns:a="http://schemas.openxmlformats.org/drawingml/2006/main">
              <a:ext uri="{FF2B5EF4-FFF2-40B4-BE49-F238E27FC236}">
                <a16:creationId xmlns:a16="http://schemas.microsoft.com/office/drawing/2014/main" id="{BF309925-678C-4ADA-B559-AA812E29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8" name="bottomup-line">
            <a:extLst xmlns:a="http://schemas.openxmlformats.org/drawingml/2006/main">
              <a:ext uri="{FF2B5EF4-FFF2-40B4-BE49-F238E27FC236}">
                <a16:creationId xmlns:a16="http://schemas.microsoft.com/office/drawing/2014/main" id="{E54B5854-51ED-41FE-9857-E3B170F9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098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B56"/>
            </a:solidFill>
            <a:prstDash val="solid"/>
          </a:ln>
        </p:spPr>
      </p:sp>
      <p:sp>
        <p:nvSpPr>
          <p:cNvPr id="9" name="topdown-points">
            <a:extLst xmlns:a="http://schemas.openxmlformats.org/drawingml/2006/main">
              <a:ext uri="{FF2B5EF4-FFF2-40B4-BE49-F238E27FC236}">
                <a16:creationId xmlns:a16="http://schemas.microsoft.com/office/drawing/2014/main" id="{0D010CFD-F825-404C-B29E-2629765D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Comienza por el flujo o módulo principal.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Usa stubs para representar módulos inferiores.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Revela pronto problemas de orquestación y navegación.</a:t>
            </a:r>
          </a:p>
        </p:txBody>
      </p:sp>
      <p:sp>
        <p:nvSpPr>
          <p:cNvPr id="10" name="bottomup-points">
            <a:extLst xmlns:a="http://schemas.openxmlformats.org/drawingml/2006/main">
              <a:ext uri="{FF2B5EF4-FFF2-40B4-BE49-F238E27FC236}">
                <a16:creationId xmlns:a16="http://schemas.microsoft.com/office/drawing/2014/main" id="{62C5344B-F3F3-469E-BBE0-2FB76DBC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Comienza por componentes de nivel inferior.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Usa drivers para invocar módulos superiores.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Revela pronto problemas de servicios, datos y adaptadores.</a:t>
            </a:r>
          </a:p>
        </p:txBody>
      </p:sp>
      <p:sp>
        <p:nvSpPr>
          <p:cNvPr id="11" name="strategies-note">
            <a:extLst xmlns:a="http://schemas.openxmlformats.org/drawingml/2006/main">
              <a:ext uri="{FF2B5EF4-FFF2-40B4-BE49-F238E27FC236}">
                <a16:creationId xmlns:a16="http://schemas.microsoft.com/office/drawing/2014/main" id="{6CC78C4E-7D7D-4663-9B61-2A01A7A7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 elección depende de dónde está el riesgo y de qué componentes ya están disponibles.</a:t>
            </a:r>
          </a:p>
        </p:txBody>
      </p:sp>
      <p:sp>
        <p:nvSpPr>
          <p:cNvPr id="12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50F778E7-ADB6-47F9-A095-7A1636E6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3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7E61DBA8-0394-4B0F-8A6E-DEFE50F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14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FE96998D-9A2A-4BE8-A9C4-A9D454BD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25915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ptance-title">
            <a:extLst xmlns:a="http://schemas.openxmlformats.org/drawingml/2006/main">
              <a:ext uri="{FF2B5EF4-FFF2-40B4-BE49-F238E27FC236}">
                <a16:creationId xmlns:a16="http://schemas.microsoft.com/office/drawing/2014/main" id="{3FEEA2F5-07EE-4B51-AA4C-554B5279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Las pruebas de aceptación deciden si el producto es apto para su uso</a:t>
            </a:r>
          </a:p>
        </p:txBody>
      </p:sp>
      <p:sp>
        <p:nvSpPr>
          <p:cNvPr id="2" name="acceptance-subtitle">
            <a:extLst xmlns:a="http://schemas.openxmlformats.org/drawingml/2006/main">
              <a:ext uri="{FF2B5EF4-FFF2-40B4-BE49-F238E27FC236}">
                <a16:creationId xmlns:a16="http://schemas.microsoft.com/office/drawing/2014/main" id="{2D62E991-BC85-4EAA-A5E4-54866D1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Validan necesidades, requisitos y criterios de aceptación desde la perspectiva del usuario, cliente o entidad autorizada.</a:t>
            </a:r>
          </a:p>
        </p:txBody>
      </p:sp>
      <p:sp>
        <p:nvSpPr>
          <p:cNvPr id="3" name="acceptance-definition">
            <a:extLst xmlns:a="http://schemas.openxmlformats.org/drawingml/2006/main">
              <a:ext uri="{FF2B5EF4-FFF2-40B4-BE49-F238E27FC236}">
                <a16:creationId xmlns:a16="http://schemas.microsoft.com/office/drawing/2014/main" id="{0BA641A8-87AE-4772-A9E7-D9B80F3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 pregunta no es solamente “¿funciona técnicamente?”. También es “¿resuelve la necesidad y está listo para ser aceptado?”.</a:t>
            </a:r>
          </a:p>
        </p:txBody>
      </p:sp>
      <p:sp>
        <p:nvSpPr>
          <p:cNvPr id="4" name="acceptance-tag">
            <a:extLst xmlns:a="http://schemas.openxmlformats.org/drawingml/2006/main">
              <a:ext uri="{FF2B5EF4-FFF2-40B4-BE49-F238E27FC236}">
                <a16:creationId xmlns:a16="http://schemas.microsoft.com/office/drawing/2014/main" id="{147AD10C-9FD3-4DE0-8BE0-6C7476A3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954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5" name="acceptance-tag-text">
            <a:extLst xmlns:a="http://schemas.openxmlformats.org/drawingml/2006/main">
              <a:ext uri="{FF2B5EF4-FFF2-40B4-BE49-F238E27FC236}">
                <a16:creationId xmlns:a16="http://schemas.microsoft.com/office/drawing/2014/main" id="{8D7A5284-B432-4E8E-82E6-6386B9BE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430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ESCENARIO DE NEGOCIO</a:t>
            </a:r>
          </a:p>
        </p:txBody>
      </p:sp>
      <p:sp>
        <p:nvSpPr>
          <p:cNvPr id="6" name="acceptance-scenario">
            <a:extLst xmlns:a="http://schemas.openxmlformats.org/drawingml/2006/main">
              <a:ext uri="{FF2B5EF4-FFF2-40B4-BE49-F238E27FC236}">
                <a16:creationId xmlns:a16="http://schemas.microsoft.com/office/drawing/2014/main" id="{92D369D3-ECCE-4169-9EE3-8B54FE1F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41529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7" name="acceptance-scenario-title">
            <a:extLst xmlns:a="http://schemas.openxmlformats.org/drawingml/2006/main">
              <a:ext uri="{FF2B5EF4-FFF2-40B4-BE49-F238E27FC236}">
                <a16:creationId xmlns:a16="http://schemas.microsoft.com/office/drawing/2014/main" id="{1E708BF1-0D84-472B-980D-B808E92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Completar una compra</a:t>
            </a:r>
          </a:p>
        </p:txBody>
      </p:sp>
      <p:sp>
        <p:nvSpPr>
          <p:cNvPr id="8" name="acceptance-criteria">
            <a:extLst xmlns:a="http://schemas.openxmlformats.org/drawingml/2006/main">
              <a:ext uri="{FF2B5EF4-FFF2-40B4-BE49-F238E27FC236}">
                <a16:creationId xmlns:a16="http://schemas.microsoft.com/office/drawing/2014/main" id="{B33F8674-3BBE-421A-986D-784C50BC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3486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Criterios de aceptación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El total refleja precios y descuentos.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El resultado del pago se comunica.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Se genera una confirmación.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 pago rechazado no deja el pedido inconsistente.</a:t>
            </a:r>
          </a:p>
        </p:txBody>
      </p:sp>
      <p:sp>
        <p:nvSpPr>
          <p:cNvPr id="9" name="acceptance-bottom">
            <a:extLst xmlns:a="http://schemas.openxmlformats.org/drawingml/2006/main">
              <a:ext uri="{FF2B5EF4-FFF2-40B4-BE49-F238E27FC236}">
                <a16:creationId xmlns:a16="http://schemas.microsoft.com/office/drawing/2014/main" id="{CEAF64C5-5C47-4FB2-8B22-1D395445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33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10" name="acceptance-bottom-text">
            <a:extLst xmlns:a="http://schemas.openxmlformats.org/drawingml/2006/main">
              <a:ext uri="{FF2B5EF4-FFF2-40B4-BE49-F238E27FC236}">
                <a16:creationId xmlns:a16="http://schemas.microsoft.com/office/drawing/2014/main" id="{703200A7-3DB5-426F-8F32-3531D74D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La aceptación conecta el sistema con el propósito para el que fue construido.</a:t>
            </a:r>
          </a:p>
        </p:txBody>
      </p:sp>
      <p:sp>
        <p:nvSpPr>
          <p:cNvPr id="11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E193ADB6-DB53-4062-8981-AE4CCCD7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2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19DC57EA-744E-48A8-A170-A93D99CE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13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2F4F5F95-F61E-42F9-93F7-85C36495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64886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gression-title">
            <a:extLst xmlns:a="http://schemas.openxmlformats.org/drawingml/2006/main">
              <a:ext uri="{FF2B5EF4-FFF2-40B4-BE49-F238E27FC236}">
                <a16:creationId xmlns:a16="http://schemas.microsoft.com/office/drawing/2014/main" id="{D51C87A4-8D80-470A-8D48-2ED5ECB3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Las pruebas de regresión protegen lo que ya funcionaba</a:t>
            </a:r>
          </a:p>
        </p:txBody>
      </p:sp>
      <p:sp>
        <p:nvSpPr>
          <p:cNvPr id="2" name="regression-subtitle">
            <a:extLst xmlns:a="http://schemas.openxmlformats.org/drawingml/2006/main">
              <a:ext uri="{FF2B5EF4-FFF2-40B4-BE49-F238E27FC236}">
                <a16:creationId xmlns:a16="http://schemas.microsoft.com/office/drawing/2014/main" id="{5C129345-33B6-4FFB-9F7B-A46B5F03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Después de un cambio, verifican que las áreas previamente probadas no se hayan degradado.</a:t>
            </a:r>
          </a:p>
        </p:txBody>
      </p:sp>
      <p:sp>
        <p:nvSpPr>
          <p:cNvPr id="3" name="regression-definition">
            <a:extLst xmlns:a="http://schemas.openxmlformats.org/drawingml/2006/main">
              <a:ext uri="{FF2B5EF4-FFF2-40B4-BE49-F238E27FC236}">
                <a16:creationId xmlns:a16="http://schemas.microsoft.com/office/drawing/2014/main" id="{E787409A-A429-47A2-9D8F-5B8222AB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Una regresión aparece cuando un cambio introduce o expone un defecto en una parte que no pretendía modificar.</a:t>
            </a:r>
          </a:p>
        </p:txBody>
      </p:sp>
      <p:sp>
        <p:nvSpPr>
          <p:cNvPr id="4" name="regression-arrow-0">
            <a:extLst xmlns:a="http://schemas.openxmlformats.org/drawingml/2006/main">
              <a:ext uri="{FF2B5EF4-FFF2-40B4-BE49-F238E27FC236}">
                <a16:creationId xmlns:a16="http://schemas.microsoft.com/office/drawing/2014/main" id="{9DE2533F-5550-4831-8693-2181D816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regression-arrow-1">
            <a:extLst xmlns:a="http://schemas.openxmlformats.org/drawingml/2006/main">
              <a:ext uri="{FF2B5EF4-FFF2-40B4-BE49-F238E27FC236}">
                <a16:creationId xmlns:a16="http://schemas.microsoft.com/office/drawing/2014/main" id="{847FD20B-4F55-4893-AA04-1D9845C6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718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6" name="regression-arrow-2">
            <a:extLst xmlns:a="http://schemas.openxmlformats.org/drawingml/2006/main">
              <a:ext uri="{FF2B5EF4-FFF2-40B4-BE49-F238E27FC236}">
                <a16:creationId xmlns:a16="http://schemas.microsoft.com/office/drawing/2014/main" id="{0D64490B-C072-4ED5-9A91-D25C942E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7" name="regression-node-0">
            <a:extLst xmlns:a="http://schemas.openxmlformats.org/drawingml/2006/main">
              <a:ext uri="{FF2B5EF4-FFF2-40B4-BE49-F238E27FC236}">
                <a16:creationId xmlns:a16="http://schemas.microsoft.com/office/drawing/2014/main" id="{822BE6B3-130A-48D8-B559-7897C056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8" name="regression-node-label-0">
            <a:extLst xmlns:a="http://schemas.openxmlformats.org/drawingml/2006/main">
              <a:ext uri="{FF2B5EF4-FFF2-40B4-BE49-F238E27FC236}">
                <a16:creationId xmlns:a16="http://schemas.microsoft.com/office/drawing/2014/main" id="{E53EFC53-33E6-4540-A61B-AE5BD55D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CAMBIO</a:t>
            </a:r>
          </a:p>
        </p:txBody>
      </p:sp>
      <p:sp>
        <p:nvSpPr>
          <p:cNvPr id="9" name="regression-node-body-0">
            <a:extLst xmlns:a="http://schemas.openxmlformats.org/drawingml/2006/main">
              <a:ext uri="{FF2B5EF4-FFF2-40B4-BE49-F238E27FC236}">
                <a16:creationId xmlns:a16="http://schemas.microsoft.com/office/drawing/2014/main" id="{863720A1-1E83-4382-AF25-17972CCA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corrección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mejora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nueva función</a:t>
            </a:r>
          </a:p>
        </p:txBody>
      </p:sp>
      <p:sp>
        <p:nvSpPr>
          <p:cNvPr id="10" name="regression-node-1">
            <a:extLst xmlns:a="http://schemas.openxmlformats.org/drawingml/2006/main">
              <a:ext uri="{FF2B5EF4-FFF2-40B4-BE49-F238E27FC236}">
                <a16:creationId xmlns:a16="http://schemas.microsoft.com/office/drawing/2014/main" id="{A34E89A5-AA6A-4351-91AE-5971A8F5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1" name="regression-node-label-1">
            <a:extLst xmlns:a="http://schemas.openxmlformats.org/drawingml/2006/main">
              <a:ext uri="{FF2B5EF4-FFF2-40B4-BE49-F238E27FC236}">
                <a16:creationId xmlns:a16="http://schemas.microsoft.com/office/drawing/2014/main" id="{F9983A69-2B70-4F9C-8E18-C1CC573F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SUITE</a:t>
            </a:r>
          </a:p>
        </p:txBody>
      </p:sp>
      <p:sp>
        <p:nvSpPr>
          <p:cNvPr id="12" name="regression-node-body-1">
            <a:extLst xmlns:a="http://schemas.openxmlformats.org/drawingml/2006/main">
              <a:ext uri="{FF2B5EF4-FFF2-40B4-BE49-F238E27FC236}">
                <a16:creationId xmlns:a16="http://schemas.microsoft.com/office/drawing/2014/main" id="{0188DBAA-1504-472B-B3E1-F4EC2CD7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909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casos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relevantes</a:t>
            </a:r>
          </a:p>
        </p:txBody>
      </p:sp>
      <p:sp>
        <p:nvSpPr>
          <p:cNvPr id="13" name="regression-node-2">
            <a:extLst xmlns:a="http://schemas.openxmlformats.org/drawingml/2006/main">
              <a:ext uri="{FF2B5EF4-FFF2-40B4-BE49-F238E27FC236}">
                <a16:creationId xmlns:a16="http://schemas.microsoft.com/office/drawing/2014/main" id="{3E20CA6E-EA0D-4D8C-BC79-69458D6A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19050">
            <a:solidFill>
              <a:srgbClr val="183B56"/>
            </a:solidFill>
            <a:prstDash val="solid"/>
          </a:ln>
        </p:spPr>
      </p:sp>
      <p:sp>
        <p:nvSpPr>
          <p:cNvPr id="14" name="regression-node-label-2">
            <a:extLst xmlns:a="http://schemas.openxmlformats.org/drawingml/2006/main">
              <a:ext uri="{FF2B5EF4-FFF2-40B4-BE49-F238E27FC236}">
                <a16:creationId xmlns:a16="http://schemas.microsoft.com/office/drawing/2014/main" id="{4D32DA33-4655-4C58-9AFF-C6B8E724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670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5" name="regression-node-body-2">
            <a:extLst xmlns:a="http://schemas.openxmlformats.org/drawingml/2006/main">
              <a:ext uri="{FF2B5EF4-FFF2-40B4-BE49-F238E27FC236}">
                <a16:creationId xmlns:a16="http://schemas.microsoft.com/office/drawing/2014/main" id="{60F7624D-50EE-485F-8900-8FF0473C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efectos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colaterales</a:t>
            </a:r>
          </a:p>
        </p:txBody>
      </p:sp>
      <p:sp>
        <p:nvSpPr>
          <p:cNvPr id="16" name="regression-node-3">
            <a:extLst xmlns:a="http://schemas.openxmlformats.org/drawingml/2006/main">
              <a:ext uri="{FF2B5EF4-FFF2-40B4-BE49-F238E27FC236}">
                <a16:creationId xmlns:a16="http://schemas.microsoft.com/office/drawing/2014/main" id="{3699512E-D35A-4FD0-A5EA-85B20B29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B56"/>
            </a:solidFill>
            <a:prstDash val="solid"/>
          </a:ln>
        </p:spPr>
      </p:sp>
      <p:sp>
        <p:nvSpPr>
          <p:cNvPr id="17" name="regression-node-label-3">
            <a:extLst xmlns:a="http://schemas.openxmlformats.org/drawingml/2006/main">
              <a:ext uri="{FF2B5EF4-FFF2-40B4-BE49-F238E27FC236}">
                <a16:creationId xmlns:a16="http://schemas.microsoft.com/office/drawing/2014/main" id="{10A928B2-E91A-4A08-8881-5955C1C3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18" name="regression-node-body-3">
            <a:extLst xmlns:a="http://schemas.openxmlformats.org/drawingml/2006/main">
              <a:ext uri="{FF2B5EF4-FFF2-40B4-BE49-F238E27FC236}">
                <a16:creationId xmlns:a16="http://schemas.microsoft.com/office/drawing/2014/main" id="{48FD49CC-DAB1-4EE5-ADEC-3EF152A7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909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liberar o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investigar</a:t>
            </a:r>
          </a:p>
        </p:txBody>
      </p:sp>
      <p:sp>
        <p:nvSpPr>
          <p:cNvPr id="19" name="regression-note">
            <a:extLst xmlns:a="http://schemas.openxmlformats.org/drawingml/2006/main">
              <a:ext uri="{FF2B5EF4-FFF2-40B4-BE49-F238E27FC236}">
                <a16:creationId xmlns:a16="http://schemas.microsoft.com/office/drawing/2014/main" id="{A59AB97E-5FED-4EBD-B72D-66B1A89E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0" name="regression-note-text">
            <a:extLst xmlns:a="http://schemas.openxmlformats.org/drawingml/2006/main">
              <a:ext uri="{FF2B5EF4-FFF2-40B4-BE49-F238E27FC236}">
                <a16:creationId xmlns:a16="http://schemas.microsoft.com/office/drawing/2014/main" id="{6008D8A3-4B3C-4026-BE6A-23F8A332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Reprobar un caso corregido confirma la corrección; hacer regresión busca efectos colaterales en funcionalidades existentes.</a:t>
            </a:r>
          </a:p>
        </p:txBody>
      </p:sp>
      <p:sp>
        <p:nvSpPr>
          <p:cNvPr id="21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BD2358B3-E6B4-4ED8-9D42-200208CF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2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9C2219A9-A63F-41D0-9B4C-C98C4068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23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B37D3077-1C5C-4501-8F4C-3A45D1FB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65148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arison-title">
            <a:extLst xmlns:a="http://schemas.openxmlformats.org/drawingml/2006/main">
              <a:ext uri="{FF2B5EF4-FFF2-40B4-BE49-F238E27FC236}">
                <a16:creationId xmlns:a16="http://schemas.microsoft.com/office/drawing/2014/main" id="{E20BA8BF-8F6B-422B-A950-72066DDE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Una estrategia combina objetivo, nivel y propósito</a:t>
            </a:r>
          </a:p>
        </p:txBody>
      </p:sp>
      <p:sp>
        <p:nvSpPr>
          <p:cNvPr id="2" name="comparison-subtitle">
            <a:extLst xmlns:a="http://schemas.openxmlformats.org/drawingml/2006/main">
              <a:ext uri="{FF2B5EF4-FFF2-40B4-BE49-F238E27FC236}">
                <a16:creationId xmlns:a16="http://schemas.microsoft.com/office/drawing/2014/main" id="{F64349EC-7E68-4D0C-BC62-154D2493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Las categorías no son excluyentes: una prueba puede ser funcional, de integración y de regresión al mismo tiempo.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3550"/>
                <a:gridCol w="2952750"/>
                <a:gridCol w="2952750"/>
                <a:gridCol w="3333750"/>
              </a:tblGrid>
              <a:tr h="65722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Clasificación</a:t>
                      </a:r>
                    </a:p>
                  </a:txBody>
                  <a:tcPr marL="91440" marR="91440" marT="45720" marB="45720" anchor="ctr">
                    <a:solidFill>
                      <a:srgbClr val="183B5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Pregunta central</a:t>
                      </a:r>
                    </a:p>
                  </a:txBody>
                  <a:tcPr marL="91440" marR="91440" marT="45720" marB="45720" anchor="ctr">
                    <a:solidFill>
                      <a:srgbClr val="183B5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Alcance típico</a:t>
                      </a:r>
                    </a:p>
                  </a:txBody>
                  <a:tcPr marL="91440" marR="91440" marT="45720" marB="45720" anchor="ctr">
                    <a:solidFill>
                      <a:srgbClr val="183B5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solidFill>
                      <a:srgbClr val="183B56"/>
                    </a:solidFill>
                  </a:tcPr>
                </a:tc>
              </a:tr>
              <a:tr h="65722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Funcional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¿Cumple el requisito?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Comportamiento observable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 vs. observado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Unitaria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¿La unidad responde bien?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Función, clase o regla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Casos rápidos y aislados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5722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Integración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¿Colaboran los módulos?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Interfaces, datos y dependencias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Contrato e interacción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Aceptación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¿Satisface la necesidad?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Escenario de negocio completo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Criterio de aceptación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57225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Regresión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¿El cambio rompió algo?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Funcionalidad previamente validada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Suite ejecutada tras el cambio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mparison-note">
            <a:extLst xmlns:a="http://schemas.openxmlformats.org/drawingml/2006/main">
              <a:ext uri="{FF2B5EF4-FFF2-40B4-BE49-F238E27FC236}">
                <a16:creationId xmlns:a16="http://schemas.microsoft.com/office/drawing/2014/main" id="{F4284EC1-E21C-4477-A3B8-68A6495C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 clasificación ayuda a elegir qué observar, dónde hacerlo y cuándo repetir la prueba.</a:t>
            </a:r>
          </a:p>
        </p:txBody>
      </p:sp>
      <p:sp>
        <p:nvSpPr>
          <p:cNvPr id="5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49589E00-F126-49F7-ACF4-6C3DE54A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6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B3DD5693-E7EF-4558-8602-CE18C75B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7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F4C255D0-3FCB-41C1-9740-01A229A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166634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application-title">
            <a:extLst xmlns:a="http://schemas.openxmlformats.org/drawingml/2006/main">
              <a:ext uri="{FF2B5EF4-FFF2-40B4-BE49-F238E27FC236}">
                <a16:creationId xmlns:a16="http://schemas.microsoft.com/office/drawing/2014/main" id="{D3240546-FECE-41A2-852E-866F09D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En el proyecto, cada requisito crítico debe producir evidencia</a:t>
            </a:r>
          </a:p>
        </p:txBody>
      </p:sp>
      <p:sp>
        <p:nvSpPr>
          <p:cNvPr id="2" name="application-subtitle">
            <a:extLst xmlns:a="http://schemas.openxmlformats.org/drawingml/2006/main">
              <a:ext uri="{FF2B5EF4-FFF2-40B4-BE49-F238E27FC236}">
                <a16:creationId xmlns:a16="http://schemas.microsoft.com/office/drawing/2014/main" id="{09ECAA76-0ED7-43EE-AA53-18420D2C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La estrategia de pruebas comienza con una pregunta concreta, no con una lista de herramientas.</a:t>
            </a:r>
          </a:p>
        </p:txBody>
      </p:sp>
      <p:sp>
        <p:nvSpPr>
          <p:cNvPr id="3" name="application-circle-0">
            <a:extLst xmlns:a="http://schemas.openxmlformats.org/drawingml/2006/main">
              <a:ext uri="{FF2B5EF4-FFF2-40B4-BE49-F238E27FC236}">
                <a16:creationId xmlns:a16="http://schemas.microsoft.com/office/drawing/2014/main" id="{97B1A8A3-1531-4E9C-8604-B79BA048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" name="application-num-0">
            <a:extLst xmlns:a="http://schemas.openxmlformats.org/drawingml/2006/main">
              <a:ext uri="{FF2B5EF4-FFF2-40B4-BE49-F238E27FC236}">
                <a16:creationId xmlns:a16="http://schemas.microsoft.com/office/drawing/2014/main" id="{B2CD0634-502E-4DDB-A2AD-C775A38C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application-label-0">
            <a:extLst xmlns:a="http://schemas.openxmlformats.org/drawingml/2006/main">
              <a:ext uri="{FF2B5EF4-FFF2-40B4-BE49-F238E27FC236}">
                <a16:creationId xmlns:a16="http://schemas.microsoft.com/office/drawing/2014/main" id="{B2E6E000-F10E-4E2F-8BFB-B3527615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Requisito</a:t>
            </a:r>
          </a:p>
        </p:txBody>
      </p:sp>
      <p:sp>
        <p:nvSpPr>
          <p:cNvPr id="6" name="application-question-0">
            <a:extLst xmlns:a="http://schemas.openxmlformats.org/drawingml/2006/main">
              <a:ext uri="{FF2B5EF4-FFF2-40B4-BE49-F238E27FC236}">
                <a16:creationId xmlns:a16="http://schemas.microsoft.com/office/drawing/2014/main" id="{5480AABC-569D-4692-A9B8-76B274ED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¿Qué debe cumplirse?</a:t>
            </a:r>
          </a:p>
        </p:txBody>
      </p:sp>
      <p:sp>
        <p:nvSpPr>
          <p:cNvPr id="7" name="application-rule-0">
            <a:extLst xmlns:a="http://schemas.openxmlformats.org/drawingml/2006/main">
              <a:ext uri="{FF2B5EF4-FFF2-40B4-BE49-F238E27FC236}">
                <a16:creationId xmlns:a16="http://schemas.microsoft.com/office/drawing/2014/main" id="{9097DE38-ED9F-40C4-94C3-D256985E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8" name="application-circle-1">
            <a:extLst xmlns:a="http://schemas.openxmlformats.org/drawingml/2006/main">
              <a:ext uri="{FF2B5EF4-FFF2-40B4-BE49-F238E27FC236}">
                <a16:creationId xmlns:a16="http://schemas.microsoft.com/office/drawing/2014/main" id="{82586845-E483-405C-8255-B07BDDD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9" name="application-num-1">
            <a:extLst xmlns:a="http://schemas.openxmlformats.org/drawingml/2006/main">
              <a:ext uri="{FF2B5EF4-FFF2-40B4-BE49-F238E27FC236}">
                <a16:creationId xmlns:a16="http://schemas.microsoft.com/office/drawing/2014/main" id="{247B3137-7E16-49CD-B7D4-6E0B85DF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application-label-1">
            <a:extLst xmlns:a="http://schemas.openxmlformats.org/drawingml/2006/main">
              <a:ext uri="{FF2B5EF4-FFF2-40B4-BE49-F238E27FC236}">
                <a16:creationId xmlns:a16="http://schemas.microsoft.com/office/drawing/2014/main" id="{BC1DB03A-7EAF-4C12-87A8-12E64BC8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Escenario</a:t>
            </a:r>
          </a:p>
        </p:txBody>
      </p:sp>
      <p:sp>
        <p:nvSpPr>
          <p:cNvPr id="11" name="application-question-1">
            <a:extLst xmlns:a="http://schemas.openxmlformats.org/drawingml/2006/main">
              <a:ext uri="{FF2B5EF4-FFF2-40B4-BE49-F238E27FC236}">
                <a16:creationId xmlns:a16="http://schemas.microsoft.com/office/drawing/2014/main" id="{69BAEAF1-1231-4337-94C7-09C2DF0B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¿Bajo qué condiciones?</a:t>
            </a:r>
          </a:p>
        </p:txBody>
      </p:sp>
      <p:sp>
        <p:nvSpPr>
          <p:cNvPr id="12" name="application-rule-1">
            <a:extLst xmlns:a="http://schemas.openxmlformats.org/drawingml/2006/main">
              <a:ext uri="{FF2B5EF4-FFF2-40B4-BE49-F238E27FC236}">
                <a16:creationId xmlns:a16="http://schemas.microsoft.com/office/drawing/2014/main" id="{80C034D4-42FD-4BB7-BEC4-272005E8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194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3" name="application-circle-2">
            <a:extLst xmlns:a="http://schemas.openxmlformats.org/drawingml/2006/main">
              <a:ext uri="{FF2B5EF4-FFF2-40B4-BE49-F238E27FC236}">
                <a16:creationId xmlns:a16="http://schemas.microsoft.com/office/drawing/2014/main" id="{07C134B3-F104-4FA5-A780-A946341A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application-num-2">
            <a:extLst xmlns:a="http://schemas.openxmlformats.org/drawingml/2006/main">
              <a:ext uri="{FF2B5EF4-FFF2-40B4-BE49-F238E27FC236}">
                <a16:creationId xmlns:a16="http://schemas.microsoft.com/office/drawing/2014/main" id="{AEB7A8B0-13E6-4638-B75A-D4A06FC0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application-label-2">
            <a:extLst xmlns:a="http://schemas.openxmlformats.org/drawingml/2006/main">
              <a:ext uri="{FF2B5EF4-FFF2-40B4-BE49-F238E27FC236}">
                <a16:creationId xmlns:a16="http://schemas.microsoft.com/office/drawing/2014/main" id="{130B0EF8-06E1-40D2-B02A-5D4C4A1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16" name="application-question-2">
            <a:extLst xmlns:a="http://schemas.openxmlformats.org/drawingml/2006/main">
              <a:ext uri="{FF2B5EF4-FFF2-40B4-BE49-F238E27FC236}">
                <a16:creationId xmlns:a16="http://schemas.microsoft.com/office/drawing/2014/main" id="{19DF3E84-0D47-4599-911F-472CAFC7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86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¿En qué nivel conviene observarlo?</a:t>
            </a:r>
          </a:p>
        </p:txBody>
      </p:sp>
      <p:sp>
        <p:nvSpPr>
          <p:cNvPr id="17" name="application-rule-2">
            <a:extLst xmlns:a="http://schemas.openxmlformats.org/drawingml/2006/main">
              <a:ext uri="{FF2B5EF4-FFF2-40B4-BE49-F238E27FC236}">
                <a16:creationId xmlns:a16="http://schemas.microsoft.com/office/drawing/2014/main" id="{BEB91F4D-5157-46C8-8FE9-036C7D4A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18" name="application-circle-3">
            <a:extLst xmlns:a="http://schemas.openxmlformats.org/drawingml/2006/main">
              <a:ext uri="{FF2B5EF4-FFF2-40B4-BE49-F238E27FC236}">
                <a16:creationId xmlns:a16="http://schemas.microsoft.com/office/drawing/2014/main" id="{75B2F9D4-85F3-440E-8832-4E4A21A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9" name="application-num-3">
            <a:extLst xmlns:a="http://schemas.openxmlformats.org/drawingml/2006/main">
              <a:ext uri="{FF2B5EF4-FFF2-40B4-BE49-F238E27FC236}">
                <a16:creationId xmlns:a16="http://schemas.microsoft.com/office/drawing/2014/main" id="{520C4C33-3601-4485-ACC1-175B94F2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application-label-3">
            <a:extLst xmlns:a="http://schemas.openxmlformats.org/drawingml/2006/main">
              <a:ext uri="{FF2B5EF4-FFF2-40B4-BE49-F238E27FC236}">
                <a16:creationId xmlns:a16="http://schemas.microsoft.com/office/drawing/2014/main" id="{6E60BEFA-87BA-475D-B944-83067419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Evidencia</a:t>
            </a:r>
          </a:p>
        </p:txBody>
      </p:sp>
      <p:sp>
        <p:nvSpPr>
          <p:cNvPr id="21" name="application-question-3">
            <a:extLst xmlns:a="http://schemas.openxmlformats.org/drawingml/2006/main">
              <a:ext uri="{FF2B5EF4-FFF2-40B4-BE49-F238E27FC236}">
                <a16:creationId xmlns:a16="http://schemas.microsoft.com/office/drawing/2014/main" id="{F8A7C2CA-AA98-4D58-A268-F6A5DB07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¿Qué resultado demuestra el cumplimiento?</a:t>
            </a:r>
          </a:p>
        </p:txBody>
      </p:sp>
      <p:sp>
        <p:nvSpPr>
          <p:cNvPr id="22" name="application-rule-3">
            <a:extLst xmlns:a="http://schemas.openxmlformats.org/drawingml/2006/main">
              <a:ext uri="{FF2B5EF4-FFF2-40B4-BE49-F238E27FC236}">
                <a16:creationId xmlns:a16="http://schemas.microsoft.com/office/drawing/2014/main" id="{94F352D7-C140-49F6-B0BE-F2FEA45A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3" name="application-circle-4">
            <a:extLst xmlns:a="http://schemas.openxmlformats.org/drawingml/2006/main">
              <a:ext uri="{FF2B5EF4-FFF2-40B4-BE49-F238E27FC236}">
                <a16:creationId xmlns:a16="http://schemas.microsoft.com/office/drawing/2014/main" id="{9BD190FB-1323-49E6-B1B1-7D0AC6F9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solidFill>
              <a:srgbClr val="183B56"/>
            </a:solidFill>
            <a:prstDash val="solid"/>
          </a:ln>
        </p:spPr>
      </p:sp>
      <p:sp>
        <p:nvSpPr>
          <p:cNvPr id="24" name="application-num-4">
            <a:extLst xmlns:a="http://schemas.openxmlformats.org/drawingml/2006/main">
              <a:ext uri="{FF2B5EF4-FFF2-40B4-BE49-F238E27FC236}">
                <a16:creationId xmlns:a16="http://schemas.microsoft.com/office/drawing/2014/main" id="{7CB4DDAA-BD52-4C43-8E0A-A747DFF8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application-label-4">
            <a:extLst xmlns:a="http://schemas.openxmlformats.org/drawingml/2006/main">
              <a:ext uri="{FF2B5EF4-FFF2-40B4-BE49-F238E27FC236}">
                <a16:creationId xmlns:a16="http://schemas.microsoft.com/office/drawing/2014/main" id="{3D9502C4-1980-404C-B250-DB1D7737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Regresión</a:t>
            </a:r>
          </a:p>
        </p:txBody>
      </p:sp>
      <p:sp>
        <p:nvSpPr>
          <p:cNvPr id="26" name="application-question-4">
            <a:extLst xmlns:a="http://schemas.openxmlformats.org/drawingml/2006/main">
              <a:ext uri="{FF2B5EF4-FFF2-40B4-BE49-F238E27FC236}">
                <a16:creationId xmlns:a16="http://schemas.microsoft.com/office/drawing/2014/main" id="{177A863A-F518-4456-9BE5-29960198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57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¿Cuándo debe repetirse?</a:t>
            </a:r>
          </a:p>
        </p:txBody>
      </p:sp>
      <p:sp>
        <p:nvSpPr>
          <p:cNvPr id="27" name="application-rule-4">
            <a:extLst xmlns:a="http://schemas.openxmlformats.org/drawingml/2006/main">
              <a:ext uri="{FF2B5EF4-FFF2-40B4-BE49-F238E27FC236}">
                <a16:creationId xmlns:a16="http://schemas.microsoft.com/office/drawing/2014/main" id="{A7E562CA-1D8B-45BC-B18E-5FA08DF4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28" name="application-template">
            <a:extLst xmlns:a="http://schemas.openxmlformats.org/drawingml/2006/main">
              <a:ext uri="{FF2B5EF4-FFF2-40B4-BE49-F238E27FC236}">
                <a16:creationId xmlns:a16="http://schemas.microsoft.com/office/drawing/2014/main" id="{B630C8E3-51F4-4DA7-8A80-2AAC8214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14500"/>
            <a:ext cx="3619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9" name="application-template-title">
            <a:extLst xmlns:a="http://schemas.openxmlformats.org/drawingml/2006/main">
              <a:ext uri="{FF2B5EF4-FFF2-40B4-BE49-F238E27FC236}">
                <a16:creationId xmlns:a16="http://schemas.microsoft.com/office/drawing/2014/main" id="{BE6F7BBA-0D04-49D9-AA5F-B12053F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Plantilla mínima</a:t>
            </a:r>
          </a:p>
        </p:txBody>
      </p:sp>
      <p:sp>
        <p:nvSpPr>
          <p:cNvPr id="30" name="application-template-body">
            <a:extLst xmlns:a="http://schemas.openxmlformats.org/drawingml/2006/main">
              <a:ext uri="{FF2B5EF4-FFF2-40B4-BE49-F238E27FC236}">
                <a16:creationId xmlns:a16="http://schemas.microsoft.com/office/drawing/2014/main" id="{8482D571-21E7-4C20-89C9-8E6942E7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28956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Requisito: 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Condiciones: 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Datos: 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Resultado esperado: 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Nivel: unitaria / integración / aceptación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Regresión: repetir cuando …</a:t>
            </a:r>
          </a:p>
        </p:txBody>
      </p:sp>
      <p:sp>
        <p:nvSpPr>
          <p:cNvPr id="31" name="application-template-rule">
            <a:extLst xmlns:a="http://schemas.openxmlformats.org/drawingml/2006/main">
              <a:ext uri="{FF2B5EF4-FFF2-40B4-BE49-F238E27FC236}">
                <a16:creationId xmlns:a16="http://schemas.microsoft.com/office/drawing/2014/main" id="{9EE8D15E-A3EA-41A5-95F8-315F12A2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32" name="application-template-close">
            <a:extLst xmlns:a="http://schemas.openxmlformats.org/drawingml/2006/main">
              <a:ext uri="{FF2B5EF4-FFF2-40B4-BE49-F238E27FC236}">
                <a16:creationId xmlns:a16="http://schemas.microsoft.com/office/drawing/2014/main" id="{879DE23E-4EB6-43B5-8F5A-51F7755A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0ED"/>
                </a:solidFill>
                <a:latin typeface="Arial"/>
                <a:ea typeface="Arial"/>
                <a:cs typeface="Arial"/>
              </a:rPr>
              <a:t>Una prueba útil deja una decisión respaldada.</a:t>
            </a:r>
          </a:p>
        </p:txBody>
      </p:sp>
      <p:sp>
        <p:nvSpPr>
          <p:cNvPr id="33" name="application-close">
            <a:extLst xmlns:a="http://schemas.openxmlformats.org/drawingml/2006/main">
              <a:ext uri="{FF2B5EF4-FFF2-40B4-BE49-F238E27FC236}">
                <a16:creationId xmlns:a16="http://schemas.microsoft.com/office/drawing/2014/main" id="{7B6F2F12-FE90-488F-BDAA-6345CB71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solidFill>
              <a:srgbClr val="183B56"/>
            </a:solidFill>
            <a:prstDash val="solid"/>
          </a:ln>
        </p:spPr>
      </p:sp>
      <p:sp>
        <p:nvSpPr>
          <p:cNvPr id="34" name="application-close-text">
            <a:extLst xmlns:a="http://schemas.openxmlformats.org/drawingml/2006/main">
              <a:ext uri="{FF2B5EF4-FFF2-40B4-BE49-F238E27FC236}">
                <a16:creationId xmlns:a16="http://schemas.microsoft.com/office/drawing/2014/main" id="{19DA4597-B724-4546-BDF2-92A4425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Requisitos + arquitectura + cambios → evidencia verificable</a:t>
            </a:r>
          </a:p>
        </p:txBody>
      </p:sp>
      <p:sp>
        <p:nvSpPr>
          <p:cNvPr id="35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2DB16F79-C17A-4D60-8F3E-5342A6A3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36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663BB4B3-9F1A-4FEF-9ECB-82032399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ADS2 · Laboratorio · Semana 8</a:t>
            </a:r>
          </a:p>
        </p:txBody>
      </p:sp>
      <p:sp>
        <p:nvSpPr>
          <p:cNvPr id="37" name="footer-number-15">
            <a:extLst xmlns:a="http://schemas.openxmlformats.org/drawingml/2006/main">
              <a:ext uri="{FF2B5EF4-FFF2-40B4-BE49-F238E27FC236}">
                <a16:creationId xmlns:a16="http://schemas.microsoft.com/office/drawing/2014/main" id="{5BC8325B-EA37-4A8B-B844-BCDD66D5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25872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2026-09-03T16:42:15.7570000Z</dcterms:created>
  <dcterms:modified xsi:type="dcterms:W3CDTF">2026-09-03T16:42:15.7570000Z</dcterms:modified>
</coreProperties>
</file>