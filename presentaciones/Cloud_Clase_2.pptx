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80e797beb314c1a" /><Relationship Type="http://schemas.openxmlformats.org/officeDocument/2006/relationships/extended-properties" Target="/docProps/app.xml" Id="R03f884904a2c4afc" /><Relationship Type="http://schemas.openxmlformats.org/officeDocument/2006/relationships/officeDocument" Target="/ppt/presentation.xml" Id="R45ed8892e92343aa" /></Relationships>
</file>

<file path=ppt/presentation.xml><?xml version="1.0" encoding="utf-8"?>
<p:presentation xmlns:p="http://schemas.openxmlformats.org/presentationml/2006/main">
  <p:sldMasterIdLst>
    <p:sldMasterId xmlns:r="http://schemas.openxmlformats.org/officeDocument/2006/relationships" id="2147483648" r:id="R6f3c2e2bb9564d4d"/>
  </p:sldMasterIdLst>
  <p:notesMasterIdLst>
    <p:notesMasterId xmlns:r="http://schemas.openxmlformats.org/officeDocument/2006/relationships" r:id="R9c5de9dbfeb24dbe"/>
  </p:notesMasterIdLst>
  <p:sldIdLst>
    <p:sldId xmlns:r="http://schemas.openxmlformats.org/officeDocument/2006/relationships" id="256" r:id="Rf8d87c78ee734bc7"/>
    <p:sldId xmlns:r="http://schemas.openxmlformats.org/officeDocument/2006/relationships" id="257" r:id="R2ea0e5a91b8143e4"/>
    <p:sldId xmlns:r="http://schemas.openxmlformats.org/officeDocument/2006/relationships" id="258" r:id="R7bd5561e79884ac8"/>
    <p:sldId xmlns:r="http://schemas.openxmlformats.org/officeDocument/2006/relationships" id="259" r:id="R2aef7efa321e4d0d"/>
    <p:sldId xmlns:r="http://schemas.openxmlformats.org/officeDocument/2006/relationships" id="260" r:id="R4344378f43d74386"/>
    <p:sldId xmlns:r="http://schemas.openxmlformats.org/officeDocument/2006/relationships" id="261" r:id="R5f36ba5495074db4"/>
    <p:sldId xmlns:r="http://schemas.openxmlformats.org/officeDocument/2006/relationships" id="262" r:id="R812f26a84ef94ded"/>
    <p:sldId xmlns:r="http://schemas.openxmlformats.org/officeDocument/2006/relationships" id="263" r:id="R1dd83e3c696d4e33"/>
    <p:sldId xmlns:r="http://schemas.openxmlformats.org/officeDocument/2006/relationships" id="264" r:id="Rb6e6cde93cde43ef"/>
    <p:sldId xmlns:r="http://schemas.openxmlformats.org/officeDocument/2006/relationships" id="265" r:id="Rc34daf23fcce4ae1"/>
    <p:sldId xmlns:r="http://schemas.openxmlformats.org/officeDocument/2006/relationships" id="266" r:id="Ra5bb6b7f556f4ea8"/>
    <p:sldId xmlns:r="http://schemas.openxmlformats.org/officeDocument/2006/relationships" id="267" r:id="Rc6500919868249c2"/>
    <p:sldId xmlns:r="http://schemas.openxmlformats.org/officeDocument/2006/relationships" id="268" r:id="R105a2cf1614b4d6f"/>
    <p:sldId xmlns:r="http://schemas.openxmlformats.org/officeDocument/2006/relationships" id="269" r:id="R9b40c70a9fcd463f"/>
    <p:sldId xmlns:r="http://schemas.openxmlformats.org/officeDocument/2006/relationships" id="270" r:id="Rfe88738a51c74abb"/>
    <p:sldId xmlns:r="http://schemas.openxmlformats.org/officeDocument/2006/relationships" id="271" r:id="R69f6c064ce6f43b7"/>
    <p:sldId xmlns:r="http://schemas.openxmlformats.org/officeDocument/2006/relationships" id="272" r:id="R6e9f5fefeecc4b62"/>
    <p:sldId xmlns:r="http://schemas.openxmlformats.org/officeDocument/2006/relationships" id="273" r:id="Rc53229513c364ff5"/>
    <p:sldId xmlns:r="http://schemas.openxmlformats.org/officeDocument/2006/relationships" id="274" r:id="R9a52d9bd89304892"/>
    <p:sldId xmlns:r="http://schemas.openxmlformats.org/officeDocument/2006/relationships" id="275" r:id="R4d0708f27c374baa"/>
    <p:sldId xmlns:r="http://schemas.openxmlformats.org/officeDocument/2006/relationships" id="276" r:id="R720e1692356043f5"/>
    <p:sldId xmlns:r="http://schemas.openxmlformats.org/officeDocument/2006/relationships" id="277" r:id="R125b7255e8be401e"/>
    <p:sldId xmlns:r="http://schemas.openxmlformats.org/officeDocument/2006/relationships" id="278" r:id="Refc60afd37f748e0"/>
    <p:sldId xmlns:r="http://schemas.openxmlformats.org/officeDocument/2006/relationships" id="279" r:id="R2b86834caf3d4a2e"/>
    <p:sldId xmlns:r="http://schemas.openxmlformats.org/officeDocument/2006/relationships" id="280" r:id="Rb7f707a3f685455f"/>
    <p:sldId xmlns:r="http://schemas.openxmlformats.org/officeDocument/2006/relationships" id="281" r:id="R1d01572366cc4e12"/>
    <p:sldId xmlns:r="http://schemas.openxmlformats.org/officeDocument/2006/relationships" id="282" r:id="R84775209a6564878"/>
    <p:sldId xmlns:r="http://schemas.openxmlformats.org/officeDocument/2006/relationships" id="283" r:id="Ra35f291eb5844ab0"/>
    <p:sldId xmlns:r="http://schemas.openxmlformats.org/officeDocument/2006/relationships" id="284" r:id="R444b32f382a34ed6"/>
    <p:sldId xmlns:r="http://schemas.openxmlformats.org/officeDocument/2006/relationships" id="285" r:id="R7fc33c9e64e14a51"/>
    <p:sldId xmlns:r="http://schemas.openxmlformats.org/officeDocument/2006/relationships" id="286" r:id="Ra77c6af5bcb54809"/>
    <p:sldId xmlns:r="http://schemas.openxmlformats.org/officeDocument/2006/relationships" id="287" r:id="Rcf15cca2bfb64d48"/>
    <p:sldId xmlns:r="http://schemas.openxmlformats.org/officeDocument/2006/relationships" id="288" r:id="R1e24dc4ea3884674"/>
    <p:sldId xmlns:r="http://schemas.openxmlformats.org/officeDocument/2006/relationships" id="289" r:id="Rcb65932355c64fa2"/>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8fb4fe2d6ab4a89" /><Relationship Type="http://schemas.openxmlformats.org/officeDocument/2006/relationships/slideMaster" Target="/ppt/slideMasters/slideMaster1.xml" Id="R6f3c2e2bb9564d4d" /><Relationship Type="http://schemas.openxmlformats.org/officeDocument/2006/relationships/notesMaster" Target="/ppt/notesMasters/notesMaster1.xml" Id="R9c5de9dbfeb24dbe" /><Relationship Type="http://schemas.openxmlformats.org/officeDocument/2006/relationships/presProps" Target="/ppt/presProps.xml" Id="Re8eef2caba764ea6" /><Relationship Type="http://schemas.openxmlformats.org/officeDocument/2006/relationships/tableStyles" Target="/ppt/tableStyles.xml" Id="Rf57753810bb04195" /><Relationship Type="http://schemas.openxmlformats.org/officeDocument/2006/relationships/slide" Target="/ppt/slides/slide1.xml" Id="Rf8d87c78ee734bc7" /><Relationship Type="http://schemas.openxmlformats.org/officeDocument/2006/relationships/slide" Target="/ppt/slides/slide2.xml" Id="R2ea0e5a91b8143e4" /><Relationship Type="http://schemas.openxmlformats.org/officeDocument/2006/relationships/slide" Target="/ppt/slides/slide3.xml" Id="R7bd5561e79884ac8" /><Relationship Type="http://schemas.openxmlformats.org/officeDocument/2006/relationships/slide" Target="/ppt/slides/slide4.xml" Id="R2aef7efa321e4d0d" /><Relationship Type="http://schemas.openxmlformats.org/officeDocument/2006/relationships/slide" Target="/ppt/slides/slide5.xml" Id="R4344378f43d74386" /><Relationship Type="http://schemas.openxmlformats.org/officeDocument/2006/relationships/slide" Target="/ppt/slides/slide6.xml" Id="R5f36ba5495074db4" /><Relationship Type="http://schemas.openxmlformats.org/officeDocument/2006/relationships/slide" Target="/ppt/slides/slide7.xml" Id="R812f26a84ef94ded" /><Relationship Type="http://schemas.openxmlformats.org/officeDocument/2006/relationships/slide" Target="/ppt/slides/slide8.xml" Id="R1dd83e3c696d4e33" /><Relationship Type="http://schemas.openxmlformats.org/officeDocument/2006/relationships/slide" Target="/ppt/slides/slide9.xml" Id="Rb6e6cde93cde43ef" /><Relationship Type="http://schemas.openxmlformats.org/officeDocument/2006/relationships/slide" Target="/ppt/slides/slide10.xml" Id="Rc34daf23fcce4ae1" /><Relationship Type="http://schemas.openxmlformats.org/officeDocument/2006/relationships/slide" Target="/ppt/slides/slide11.xml" Id="Ra5bb6b7f556f4ea8" /><Relationship Type="http://schemas.openxmlformats.org/officeDocument/2006/relationships/slide" Target="/ppt/slides/slide12.xml" Id="Rc6500919868249c2" /><Relationship Type="http://schemas.openxmlformats.org/officeDocument/2006/relationships/slide" Target="/ppt/slides/slide13.xml" Id="R105a2cf1614b4d6f" /><Relationship Type="http://schemas.openxmlformats.org/officeDocument/2006/relationships/slide" Target="/ppt/slides/slide14.xml" Id="R9b40c70a9fcd463f" /><Relationship Type="http://schemas.openxmlformats.org/officeDocument/2006/relationships/slide" Target="/ppt/slides/slide15.xml" Id="Rfe88738a51c74abb" /><Relationship Type="http://schemas.openxmlformats.org/officeDocument/2006/relationships/slide" Target="/ppt/slides/slide16.xml" Id="R69f6c064ce6f43b7" /><Relationship Type="http://schemas.openxmlformats.org/officeDocument/2006/relationships/slide" Target="/ppt/slides/slide17.xml" Id="R6e9f5fefeecc4b62" /><Relationship Type="http://schemas.openxmlformats.org/officeDocument/2006/relationships/slide" Target="/ppt/slides/slide18.xml" Id="Rc53229513c364ff5" /><Relationship Type="http://schemas.openxmlformats.org/officeDocument/2006/relationships/slide" Target="/ppt/slides/slide19.xml" Id="R9a52d9bd89304892" /><Relationship Type="http://schemas.openxmlformats.org/officeDocument/2006/relationships/slide" Target="/ppt/slides/slide20.xml" Id="R4d0708f27c374baa" /><Relationship Type="http://schemas.openxmlformats.org/officeDocument/2006/relationships/slide" Target="/ppt/slides/slide21.xml" Id="R720e1692356043f5" /><Relationship Type="http://schemas.openxmlformats.org/officeDocument/2006/relationships/slide" Target="/ppt/slides/slide22.xml" Id="R125b7255e8be401e" /><Relationship Type="http://schemas.openxmlformats.org/officeDocument/2006/relationships/slide" Target="/ppt/slides/slide23.xml" Id="Refc60afd37f748e0" /><Relationship Type="http://schemas.openxmlformats.org/officeDocument/2006/relationships/slide" Target="/ppt/slides/slide24.xml" Id="R2b86834caf3d4a2e" /><Relationship Type="http://schemas.openxmlformats.org/officeDocument/2006/relationships/slide" Target="/ppt/slides/slide25.xml" Id="Rb7f707a3f685455f" /><Relationship Type="http://schemas.openxmlformats.org/officeDocument/2006/relationships/slide" Target="/ppt/slides/slide26.xml" Id="R1d01572366cc4e12" /><Relationship Type="http://schemas.openxmlformats.org/officeDocument/2006/relationships/slide" Target="/ppt/slides/slide27.xml" Id="R84775209a6564878" /><Relationship Type="http://schemas.openxmlformats.org/officeDocument/2006/relationships/slide" Target="/ppt/slides/slide28.xml" Id="Ra35f291eb5844ab0" /><Relationship Type="http://schemas.openxmlformats.org/officeDocument/2006/relationships/slide" Target="/ppt/slides/slide29.xml" Id="R444b32f382a34ed6" /><Relationship Type="http://schemas.openxmlformats.org/officeDocument/2006/relationships/slide" Target="/ppt/slides/slide30.xml" Id="R7fc33c9e64e14a51" /><Relationship Type="http://schemas.openxmlformats.org/officeDocument/2006/relationships/slide" Target="/ppt/slides/slide31.xml" Id="Ra77c6af5bcb54809" /><Relationship Type="http://schemas.openxmlformats.org/officeDocument/2006/relationships/slide" Target="/ppt/slides/slide32.xml" Id="Rcf15cca2bfb64d48" /><Relationship Type="http://schemas.openxmlformats.org/officeDocument/2006/relationships/slide" Target="/ppt/slides/slide33.xml" Id="R1e24dc4ea3884674" /><Relationship Type="http://schemas.openxmlformats.org/officeDocument/2006/relationships/slide" Target="/ppt/slides/slide34.xml" Id="Rcb65932355c64fa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7d4d044b5d947e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9a7be67e4fa4859" /><Relationship Type="http://schemas.openxmlformats.org/officeDocument/2006/relationships/notesMaster" Target="/ppt/notesMasters/notesMaster1.xml" Id="Rcf04f170f6f54366" /></Relationships>
</file>

<file path=ppt/notesSlides/_rels/notesSlide2.xml.rels>&#65279;<?xml version="1.0" encoding="utf-8"?><Relationships xmlns="http://schemas.openxmlformats.org/package/2006/relationships"><Relationship Type="http://schemas.openxmlformats.org/officeDocument/2006/relationships/slide" Target="/ppt/slides/slide2.xml" Id="R6a2d197029ad494a" /><Relationship Type="http://schemas.openxmlformats.org/officeDocument/2006/relationships/notesMaster" Target="/ppt/notesMasters/notesMaster1.xml" Id="Rda3a321a0ed84b2f" /></Relationships>
</file>

<file path=ppt/notesSlides/_rels/notesSlide3.xml.rels>&#65279;<?xml version="1.0" encoding="utf-8"?><Relationships xmlns="http://schemas.openxmlformats.org/package/2006/relationships"><Relationship Type="http://schemas.openxmlformats.org/officeDocument/2006/relationships/slide" Target="/ppt/slides/slide3.xml" Id="R94c8589ad97b4f22" /><Relationship Type="http://schemas.openxmlformats.org/officeDocument/2006/relationships/notesMaster" Target="/ppt/notesMasters/notesMaster1.xml" Id="R584cfb1980d242f0" /></Relationships>
</file>

<file path=ppt/notesSlides/_rels/notesSlide4.xml.rels>&#65279;<?xml version="1.0" encoding="utf-8"?><Relationships xmlns="http://schemas.openxmlformats.org/package/2006/relationships"><Relationship Type="http://schemas.openxmlformats.org/officeDocument/2006/relationships/slide" Target="/ppt/slides/slide4.xml" Id="Ree16341e84824ab4" /><Relationship Type="http://schemas.openxmlformats.org/officeDocument/2006/relationships/notesMaster" Target="/ppt/notesMasters/notesMaster1.xml" Id="R1bc90afc4a5048b6" /></Relationships>
</file>

<file path=ppt/notesSlides/_rels/notesSlide5.xml.rels>&#65279;<?xml version="1.0" encoding="utf-8"?><Relationships xmlns="http://schemas.openxmlformats.org/package/2006/relationships"><Relationship Type="http://schemas.openxmlformats.org/officeDocument/2006/relationships/slide" Target="/ppt/slides/slide5.xml" Id="Re0606f5802a34ae5" /><Relationship Type="http://schemas.openxmlformats.org/officeDocument/2006/relationships/notesMaster" Target="/ppt/notesMasters/notesMaster1.xml" Id="R8dbbc84a96a84bd1" /></Relationships>
</file>

<file path=ppt/notesSlides/_rels/notesSlide6.xml.rels>&#65279;<?xml version="1.0" encoding="utf-8"?><Relationships xmlns="http://schemas.openxmlformats.org/package/2006/relationships"><Relationship Type="http://schemas.openxmlformats.org/officeDocument/2006/relationships/slide" Target="/ppt/slides/slide6.xml" Id="R6e9d312d620b45ee" /><Relationship Type="http://schemas.openxmlformats.org/officeDocument/2006/relationships/notesMaster" Target="/ppt/notesMasters/notesMaster1.xml" Id="R290ab83659984862" /></Relationships>
</file>

<file path=ppt/notesSlides/_rels/notesSlide7.xml.rels>&#65279;<?xml version="1.0" encoding="utf-8"?><Relationships xmlns="http://schemas.openxmlformats.org/package/2006/relationships"><Relationship Type="http://schemas.openxmlformats.org/officeDocument/2006/relationships/slide" Target="/ppt/slides/slide7.xml" Id="R59d91b8e11924566" /><Relationship Type="http://schemas.openxmlformats.org/officeDocument/2006/relationships/notesMaster" Target="/ppt/notesMasters/notesMaster1.xml" Id="R246049f653d544fa" /></Relationships>
</file>

<file path=ppt/notesSlides/_rels/notesSlide8.xml.rels>&#65279;<?xml version="1.0" encoding="utf-8"?><Relationships xmlns="http://schemas.openxmlformats.org/package/2006/relationships"><Relationship Type="http://schemas.openxmlformats.org/officeDocument/2006/relationships/slide" Target="/ppt/slides/slide8.xml" Id="R04956f9b54c7498c" /><Relationship Type="http://schemas.openxmlformats.org/officeDocument/2006/relationships/notesMaster" Target="/ppt/notesMasters/notesMaster1.xml" Id="R4003b6264e384076" /></Relationships>
</file>

<file path=ppt/notesSlides/_rels/notesSlide9.xml.rels>&#65279;<?xml version="1.0" encoding="utf-8"?><Relationships xmlns="http://schemas.openxmlformats.org/package/2006/relationships"><Relationship Type="http://schemas.openxmlformats.org/officeDocument/2006/relationships/slide" Target="/ppt/slides/slide9.xml" Id="R0b02b29898354eae" /><Relationship Type="http://schemas.openxmlformats.org/officeDocument/2006/relationships/notesMaster" Target="/ppt/notesMasters/notesMaster1.xml" Id="Re92ed0c3e37c4ed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dc882e1dbea4a36" /><Relationship Type="http://schemas.openxmlformats.org/officeDocument/2006/relationships/notesMaster" Target="/ppt/notesMasters/notesMaster1.xml" Id="Rf2f27136cac048a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fb2ce6d38f045bd" /><Relationship Type="http://schemas.openxmlformats.org/officeDocument/2006/relationships/notesMaster" Target="/ppt/notesMasters/notesMaster1.xml" Id="R6b5881842e504b2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ed8e04788d34265" /><Relationship Type="http://schemas.openxmlformats.org/officeDocument/2006/relationships/notesMaster" Target="/ppt/notesMasters/notesMaster1.xml" Id="R13055afbf6a24cc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ba63b44ed4e46e8" /><Relationship Type="http://schemas.openxmlformats.org/officeDocument/2006/relationships/notesMaster" Target="/ppt/notesMasters/notesMaster1.xml" Id="R9bc567dd71e34e5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c730747932f4df2" /><Relationship Type="http://schemas.openxmlformats.org/officeDocument/2006/relationships/notesMaster" Target="/ppt/notesMasters/notesMaster1.xml" Id="Rd4847b0ad2ac402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2e24b2ced22416b" /><Relationship Type="http://schemas.openxmlformats.org/officeDocument/2006/relationships/notesMaster" Target="/ppt/notesMasters/notesMaster1.xml" Id="Rab1e35075ee84a9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d1db529ac8b4ef2" /><Relationship Type="http://schemas.openxmlformats.org/officeDocument/2006/relationships/notesMaster" Target="/ppt/notesMasters/notesMaster1.xml" Id="R1985ec781fe544f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b967d55b5a048c5" /><Relationship Type="http://schemas.openxmlformats.org/officeDocument/2006/relationships/notesMaster" Target="/ppt/notesMasters/notesMaster1.xml" Id="Re2bd91427ece42b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b06205992ab417b" /><Relationship Type="http://schemas.openxmlformats.org/officeDocument/2006/relationships/notesMaster" Target="/ppt/notesMasters/notesMaster1.xml" Id="R6bf2e4257843477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654884c31de4e75" /><Relationship Type="http://schemas.openxmlformats.org/officeDocument/2006/relationships/notesMaster" Target="/ppt/notesMasters/notesMaster1.xml" Id="R44807e54f07d41c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0c861a2cdc74e69" /><Relationship Type="http://schemas.openxmlformats.org/officeDocument/2006/relationships/notesMaster" Target="/ppt/notesMasters/notesMaster1.xml" Id="R0e09d385ff7e44f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b9aac936bac404e" /><Relationship Type="http://schemas.openxmlformats.org/officeDocument/2006/relationships/notesMaster" Target="/ppt/notesMasters/notesMaster1.xml" Id="Re4ae090535bf404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276e42580554448" /><Relationship Type="http://schemas.openxmlformats.org/officeDocument/2006/relationships/notesMaster" Target="/ppt/notesMasters/notesMaster1.xml" Id="Rc82202b6e0f943f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89713dcecd14a2e" /><Relationship Type="http://schemas.openxmlformats.org/officeDocument/2006/relationships/notesMaster" Target="/ppt/notesMasters/notesMaster1.xml" Id="R25a47c1d4568424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1cf362bee89416b" /><Relationship Type="http://schemas.openxmlformats.org/officeDocument/2006/relationships/notesMaster" Target="/ppt/notesMasters/notesMaster1.xml" Id="Rddc2ee5502964bf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fd3ae6c903e4f6d" /><Relationship Type="http://schemas.openxmlformats.org/officeDocument/2006/relationships/notesMaster" Target="/ppt/notesMasters/notesMaster1.xml" Id="R60b9dc2f32db405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71bc7499b3044af7" /><Relationship Type="http://schemas.openxmlformats.org/officeDocument/2006/relationships/notesMaster" Target="/ppt/notesMasters/notesMaster1.xml" Id="R523c464ea4f6430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43ecd0aa37fa4872" /><Relationship Type="http://schemas.openxmlformats.org/officeDocument/2006/relationships/notesMaster" Target="/ppt/notesMasters/notesMaster1.xml" Id="Rcbb2d98d8111441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8ec1780d4cc4443" /><Relationship Type="http://schemas.openxmlformats.org/officeDocument/2006/relationships/notesMaster" Target="/ppt/notesMasters/notesMaster1.xml" Id="R0552bdc2de8a4b4f"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95a9888e2d44857" /><Relationship Type="http://schemas.openxmlformats.org/officeDocument/2006/relationships/notesMaster" Target="/ppt/notesMasters/notesMaster1.xml" Id="Racbc51686b784bf1"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15bd623f2384642" /><Relationship Type="http://schemas.openxmlformats.org/officeDocument/2006/relationships/notesMaster" Target="/ppt/notesMasters/notesMaster1.xml" Id="R1304fc78a5d349ba"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6b9ae9729b74257" /><Relationship Type="http://schemas.openxmlformats.org/officeDocument/2006/relationships/notesMaster" Target="/ppt/notesMasters/notesMaster1.xml" Id="R9c31142878f047ad"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c74e7044078f4c44" /><Relationship Type="http://schemas.openxmlformats.org/officeDocument/2006/relationships/notesMaster" Target="/ppt/notesMasters/notesMaster1.xml" Id="Re3624dfe12364c0b"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d5842cc0c2804bd3" /><Relationship Type="http://schemas.openxmlformats.org/officeDocument/2006/relationships/notesMaster" Target="/ppt/notesMasters/notesMaster1.xml" Id="Rac508c2c117b42ac"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1041a54e32b34d24" /><Relationship Type="http://schemas.openxmlformats.org/officeDocument/2006/relationships/notesMaster" Target="/ppt/notesMasters/notesMaster1.xml" Id="Rafa34ff5eb184de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1 min · Ventana: 0–1 min</a:t>
            </a:r>
          </a:p>
          <a:p xmlns:a="http://schemas.openxmlformats.org/drawingml/2006/main">
            <a:r>
              <a:t/>
            </a:r>
          </a:p>
          <a:p xmlns:a="http://schemas.openxmlformats.org/drawingml/2006/main">
            <a:r>
              <a:t>Explicación sugerida</a:t>
            </a:r>
          </a:p>
          <a:p xmlns:a="http://schemas.openxmlformats.org/drawingml/2006/main">
            <a:r>
              <a:t>Esta sesión continúa los temas pendientes de la clase anterior. Ya vimos una publicación en una plataforma administrada; hoy retomamos la misma web y examinamos su operación sobre máquinas virtuales. La pregunta es cómo controlar el gasto y repetir un despliegue sin copiar configuraciones. El ejemplo ya está preparado: el objetivo de la demostración es leer sus decisiones y comprobar sus efectos, no escribir toda la infraestructura desde cero.</a:t>
            </a:r>
          </a:p>
          <a:p xmlns:a="http://schemas.openxmlformats.org/drawingml/2006/main">
            <a:r>
              <a:t/>
            </a:r>
          </a:p>
          <a:p xmlns:a="http://schemas.openxmlformats.org/drawingml/2006/main">
            <a:r>
              <a:t>Pregunta</a:t>
            </a:r>
          </a:p>
          <a:p xmlns:a="http://schemas.openxmlformats.org/drawingml/2006/main">
            <a:r>
              <a:t>¿Qué responsabilidades recuperamos al administrar nuestras propias VMs?</a:t>
            </a:r>
          </a:p>
          <a:p xmlns:a="http://schemas.openxmlformats.org/drawingml/2006/main">
            <a:r>
              <a:t/>
            </a:r>
          </a:p>
          <a:p xmlns:a="http://schemas.openxmlformats.org/drawingml/2006/main">
            <a:r>
              <a:t>Respuesta esperada</a:t>
            </a:r>
          </a:p>
          <a:p xmlns:a="http://schemas.openxmlformats.org/drawingml/2006/main">
            <a:r>
              <a:t>El sistema operativo, los paquetes, la configuración del servidor y la operación, además de la aplicación.</a:t>
            </a:r>
          </a:p>
          <a:p xmlns:a="http://schemas.openxmlformats.org/drawingml/2006/main">
            <a:r>
              <a:t/>
            </a:r>
          </a:p>
          <a:p xmlns:a="http://schemas.openxmlformats.org/drawingml/2006/main">
            <a:r>
              <a:t>Qué mostrar</a:t>
            </a:r>
          </a:p>
          <a:p xmlns:a="http://schemas.openxmlformats.org/drawingml/2006/main">
            <a:r>
              <a:t>Abrir la presentación y tener disponible ejemplos/cloud-clase-2/README.md.</a:t>
            </a:r>
          </a:p>
          <a:p xmlns:a="http://schemas.openxmlformats.org/drawingml/2006/main">
            <a:r>
              <a:t/>
            </a:r>
          </a:p>
          <a:p xmlns:a="http://schemas.openxmlformats.org/drawingml/2006/main">
            <a:r>
              <a:t>Transición</a:t>
            </a:r>
          </a:p>
          <a:p xmlns:a="http://schemas.openxmlformats.org/drawingml/2006/main">
            <a:r>
              <a:t>Primero, veamos la agenda y los avisos del curso.</a:t>
            </a:r>
          </a:p>
          <a:p xmlns:a="http://schemas.openxmlformats.org/drawingml/2006/main">
            <a:r>
              <a:t/>
            </a:r>
          </a:p>
          <a:p xmlns:a="http://schemas.openxmlformats.org/drawingml/2006/main">
            <a:r>
              <a:t>Fuentes</a:t>
            </a:r>
          </a:p>
          <a:p xmlns:a="http://schemas.openxmlformats.org/drawingml/2006/main">
            <a:r>
              <a:t>Ejemplo local: ejemplos/cloud-clase-2/ (inspeccionado el 15 de octubre de 2026).</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2 min · Ventana: 1–3 min</a:t>
            </a:r>
          </a:p>
          <a:p xmlns:a="http://schemas.openxmlformats.org/drawingml/2006/main">
            <a:r>
              <a:t/>
            </a:r>
          </a:p>
          <a:p xmlns:a="http://schemas.openxmlformats.org/drawingml/2006/main">
            <a:r>
              <a:t>Explicación sugerida</a:t>
            </a:r>
          </a:p>
          <a:p xmlns:a="http://schemas.openxmlformats.org/drawingml/2006/main">
            <a:r>
              <a:t>La sesión conserva cien minutos: diez de inicio, veinticinco para comparar costos reales y modelos de servicio, quince para Terraform, veinte para Ansible, veinticinco de demostración y cinco de cierre. La teoría utiliza el mismo ejemplo que se abrirá en terminal, por lo que parte de su recorrido ya se explica antes del bloque práctico. Las preguntas breves sirven para comprobar comprensión sin convertir cada diapositiva en una lectura extensa.</a:t>
            </a:r>
          </a:p>
          <a:p xmlns:a="http://schemas.openxmlformats.org/drawingml/2006/main">
            <a:r>
              <a:t/>
            </a:r>
          </a:p>
          <a:p xmlns:a="http://schemas.openxmlformats.org/drawingml/2006/main">
            <a:r>
              <a:t>Pregunta</a:t>
            </a:r>
          </a:p>
          <a:p xmlns:a="http://schemas.openxmlformats.org/drawingml/2006/main">
            <a:r>
              <a:t>¿Qué evidencia permitiría saber que una automatización es repetible?</a:t>
            </a:r>
          </a:p>
          <a:p xmlns:a="http://schemas.openxmlformats.org/drawingml/2006/main">
            <a:r>
              <a:t/>
            </a:r>
          </a:p>
          <a:p xmlns:a="http://schemas.openxmlformats.org/drawingml/2006/main">
            <a:r>
              <a:t>Respuesta esperada</a:t>
            </a:r>
          </a:p>
          <a:p xmlns:a="http://schemas.openxmlformats.org/drawingml/2006/main">
            <a:r>
              <a:t>Comparar el estado y los resultados de ejecuciones sucesivas bajo las mismas condiciones.</a:t>
            </a:r>
          </a:p>
          <a:p xmlns:a="http://schemas.openxmlformats.org/drawingml/2006/main">
            <a:r>
              <a:t/>
            </a:r>
          </a:p>
          <a:p xmlns:a="http://schemas.openxmlformats.org/drawingml/2006/main">
            <a:r>
              <a:t>Qué mostrar</a:t>
            </a:r>
          </a:p>
          <a:p xmlns:a="http://schemas.openxmlformats.org/drawingml/2006/main">
            <a:r>
              <a:t>Presentar los bloques y sus tiempos. No ejecutar herramientas todavía.</a:t>
            </a:r>
          </a:p>
          <a:p xmlns:a="http://schemas.openxmlformats.org/drawingml/2006/main">
            <a:r>
              <a:t/>
            </a:r>
          </a:p>
          <a:p xmlns:a="http://schemas.openxmlformats.org/drawingml/2006/main">
            <a:r>
              <a:t>Transición</a:t>
            </a:r>
          </a:p>
          <a:p xmlns:a="http://schemas.openxmlformats.org/drawingml/2006/main">
            <a:r>
              <a:t>Antes del contenido técnico, revisemos los anuncios importantes.</a:t>
            </a:r>
          </a:p>
          <a:p xmlns:a="http://schemas.openxmlformats.org/drawingml/2006/main">
            <a:r>
              <a:t/>
            </a:r>
          </a:p>
          <a:p xmlns:a="http://schemas.openxmlformats.org/drawingml/2006/main">
            <a:r>
              <a:t>Fuentes</a:t>
            </a:r>
          </a:p>
          <a:p xmlns:a="http://schemas.openxmlformats.org/drawingml/2006/main">
            <a:r>
              <a:t>Ejemplo local: ejemplos/cloud-clase-2/ (inspeccionado el 15 de octubre de 2026).</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4 min · Ventana: 3–7 min</a:t>
            </a:r>
          </a:p>
          <a:p xmlns:a="http://schemas.openxmlformats.org/drawingml/2006/main">
            <a:r>
              <a:t/>
            </a:r>
          </a:p>
          <a:p xmlns:a="http://schemas.openxmlformats.org/drawingml/2006/main">
            <a:r>
              <a:t>Explicación sugerida</a:t>
            </a:r>
          </a:p>
          <a:p xmlns:a="http://schemas.openxmlformats.org/drawingml/2006/main">
            <a:r>
              <a:t>Hacer una pausa para explicar los tres avisos: lectura de la práctica 2, lectura de la hoja de calificación de la fase 3 y horarios de calificación. Pedir que identifiquen dudas sobre lo que deben leer y sobre su participación en la calificación. Esta diapositiva funciona como recordatorio; las fechas, enlaces y franjas horarias se comunican oralmente o mediante el canal habitual del curso. No atribuir requisitos a documentos que no se están mostrando.</a:t>
            </a:r>
          </a:p>
          <a:p xmlns:a="http://schemas.openxmlformats.org/drawingml/2006/main">
            <a:r>
              <a:t/>
            </a:r>
          </a:p>
          <a:p xmlns:a="http://schemas.openxmlformats.org/drawingml/2006/main">
            <a:r>
              <a:t>Pregunta</a:t>
            </a:r>
          </a:p>
          <a:p xmlns:a="http://schemas.openxmlformats.org/drawingml/2006/main">
            <a:r>
              <a:t>¿Qué duda necesitan aclarar sobre las lecturas o los horarios?</a:t>
            </a:r>
          </a:p>
          <a:p xmlns:a="http://schemas.openxmlformats.org/drawingml/2006/main">
            <a:r>
              <a:t/>
            </a:r>
          </a:p>
          <a:p xmlns:a="http://schemas.openxmlformats.org/drawingml/2006/main">
            <a:r>
              <a:t>Respuesta esperada</a:t>
            </a:r>
          </a:p>
          <a:p xmlns:a="http://schemas.openxmlformats.org/drawingml/2006/main">
            <a:r>
              <a:t>Recoger dudas concretas y resolverlas con la información oficial del curso.</a:t>
            </a:r>
          </a:p>
          <a:p xmlns:a="http://schemas.openxmlformats.org/drawingml/2006/main">
            <a:r>
              <a:t/>
            </a:r>
          </a:p>
          <a:p xmlns:a="http://schemas.openxmlformats.org/drawingml/2006/main">
            <a:r>
              <a:t>Qué mostrar</a:t>
            </a:r>
          </a:p>
          <a:p xmlns:a="http://schemas.openxmlformats.org/drawingml/2006/main">
            <a:r>
              <a:t>Abrir los documentos y el horario oficial únicamente si el docente los tiene disponibles.</a:t>
            </a:r>
          </a:p>
          <a:p xmlns:a="http://schemas.openxmlformats.org/drawingml/2006/main">
            <a:r>
              <a:t/>
            </a:r>
          </a:p>
          <a:p xmlns:a="http://schemas.openxmlformats.org/drawingml/2006/main">
            <a:r>
              <a:t>Transición</a:t>
            </a:r>
          </a:p>
          <a:p xmlns:a="http://schemas.openxmlformats.org/drawingml/2006/main">
            <a:r>
              <a:t>Retomemos ahora el punto en el que quedó la clase anterior.</a:t>
            </a:r>
          </a:p>
          <a:p xmlns:a="http://schemas.openxmlformats.org/drawingml/2006/main">
            <a:r>
              <a:t/>
            </a:r>
          </a:p>
          <a:p xmlns:a="http://schemas.openxmlformats.org/drawingml/2006/main">
            <a:r>
              <a:t>Fuentes</a:t>
            </a:r>
          </a:p>
          <a:p xmlns:a="http://schemas.openxmlformats.org/drawingml/2006/main">
            <a:r>
              <a:t>Ejemplo local: ejemplos/cloud-clase-2/ (inspeccionado el 15 de octubre de 2026).</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3 min · Ventana: 7–10 min</a:t>
            </a:r>
          </a:p>
          <a:p xmlns:a="http://schemas.openxmlformats.org/drawingml/2006/main">
            <a:r>
              <a:t/>
            </a:r>
          </a:p>
          <a:p xmlns:a="http://schemas.openxmlformats.org/drawingml/2006/main">
            <a:r>
              <a:t>Explicación sugerida</a:t>
            </a:r>
          </a:p>
          <a:p xmlns:a="http://schemas.openxmlformats.org/drawingml/2006/main">
            <a:r>
              <a:t>La aplicación que sirve de ejemplo se conserva. En la clase anterior Docker se usó localmente y Vercel recibió los archivos del sitio. Ahora el ejemplo de cloud-clase-2 reutiliza la web de cloud-clase-1 y la sirve con Nginx en Azure. Separamos dos trabajos: preparar infraestructura y configurar el software dentro de ella. La separación es una decisión de este ejemplo; no significa que cada herramienta sea incapaz de realizar otras tareas. Tampoco dos VMs implican por sí solas alta disponibilidad: aquí no hay balanceador ni se demuestra recuperación ante fallas.</a:t>
            </a:r>
          </a:p>
          <a:p xmlns:a="http://schemas.openxmlformats.org/drawingml/2006/main">
            <a:r>
              <a:t/>
            </a:r>
          </a:p>
          <a:p xmlns:a="http://schemas.openxmlformats.org/drawingml/2006/main">
            <a:r>
              <a:t>Pregunta</a:t>
            </a:r>
          </a:p>
          <a:p xmlns:a="http://schemas.openxmlformats.org/drawingml/2006/main">
            <a:r>
              <a:t>¿Quién instala y configura Nginx en el ejemplo de hoy?</a:t>
            </a:r>
          </a:p>
          <a:p xmlns:a="http://schemas.openxmlformats.org/drawingml/2006/main">
            <a:r>
              <a:t/>
            </a:r>
          </a:p>
          <a:p xmlns:a="http://schemas.openxmlformats.org/drawingml/2006/main">
            <a:r>
              <a:t>Respuesta esperada</a:t>
            </a:r>
          </a:p>
          <a:p xmlns:a="http://schemas.openxmlformats.org/drawingml/2006/main">
            <a:r>
              <a:t>Ansible; Terraform prepara las VMs, la red y otros recursos de Azure.</a:t>
            </a:r>
          </a:p>
          <a:p xmlns:a="http://schemas.openxmlformats.org/drawingml/2006/main">
            <a:r>
              <a:t/>
            </a:r>
          </a:p>
          <a:p xmlns:a="http://schemas.openxmlformats.org/drawingml/2006/main">
            <a:r>
              <a:t>Qué mostrar</a:t>
            </a:r>
          </a:p>
          <a:p xmlns:a="http://schemas.openxmlformats.org/drawingml/2006/main">
            <a:r>
              <a:t>ejemplos/cloud-clase-2/README.md: estructura y recorrido.</a:t>
            </a:r>
          </a:p>
          <a:p xmlns:a="http://schemas.openxmlformats.org/drawingml/2006/main">
            <a:r>
              <a:t/>
            </a:r>
          </a:p>
          <a:p xmlns:a="http://schemas.openxmlformats.org/drawingml/2006/main">
            <a:r>
              <a:t>Transición</a:t>
            </a:r>
          </a:p>
          <a:p xmlns:a="http://schemas.openxmlformats.org/drawingml/2006/main">
            <a:r>
              <a:t>Antes de crear recursos, necesitamos entender qué puede generar gasto.</a:t>
            </a:r>
          </a:p>
          <a:p xmlns:a="http://schemas.openxmlformats.org/drawingml/2006/main">
            <a:r>
              <a:t/>
            </a:r>
          </a:p>
          <a:p xmlns:a="http://schemas.openxmlformats.org/drawingml/2006/main">
            <a:r>
              <a:t>Fuentes</a:t>
            </a:r>
          </a:p>
          <a:p xmlns:a="http://schemas.openxmlformats.org/drawingml/2006/main">
            <a:r>
              <a:t>Ejemplo local: ejemplos/cloud-clase-2/ (inspeccionado el 15 de octubre de 2026).</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2 min · Ventana: 10–12 min</a:t>
            </a:r>
          </a:p>
          <a:p xmlns:a="http://schemas.openxmlformats.org/drawingml/2006/main">
            <a:r>
              <a:t/>
            </a:r>
          </a:p>
          <a:p xmlns:a="http://schemas.openxmlformats.org/drawingml/2006/main">
            <a:r>
              <a:t>Explicación sugerida</a:t>
            </a:r>
          </a:p>
          <a:p xmlns:a="http://schemas.openxmlformats.org/drawingml/2006/main">
            <a:r>
              <a:t>Usar el código como lista de recursos que debemos cotizar: azurerm_linux_virtual_machine, os_disk y azurerm_public_ip. Pedir a los estudiantes que eviten estimar mirando únicamente la VM. La región, el tamaño, la duración y el tráfico previsto cambian el cálculo. Los cargos de servicios opcionales solo aplican si se habilitan. La estimación debe declarar moneda y periodo; después se compara con el consumo registrado en el ámbito correcto. No usar la frase «unos centavos» del README como una cotización actual de las tres máquinas.</a:t>
            </a:r>
          </a:p>
          <a:p xmlns:a="http://schemas.openxmlformats.org/drawingml/2006/main">
            <a:r>
              <a:t/>
            </a:r>
          </a:p>
          <a:p xmlns:a="http://schemas.openxmlformats.org/drawingml/2006/main">
            <a:r>
              <a:t>Pregunta</a:t>
            </a:r>
          </a:p>
          <a:p xmlns:a="http://schemas.openxmlformats.org/drawingml/2006/main">
            <a:r>
              <a:t>Si apagamos la aplicación, ¿desaparecen todos los componentes del costo?</a:t>
            </a:r>
          </a:p>
          <a:p xmlns:a="http://schemas.openxmlformats.org/drawingml/2006/main">
            <a:r>
              <a:t/>
            </a:r>
          </a:p>
          <a:p xmlns:a="http://schemas.openxmlformats.org/drawingml/2006/main">
            <a:r>
              <a:t>Respuesta esperada</a:t>
            </a:r>
          </a:p>
          <a:p xmlns:a="http://schemas.openxmlformats.org/drawingml/2006/main">
            <a:r>
              <a:t>No. Pueden conservarse discos, IPs u otros recursos con cargos propios.</a:t>
            </a:r>
          </a:p>
          <a:p xmlns:a="http://schemas.openxmlformats.org/drawingml/2006/main">
            <a:r>
              <a:t/>
            </a:r>
          </a:p>
          <a:p xmlns:a="http://schemas.openxmlformats.org/drawingml/2006/main">
            <a:r>
              <a:t>Qué mostrar</a:t>
            </a:r>
          </a:p>
          <a:p xmlns:a="http://schemas.openxmlformats.org/drawingml/2006/main">
            <a:r>
              <a:t>terraform/modules/web_server/main.tf: VM, disco e IP pública.</a:t>
            </a:r>
          </a:p>
          <a:p xmlns:a="http://schemas.openxmlformats.org/drawingml/2006/main">
            <a:r>
              <a:t/>
            </a:r>
          </a:p>
          <a:p xmlns:a="http://schemas.openxmlformats.org/drawingml/2006/main">
            <a:r>
              <a:t>Transición</a:t>
            </a:r>
          </a:p>
          <a:p xmlns:a="http://schemas.openxmlformats.org/drawingml/2006/main">
            <a:r>
              <a:t>Hagamos una cuenta sencilla con una tarifa ficticia.</a:t>
            </a:r>
          </a:p>
          <a:p xmlns:a="http://schemas.openxmlformats.org/drawingml/2006/main">
            <a:r>
              <a:t/>
            </a:r>
          </a:p>
          <a:p xmlns:a="http://schemas.openxmlformats.org/drawingml/2006/main">
            <a:r>
              <a:t>Fuentes</a:t>
            </a:r>
          </a:p>
          <a:p xmlns:a="http://schemas.openxmlformats.org/drawingml/2006/main">
            <a:r>
              <a:t>Ejemplo local: ejemplos/cloud-clase-2/ (inspeccionado el 15 de octubre de 2026).</a:t>
            </a:r>
          </a:p>
          <a:p xmlns:a="http://schemas.openxmlformats.org/drawingml/2006/main">
            <a:r>
              <a:t>https://learn.microsoft.com/en-us/azure/cost-management-billing/costs/quick-acm-cost-analysis</a:t>
            </a:r>
          </a:p>
          <a:p xmlns:a="http://schemas.openxmlformats.org/drawingml/2006/main">
            <a:r>
              <a:t>https://learn.microsoft.com/en-us/azure/virtual-machines/states-billing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3 min · Ventana: 12–15 min</a:t>
            </a:r>
          </a:p>
          <a:p xmlns:a="http://schemas.openxmlformats.org/drawingml/2006/main">
            <a:r>
              <a:t/>
            </a:r>
          </a:p>
          <a:p xmlns:a="http://schemas.openxmlformats.org/drawingml/2006/main">
            <a:r>
              <a:t>Explicación sugerida</a:t>
            </a:r>
          </a:p>
          <a:p xmlns:a="http://schemas.openxmlformats.org/drawingml/2006/main">
            <a:r>
              <a:t>Comparar tres opciones para una web pequeña con Linux, compra bajo demanda y sin compromisos: AWS t3.medium en us-east-1, GCP e2-medium en us-central1 y Azure Standard_B2s en eastus. Cada una anuncia 2 vCPU y 4 GiB, pero no representan la misma CPU sostenida. T3 y B2s usan créditos de ráfaga; e2-medium es de núcleo compartido y sostiene aproximadamente una vCPU total. Son opciones de entrada, no un benchmark de rendimiento equivalente. Las tarifas corresponden solo al cómputo, consultadas el 15 de octubre de 2026. El precio Azure se consultó directamente en Retail Prices API: meter B2s, Consumption, sin Windows ni Spot. B2s es un tamaño anterior y se usa para comparación, no es el B2ats_v2 de nuestra demo.</a:t>
            </a:r>
          </a:p>
          <a:p xmlns:a="http://schemas.openxmlformats.org/drawingml/2006/main">
            <a:r>
              <a:t/>
            </a:r>
          </a:p>
          <a:p xmlns:a="http://schemas.openxmlformats.org/drawingml/2006/main">
            <a:r>
              <a:t>Pregunta</a:t>
            </a:r>
          </a:p>
          <a:p xmlns:a="http://schemas.openxmlformats.org/drawingml/2006/main">
            <a:r>
              <a:t>¿La fila más barata garantiza mejor rendimiento para nuestra aplicación?</a:t>
            </a:r>
          </a:p>
          <a:p xmlns:a="http://schemas.openxmlformats.org/drawingml/2006/main">
            <a:r>
              <a:t/>
            </a:r>
          </a:p>
          <a:p xmlns:a="http://schemas.openxmlformats.org/drawingml/2006/main">
            <a:r>
              <a:t>Respuesta esperada</a:t>
            </a:r>
          </a:p>
          <a:p xmlns:a="http://schemas.openxmlformats.org/drawingml/2006/main">
            <a:r>
              <a:t>No. Primero hay que contrastar CPU sostenida, memoria, latencia, carga y servicios incluidos.</a:t>
            </a:r>
          </a:p>
          <a:p xmlns:a="http://schemas.openxmlformats.org/drawingml/2006/main">
            <a:r>
              <a:t/>
            </a:r>
          </a:p>
          <a:p xmlns:a="http://schemas.openxmlformats.org/drawingml/2006/main">
            <a:r>
              <a:t>Qué mostrar</a:t>
            </a:r>
          </a:p>
          <a:p xmlns:a="http://schemas.openxmlformats.org/drawingml/2006/main">
            <a:r>
              <a:t>Mostrar las tres filas, las regiones y las fuentes en las notas. Aclarar que son precios de lista, no una cotización contractual.</a:t>
            </a:r>
          </a:p>
          <a:p xmlns:a="http://schemas.openxmlformats.org/drawingml/2006/main">
            <a:r>
              <a:t/>
            </a:r>
          </a:p>
          <a:p xmlns:a="http://schemas.openxmlformats.org/drawingml/2006/main">
            <a:r>
              <a:t>Transición</a:t>
            </a:r>
          </a:p>
          <a:p xmlns:a="http://schemas.openxmlformats.org/drawingml/2006/main">
            <a:r>
              <a:t>Convirtamos el precio por hora en periodos de uso conocidos.</a:t>
            </a:r>
          </a:p>
          <a:p xmlns:a="http://schemas.openxmlformats.org/drawingml/2006/main">
            <a:r>
              <a:t/>
            </a:r>
          </a:p>
          <a:p xmlns:a="http://schemas.openxmlformats.org/drawingml/2006/main">
            <a:r>
              <a:t>Fuentes</a:t>
            </a:r>
          </a:p>
          <a:p xmlns:a="http://schemas.openxmlformats.org/drawingml/2006/main">
            <a:r>
              <a:t>Ejemplo local: ejemplos/cloud-clase-2/ (inspeccionado el 15 de octubre de 2026).</a:t>
            </a:r>
          </a:p>
          <a:p xmlns:a="http://schemas.openxmlformats.org/drawingml/2006/main">
            <a:r>
              <a:t>https://docs.aws.amazon.com/prescriptive-guidance/latest/optimize-costs-microsoft-workloads/right-size-selection.html</a:t>
            </a:r>
          </a:p>
          <a:p xmlns:a="http://schemas.openxmlformats.org/drawingml/2006/main">
            <a:r>
              <a:t>https://docs.aws.amazon.com/AWSEC2/latest/UserGuide/burstable-credits-baseline-concepts.html</a:t>
            </a:r>
          </a:p>
          <a:p xmlns:a="http://schemas.openxmlformats.org/drawingml/2006/main">
            <a:r>
              <a:t>https://cloud.google.com/products/compute/pricing/general-purpose?hl=es-419</a:t>
            </a:r>
          </a:p>
          <a:p xmlns:a="http://schemas.openxmlformats.org/drawingml/2006/main">
            <a:r>
              <a:t>https://docs.cloud.google.com/compute/docs/general-purpose-machines</a:t>
            </a:r>
          </a:p>
          <a:p xmlns:a="http://schemas.openxmlformats.org/drawingml/2006/main">
            <a:r>
              <a:t>https://prices.azure.com/api/retail/prices?%24filter=armRegionName+eq+%27eastus%27+and+armSkuName+eq+%27Standard_B2s%27+and+priceType+eq+%27Consumption%27&amp;currencyCode=USD</a:t>
            </a:r>
          </a:p>
          <a:p xmlns:a="http://schemas.openxmlformats.org/drawingml/2006/main">
            <a:r>
              <a:t>https://learn.microsoft.com/en-us/azure/virtual-machines/sizes/general-purpose/bv1-series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2 min · Ventana: 15–17 min</a:t>
            </a:r>
          </a:p>
          <a:p xmlns:a="http://schemas.openxmlformats.org/drawingml/2006/main">
            <a:r>
              <a:t/>
            </a:r>
          </a:p>
          <a:p xmlns:a="http://schemas.openxmlformats.org/drawingml/2006/main">
            <a:r>
              <a:t>Explicación sugerida</a:t>
            </a:r>
          </a:p>
          <a:p xmlns:a="http://schemas.openxmlformats.org/drawingml/2006/main">
            <a:r>
              <a:t>El cálculo multiplica la tarifa por las horas. AWS y Azure: 0.0416 × 2 = 0.0832; × 24 = 0.9984; × 730 = 30.368. GCP: 0.03350571 × 2 = 0.06701142; × 24 = 0.80413704; × 730 = 24.4591683. Redondeamos a centavos solo al mostrar el resultado final. Las 730 horas son una convención de mes promedio; un mes real tiene otra duración. Estas cifras son una proyección de consumo a tarifa publicada, no una factura completa. No descuentan capas gratuitas, créditos educativos ni compromisos. No incluyen discos, direcciones públicas, impuestos, tráfico ni cargos adicionales por créditos CPU de AWS Unlimited.</a:t>
            </a:r>
          </a:p>
          <a:p xmlns:a="http://schemas.openxmlformats.org/drawingml/2006/main">
            <a:r>
              <a:t/>
            </a:r>
          </a:p>
          <a:p xmlns:a="http://schemas.openxmlformats.org/drawingml/2006/main">
            <a:r>
              <a:t>Pregunta</a:t>
            </a:r>
          </a:p>
          <a:p xmlns:a="http://schemas.openxmlformats.org/drawingml/2006/main">
            <a:r>
              <a:t>¿Cuánto pagarían por tres máquinas iguales encendidas todo el mes?</a:t>
            </a:r>
          </a:p>
          <a:p xmlns:a="http://schemas.openxmlformats.org/drawingml/2006/main">
            <a:r>
              <a:t/>
            </a:r>
          </a:p>
          <a:p xmlns:a="http://schemas.openxmlformats.org/drawingml/2006/main">
            <a:r>
              <a:t>Respuesta esperada</a:t>
            </a:r>
          </a:p>
          <a:p xmlns:a="http://schemas.openxmlformats.org/drawingml/2006/main">
            <a:r>
              <a:t>Solo de cómputo: AWS o Azure USD 91.10; GCP USD 73.38, multiplicando los importes sin redondear por tres.</a:t>
            </a:r>
          </a:p>
          <a:p xmlns:a="http://schemas.openxmlformats.org/drawingml/2006/main">
            <a:r>
              <a:t/>
            </a:r>
          </a:p>
          <a:p xmlns:a="http://schemas.openxmlformats.org/drawingml/2006/main">
            <a:r>
              <a:t>Qué mostrar</a:t>
            </a:r>
          </a:p>
          <a:p xmlns:a="http://schemas.openxmlformats.org/drawingml/2006/main">
            <a:r>
              <a:t>Resolver una multiplicación con la clase y distinguir precio unitario de subtotal.</a:t>
            </a:r>
          </a:p>
          <a:p xmlns:a="http://schemas.openxmlformats.org/drawingml/2006/main">
            <a:r>
              <a:t/>
            </a:r>
          </a:p>
          <a:p xmlns:a="http://schemas.openxmlformats.org/drawingml/2006/main">
            <a:r>
              <a:t>Transición</a:t>
            </a:r>
          </a:p>
          <a:p xmlns:a="http://schemas.openxmlformats.org/drawingml/2006/main">
            <a:r>
              <a:t>La VM necesita otros recursos; añadamos algunos a la cuenta.</a:t>
            </a:r>
          </a:p>
          <a:p xmlns:a="http://schemas.openxmlformats.org/drawingml/2006/main">
            <a:r>
              <a:t/>
            </a:r>
          </a:p>
          <a:p xmlns:a="http://schemas.openxmlformats.org/drawingml/2006/main">
            <a:r>
              <a:t>Fuentes</a:t>
            </a:r>
          </a:p>
          <a:p xmlns:a="http://schemas.openxmlformats.org/drawingml/2006/main">
            <a:r>
              <a:t>Ejemplo local: ejemplos/cloud-clase-2/ (inspeccionado el 15 de octubre de 2026).</a:t>
            </a:r>
          </a:p>
          <a:p xmlns:a="http://schemas.openxmlformats.org/drawingml/2006/main">
            <a:r>
              <a:t>https://docs.aws.amazon.com/prescriptive-guidance/latest/optimize-costs-microsoft-workloads/right-size-selection.html</a:t>
            </a:r>
          </a:p>
          <a:p xmlns:a="http://schemas.openxmlformats.org/drawingml/2006/main">
            <a:r>
              <a:t>https://cloud.google.com/products/compute/pricing/general-purpose?hl=es-419</a:t>
            </a:r>
          </a:p>
          <a:p xmlns:a="http://schemas.openxmlformats.org/drawingml/2006/main">
            <a:r>
              <a:t>https://prices.azure.com/api/retail/prices?%24filter=armRegionName+eq+%27eastus%27+and+armSkuName+eq+%27Standard_B2s%27+and+priceType+eq+%27Consumption%27&amp;currencyCode=USD</a:t>
            </a:r>
          </a:p>
          <a:p xmlns:a="http://schemas.openxmlformats.org/drawingml/2006/main">
            <a:r>
              <a:t>https://aws.amazon.com/ec2/pricing/on-demand/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3 min · Ventana: 17–20 min</a:t>
            </a:r>
          </a:p>
          <a:p xmlns:a="http://schemas.openxmlformats.org/drawingml/2006/main">
            <a:r>
              <a:t/>
            </a:r>
          </a:p>
          <a:p xmlns:a="http://schemas.openxmlformats.org/drawingml/2006/main">
            <a:r>
              <a:t>Explicación sugerida</a:t>
            </a:r>
          </a:p>
          <a:p xmlns:a="http://schemas.openxmlformats.org/drawingml/2006/main">
            <a:r>
              <a:t>Construir un subtotal realista para una VM t3.medium de Linux en us-east-1 durante 730 horas. Cómputo: USD 30.368. Un disco EBS gp3 de 30 unidades de capacidad facturadas a USD 0.08 por mes: USD 2.40, usando rendimiento base y sin IOPS o throughput extra. Una IPv4 pública a USD 0.005 por hora: USD 3.65. Suma sin redondear: USD 36.418, que se muestra como USD 36.42. Este sigue siendo un subtotal parcial: faltan transferencia de datos, copias de respaldo, balanceador o NAT si se usan, observabilidad adicional, impuestos y posibles créditos CPU. La VM sola sugería USD 30.37: el disco y la IP ya incrementaron esa estimación. Los recursos conservados pueden seguir generando cargos aunque se detenga el cómputo.</a:t>
            </a:r>
          </a:p>
          <a:p xmlns:a="http://schemas.openxmlformats.org/drawingml/2006/main">
            <a:r>
              <a:t/>
            </a:r>
          </a:p>
          <a:p xmlns:a="http://schemas.openxmlformats.org/drawingml/2006/main">
            <a:r>
              <a:t>Pregunta</a:t>
            </a:r>
          </a:p>
          <a:p xmlns:a="http://schemas.openxmlformats.org/drawingml/2006/main">
            <a:r>
              <a:t>¿Qué falta antes de presentar USD 36.42 como presupuesto completo?</a:t>
            </a:r>
          </a:p>
          <a:p xmlns:a="http://schemas.openxmlformats.org/drawingml/2006/main">
            <a:r>
              <a:t/>
            </a:r>
          </a:p>
          <a:p xmlns:a="http://schemas.openxmlformats.org/drawingml/2006/main">
            <a:r>
              <a:t>Respuesta esperada</a:t>
            </a:r>
          </a:p>
          <a:p xmlns:a="http://schemas.openxmlformats.org/drawingml/2006/main">
            <a:r>
              <a:t>La demanda de tráfico, respaldos, servicios de red y otros cargos aplicables, además de condiciones comerciales e impuestos.</a:t>
            </a:r>
          </a:p>
          <a:p xmlns:a="http://schemas.openxmlformats.org/drawingml/2006/main">
            <a:r>
              <a:t/>
            </a:r>
          </a:p>
          <a:p xmlns:a="http://schemas.openxmlformats.org/drawingml/2006/main">
            <a:r>
              <a:t>Qué mostrar</a:t>
            </a:r>
          </a:p>
          <a:p xmlns:a="http://schemas.openxmlformats.org/drawingml/2006/main">
            <a:r>
              <a:t>Relacionar cada renglón con un recurso que tendría una aplicación desplegada.</a:t>
            </a:r>
          </a:p>
          <a:p xmlns:a="http://schemas.openxmlformats.org/drawingml/2006/main">
            <a:r>
              <a:t/>
            </a:r>
          </a:p>
          <a:p xmlns:a="http://schemas.openxmlformats.org/drawingml/2006/main">
            <a:r>
              <a:t>Transición</a:t>
            </a:r>
          </a:p>
          <a:p xmlns:a="http://schemas.openxmlformats.org/drawingml/2006/main">
            <a:r>
              <a:t>Una plataforma administrada puede cobrar usando unidades diferentes.</a:t>
            </a:r>
          </a:p>
          <a:p xmlns:a="http://schemas.openxmlformats.org/drawingml/2006/main">
            <a:r>
              <a:t/>
            </a:r>
          </a:p>
          <a:p xmlns:a="http://schemas.openxmlformats.org/drawingml/2006/main">
            <a:r>
              <a:t>Fuentes</a:t>
            </a:r>
          </a:p>
          <a:p xmlns:a="http://schemas.openxmlformats.org/drawingml/2006/main">
            <a:r>
              <a:t>Ejemplo local: ejemplos/cloud-clase-2/ (inspeccionado el 15 de octubre de 2026).</a:t>
            </a:r>
          </a:p>
          <a:p xmlns:a="http://schemas.openxmlformats.org/drawingml/2006/main">
            <a:r>
              <a:t>https://docs.aws.amazon.com/prescriptive-guidance/latest/optimize-costs-microsoft-workloads/right-size-selection.html</a:t>
            </a:r>
          </a:p>
          <a:p xmlns:a="http://schemas.openxmlformats.org/drawingml/2006/main">
            <a:r>
              <a:t>https://aws.amazon.com/blogs/storage/migrate-your-amazon-ebs-volumes-from-gp2-to-gp3-and-save-up-to-20-on-costs/</a:t>
            </a:r>
          </a:p>
          <a:p xmlns:a="http://schemas.openxmlformats.org/drawingml/2006/main">
            <a:r>
              <a:t>https://aws.amazon.com/ebs/pricing/</a:t>
            </a:r>
          </a:p>
          <a:p xmlns:a="http://schemas.openxmlformats.org/drawingml/2006/main">
            <a:r>
              <a:t>https://aws.amazon.com/vpc/pricing/</a:t>
            </a:r>
          </a:p>
          <a:p xmlns:a="http://schemas.openxmlformats.org/drawingml/2006/main">
            <a:r>
              <a:t>https://aws.amazon.com/ec2/pricing/on-demand/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2 min · Ventana: 20–22 min</a:t>
            </a:r>
          </a:p>
          <a:p xmlns:a="http://schemas.openxmlformats.org/drawingml/2006/main">
            <a:r>
              <a:t/>
            </a:r>
          </a:p>
          <a:p xmlns:a="http://schemas.openxmlformats.org/drawingml/2006/main">
            <a:r>
              <a:t>Explicación sugerida</a:t>
            </a:r>
          </a:p>
          <a:p xmlns:a="http://schemas.openxmlformats.org/drawingml/2006/main">
            <a:r>
              <a:t>Cloud Run es una plataforma administrada para contenedores. Para este ejercicio usar us-central1 y facturación basada en solicitudes. Las unidades activas cuestan USD 0.000024 por vCPU-segundo, USD 0.0000025 por GiB-segundo y USD 0.40 por millón de solicitudes. Este modelo no es el único de Cloud Run y no representa todas las PaaS. Si varias solicitudes comparten una instancia concurrentemente, no se suman sus duraciones para cobrar varias veces la misma CPU asignada. Se debe estimar el tiempo de instancia facturable y el escalado. La cuenta también puede incluir arranque, instancias mínimas, red, builds, registro de imágenes y otros servicios.</a:t>
            </a:r>
          </a:p>
          <a:p xmlns:a="http://schemas.openxmlformats.org/drawingml/2006/main">
            <a:r>
              <a:t/>
            </a:r>
          </a:p>
          <a:p xmlns:a="http://schemas.openxmlformats.org/drawingml/2006/main">
            <a:r>
              <a:t>Pregunta</a:t>
            </a:r>
          </a:p>
          <a:p xmlns:a="http://schemas.openxmlformats.org/drawingml/2006/main">
            <a:r>
              <a:t>¿Un millón de solicitudes basta para calcular el costo de la plataforma?</a:t>
            </a:r>
          </a:p>
          <a:p xmlns:a="http://schemas.openxmlformats.org/drawingml/2006/main">
            <a:r>
              <a:t/>
            </a:r>
          </a:p>
          <a:p xmlns:a="http://schemas.openxmlformats.org/drawingml/2006/main">
            <a:r>
              <a:t>Respuesta esperada</a:t>
            </a:r>
          </a:p>
          <a:p xmlns:a="http://schemas.openxmlformats.org/drawingml/2006/main">
            <a:r>
              <a:t>No. También necesitamos CPU, memoria, tiempo facturable de instancia, concurrencia y configuración de escalado.</a:t>
            </a:r>
          </a:p>
          <a:p xmlns:a="http://schemas.openxmlformats.org/drawingml/2006/main">
            <a:r>
              <a:t/>
            </a:r>
          </a:p>
          <a:p xmlns:a="http://schemas.openxmlformats.org/drawingml/2006/main">
            <a:r>
              <a:t>Qué mostrar</a:t>
            </a:r>
          </a:p>
          <a:p xmlns:a="http://schemas.openxmlformats.org/drawingml/2006/main">
            <a:r>
              <a:t>Identificar cada unidad en la página oficial de precios y contrastarla con VM-hora.</a:t>
            </a:r>
          </a:p>
          <a:p xmlns:a="http://schemas.openxmlformats.org/drawingml/2006/main">
            <a:r>
              <a:t/>
            </a:r>
          </a:p>
          <a:p xmlns:a="http://schemas.openxmlformats.org/drawingml/2006/main">
            <a:r>
              <a:t>Transición</a:t>
            </a:r>
          </a:p>
          <a:p xmlns:a="http://schemas.openxmlformats.org/drawingml/2006/main">
            <a:r>
              <a:t>Veamos dos usos hipotéticos con esas tarifas reales.</a:t>
            </a:r>
          </a:p>
          <a:p xmlns:a="http://schemas.openxmlformats.org/drawingml/2006/main">
            <a:r>
              <a:t/>
            </a:r>
          </a:p>
          <a:p xmlns:a="http://schemas.openxmlformats.org/drawingml/2006/main">
            <a:r>
              <a:t>Fuentes</a:t>
            </a:r>
          </a:p>
          <a:p xmlns:a="http://schemas.openxmlformats.org/drawingml/2006/main">
            <a:r>
              <a:t>Ejemplo local: ejemplos/cloud-clase-2/ (inspeccionado el 15 de octubre de 2026).</a:t>
            </a:r>
          </a:p>
          <a:p xmlns:a="http://schemas.openxmlformats.org/drawingml/2006/main">
            <a:r>
              <a:t>https://cloud.google.com/run/pricing</a:t>
            </a:r>
          </a:p>
          <a:p xmlns:a="http://schemas.openxmlformats.org/drawingml/2006/main">
            <a:r>
              <a:t>https://docs.cloud.google.com/run/docs/about-instance-autoscaling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3 min · Ventana: 22–25 min</a:t>
            </a:r>
          </a:p>
          <a:p xmlns:a="http://schemas.openxmlformats.org/drawingml/2006/main">
            <a:r>
              <a:t/>
            </a:r>
          </a:p>
          <a:p xmlns:a="http://schemas.openxmlformats.org/drawingml/2006/main">
            <a:r>
              <a:t>Explicación sugerida</a:t>
            </a:r>
          </a:p>
          <a:p xmlns:a="http://schemas.openxmlformats.org/drawingml/2006/main">
            <a:r>
              <a:t>Usar un mismo tamaño de 1 vCPU y 0.5 GiB y un millón de solicitudes al mes, sin instancias mínimas. En el escenario intermitente suponemos 20 horas de tiempo activo facturable agregado entre todas las instancias: 72,000 segundos. CPU = USD 1.728, RAM = USD 0.09 y solicitudes = USD 0.40: subtotal USD 2.218, mostrado USD 2.22. En el segundo escenario suponemos 730 horas activas agregadas: 2,628,000 segundos. CPU = USD 63.072, RAM = USD 3.285 y solicitudes = USD 0.40: USD 66.757, mostrado USD 66.76. Son escenarios brutos antes de capa gratuita, no facturas; si esa franquicia está disponible puede reducir estos importes. Arranques u otra actividad facturable deben incluirse en las horas estimadas. No comparar estos subtotales como equivalentes de rendimiento a las VMs de 4 GiB.</a:t>
            </a:r>
          </a:p>
          <a:p xmlns:a="http://schemas.openxmlformats.org/drawingml/2006/main">
            <a:r>
              <a:t/>
            </a:r>
          </a:p>
          <a:p xmlns:a="http://schemas.openxmlformats.org/drawingml/2006/main">
            <a:r>
              <a:t>Pregunta</a:t>
            </a:r>
          </a:p>
          <a:p xmlns:a="http://schemas.openxmlformats.org/drawingml/2006/main">
            <a:r>
              <a:t>¿Por qué cambió el costo si el número de solicitudes es el mismo?</a:t>
            </a:r>
          </a:p>
          <a:p xmlns:a="http://schemas.openxmlformats.org/drawingml/2006/main">
            <a:r>
              <a:t/>
            </a:r>
          </a:p>
          <a:p xmlns:a="http://schemas.openxmlformats.org/drawingml/2006/main">
            <a:r>
              <a:t>Respuesta esperada</a:t>
            </a:r>
          </a:p>
          <a:p xmlns:a="http://schemas.openxmlformats.org/drawingml/2006/main">
            <a:r>
              <a:t>Porque aumentó el tiempo activo facturable de las instancias; una solicitud más lenta o mayor escalado también consume recursos.</a:t>
            </a:r>
          </a:p>
          <a:p xmlns:a="http://schemas.openxmlformats.org/drawingml/2006/main">
            <a:r>
              <a:t/>
            </a:r>
          </a:p>
          <a:p xmlns:a="http://schemas.openxmlformats.org/drawingml/2006/main">
            <a:r>
              <a:t>Qué mostrar</a:t>
            </a:r>
          </a:p>
          <a:p xmlns:a="http://schemas.openxmlformats.org/drawingml/2006/main">
            <a:r>
              <a:t>Mostrar las fórmulas y pedir identificar qué supuesto tendría que medirse en una aplicación real.</a:t>
            </a:r>
          </a:p>
          <a:p xmlns:a="http://schemas.openxmlformats.org/drawingml/2006/main">
            <a:r>
              <a:t/>
            </a:r>
          </a:p>
          <a:p xmlns:a="http://schemas.openxmlformats.org/drawingml/2006/main">
            <a:r>
              <a:t>Transición</a:t>
            </a:r>
          </a:p>
          <a:p xmlns:a="http://schemas.openxmlformats.org/drawingml/2006/main">
            <a:r>
              <a:t>El costo y la operación ayudan a elegir entre PaaS y máquinas virtuales.</a:t>
            </a:r>
          </a:p>
          <a:p xmlns:a="http://schemas.openxmlformats.org/drawingml/2006/main">
            <a:r>
              <a:t/>
            </a:r>
          </a:p>
          <a:p xmlns:a="http://schemas.openxmlformats.org/drawingml/2006/main">
            <a:r>
              <a:t>Fuentes</a:t>
            </a:r>
          </a:p>
          <a:p xmlns:a="http://schemas.openxmlformats.org/drawingml/2006/main">
            <a:r>
              <a:t>Ejemplo local: ejemplos/cloud-clase-2/ (inspeccionado el 15 de octubre de 2026).</a:t>
            </a:r>
          </a:p>
          <a:p xmlns:a="http://schemas.openxmlformats.org/drawingml/2006/main">
            <a:r>
              <a:t>https://cloud.google.com/run/pricing</a:t>
            </a:r>
          </a:p>
          <a:p xmlns:a="http://schemas.openxmlformats.org/drawingml/2006/main">
            <a:r>
              <a:t>https://docs.cloud.google.com/run/docs/about-instance-autoscaling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3 min · Ventana: 25–28 min</a:t>
            </a:r>
          </a:p>
          <a:p xmlns:a="http://schemas.openxmlformats.org/drawingml/2006/main">
            <a:r>
              <a:t/>
            </a:r>
          </a:p>
          <a:p xmlns:a="http://schemas.openxmlformats.org/drawingml/2006/main">
            <a:r>
              <a:t>Explicación sugerida</a:t>
            </a:r>
          </a:p>
          <a:p xmlns:a="http://schemas.openxmlformats.org/drawingml/2006/main">
            <a:r>
              <a:t>Usar esta matriz como criterio de arquitectura y no como regla de precio universal. Una web o API compatible con la plataforma y un equipo pequeño suelen favorecer PaaS: se delega más operación. Una carga intermitente puede favorecer una plataforma capaz de escalar a cero, revisando cold starts, mínimos y restricciones. Un sistema que exige acceso al sistema operativo, paquetes especiales o procesos no compatibles puede necesitar una VM. Una carga sostenida se debe cotizar en ambos modelos, incluyendo tiempo humano de parches, respaldos, observabilidad y recuperación. Una VM de menor tarifa no es necesariamente la opción de menor costo total. PaaS no significa sin servidores ni sin responsabilidades: el equipo conserva código, datos, permisos y configuración. Para la web estática de la clase anterior conviene evaluar hosting estático antes de administrar tres VMs.</a:t>
            </a:r>
          </a:p>
          <a:p xmlns:a="http://schemas.openxmlformats.org/drawingml/2006/main">
            <a:r>
              <a:t/>
            </a:r>
          </a:p>
          <a:p xmlns:a="http://schemas.openxmlformats.org/drawingml/2006/main">
            <a:r>
              <a:t>Pregunta</a:t>
            </a:r>
          </a:p>
          <a:p xmlns:a="http://schemas.openxmlformats.org/drawingml/2006/main">
            <a:r>
              <a:t>Para una web estática del curso, ¿qué comprarían primero: tres VMs o hosting estático?</a:t>
            </a:r>
          </a:p>
          <a:p xmlns:a="http://schemas.openxmlformats.org/drawingml/2006/main">
            <a:r>
              <a:t/>
            </a:r>
          </a:p>
          <a:p xmlns:a="http://schemas.openxmlformats.org/drawingml/2006/main">
            <a:r>
              <a:t>Respuesta esperada</a:t>
            </a:r>
          </a:p>
          <a:p xmlns:a="http://schemas.openxmlformats.org/drawingml/2006/main">
            <a:r>
              <a:t>Evaluaría hosting estático administrado; las VMs del ejemplo tienen una finalidad de aprendizaje.</a:t>
            </a:r>
          </a:p>
          <a:p xmlns:a="http://schemas.openxmlformats.org/drawingml/2006/main">
            <a:r>
              <a:t/>
            </a:r>
          </a:p>
          <a:p xmlns:a="http://schemas.openxmlformats.org/drawingml/2006/main">
            <a:r>
              <a:t>Qué mostrar</a:t>
            </a:r>
          </a:p>
          <a:p xmlns:a="http://schemas.openxmlformats.org/drawingml/2006/main">
            <a:r>
              <a:t>Pedir a la clase justificar el modelo para una API con picos y para un sistema legado que requiere control del SO.</a:t>
            </a:r>
          </a:p>
          <a:p xmlns:a="http://schemas.openxmlformats.org/drawingml/2006/main">
            <a:r>
              <a:t/>
            </a:r>
          </a:p>
          <a:p xmlns:a="http://schemas.openxmlformats.org/drawingml/2006/main">
            <a:r>
              <a:t>Transición</a:t>
            </a:r>
          </a:p>
          <a:p xmlns:a="http://schemas.openxmlformats.org/drawingml/2006/main">
            <a:r>
              <a:t>Después del modelo de servicio, elegimos la modalidad de compra.</a:t>
            </a:r>
          </a:p>
          <a:p xmlns:a="http://schemas.openxmlformats.org/drawingml/2006/main">
            <a:r>
              <a:t/>
            </a:r>
          </a:p>
          <a:p xmlns:a="http://schemas.openxmlformats.org/drawingml/2006/main">
            <a:r>
              <a:t>Fuentes</a:t>
            </a:r>
          </a:p>
          <a:p xmlns:a="http://schemas.openxmlformats.org/drawingml/2006/main">
            <a:r>
              <a:t>Ejemplo local: ejemplos/cloud-clase-2/ (inspeccionado el 15 de octubre de 2026).</a:t>
            </a:r>
          </a:p>
          <a:p xmlns:a="http://schemas.openxmlformats.org/drawingml/2006/main">
            <a:r>
              <a:t>https://learn.microsoft.com/en-us/azure/architecture/guide/technology-choices/compute-decision-tree</a:t>
            </a:r>
          </a:p>
          <a:p xmlns:a="http://schemas.openxmlformats.org/drawingml/2006/main">
            <a:r>
              <a:t>https://docs.cloud.google.com/run/docs/about-instance-autoscaling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2 min · Ventana: 28–30 min</a:t>
            </a:r>
          </a:p>
          <a:p xmlns:a="http://schemas.openxmlformats.org/drawingml/2006/main">
            <a:r>
              <a:t/>
            </a:r>
          </a:p>
          <a:p xmlns:a="http://schemas.openxmlformats.org/drawingml/2006/main">
            <a:r>
              <a:t>Explicación sugerida</a:t>
            </a:r>
          </a:p>
          <a:p xmlns:a="http://schemas.openxmlformats.org/drawingml/2006/main">
            <a:r>
              <a:t>Bajo demanda es adecuado para empezar y medir, pagando el uso sin asumir un compromiso largo. Los compromisos de gasto o recursos pueden reducir la tarifa cuando existe una base estable y conocida, pero pagar capacidad no utilizada puede anular el ahorro. Los modelos Spot o interrumpibles son útiles para trabajos que pueden reintentarse y toleran desalojo; no son un reemplazo directo de una VM que debe estar siempre disponible. No fijar un porcentaje de ahorro universal: depende del proveedor, región, tamaño, plazo y disponibilidad. Antes de comprar un compromiso, reducir recursos ociosos, dimensionar con mediciones y estimar la demanda. Los créditos educativos y niveles gratuitos tienen condiciones; no equivalen a infraestructura permanentemente gratuita.</a:t>
            </a:r>
          </a:p>
          <a:p xmlns:a="http://schemas.openxmlformats.org/drawingml/2006/main">
            <a:r>
              <a:t/>
            </a:r>
          </a:p>
          <a:p xmlns:a="http://schemas.openxmlformats.org/drawingml/2006/main">
            <a:r>
              <a:t>Pregunta</a:t>
            </a:r>
          </a:p>
          <a:p xmlns:a="http://schemas.openxmlformats.org/drawingml/2006/main">
            <a:r>
              <a:t>¿Usarían una VM interrumpible como única instancia de un examen en línea?</a:t>
            </a:r>
          </a:p>
          <a:p xmlns:a="http://schemas.openxmlformats.org/drawingml/2006/main">
            <a:r>
              <a:t/>
            </a:r>
          </a:p>
          <a:p xmlns:a="http://schemas.openxmlformats.org/drawingml/2006/main">
            <a:r>
              <a:t>Respuesta esperada</a:t>
            </a:r>
          </a:p>
          <a:p xmlns:a="http://schemas.openxmlformats.org/drawingml/2006/main">
            <a:r>
              <a:t>No, si el servicio requiere continuidad y no está diseñado para tolerar interrupciones.</a:t>
            </a:r>
          </a:p>
          <a:p xmlns:a="http://schemas.openxmlformats.org/drawingml/2006/main">
            <a:r>
              <a:t/>
            </a:r>
          </a:p>
          <a:p xmlns:a="http://schemas.openxmlformats.org/drawingml/2006/main">
            <a:r>
              <a:t>Qué mostrar</a:t>
            </a:r>
          </a:p>
          <a:p xmlns:a="http://schemas.openxmlformats.org/drawingml/2006/main">
            <a:r>
              <a:t>Contrastar un laboratorio de dos horas con una carga medida y estable durante un año.</a:t>
            </a:r>
          </a:p>
          <a:p xmlns:a="http://schemas.openxmlformats.org/drawingml/2006/main">
            <a:r>
              <a:t/>
            </a:r>
          </a:p>
          <a:p xmlns:a="http://schemas.openxmlformats.org/drawingml/2006/main">
            <a:r>
              <a:t>Transición</a:t>
            </a:r>
          </a:p>
          <a:p xmlns:a="http://schemas.openxmlformats.org/drawingml/2006/main">
            <a:r>
              <a:t>La estimación inicial se debe contrastar con el consumo real.</a:t>
            </a:r>
          </a:p>
          <a:p xmlns:a="http://schemas.openxmlformats.org/drawingml/2006/main">
            <a:r>
              <a:t/>
            </a:r>
          </a:p>
          <a:p xmlns:a="http://schemas.openxmlformats.org/drawingml/2006/main">
            <a:r>
              <a:t>Fuentes</a:t>
            </a:r>
          </a:p>
          <a:p xmlns:a="http://schemas.openxmlformats.org/drawingml/2006/main">
            <a:r>
              <a:t>Ejemplo local: ejemplos/cloud-clase-2/ (inspeccionado el 15 de octubre de 2026).</a:t>
            </a:r>
          </a:p>
          <a:p xmlns:a="http://schemas.openxmlformats.org/drawingml/2006/main">
            <a:r>
              <a:t>https://aws.amazon.com/ec2/pricing/on-demand/</a:t>
            </a:r>
          </a:p>
          <a:p xmlns:a="http://schemas.openxmlformats.org/drawingml/2006/main">
            <a:r>
              <a:t>https://cloud.google.com/products/compute/pricing/general-purpose?hl=es-419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3 min · Ventana: 30–33 min</a:t>
            </a:r>
          </a:p>
          <a:p xmlns:a="http://schemas.openxmlformats.org/drawingml/2006/main">
            <a:r>
              <a:t/>
            </a:r>
          </a:p>
          <a:p xmlns:a="http://schemas.openxmlformats.org/drawingml/2006/main">
            <a:r>
              <a:t>Explicación sugerida</a:t>
            </a:r>
          </a:p>
          <a:p xmlns:a="http://schemas.openxmlformats.org/drawingml/2006/main">
            <a:r>
              <a:t>Plantear una investigación sencilla: el gasto supera la estimación. Primero fijar periodo y suscripción o grupo de recursos; luego desglosar por servicio o recurso para ubicar la diferencia. En este ejemplo revisaría si quedaron máquinas activas más tiempo de lo esperado o si omití un componente. Los datos de costos pueden tardar en aparecer: una vista vacía inmediatamente después del despliegue no demuestra costo cero. Las etiquetas environment y curso aparecen en las VMs del código, pero no en todos los recursos; no asumir que un filtro por etiqueta reúne automáticamente todo el costo del ambiente.</a:t>
            </a:r>
          </a:p>
          <a:p xmlns:a="http://schemas.openxmlformats.org/drawingml/2006/main">
            <a:r>
              <a:t/>
            </a:r>
          </a:p>
          <a:p xmlns:a="http://schemas.openxmlformats.org/drawingml/2006/main">
            <a:r>
              <a:t>Pregunta</a:t>
            </a:r>
          </a:p>
          <a:p xmlns:a="http://schemas.openxmlformats.org/drawingml/2006/main">
            <a:r>
              <a:t>Si la factura es mayor que la estimación, ¿qué revisarían primero?</a:t>
            </a:r>
          </a:p>
          <a:p xmlns:a="http://schemas.openxmlformats.org/drawingml/2006/main">
            <a:r>
              <a:t/>
            </a:r>
          </a:p>
          <a:p xmlns:a="http://schemas.openxmlformats.org/drawingml/2006/main">
            <a:r>
              <a:t>Respuesta esperada</a:t>
            </a:r>
          </a:p>
          <a:p xmlns:a="http://schemas.openxmlformats.org/drawingml/2006/main">
            <a:r>
              <a:t>El periodo y alcance de la comparación, y luego qué recursos y servicios explican la diferencia.</a:t>
            </a:r>
          </a:p>
          <a:p xmlns:a="http://schemas.openxmlformats.org/drawingml/2006/main">
            <a:r>
              <a:t/>
            </a:r>
          </a:p>
          <a:p xmlns:a="http://schemas.openxmlformats.org/drawingml/2006/main">
            <a:r>
              <a:t>Qué mostrar</a:t>
            </a:r>
          </a:p>
          <a:p xmlns:a="http://schemas.openxmlformats.org/drawingml/2006/main">
            <a:r>
              <a:t>Si está disponible, mostrar Cost Analysis sin exponer datos ajenos a la clase. Alternativa: explicar el recorrido verbalmente.</a:t>
            </a:r>
          </a:p>
          <a:p xmlns:a="http://schemas.openxmlformats.org/drawingml/2006/main">
            <a:r>
              <a:t/>
            </a:r>
          </a:p>
          <a:p xmlns:a="http://schemas.openxmlformats.org/drawingml/2006/main">
            <a:r>
              <a:t>Transición</a:t>
            </a:r>
          </a:p>
          <a:p xmlns:a="http://schemas.openxmlformats.org/drawingml/2006/main">
            <a:r>
              <a:t>La medición se complementa con avisos y decisiones de limpieza.</a:t>
            </a:r>
          </a:p>
          <a:p xmlns:a="http://schemas.openxmlformats.org/drawingml/2006/main">
            <a:r>
              <a:t/>
            </a:r>
          </a:p>
          <a:p xmlns:a="http://schemas.openxmlformats.org/drawingml/2006/main">
            <a:r>
              <a:t>Fuentes</a:t>
            </a:r>
          </a:p>
          <a:p xmlns:a="http://schemas.openxmlformats.org/drawingml/2006/main">
            <a:r>
              <a:t>Ejemplo local: ejemplos/cloud-clase-2/ (inspeccionado el 15 de octubre de 2026).</a:t>
            </a:r>
          </a:p>
          <a:p xmlns:a="http://schemas.openxmlformats.org/drawingml/2006/main">
            <a:r>
              <a:t>https://learn.microsoft.com/en-us/azure/cost-management-billing/costs/quick-acm-cost-analysis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2 min · Ventana: 33–35 min</a:t>
            </a:r>
          </a:p>
          <a:p xmlns:a="http://schemas.openxmlformats.org/drawingml/2006/main">
            <a:r>
              <a:t/>
            </a:r>
          </a:p>
          <a:p xmlns:a="http://schemas.openxmlformats.org/drawingml/2006/main">
            <a:r>
              <a:t>Explicación sugerida</a:t>
            </a:r>
          </a:p>
          <a:p xmlns:a="http://schemas.openxmlformats.org/drawingml/2006/main">
            <a:r>
              <a:t>Un presupuesto permite seguir un importe y configurar avisos; detener recursos requiere una acción adicional o automatización explícita. En Azure, una VM detenida y todavía asignada puede seguir cobrando cómputo. La desasignación elimina ese cargo de cómputo, pero pueden continuar cargos de discos y otros recursos. En la práctica terminaremos con terraform destroy y comprobaremos los recursos gestionados. El comando no elimina recursos ajenos al estado ni borra consumo ya acumulado. La limpieza debe hacerse sobre la suscripción y el estado correctos.</a:t>
            </a:r>
          </a:p>
          <a:p xmlns:a="http://schemas.openxmlformats.org/drawingml/2006/main">
            <a:r>
              <a:t/>
            </a:r>
          </a:p>
          <a:p xmlns:a="http://schemas.openxmlformats.org/drawingml/2006/main">
            <a:r>
              <a:t>Pregunta</a:t>
            </a:r>
          </a:p>
          <a:p xmlns:a="http://schemas.openxmlformats.org/drawingml/2006/main">
            <a:r>
              <a:t>¿Llegar al presupuesto apaga automáticamente las tres VMs?</a:t>
            </a:r>
          </a:p>
          <a:p xmlns:a="http://schemas.openxmlformats.org/drawingml/2006/main">
            <a:r>
              <a:t/>
            </a:r>
          </a:p>
          <a:p xmlns:a="http://schemas.openxmlformats.org/drawingml/2006/main">
            <a:r>
              <a:t>Respuesta esperada</a:t>
            </a:r>
          </a:p>
          <a:p xmlns:a="http://schemas.openxmlformats.org/drawingml/2006/main">
            <a:r>
              <a:t>No; el aviso por sí solo no detiene recursos.</a:t>
            </a:r>
          </a:p>
          <a:p xmlns:a="http://schemas.openxmlformats.org/drawingml/2006/main">
            <a:r>
              <a:t/>
            </a:r>
          </a:p>
          <a:p xmlns:a="http://schemas.openxmlformats.org/drawingml/2006/main">
            <a:r>
              <a:t>Qué mostrar</a:t>
            </a:r>
          </a:p>
          <a:p xmlns:a="http://schemas.openxmlformats.org/drawingml/2006/main">
            <a:r>
              <a:t>Señalar el paso de cierre del README. La eliminación se ejecutará al final de la demostración.</a:t>
            </a:r>
          </a:p>
          <a:p xmlns:a="http://schemas.openxmlformats.org/drawingml/2006/main">
            <a:r>
              <a:t/>
            </a:r>
          </a:p>
          <a:p xmlns:a="http://schemas.openxmlformats.org/drawingml/2006/main">
            <a:r>
              <a:t>Transición</a:t>
            </a:r>
          </a:p>
          <a:p xmlns:a="http://schemas.openxmlformats.org/drawingml/2006/main">
            <a:r>
              <a:t>Además del gasto, debemos controlar la duplicación de la infraestructura.</a:t>
            </a:r>
          </a:p>
          <a:p xmlns:a="http://schemas.openxmlformats.org/drawingml/2006/main">
            <a:r>
              <a:t/>
            </a:r>
          </a:p>
          <a:p xmlns:a="http://schemas.openxmlformats.org/drawingml/2006/main">
            <a:r>
              <a:t>Fuentes</a:t>
            </a:r>
          </a:p>
          <a:p xmlns:a="http://schemas.openxmlformats.org/drawingml/2006/main">
            <a:r>
              <a:t>Ejemplo local: ejemplos/cloud-clase-2/ (inspeccionado el 15 de octubre de 2026).</a:t>
            </a:r>
          </a:p>
          <a:p xmlns:a="http://schemas.openxmlformats.org/drawingml/2006/main">
            <a:r>
              <a:t>https://learn.microsoft.com/en-us/azure/cost-management-billing/costs/tutorial-acm-create-budgets</a:t>
            </a:r>
          </a:p>
          <a:p xmlns:a="http://schemas.openxmlformats.org/drawingml/2006/main">
            <a:r>
              <a:t>https://learn.microsoft.com/en-us/azure/virtual-machines/states-billing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2 min · Ventana: 35–37 min</a:t>
            </a:r>
          </a:p>
          <a:p xmlns:a="http://schemas.openxmlformats.org/drawingml/2006/main">
            <a:r>
              <a:t/>
            </a:r>
          </a:p>
          <a:p xmlns:a="http://schemas.openxmlformats.org/drawingml/2006/main">
            <a:r>
              <a:t>Explicación sugerida</a:t>
            </a:r>
          </a:p>
          <a:p xmlns:a="http://schemas.openxmlformats.org/drawingml/2006/main">
            <a:r>
              <a:t>El provider azurerm traduce operaciones de Terraform a la API de Azure; local permite generar un archivo en la computadora del docente. Un resource declara una entidad gestionada. En el ejemplo, azurerm_resource_group es el tipo y this es la etiqueta local; name es el nombre real enviado a Azure. Leer estos tres nombres evita confundir la dirección del código con el nombre de la nube. Terraform describe el estado deseado y determina las operaciones necesarias; no es una lista de comandos SSH.</a:t>
            </a:r>
          </a:p>
          <a:p xmlns:a="http://schemas.openxmlformats.org/drawingml/2006/main">
            <a:r>
              <a:t/>
            </a:r>
          </a:p>
          <a:p xmlns:a="http://schemas.openxmlformats.org/drawingml/2006/main">
            <a:r>
              <a:t>Pregunta</a:t>
            </a:r>
          </a:p>
          <a:p xmlns:a="http://schemas.openxmlformats.org/drawingml/2006/main">
            <a:r>
              <a:t>¿Cambiar la etiqueta local this y cambiar name son exactamente la misma operación?</a:t>
            </a:r>
          </a:p>
          <a:p xmlns:a="http://schemas.openxmlformats.org/drawingml/2006/main">
            <a:r>
              <a:t/>
            </a:r>
          </a:p>
          <a:p xmlns:a="http://schemas.openxmlformats.org/drawingml/2006/main">
            <a:r>
              <a:t>Respuesta esperada</a:t>
            </a:r>
          </a:p>
          <a:p xmlns:a="http://schemas.openxmlformats.org/drawingml/2006/main">
            <a:r>
              <a:t>No. La etiqueta forma parte de la dirección de Terraform; name es una propiedad del recurso real. Un cambio requiere revisar el plan y, si corresponde, mover direcciones de estado.</a:t>
            </a:r>
          </a:p>
          <a:p xmlns:a="http://schemas.openxmlformats.org/drawingml/2006/main">
            <a:r>
              <a:t/>
            </a:r>
          </a:p>
          <a:p xmlns:a="http://schemas.openxmlformats.org/drawingml/2006/main">
            <a:r>
              <a:t>Qué mostrar</a:t>
            </a:r>
          </a:p>
          <a:p xmlns:a="http://schemas.openxmlformats.org/drawingml/2006/main">
            <a:r>
              <a:t>terraform/versions.tf y modules/web_server/main.tf.</a:t>
            </a:r>
          </a:p>
          <a:p xmlns:a="http://schemas.openxmlformats.org/drawingml/2006/main">
            <a:r>
              <a:t/>
            </a:r>
          </a:p>
          <a:p xmlns:a="http://schemas.openxmlformats.org/drawingml/2006/main">
            <a:r>
              <a:t>Transición</a:t>
            </a:r>
          </a:p>
          <a:p xmlns:a="http://schemas.openxmlformats.org/drawingml/2006/main">
            <a:r>
              <a:t>Las referencias indican relaciones entre recursos.</a:t>
            </a:r>
          </a:p>
          <a:p xmlns:a="http://schemas.openxmlformats.org/drawingml/2006/main">
            <a:r>
              <a:t/>
            </a:r>
          </a:p>
          <a:p xmlns:a="http://schemas.openxmlformats.org/drawingml/2006/main">
            <a:r>
              <a:t>Fuentes</a:t>
            </a:r>
          </a:p>
          <a:p xmlns:a="http://schemas.openxmlformats.org/drawingml/2006/main">
            <a:r>
              <a:t>Ejemplo local: ejemplos/cloud-clase-2/ (inspeccionado el 15 de octubre de 2026).</a:t>
            </a:r>
          </a:p>
          <a:p xmlns:a="http://schemas.openxmlformats.org/drawingml/2006/main">
            <a:r>
              <a:t>https://developer.hashicorp.com/terraform/language/providers</a:t>
            </a:r>
          </a:p>
          <a:p xmlns:a="http://schemas.openxmlformats.org/drawingml/2006/main">
            <a:r>
              <a:t>https://developer.hashicorp.com/terraform/language/resources</a:t>
            </a:r>
          </a:p>
          <a:p xmlns:a="http://schemas.openxmlformats.org/drawingml/2006/main">
            <a:r>
              <a:t>https://claude.ai/artifact/MvXoQYtxyDShTEwZK1F2NN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2 min · Ventana: 37–39 min</a:t>
            </a:r>
          </a:p>
          <a:p xmlns:a="http://schemas.openxmlformats.org/drawingml/2006/main">
            <a:r>
              <a:t/>
            </a:r>
          </a:p>
          <a:p xmlns:a="http://schemas.openxmlformats.org/drawingml/2006/main">
            <a:r>
              <a:t>Explicación sugerida</a:t>
            </a:r>
          </a:p>
          <a:p xmlns:a="http://schemas.openxmlformats.org/drawingml/2006/main">
            <a:r>
              <a:t>Las referencias entre atributos permiten inferir dependencias: por ejemplo, la red lee el grupo de recursos y la interfaz lee subred e IP. El grafo determina el orden; escribir un bloque primero no impone por sí mismo el orden de creación. El estado relaciona direcciones Terraform con IDs reales. En este ejemplo ambas llamadas comparten estado de la raíz. No borrar terraform.tfstate para volver a empezar: los recursos pueden permanecer y una nueva ejecución puede producir conflictos o intentar duplicarlos. Se debe conservar y recuperar el estado. El archivo puede contener datos sensibles. En trabajo de equipo se evalúa un backend remoto con controles de acceso y bloqueo compatibles.</a:t>
            </a:r>
          </a:p>
          <a:p xmlns:a="http://schemas.openxmlformats.org/drawingml/2006/main">
            <a:r>
              <a:t/>
            </a:r>
          </a:p>
          <a:p xmlns:a="http://schemas.openxmlformats.org/drawingml/2006/main">
            <a:r>
              <a:t>Pregunta</a:t>
            </a:r>
          </a:p>
          <a:p xmlns:a="http://schemas.openxmlformats.org/drawingml/2006/main">
            <a:r>
              <a:t>¿Borrar el estado elimina las VMs en Azure?</a:t>
            </a:r>
          </a:p>
          <a:p xmlns:a="http://schemas.openxmlformats.org/drawingml/2006/main">
            <a:r>
              <a:t/>
            </a:r>
          </a:p>
          <a:p xmlns:a="http://schemas.openxmlformats.org/drawingml/2006/main">
            <a:r>
              <a:t>Respuesta esperada</a:t>
            </a:r>
          </a:p>
          <a:p xmlns:a="http://schemas.openxmlformats.org/drawingml/2006/main">
            <a:r>
              <a:t>No. Borra la relación local con esos recursos y complica su administración.</a:t>
            </a:r>
          </a:p>
          <a:p xmlns:a="http://schemas.openxmlformats.org/drawingml/2006/main">
            <a:r>
              <a:t/>
            </a:r>
          </a:p>
          <a:p xmlns:a="http://schemas.openxmlformats.org/drawingml/2006/main">
            <a:r>
              <a:t>Qué mostrar</a:t>
            </a:r>
          </a:p>
          <a:p xmlns:a="http://schemas.openxmlformats.org/drawingml/2006/main">
            <a:r>
              <a:t>Leer una referencia resource_group_name y una dirección en state list; evitar proyectar el estado completo.</a:t>
            </a:r>
          </a:p>
          <a:p xmlns:a="http://schemas.openxmlformats.org/drawingml/2006/main">
            <a:r>
              <a:t/>
            </a:r>
          </a:p>
          <a:p xmlns:a="http://schemas.openxmlformats.org/drawingml/2006/main">
            <a:r>
              <a:t>Transición</a:t>
            </a:r>
          </a:p>
          <a:p xmlns:a="http://schemas.openxmlformats.org/drawingml/2006/main">
            <a:r>
              <a:t>Con esa memoria, Terraform puede mostrar un plan antes de aplicar.</a:t>
            </a:r>
          </a:p>
          <a:p xmlns:a="http://schemas.openxmlformats.org/drawingml/2006/main">
            <a:r>
              <a:t/>
            </a:r>
          </a:p>
          <a:p xmlns:a="http://schemas.openxmlformats.org/drawingml/2006/main">
            <a:r>
              <a:t>Fuentes</a:t>
            </a:r>
          </a:p>
          <a:p xmlns:a="http://schemas.openxmlformats.org/drawingml/2006/main">
            <a:r>
              <a:t>Ejemplo local: ejemplos/cloud-clase-2/ (inspeccionado el 15 de octubre de 2026).</a:t>
            </a:r>
          </a:p>
          <a:p xmlns:a="http://schemas.openxmlformats.org/drawingml/2006/main">
            <a:r>
              <a:t>https://developer.hashicorp.com/terraform/language/state</a:t>
            </a:r>
          </a:p>
          <a:p xmlns:a="http://schemas.openxmlformats.org/drawingml/2006/main">
            <a:r>
              <a:t>https://developer.hashicorp.com/terraform/language/resources</a:t>
            </a:r>
          </a:p>
          <a:p xmlns:a="http://schemas.openxmlformats.org/drawingml/2006/main">
            <a:r>
              <a:t>https://claude.ai/artifact/MvXoQYtxyDShTEwZK1F2NN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2 min · Ventana: 39–41 min</a:t>
            </a:r>
          </a:p>
          <a:p xmlns:a="http://schemas.openxmlformats.org/drawingml/2006/main">
            <a:r>
              <a:t/>
            </a:r>
          </a:p>
          <a:p xmlns:a="http://schemas.openxmlformats.org/drawingml/2006/main">
            <a:r>
              <a:t>Explicación sugerida</a:t>
            </a:r>
          </a:p>
          <a:p xmlns:a="http://schemas.openxmlformats.org/drawingml/2006/main">
            <a:r>
              <a:t>init prepara providers, módulos y backend; validate revisa coherencia de la configuración, no disponibilidad ni cuotas; plan anticipa operaciones y apply las ejecuta. Mostrar + crear, ~ actualizar, - destruir y -/+ reemplazar. Si se guarda un plan aprobado con plan -out, se puede aplicar ese archivo; el comando apply sin archivo vuelve a planificar. La lockfile .terraform.lock.hcl fija selecciones de providers y se versiona junto al código; el estado y la carpeta .terraform no. Esta distinción corrige una simplificación del material de referencia. plan no es una cotización, no garantiza que Azure tenga capacidad y puede usar lecturas de datos o actualizar metadatos locales.</a:t>
            </a:r>
          </a:p>
          <a:p xmlns:a="http://schemas.openxmlformats.org/drawingml/2006/main">
            <a:r>
              <a:t/>
            </a:r>
          </a:p>
          <a:p xmlns:a="http://schemas.openxmlformats.org/drawingml/2006/main">
            <a:r>
              <a:t>Pregunta</a:t>
            </a:r>
          </a:p>
          <a:p xmlns:a="http://schemas.openxmlformats.org/drawingml/2006/main">
            <a:r>
              <a:t>¿Un plan válido garantiza que la suscripción tenga cuota para crear las tres VMs?</a:t>
            </a:r>
          </a:p>
          <a:p xmlns:a="http://schemas.openxmlformats.org/drawingml/2006/main">
            <a:r>
              <a:t/>
            </a:r>
          </a:p>
          <a:p xmlns:a="http://schemas.openxmlformats.org/drawingml/2006/main">
            <a:r>
              <a:t>Respuesta esperada</a:t>
            </a:r>
          </a:p>
          <a:p xmlns:a="http://schemas.openxmlformats.org/drawingml/2006/main">
            <a:r>
              <a:t>No. La disponibilidad y cuota se comprueban en el proveedor y pueden impedir apply.</a:t>
            </a:r>
          </a:p>
          <a:p xmlns:a="http://schemas.openxmlformats.org/drawingml/2006/main">
            <a:r>
              <a:t/>
            </a:r>
          </a:p>
          <a:p xmlns:a="http://schemas.openxmlformats.org/drawingml/2006/main">
            <a:r>
              <a:t>Qué mostrar</a:t>
            </a:r>
          </a:p>
          <a:p xmlns:a="http://schemas.openxmlformats.org/drawingml/2006/main">
            <a:r>
              <a:t>versions.tf y, durante la demo, salida de terraform plan.</a:t>
            </a:r>
          </a:p>
          <a:p xmlns:a="http://schemas.openxmlformats.org/drawingml/2006/main">
            <a:r>
              <a:t/>
            </a:r>
          </a:p>
          <a:p xmlns:a="http://schemas.openxmlformats.org/drawingml/2006/main">
            <a:r>
              <a:t>Transición</a:t>
            </a:r>
          </a:p>
          <a:p xmlns:a="http://schemas.openxmlformats.org/drawingml/2006/main">
            <a:r>
              <a:t>Ahora relacionemos esas bases con el problema de copiar configuraciones.</a:t>
            </a:r>
          </a:p>
          <a:p xmlns:a="http://schemas.openxmlformats.org/drawingml/2006/main">
            <a:r>
              <a:t/>
            </a:r>
          </a:p>
          <a:p xmlns:a="http://schemas.openxmlformats.org/drawingml/2006/main">
            <a:r>
              <a:t>Fuentes</a:t>
            </a:r>
          </a:p>
          <a:p xmlns:a="http://schemas.openxmlformats.org/drawingml/2006/main">
            <a:r>
              <a:t>Ejemplo local: ejemplos/cloud-clase-2/ (inspeccionado el 15 de octubre de 2026).</a:t>
            </a:r>
          </a:p>
          <a:p xmlns:a="http://schemas.openxmlformats.org/drawingml/2006/main">
            <a:r>
              <a:t>https://developer.hashicorp.com/terraform/language/files/dependency-lock</a:t>
            </a:r>
          </a:p>
          <a:p xmlns:a="http://schemas.openxmlformats.org/drawingml/2006/main">
            <a:r>
              <a:t>https://developer.hashicorp.com/terraform/language/providers</a:t>
            </a:r>
          </a:p>
          <a:p xmlns:a="http://schemas.openxmlformats.org/drawingml/2006/main">
            <a:r>
              <a:t>https://claude.ai/artifact/MvXoQYtxyDShTEwZK1F2NN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2 min · Ventana: 41–43 min</a:t>
            </a:r>
          </a:p>
          <a:p xmlns:a="http://schemas.openxmlformats.org/drawingml/2006/main">
            <a:r>
              <a:t/>
            </a:r>
          </a:p>
          <a:p xmlns:a="http://schemas.openxmlformats.org/drawingml/2006/main">
            <a:r>
              <a:t>Explicación sugerida</a:t>
            </a:r>
          </a:p>
          <a:p xmlns:a="http://schemas.openxmlformats.org/drawingml/2006/main">
            <a:r>
              <a:t>Abrir 00-sin-modulos/main.tf y buscar la regla de SSH. El ejemplo pretende mostrar cómo dos copias se separan con el tiempo: una puede conservar una regla distinta. Un módulo reúne recursos relacionados para reutilizarlos cambiando entradas. No basta con mover archivos a una carpeta; la configuración raíz debe llamar al módulo. Tampoco un módulo vuelve segura cualquier entrada: admin_cidr puede recibir un rango demasiado amplio si el operador lo proporciona. El beneficio concreto es mantener una definición común que se pueda revisar y corregir.</a:t>
            </a:r>
          </a:p>
          <a:p xmlns:a="http://schemas.openxmlformats.org/drawingml/2006/main">
            <a:r>
              <a:t/>
            </a:r>
          </a:p>
          <a:p xmlns:a="http://schemas.openxmlformats.org/drawingml/2006/main">
            <a:r>
              <a:t>Pregunta</a:t>
            </a:r>
          </a:p>
          <a:p xmlns:a="http://schemas.openxmlformats.org/drawingml/2006/main">
            <a:r>
              <a:t>Si corregimos una regla en una copia, ¿se corrige automáticamente la otra?</a:t>
            </a:r>
          </a:p>
          <a:p xmlns:a="http://schemas.openxmlformats.org/drawingml/2006/main">
            <a:r>
              <a:t/>
            </a:r>
          </a:p>
          <a:p xmlns:a="http://schemas.openxmlformats.org/drawingml/2006/main">
            <a:r>
              <a:t>Respuesta esperada</a:t>
            </a:r>
          </a:p>
          <a:p xmlns:a="http://schemas.openxmlformats.org/drawingml/2006/main">
            <a:r>
              <a:t>No. Con duplicación hay que localizar y mantener cada copia.</a:t>
            </a:r>
          </a:p>
          <a:p xmlns:a="http://schemas.openxmlformats.org/drawingml/2006/main">
            <a:r>
              <a:t/>
            </a:r>
          </a:p>
          <a:p xmlns:a="http://schemas.openxmlformats.org/drawingml/2006/main">
            <a:r>
              <a:t>Qué mostrar</a:t>
            </a:r>
          </a:p>
          <a:p xmlns:a="http://schemas.openxmlformats.org/drawingml/2006/main">
            <a:r>
              <a:t>terraform/00-sin-modulos/main.tf y luego terraform/modules/web_server/main.tf.</a:t>
            </a:r>
          </a:p>
          <a:p xmlns:a="http://schemas.openxmlformats.org/drawingml/2006/main">
            <a:r>
              <a:t/>
            </a:r>
          </a:p>
          <a:p xmlns:a="http://schemas.openxmlformats.org/drawingml/2006/main">
            <a:r>
              <a:t>Transición</a:t>
            </a:r>
          </a:p>
          <a:p xmlns:a="http://schemas.openxmlformats.org/drawingml/2006/main">
            <a:r>
              <a:t>Veamos las entradas y salidas de esa definición compartida.</a:t>
            </a:r>
          </a:p>
          <a:p xmlns:a="http://schemas.openxmlformats.org/drawingml/2006/main">
            <a:r>
              <a:t/>
            </a:r>
          </a:p>
          <a:p xmlns:a="http://schemas.openxmlformats.org/drawingml/2006/main">
            <a:r>
              <a:t>Fuentes</a:t>
            </a:r>
          </a:p>
          <a:p xmlns:a="http://schemas.openxmlformats.org/drawingml/2006/main">
            <a:r>
              <a:t>Ejemplo local: ejemplos/cloud-clase-2/ (inspeccionado el 15 de octubre de 2026).</a:t>
            </a:r>
          </a:p>
          <a:p xmlns:a="http://schemas.openxmlformats.org/drawingml/2006/main">
            <a:r>
              <a:t>https://developer.hashicorp.com/terraform/language/modules/develop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2 min · Ventana: 43–45 min</a:t>
            </a:r>
          </a:p>
          <a:p xmlns:a="http://schemas.openxmlformats.org/drawingml/2006/main">
            <a:r>
              <a:t/>
            </a:r>
          </a:p>
          <a:p xmlns:a="http://schemas.openxmlformats.org/drawingml/2006/main">
            <a:r>
              <a:t>Explicación sugerida</a:t>
            </a:r>
          </a:p>
          <a:p xmlns:a="http://schemas.openxmlformats.org/drawingml/2006/main">
            <a:r>
              <a:t>Explicar el módulo web_server con la analogía de parámetros, cuerpo y resultado. environment participa en nombres y etiquetas; instance_count controla cuántas IPs, interfaces y VMs se crean mediante count. admin_cidr determina el origen autorizado para SSH. La salida public_ips recoge las direcciones creadas y permite que la raíz genere el inventario. Esta analogía ayuda a leer, pero un módulo no es una función que se ejecute una sola vez y desaparezca: sus recursos quedan identificados en el estado. main.tf, variables.tf y outputs.tf son una convención de organización.</a:t>
            </a:r>
          </a:p>
          <a:p xmlns:a="http://schemas.openxmlformats.org/drawingml/2006/main">
            <a:r>
              <a:t/>
            </a:r>
          </a:p>
          <a:p xmlns:a="http://schemas.openxmlformats.org/drawingml/2006/main">
            <a:r>
              <a:t>Pregunta</a:t>
            </a:r>
          </a:p>
          <a:p xmlns:a="http://schemas.openxmlformats.org/drawingml/2006/main">
            <a:r>
              <a:t>¿Qué información necesita Ansible que Terraform descubre al crear las VMs?</a:t>
            </a:r>
          </a:p>
          <a:p xmlns:a="http://schemas.openxmlformats.org/drawingml/2006/main">
            <a:r>
              <a:t/>
            </a:r>
          </a:p>
          <a:p xmlns:a="http://schemas.openxmlformats.org/drawingml/2006/main">
            <a:r>
              <a:t>Respuesta esperada</a:t>
            </a:r>
          </a:p>
          <a:p xmlns:a="http://schemas.openxmlformats.org/drawingml/2006/main">
            <a:r>
              <a:t>Sus direcciones IP públicas, expuestas por el módulo.</a:t>
            </a:r>
          </a:p>
          <a:p xmlns:a="http://schemas.openxmlformats.org/drawingml/2006/main">
            <a:r>
              <a:t/>
            </a:r>
          </a:p>
          <a:p xmlns:a="http://schemas.openxmlformats.org/drawingml/2006/main">
            <a:r>
              <a:t>Qué mostrar</a:t>
            </a:r>
          </a:p>
          <a:p xmlns:a="http://schemas.openxmlformats.org/drawingml/2006/main">
            <a:r>
              <a:t>modules/web_server/variables.tf → main.tf → outputs.tf.</a:t>
            </a:r>
          </a:p>
          <a:p xmlns:a="http://schemas.openxmlformats.org/drawingml/2006/main">
            <a:r>
              <a:t/>
            </a:r>
          </a:p>
          <a:p xmlns:a="http://schemas.openxmlformats.org/drawingml/2006/main">
            <a:r>
              <a:t>Transición</a:t>
            </a:r>
          </a:p>
          <a:p xmlns:a="http://schemas.openxmlformats.org/drawingml/2006/main">
            <a:r>
              <a:t>El mismo contrato puede usarse con parámetros distintos.</a:t>
            </a:r>
          </a:p>
          <a:p xmlns:a="http://schemas.openxmlformats.org/drawingml/2006/main">
            <a:r>
              <a:t/>
            </a:r>
          </a:p>
          <a:p xmlns:a="http://schemas.openxmlformats.org/drawingml/2006/main">
            <a:r>
              <a:t>Fuentes</a:t>
            </a:r>
          </a:p>
          <a:p xmlns:a="http://schemas.openxmlformats.org/drawingml/2006/main">
            <a:r>
              <a:t>Ejemplo local: ejemplos/cloud-clase-2/ (inspeccionado el 15 de octubre de 2026).</a:t>
            </a:r>
          </a:p>
          <a:p xmlns:a="http://schemas.openxmlformats.org/drawingml/2006/main">
            <a:r>
              <a:t>https://developer.hashicorp.com/terraform/language/modules/develop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2 min · Ventana: 45–47 min</a:t>
            </a:r>
          </a:p>
          <a:p xmlns:a="http://schemas.openxmlformats.org/drawingml/2006/main">
            <a:r>
              <a:t/>
            </a:r>
          </a:p>
          <a:p xmlns:a="http://schemas.openxmlformats.org/drawingml/2006/main">
            <a:r>
              <a:t>Explicación sugerida</a:t>
            </a:r>
          </a:p>
          <a:p xmlns:a="http://schemas.openxmlformats.org/drawingml/2006/main">
            <a:r>
              <a:t>Mostrar las dos llamadas reales y aclarar que el extracto omite entradas para proyectarlo. Las llamadas comparten source, pero environment, location, instance_count y address_space permiten producir recursos diferentes. En el repositorio staging usa la región location y producción prod_location. Cada instancia tiene su grupo de recursos y red; no comparten una red por el hecho de usar el mismo módulo. Señalar module.staging y module.prod en las direcciones del estado. Son dos ambientes dentro de una misma configuración raíz y un mismo estado: aquí no se enseña aislamiento mediante estados separados.</a:t>
            </a:r>
          </a:p>
          <a:p xmlns:a="http://schemas.openxmlformats.org/drawingml/2006/main">
            <a:r>
              <a:t/>
            </a:r>
          </a:p>
          <a:p xmlns:a="http://schemas.openxmlformats.org/drawingml/2006/main">
            <a:r>
              <a:t>Pregunta</a:t>
            </a:r>
          </a:p>
          <a:p xmlns:a="http://schemas.openxmlformats.org/drawingml/2006/main">
            <a:r>
              <a:t>¿Compartir el código del módulo significa compartir la misma VM o red?</a:t>
            </a:r>
          </a:p>
          <a:p xmlns:a="http://schemas.openxmlformats.org/drawingml/2006/main">
            <a:r>
              <a:t/>
            </a:r>
          </a:p>
          <a:p xmlns:a="http://schemas.openxmlformats.org/drawingml/2006/main">
            <a:r>
              <a:t>Respuesta esperada</a:t>
            </a:r>
          </a:p>
          <a:p xmlns:a="http://schemas.openxmlformats.org/drawingml/2006/main">
            <a:r>
              <a:t>No. Cada llamada define su propia instancia de los recursos.</a:t>
            </a:r>
          </a:p>
          <a:p xmlns:a="http://schemas.openxmlformats.org/drawingml/2006/main">
            <a:r>
              <a:t/>
            </a:r>
          </a:p>
          <a:p xmlns:a="http://schemas.openxmlformats.org/drawingml/2006/main">
            <a:r>
              <a:t>Qué mostrar</a:t>
            </a:r>
          </a:p>
          <a:p xmlns:a="http://schemas.openxmlformats.org/drawingml/2006/main">
            <a:r>
              <a:t>terraform/main.tf y, durante la demostración, terraform state list.</a:t>
            </a:r>
          </a:p>
          <a:p xmlns:a="http://schemas.openxmlformats.org/drawingml/2006/main">
            <a:r>
              <a:t/>
            </a:r>
          </a:p>
          <a:p xmlns:a="http://schemas.openxmlformats.org/drawingml/2006/main">
            <a:r>
              <a:t>Transición</a:t>
            </a:r>
          </a:p>
          <a:p xmlns:a="http://schemas.openxmlformats.org/drawingml/2006/main">
            <a:r>
              <a:t>Las salidas conectan esta infraestructura con la configuración del software.</a:t>
            </a:r>
          </a:p>
          <a:p xmlns:a="http://schemas.openxmlformats.org/drawingml/2006/main">
            <a:r>
              <a:t/>
            </a:r>
          </a:p>
          <a:p xmlns:a="http://schemas.openxmlformats.org/drawingml/2006/main">
            <a:r>
              <a:t>Fuentes</a:t>
            </a:r>
          </a:p>
          <a:p xmlns:a="http://schemas.openxmlformats.org/drawingml/2006/main">
            <a:r>
              <a:t>Ejemplo local: ejemplos/cloud-clase-2/ (inspeccionado el 15 de octubre de 2026).</a:t>
            </a:r>
          </a:p>
          <a:p xmlns:a="http://schemas.openxmlformats.org/drawingml/2006/main">
            <a:r>
              <a:t>https://developer.hashicorp.com/terraform/language/block/module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2 min · Ventana: 47–49 min</a:t>
            </a:r>
          </a:p>
          <a:p xmlns:a="http://schemas.openxmlformats.org/drawingml/2006/main">
            <a:r>
              <a:t/>
            </a:r>
          </a:p>
          <a:p xmlns:a="http://schemas.openxmlformats.org/drawingml/2006/main">
            <a:r>
              <a:t>Explicación sugerida</a:t>
            </a:r>
          </a:p>
          <a:p xmlns:a="http://schemas.openxmlformats.org/drawingml/2006/main">
            <a:r>
              <a:t>instance_count vale uno en staging y dos en producción. El módulo usa count en IP, interfaz y VM; count.index permite enlazar cada interfaz con su IP y cada VM con su interfaz. Los índices comienzan en cero. La referencia web[1] identifica la segunda instancia del recurso, no una segunda definición del módulo. El operador [*] recoge un atributo de todas las instancias. La dirección completa module.prod.azurerm_linux_virtual_machine.web[1] combina llamada, tipo, etiqueta e índice. Si cambiamos la cantidad, debemos revisar el plan: reducir count puede proponer destruir instancias; no es un cambio puramente documental.</a:t>
            </a:r>
          </a:p>
          <a:p xmlns:a="http://schemas.openxmlformats.org/drawingml/2006/main">
            <a:r>
              <a:t/>
            </a:r>
          </a:p>
          <a:p xmlns:a="http://schemas.openxmlformats.org/drawingml/2006/main">
            <a:r>
              <a:t>Pregunta</a:t>
            </a:r>
          </a:p>
          <a:p xmlns:a="http://schemas.openxmlformats.org/drawingml/2006/main">
            <a:r>
              <a:t>¿Cuántas VMs propone crear count cuando instance_count vale dos?</a:t>
            </a:r>
          </a:p>
          <a:p xmlns:a="http://schemas.openxmlformats.org/drawingml/2006/main">
            <a:r>
              <a:t/>
            </a:r>
          </a:p>
          <a:p xmlns:a="http://schemas.openxmlformats.org/drawingml/2006/main">
            <a:r>
              <a:t>Respuesta esperada</a:t>
            </a:r>
          </a:p>
          <a:p xmlns:a="http://schemas.openxmlformats.org/drawingml/2006/main">
            <a:r>
              <a:t>Dos instancias del recurso, con índices 0 y 1.</a:t>
            </a:r>
          </a:p>
          <a:p xmlns:a="http://schemas.openxmlformats.org/drawingml/2006/main">
            <a:r>
              <a:t/>
            </a:r>
          </a:p>
          <a:p xmlns:a="http://schemas.openxmlformats.org/drawingml/2006/main">
            <a:r>
              <a:t>Qué mostrar</a:t>
            </a:r>
          </a:p>
          <a:p xmlns:a="http://schemas.openxmlformats.org/drawingml/2006/main">
            <a:r>
              <a:t>modules/web_server/main.tf: count en IPs, NICs y VMs; outputs.tf para [*].</a:t>
            </a:r>
          </a:p>
          <a:p xmlns:a="http://schemas.openxmlformats.org/drawingml/2006/main">
            <a:r>
              <a:t/>
            </a:r>
          </a:p>
          <a:p xmlns:a="http://schemas.openxmlformats.org/drawingml/2006/main">
            <a:r>
              <a:t>Transición</a:t>
            </a:r>
          </a:p>
          <a:p xmlns:a="http://schemas.openxmlformats.org/drawingml/2006/main">
            <a:r>
              <a:t>Esas direcciones e IPs se exponen mediante salidas.</a:t>
            </a:r>
          </a:p>
          <a:p xmlns:a="http://schemas.openxmlformats.org/drawingml/2006/main">
            <a:r>
              <a:t/>
            </a:r>
          </a:p>
          <a:p xmlns:a="http://schemas.openxmlformats.org/drawingml/2006/main">
            <a:r>
              <a:t>Fuentes</a:t>
            </a:r>
          </a:p>
          <a:p xmlns:a="http://schemas.openxmlformats.org/drawingml/2006/main">
            <a:r>
              <a:t>Ejemplo local: ejemplos/cloud-clase-2/ (inspeccionado el 15 de octubre de 2026).</a:t>
            </a:r>
          </a:p>
          <a:p xmlns:a="http://schemas.openxmlformats.org/drawingml/2006/main">
            <a:r>
              <a:t>https://developer.hashicorp.com/terraform/language/meta-arguments/count</a:t>
            </a:r>
          </a:p>
          <a:p xmlns:a="http://schemas.openxmlformats.org/drawingml/2006/main">
            <a:r>
              <a:t>https://claude.ai/artifact/MvXoQYtxyDShTEwZK1F2NN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1 min · Ventana: 49–50 min</a:t>
            </a:r>
          </a:p>
          <a:p xmlns:a="http://schemas.openxmlformats.org/drawingml/2006/main">
            <a:r>
              <a:t/>
            </a:r>
          </a:p>
          <a:p xmlns:a="http://schemas.openxmlformats.org/drawingml/2006/main">
            <a:r>
              <a:t>Explicación sugerida</a:t>
            </a:r>
          </a:p>
          <a:p xmlns:a="http://schemas.openxmlformats.org/drawingml/2006/main">
            <a:r>
              <a:t>Seguir el dato, no memorizar comandos: las IPs nacen en recursos de Azure, el módulo las expone y la raíz las entrega a templatefile. inventory.tftpl crea los grupos staging y prod, y web reúne ambos como hijos. local_file escribe el resultado en ansible/inventory.ini. El inventario generado no se edita manualmente: una siguiente ejecución puede sobrescribirlo. Terraform no está ejecutando los roles de Ansible en este ejemplo; después el docente invoca ansible-playbook.</a:t>
            </a:r>
          </a:p>
          <a:p xmlns:a="http://schemas.openxmlformats.org/drawingml/2006/main">
            <a:r>
              <a:t/>
            </a:r>
          </a:p>
          <a:p xmlns:a="http://schemas.openxmlformats.org/drawingml/2006/main">
            <a:r>
              <a:t>Pregunta</a:t>
            </a:r>
          </a:p>
          <a:p xmlns:a="http://schemas.openxmlformats.org/drawingml/2006/main">
            <a:r>
              <a:t>¿Generar inventory.ini ya instala Nginx?</a:t>
            </a:r>
          </a:p>
          <a:p xmlns:a="http://schemas.openxmlformats.org/drawingml/2006/main">
            <a:r>
              <a:t/>
            </a:r>
          </a:p>
          <a:p xmlns:a="http://schemas.openxmlformats.org/drawingml/2006/main">
            <a:r>
              <a:t>Respuesta esperada</a:t>
            </a:r>
          </a:p>
          <a:p xmlns:a="http://schemas.openxmlformats.org/drawingml/2006/main">
            <a:r>
              <a:t>No. Solo deja los destinos preparados para que Ansible los utilice.</a:t>
            </a:r>
          </a:p>
          <a:p xmlns:a="http://schemas.openxmlformats.org/drawingml/2006/main">
            <a:r>
              <a:t/>
            </a:r>
          </a:p>
          <a:p xmlns:a="http://schemas.openxmlformats.org/drawingml/2006/main">
            <a:r>
              <a:t>Qué mostrar</a:t>
            </a:r>
          </a:p>
          <a:p xmlns:a="http://schemas.openxmlformats.org/drawingml/2006/main">
            <a:r>
              <a:t>terraform/inventory.tftpl y el recurso local_file de terraform/main.tf.</a:t>
            </a:r>
          </a:p>
          <a:p xmlns:a="http://schemas.openxmlformats.org/drawingml/2006/main">
            <a:r>
              <a:t/>
            </a:r>
          </a:p>
          <a:p xmlns:a="http://schemas.openxmlformats.org/drawingml/2006/main">
            <a:r>
              <a:t>Transición</a:t>
            </a:r>
          </a:p>
          <a:p xmlns:a="http://schemas.openxmlformats.org/drawingml/2006/main">
            <a:r>
              <a:t>Ahora veamos cómo Ansible utiliza esos destinos.</a:t>
            </a:r>
          </a:p>
          <a:p xmlns:a="http://schemas.openxmlformats.org/drawingml/2006/main">
            <a:r>
              <a:t/>
            </a:r>
          </a:p>
          <a:p xmlns:a="http://schemas.openxmlformats.org/drawingml/2006/main">
            <a:r>
              <a:t>Fuentes</a:t>
            </a:r>
          </a:p>
          <a:p xmlns:a="http://schemas.openxmlformats.org/drawingml/2006/main">
            <a:r>
              <a:t>Ejemplo local: ejemplos/cloud-clase-2/ (inspeccionado el 15 de octubre de 2026).</a:t>
            </a:r>
          </a:p>
          <a:p xmlns:a="http://schemas.openxmlformats.org/drawingml/2006/main">
            <a:r>
              <a:t>https://developer.hashicorp.com/terraform/language/block/module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2 min · Ventana: 50–52 min</a:t>
            </a:r>
          </a:p>
          <a:p xmlns:a="http://schemas.openxmlformats.org/drawingml/2006/main">
            <a:r>
              <a:t/>
            </a:r>
          </a:p>
          <a:p xmlns:a="http://schemas.openxmlformats.org/drawingml/2006/main">
            <a:r>
              <a:t>Explicación sugerida</a:t>
            </a:r>
          </a:p>
          <a:p xmlns:a="http://schemas.openxmlformats.org/drawingml/2006/main">
            <a:r>
              <a:t>Ansible se ejecuta desde el equipo controlador y en este ejemplo conecta por SSH como azureuser, usando la clave configurada en ansible.cfg. El inventario organiza destinos por grupos; web contiene staging y prod como grupos hijos. No instalar un agente persistente no elimina los requisitos del destino: estos módulos de Linux requieren Python y permisos adecuados. ping de Ansible prueba que puede conectar y ejecutar su módulo, no usa ICMP. El inventario de la diapositiva presenta nombres simbólicos para leer la estructura; en la demo el archivo generado contiene las IPs reales.</a:t>
            </a:r>
          </a:p>
          <a:p xmlns:a="http://schemas.openxmlformats.org/drawingml/2006/main">
            <a:r>
              <a:t/>
            </a:r>
          </a:p>
          <a:p xmlns:a="http://schemas.openxmlformats.org/drawingml/2006/main">
            <a:r>
              <a:t>Pregunta</a:t>
            </a:r>
          </a:p>
          <a:p xmlns:a="http://schemas.openxmlformats.org/drawingml/2006/main">
            <a:r>
              <a:t>¿Por qué el grupo web alcanza a las máquinas de ambos ambientes?</a:t>
            </a:r>
          </a:p>
          <a:p xmlns:a="http://schemas.openxmlformats.org/drawingml/2006/main">
            <a:r>
              <a:t/>
            </a:r>
          </a:p>
          <a:p xmlns:a="http://schemas.openxmlformats.org/drawingml/2006/main">
            <a:r>
              <a:t>Respuesta esperada</a:t>
            </a:r>
          </a:p>
          <a:p xmlns:a="http://schemas.openxmlformats.org/drawingml/2006/main">
            <a:r>
              <a:t>Porque contiene a staging y prod en [web:children].</a:t>
            </a:r>
          </a:p>
          <a:p xmlns:a="http://schemas.openxmlformats.org/drawingml/2006/main">
            <a:r>
              <a:t/>
            </a:r>
          </a:p>
          <a:p xmlns:a="http://schemas.openxmlformats.org/drawingml/2006/main">
            <a:r>
              <a:t>Qué mostrar</a:t>
            </a:r>
          </a:p>
          <a:p xmlns:a="http://schemas.openxmlformats.org/drawingml/2006/main">
            <a:r>
              <a:t>ansible.cfg y el inventario generado; ansible-inventory --graph durante la demo.</a:t>
            </a:r>
          </a:p>
          <a:p xmlns:a="http://schemas.openxmlformats.org/drawingml/2006/main">
            <a:r>
              <a:t/>
            </a:r>
          </a:p>
          <a:p xmlns:a="http://schemas.openxmlformats.org/drawingml/2006/main">
            <a:r>
              <a:t>Transición</a:t>
            </a:r>
          </a:p>
          <a:p xmlns:a="http://schemas.openxmlformats.org/drawingml/2006/main">
            <a:r>
              <a:t>Cada tarea llama un módulo de Ansible.</a:t>
            </a:r>
          </a:p>
          <a:p xmlns:a="http://schemas.openxmlformats.org/drawingml/2006/main">
            <a:r>
              <a:t/>
            </a:r>
          </a:p>
          <a:p xmlns:a="http://schemas.openxmlformats.org/drawingml/2006/main">
            <a:r>
              <a:t>Fuentes</a:t>
            </a:r>
          </a:p>
          <a:p xmlns:a="http://schemas.openxmlformats.org/drawingml/2006/main">
            <a:r>
              <a:t>Ejemplo local: ejemplos/cloud-clase-2/ (inspeccionado el 15 de octubre de 2026).</a:t>
            </a:r>
          </a:p>
          <a:p xmlns:a="http://schemas.openxmlformats.org/drawingml/2006/main">
            <a:r>
              <a:t>https://docs.ansible.com/projects/ansible/latest/playbook_guide/playbooks_intro.html</a:t>
            </a:r>
          </a:p>
          <a:p xmlns:a="http://schemas.openxmlformats.org/drawingml/2006/main">
            <a:r>
              <a:t>https://claude.ai/artifact/MvXoQYtxyDShTEwZK1F2NN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3 min · Ventana: 52–55 min</a:t>
            </a:r>
          </a:p>
          <a:p xmlns:a="http://schemas.openxmlformats.org/drawingml/2006/main">
            <a:r>
              <a:t/>
            </a:r>
          </a:p>
          <a:p xmlns:a="http://schemas.openxmlformats.org/drawingml/2006/main">
            <a:r>
              <a:t>Explicación sugerida</a:t>
            </a:r>
          </a:p>
          <a:p xmlns:a="http://schemas.openxmlformats.org/drawingml/2006/main">
            <a:r>
              <a:t>Un módulo de Ansible implementa una operación concreta. apt gestiona paquetes, copy publica archivos, template escribe un archivo a partir de variables y service controla servicios. Una task invoca ese módulo con argumentos y un nombre legible. Leer state: present como el estado que se desea comprobar, no como una orden para reinstalar siempre. En la estrategia lineal por defecto, la secuencia de tareas se aplica a los hosts del conjunto activo; no todas las estrategias de Ansible tienen exactamente ese orden. Distinguir el término módulo: en Terraform agrupa configuración y recursos reutilizables; en Ansible suele referirse a la unidad de operación invocada por la tarea.</a:t>
            </a:r>
          </a:p>
          <a:p xmlns:a="http://schemas.openxmlformats.org/drawingml/2006/main">
            <a:r>
              <a:t/>
            </a:r>
          </a:p>
          <a:p xmlns:a="http://schemas.openxmlformats.org/drawingml/2006/main">
            <a:r>
              <a:t>Pregunta</a:t>
            </a:r>
          </a:p>
          <a:p xmlns:a="http://schemas.openxmlformats.org/drawingml/2006/main">
            <a:r>
              <a:t>¿Un módulo de Terraform y ansible.builtin.apt son el mismo concepto?</a:t>
            </a:r>
          </a:p>
          <a:p xmlns:a="http://schemas.openxmlformats.org/drawingml/2006/main">
            <a:r>
              <a:t/>
            </a:r>
          </a:p>
          <a:p xmlns:a="http://schemas.openxmlformats.org/drawingml/2006/main">
            <a:r>
              <a:t>Respuesta esperada</a:t>
            </a:r>
          </a:p>
          <a:p xmlns:a="http://schemas.openxmlformats.org/drawingml/2006/main">
            <a:r>
              <a:t>No. El primero agrupa infraestructura; el segundo implementa una operación que una tarea utiliza.</a:t>
            </a:r>
          </a:p>
          <a:p xmlns:a="http://schemas.openxmlformats.org/drawingml/2006/main">
            <a:r>
              <a:t/>
            </a:r>
          </a:p>
          <a:p xmlns:a="http://schemas.openxmlformats.org/drawingml/2006/main">
            <a:r>
              <a:t>Qué mostrar</a:t>
            </a:r>
          </a:p>
          <a:p xmlns:a="http://schemas.openxmlformats.org/drawingml/2006/main">
            <a:r>
              <a:t>roles/webserver/tasks/main.yml: tarea Instalar nginx.</a:t>
            </a:r>
          </a:p>
          <a:p xmlns:a="http://schemas.openxmlformats.org/drawingml/2006/main">
            <a:r>
              <a:t/>
            </a:r>
          </a:p>
          <a:p xmlns:a="http://schemas.openxmlformats.org/drawingml/2006/main">
            <a:r>
              <a:t>Transición</a:t>
            </a:r>
          </a:p>
          <a:p xmlns:a="http://schemas.openxmlformats.org/drawingml/2006/main">
            <a:r>
              <a:t>El play selecciona equipos y compone ese trabajo.</a:t>
            </a:r>
          </a:p>
          <a:p xmlns:a="http://schemas.openxmlformats.org/drawingml/2006/main">
            <a:r>
              <a:t/>
            </a:r>
          </a:p>
          <a:p xmlns:a="http://schemas.openxmlformats.org/drawingml/2006/main">
            <a:r>
              <a:t>Fuentes</a:t>
            </a:r>
          </a:p>
          <a:p xmlns:a="http://schemas.openxmlformats.org/drawingml/2006/main">
            <a:r>
              <a:t>Ejemplo local: ejemplos/cloud-clase-2/ (inspeccionado el 15 de octubre de 2026).</a:t>
            </a:r>
          </a:p>
          <a:p xmlns:a="http://schemas.openxmlformats.org/drawingml/2006/main">
            <a:r>
              <a:t>https://docs.ansible.com/projects/ansible/latest/playbook_guide/playbooks_intro.html</a:t>
            </a:r>
          </a:p>
          <a:p xmlns:a="http://schemas.openxmlformats.org/drawingml/2006/main">
            <a:r>
              <a:t>https://claude.ai/artifact/MvXoQYtxyDShTEwZK1F2NN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2 min · Ventana: 55–57 min</a:t>
            </a:r>
          </a:p>
          <a:p xmlns:a="http://schemas.openxmlformats.org/drawingml/2006/main">
            <a:r>
              <a:t/>
            </a:r>
          </a:p>
          <a:p xmlns:a="http://schemas.openxmlformats.org/drawingml/2006/main">
            <a:r>
              <a:t>Explicación sugerida</a:t>
            </a:r>
          </a:p>
          <a:p xmlns:a="http://schemas.openxmlformats.org/drawingml/2006/main">
            <a:r>
              <a:t>Un inventario indica a qué equipos conectarse. Un play relaciona un grupo de equipos con tareas y opciones de ejecución; un playbook contiene uno o más plays. En site.yml, hosts: web selecciona staging y prod mediante el inventario generado. become: true solicita elevación de privilegios para instalar paquetes y escribir configuración. common prepara paquetes y zona horaria; webserver instala y configura la web. Leer el playbook de arriba abajo permite anticipar el recorrido antes de ejecutarlo. YAML exige respetar la indentación.</a:t>
            </a:r>
          </a:p>
          <a:p xmlns:a="http://schemas.openxmlformats.org/drawingml/2006/main">
            <a:r>
              <a:t/>
            </a:r>
          </a:p>
          <a:p xmlns:a="http://schemas.openxmlformats.org/drawingml/2006/main">
            <a:r>
              <a:t>Pregunta</a:t>
            </a:r>
          </a:p>
          <a:p xmlns:a="http://schemas.openxmlformats.org/drawingml/2006/main">
            <a:r>
              <a:t>¿Qué cambiaría si el play seleccionara hosts: staging?</a:t>
            </a:r>
          </a:p>
          <a:p xmlns:a="http://schemas.openxmlformats.org/drawingml/2006/main">
            <a:r>
              <a:t/>
            </a:r>
          </a:p>
          <a:p xmlns:a="http://schemas.openxmlformats.org/drawingml/2006/main">
            <a:r>
              <a:t>Respuesta esperada</a:t>
            </a:r>
          </a:p>
          <a:p xmlns:a="http://schemas.openxmlformats.org/drawingml/2006/main">
            <a:r>
              <a:t>Ese play actuaría sobre los destinos de staging en lugar del grupo web completo.</a:t>
            </a:r>
          </a:p>
          <a:p xmlns:a="http://schemas.openxmlformats.org/drawingml/2006/main">
            <a:r>
              <a:t/>
            </a:r>
          </a:p>
          <a:p xmlns:a="http://schemas.openxmlformats.org/drawingml/2006/main">
            <a:r>
              <a:t>Qué mostrar</a:t>
            </a:r>
          </a:p>
          <a:p xmlns:a="http://schemas.openxmlformats.org/drawingml/2006/main">
            <a:r>
              <a:t>ansible/site.yml y terraform/inventory.tftpl.</a:t>
            </a:r>
          </a:p>
          <a:p xmlns:a="http://schemas.openxmlformats.org/drawingml/2006/main">
            <a:r>
              <a:t/>
            </a:r>
          </a:p>
          <a:p xmlns:a="http://schemas.openxmlformats.org/drawingml/2006/main">
            <a:r>
              <a:t>Transición</a:t>
            </a:r>
          </a:p>
          <a:p xmlns:a="http://schemas.openxmlformats.org/drawingml/2006/main">
            <a:r>
              <a:t>La organización en roles permite separar responsabilidades dentro del playbook.</a:t>
            </a:r>
          </a:p>
          <a:p xmlns:a="http://schemas.openxmlformats.org/drawingml/2006/main">
            <a:r>
              <a:t/>
            </a:r>
          </a:p>
          <a:p xmlns:a="http://schemas.openxmlformats.org/drawingml/2006/main">
            <a:r>
              <a:t>Fuentes</a:t>
            </a:r>
          </a:p>
          <a:p xmlns:a="http://schemas.openxmlformats.org/drawingml/2006/main">
            <a:r>
              <a:t>Ejemplo local: ejemplos/cloud-clase-2/ (inspeccionado el 15 de octubre de 2026).</a:t>
            </a:r>
          </a:p>
          <a:p xmlns:a="http://schemas.openxmlformats.org/drawingml/2006/main">
            <a:r>
              <a:t>https://docs.ansible.com/projects/ansible/latest/playbook_guide/playbooks_intro.html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3 min · Ventana: 57–60 min</a:t>
            </a:r>
          </a:p>
          <a:p xmlns:a="http://schemas.openxmlformats.org/drawingml/2006/main">
            <a:r>
              <a:t/>
            </a:r>
          </a:p>
          <a:p xmlns:a="http://schemas.openxmlformats.org/drawingml/2006/main">
            <a:r>
              <a:t>Explicación sugerida</a:t>
            </a:r>
          </a:p>
          <a:p xmlns:a="http://schemas.openxmlformats.org/drawingml/2006/main">
            <a:r>
              <a:t>Comparar playbook-plano.yml con site.yml. El playbook plano es válido y se puede ejecutar otra vez; el problema didáctico es que mezcla tareas concretas y resulta menos cómodo extraerlas para otros proyectos. El rol agrupa archivos relacionados bajo una estructura que Ansible reconoce. No se necesitan todas las carpetas posibles de un rol. En nuestro caso defaults proporciona una configuración inicial, tasks describe el trabajo, templates construye el archivo del servidor y handlers declara la recarga. Mantener common separado permite distinguir la preparación general del sistema de la publicación de la web.</a:t>
            </a:r>
          </a:p>
          <a:p xmlns:a="http://schemas.openxmlformats.org/drawingml/2006/main">
            <a:r>
              <a:t/>
            </a:r>
          </a:p>
          <a:p xmlns:a="http://schemas.openxmlformats.org/drawingml/2006/main">
            <a:r>
              <a:t>Pregunta</a:t>
            </a:r>
          </a:p>
          <a:p xmlns:a="http://schemas.openxmlformats.org/drawingml/2006/main">
            <a:r>
              <a:t>¿En qué archivo buscarían la plantilla que cambia los encabezados HTTP?</a:t>
            </a:r>
          </a:p>
          <a:p xmlns:a="http://schemas.openxmlformats.org/drawingml/2006/main">
            <a:r>
              <a:t/>
            </a:r>
          </a:p>
          <a:p xmlns:a="http://schemas.openxmlformats.org/drawingml/2006/main">
            <a:r>
              <a:t>Respuesta esperada</a:t>
            </a:r>
          </a:p>
          <a:p xmlns:a="http://schemas.openxmlformats.org/drawingml/2006/main">
            <a:r>
              <a:t>roles/webserver/templates/site.conf.j2.</a:t>
            </a:r>
          </a:p>
          <a:p xmlns:a="http://schemas.openxmlformats.org/drawingml/2006/main">
            <a:r>
              <a:t/>
            </a:r>
          </a:p>
          <a:p xmlns:a="http://schemas.openxmlformats.org/drawingml/2006/main">
            <a:r>
              <a:t>Qué mostrar</a:t>
            </a:r>
          </a:p>
          <a:p xmlns:a="http://schemas.openxmlformats.org/drawingml/2006/main">
            <a:r>
              <a:t>ansible/playbook-plano.yml y las cuatro rutas del rol webserver.</a:t>
            </a:r>
          </a:p>
          <a:p xmlns:a="http://schemas.openxmlformats.org/drawingml/2006/main">
            <a:r>
              <a:t/>
            </a:r>
          </a:p>
          <a:p xmlns:a="http://schemas.openxmlformats.org/drawingml/2006/main">
            <a:r>
              <a:t>Transición</a:t>
            </a:r>
          </a:p>
          <a:p xmlns:a="http://schemas.openxmlformats.org/drawingml/2006/main">
            <a:r>
              <a:t>Los mismos roles pueden producir versiones distintas mediante variables.</a:t>
            </a:r>
          </a:p>
          <a:p xmlns:a="http://schemas.openxmlformats.org/drawingml/2006/main">
            <a:r>
              <a:t/>
            </a:r>
          </a:p>
          <a:p xmlns:a="http://schemas.openxmlformats.org/drawingml/2006/main">
            <a:r>
              <a:t>Fuentes</a:t>
            </a:r>
          </a:p>
          <a:p xmlns:a="http://schemas.openxmlformats.org/drawingml/2006/main">
            <a:r>
              <a:t>Ejemplo local: ejemplos/cloud-clase-2/ (inspeccionado el 15 de octubre de 2026).</a:t>
            </a:r>
          </a:p>
          <a:p xmlns:a="http://schemas.openxmlformats.org/drawingml/2006/main">
            <a:r>
              <a:t>https://docs.ansible.com/projects/ansible/latest/playbook_guide/playbooks_reuse_roles.html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3 min · Ventana: 60–63 min</a:t>
            </a:r>
          </a:p>
          <a:p xmlns:a="http://schemas.openxmlformats.org/drawingml/2006/main">
            <a:r>
              <a:t/>
            </a:r>
          </a:p>
          <a:p xmlns:a="http://schemas.openxmlformats.org/drawingml/2006/main">
            <a:r>
              <a:t>Explicación sugerida</a:t>
            </a:r>
          </a:p>
          <a:p xmlns:a="http://schemas.openxmlformats.org/drawingml/2006/main">
            <a:r>
              <a:t>Mostrar que no duplicamos el rol para cada ambiente. Los archivos de group_vars cambian ambiente y web_version. Los defaults del rol aportan otros valores, como web_port y web_root. En este caso las variables de grupo reemplazan los defaults; una variable extra con -e puede reemplazar el valor para una ejecución. Seguir web_version hasta la selección del HTML y hasta X-Version en site.conf.j2. La promoción por línea de comandos no guarda el cambio en group_vars/prod.yml: una ejecución posterior sin -e recuperará v1 si el archivo continúa igual. Para persistir la promoción se debe cambiar la variable del archivo correspondiente.</a:t>
            </a:r>
          </a:p>
          <a:p xmlns:a="http://schemas.openxmlformats.org/drawingml/2006/main">
            <a:r>
              <a:t/>
            </a:r>
          </a:p>
          <a:p xmlns:a="http://schemas.openxmlformats.org/drawingml/2006/main">
            <a:r>
              <a:t>Pregunta</a:t>
            </a:r>
          </a:p>
          <a:p xmlns:a="http://schemas.openxmlformats.org/drawingml/2006/main">
            <a:r>
              <a:t>¿La opción -e web_version=v2 modifica group_vars/prod.yml?</a:t>
            </a:r>
          </a:p>
          <a:p xmlns:a="http://schemas.openxmlformats.org/drawingml/2006/main">
            <a:r>
              <a:t/>
            </a:r>
          </a:p>
          <a:p xmlns:a="http://schemas.openxmlformats.org/drawingml/2006/main">
            <a:r>
              <a:t>Respuesta esperada</a:t>
            </a:r>
          </a:p>
          <a:p xmlns:a="http://schemas.openxmlformats.org/drawingml/2006/main">
            <a:r>
              <a:t>No. Cambia el valor efectivo para esa ejecución.</a:t>
            </a:r>
          </a:p>
          <a:p xmlns:a="http://schemas.openxmlformats.org/drawingml/2006/main">
            <a:r>
              <a:t/>
            </a:r>
          </a:p>
          <a:p xmlns:a="http://schemas.openxmlformats.org/drawingml/2006/main">
            <a:r>
              <a:t>Qué mostrar</a:t>
            </a:r>
          </a:p>
          <a:p xmlns:a="http://schemas.openxmlformats.org/drawingml/2006/main">
            <a:r>
              <a:t>group_vars/staging.yml, group_vars/prod.yml, defaults/main.yml y templates/site.conf.j2.</a:t>
            </a:r>
          </a:p>
          <a:p xmlns:a="http://schemas.openxmlformats.org/drawingml/2006/main">
            <a:r>
              <a:t/>
            </a:r>
          </a:p>
          <a:p xmlns:a="http://schemas.openxmlformats.org/drawingml/2006/main">
            <a:r>
              <a:t>Transición</a:t>
            </a:r>
          </a:p>
          <a:p xmlns:a="http://schemas.openxmlformats.org/drawingml/2006/main">
            <a:r>
              <a:t>Además de elegir valores, necesitamos evitar cambios innecesarios.</a:t>
            </a:r>
          </a:p>
          <a:p xmlns:a="http://schemas.openxmlformats.org/drawingml/2006/main">
            <a:r>
              <a:t/>
            </a:r>
          </a:p>
          <a:p xmlns:a="http://schemas.openxmlformats.org/drawingml/2006/main">
            <a:r>
              <a:t>Fuentes</a:t>
            </a:r>
          </a:p>
          <a:p xmlns:a="http://schemas.openxmlformats.org/drawingml/2006/main">
            <a:r>
              <a:t>Ejemplo local: ejemplos/cloud-clase-2/ (inspeccionado el 15 de octubre de 2026).</a:t>
            </a:r>
          </a:p>
          <a:p xmlns:a="http://schemas.openxmlformats.org/drawingml/2006/main">
            <a:r>
              <a:t>https://docs.ansible.com/projects/ansible/latest/playbook_guide/playbooks_reuse_roles.html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3 min · Ventana: 63–66 min</a:t>
            </a:r>
          </a:p>
          <a:p xmlns:a="http://schemas.openxmlformats.org/drawingml/2006/main">
            <a:r>
              <a:t/>
            </a:r>
          </a:p>
          <a:p xmlns:a="http://schemas.openxmlformats.org/drawingml/2006/main">
            <a:r>
              <a:t>Explicación sugerida</a:t>
            </a:r>
          </a:p>
          <a:p xmlns:a="http://schemas.openxmlformats.org/drawingml/2006/main">
            <a:r>
              <a:t>La tarea template toma site.conf.j2, reemplaza variables y compara el resultado con el destino. Si cambia el archivo, reporta changed y notifica Recargar nginx. El handler con ese nombre usa el módulo service con state: reloaded. En nuestro play los handlers se ejecutan normalmente después de los roles; varias notificaciones del mismo handler se agrupan. Hay mecanismos de vaciado anticipado y políticas de fallas, por lo que «siempre al final» sería demasiado absoluto. web_version cambia también X-Version en la configuración: por eso la promoción del ejemplo produce una recarga. Cambiar solo HTML no exige necesariamente recargar Nginx y la tarea copy del ejemplo no tiene notify.</a:t>
            </a:r>
          </a:p>
          <a:p xmlns:a="http://schemas.openxmlformats.org/drawingml/2006/main">
            <a:r>
              <a:t/>
            </a:r>
          </a:p>
          <a:p xmlns:a="http://schemas.openxmlformats.org/drawingml/2006/main">
            <a:r>
              <a:t>Pregunta</a:t>
            </a:r>
          </a:p>
          <a:p xmlns:a="http://schemas.openxmlformats.org/drawingml/2006/main">
            <a:r>
              <a:t>¿Por qué cambiar la versión causa una recarga en este ejemplo?</a:t>
            </a:r>
          </a:p>
          <a:p xmlns:a="http://schemas.openxmlformats.org/drawingml/2006/main">
            <a:r>
              <a:t/>
            </a:r>
          </a:p>
          <a:p xmlns:a="http://schemas.openxmlformats.org/drawingml/2006/main">
            <a:r>
              <a:t>Respuesta esperada</a:t>
            </a:r>
          </a:p>
          <a:p xmlns:a="http://schemas.openxmlformats.org/drawingml/2006/main">
            <a:r>
              <a:t>Porque web_version se usa en X-Version; cambia la plantilla y su tarea notifica al handler.</a:t>
            </a:r>
          </a:p>
          <a:p xmlns:a="http://schemas.openxmlformats.org/drawingml/2006/main">
            <a:r>
              <a:t/>
            </a:r>
          </a:p>
          <a:p xmlns:a="http://schemas.openxmlformats.org/drawingml/2006/main">
            <a:r>
              <a:t>Qué mostrar</a:t>
            </a:r>
          </a:p>
          <a:p xmlns:a="http://schemas.openxmlformats.org/drawingml/2006/main">
            <a:r>
              <a:t>Comparar tasks/main.yml, templates/site.conf.j2 y handlers/main.yml.</a:t>
            </a:r>
          </a:p>
          <a:p xmlns:a="http://schemas.openxmlformats.org/drawingml/2006/main">
            <a:r>
              <a:t/>
            </a:r>
          </a:p>
          <a:p xmlns:a="http://schemas.openxmlformats.org/drawingml/2006/main">
            <a:r>
              <a:t>Transición</a:t>
            </a:r>
          </a:p>
          <a:p xmlns:a="http://schemas.openxmlformats.org/drawingml/2006/main">
            <a:r>
              <a:t>Repetir el playbook permite comprobar que los cambios necesarios convergen.</a:t>
            </a:r>
          </a:p>
          <a:p xmlns:a="http://schemas.openxmlformats.org/drawingml/2006/main">
            <a:r>
              <a:t/>
            </a:r>
          </a:p>
          <a:p xmlns:a="http://schemas.openxmlformats.org/drawingml/2006/main">
            <a:r>
              <a:t>Fuentes</a:t>
            </a:r>
          </a:p>
          <a:p xmlns:a="http://schemas.openxmlformats.org/drawingml/2006/main">
            <a:r>
              <a:t>Ejemplo local: ejemplos/cloud-clase-2/ (inspeccionado el 15 de octubre de 2026).</a:t>
            </a:r>
          </a:p>
          <a:p xmlns:a="http://schemas.openxmlformats.org/drawingml/2006/main">
            <a:r>
              <a:t>https://docs.ansible.com/projects/ansible/latest/playbook_guide/playbooks_handlers.html</a:t>
            </a:r>
          </a:p>
          <a:p xmlns:a="http://schemas.openxmlformats.org/drawingml/2006/main">
            <a:r>
              <a:t>https://claude.ai/artifact/MvXoQYtxyDShTEwZK1F2NN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2 min · Ventana: 66–68 min</a:t>
            </a:r>
          </a:p>
          <a:p xmlns:a="http://schemas.openxmlformats.org/drawingml/2006/main">
            <a:r>
              <a:t/>
            </a:r>
          </a:p>
          <a:p xmlns:a="http://schemas.openxmlformats.org/drawingml/2006/main">
            <a:r>
              <a:t>Explicación sugerida</a:t>
            </a:r>
          </a:p>
          <a:p xmlns:a="http://schemas.openxmlformats.org/drawingml/2006/main">
            <a:r>
              <a:t>La idempotencia permite repetir una operación conservando el estado deseado cuando las condiciones no cambian. Revisar PLAY RECAP por host: ok incluye tareas correctas y changed es un subconjunto de ellas; no sumar ambos como si fueran grupos excluyentes. failed indica una tarea con error; unreachable señala que Ansible no pudo ejecutar en el host por un problema de conexión. Leer siempre el mensaje concreto. Una repetición inmediata de site.yml puede mostrar changed=0, pero una caché de paquetes vencida, variables diferentes o cambios externos pueden alterar el resultado. Comparar las ejecuciones permite distinguir convergencia de una tarea que reporta cambios innecesarios.</a:t>
            </a:r>
          </a:p>
          <a:p xmlns:a="http://schemas.openxmlformats.org/drawingml/2006/main">
            <a:r>
              <a:t/>
            </a:r>
          </a:p>
          <a:p xmlns:a="http://schemas.openxmlformats.org/drawingml/2006/main">
            <a:r>
              <a:t>Pregunta</a:t>
            </a:r>
          </a:p>
          <a:p xmlns:a="http://schemas.openxmlformats.org/drawingml/2006/main">
            <a:r>
              <a:t>Si la segunda ejecución reporta cambios, ¿qué revisarían antes de concluir que algo falló?</a:t>
            </a:r>
          </a:p>
          <a:p xmlns:a="http://schemas.openxmlformats.org/drawingml/2006/main">
            <a:r>
              <a:t/>
            </a:r>
          </a:p>
          <a:p xmlns:a="http://schemas.openxmlformats.org/drawingml/2006/main">
            <a:r>
              <a:t>Respuesta esperada</a:t>
            </a:r>
          </a:p>
          <a:p xmlns:a="http://schemas.openxmlformats.org/drawingml/2006/main">
            <a:r>
              <a:t>La tarea que cambió, sus entradas, la caché y cualquier modificación externa; no asumir una causa solo por el contador.</a:t>
            </a:r>
          </a:p>
          <a:p xmlns:a="http://schemas.openxmlformats.org/drawingml/2006/main">
            <a:r>
              <a:t/>
            </a:r>
          </a:p>
          <a:p xmlns:a="http://schemas.openxmlformats.org/drawingml/2006/main">
            <a:r>
              <a:t>Qué mostrar</a:t>
            </a:r>
          </a:p>
          <a:p xmlns:a="http://schemas.openxmlformats.org/drawingml/2006/main">
            <a:r>
              <a:t>roles/webserver/tasks/main.yml y handlers/main.yml.</a:t>
            </a:r>
          </a:p>
          <a:p xmlns:a="http://schemas.openxmlformats.org/drawingml/2006/main">
            <a:r>
              <a:t/>
            </a:r>
          </a:p>
          <a:p xmlns:a="http://schemas.openxmlformats.org/drawingml/2006/main">
            <a:r>
              <a:t>Transición</a:t>
            </a:r>
          </a:p>
          <a:p xmlns:a="http://schemas.openxmlformats.org/drawingml/2006/main">
            <a:r>
              <a:t>Con estos conceptos, recorramos la demostración completa.</a:t>
            </a:r>
          </a:p>
          <a:p xmlns:a="http://schemas.openxmlformats.org/drawingml/2006/main">
            <a:r>
              <a:t/>
            </a:r>
          </a:p>
          <a:p xmlns:a="http://schemas.openxmlformats.org/drawingml/2006/main">
            <a:r>
              <a:t>Fuentes</a:t>
            </a:r>
          </a:p>
          <a:p xmlns:a="http://schemas.openxmlformats.org/drawingml/2006/main">
            <a:r>
              <a:t>Ejemplo local: ejemplos/cloud-clase-2/ (inspeccionado el 15 de octubre de 2026).</a:t>
            </a:r>
          </a:p>
          <a:p xmlns:a="http://schemas.openxmlformats.org/drawingml/2006/main">
            <a:r>
              <a:t>https://docs.ansible.com/projects/ansible/latest/playbook_guide/playbooks_intro.html</a:t>
            </a:r>
          </a:p>
          <a:p xmlns:a="http://schemas.openxmlformats.org/drawingml/2006/main">
            <a:r>
              <a:t>https://docs.ansible.com/projects/ansible/latest/playbook_guide/playbooks_handlers.html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2 min · Ventana: 68–70 min</a:t>
            </a:r>
          </a:p>
          <a:p xmlns:a="http://schemas.openxmlformats.org/drawingml/2006/main">
            <a:r>
              <a:t/>
            </a:r>
          </a:p>
          <a:p xmlns:a="http://schemas.openxmlformats.org/drawingml/2006/main">
            <a:r>
              <a:t>Explicación sugerida</a:t>
            </a:r>
          </a:p>
          <a:p xmlns:a="http://schemas.openxmlformats.org/drawingml/2006/main">
            <a:r>
              <a:t>Antes de ejecutar, leer inventario y comprobar sintaxis. --check predice cambios en los módulos que lo soportan; --diff añade diferencias de contenido cuando están disponibles. No es una prueba completa ni garantiza que una primera instalación funcione: tareas posteriores pueden depender de archivos que el modo de comprobación no creó. Revisar tareas con check_mode: false, que sí pueden ejecutarse. --diff puede mostrar información sensible. --limit reduce los hosts y -e cambia variables efectivas, sin editar los archivos del repositorio. Usar primero --syntax-check y --list-hosts para errores simples. El resumen distingue failed de unreachable, pero hay que leer la causa concreta: un fallo de tarea no prueba por sí solo que toda la conectividad esté bien.</a:t>
            </a:r>
          </a:p>
          <a:p xmlns:a="http://schemas.openxmlformats.org/drawingml/2006/main">
            <a:r>
              <a:t/>
            </a:r>
          </a:p>
          <a:p xmlns:a="http://schemas.openxmlformats.org/drawingml/2006/main">
            <a:r>
              <a:t>Pregunta</a:t>
            </a:r>
          </a:p>
          <a:p xmlns:a="http://schemas.openxmlformats.org/drawingml/2006/main">
            <a:r>
              <a:t>¿Que --check no reporte cambios demuestra que toda la automatización funcionará?</a:t>
            </a:r>
          </a:p>
          <a:p xmlns:a="http://schemas.openxmlformats.org/drawingml/2006/main">
            <a:r>
              <a:t/>
            </a:r>
          </a:p>
          <a:p xmlns:a="http://schemas.openxmlformats.org/drawingml/2006/main">
            <a:r>
              <a:t>Respuesta esperada</a:t>
            </a:r>
          </a:p>
          <a:p xmlns:a="http://schemas.openxmlformats.org/drawingml/2006/main">
            <a:r>
              <a:t>No. Depende del soporte de los módulos y de condiciones de ejecución que una simulación puede no reproducir.</a:t>
            </a:r>
          </a:p>
          <a:p xmlns:a="http://schemas.openxmlformats.org/drawingml/2006/main">
            <a:r>
              <a:t/>
            </a:r>
          </a:p>
          <a:p xmlns:a="http://schemas.openxmlformats.org/drawingml/2006/main">
            <a:r>
              <a:t>Qué mostrar</a:t>
            </a:r>
          </a:p>
          <a:p xmlns:a="http://schemas.openxmlformats.org/drawingml/2006/main">
            <a:r>
              <a:t>Leer los comandos; en la demo limitar la promoción a prod y revisar el resumen por host.</a:t>
            </a:r>
          </a:p>
          <a:p xmlns:a="http://schemas.openxmlformats.org/drawingml/2006/main">
            <a:r>
              <a:t/>
            </a:r>
          </a:p>
          <a:p xmlns:a="http://schemas.openxmlformats.org/drawingml/2006/main">
            <a:r>
              <a:t>Transición</a:t>
            </a:r>
          </a:p>
          <a:p xmlns:a="http://schemas.openxmlformats.org/drawingml/2006/main">
            <a:r>
              <a:t>Con esas herramientas podemos explicar la ejecución del ejemplo sin adivinar los efectos.</a:t>
            </a:r>
          </a:p>
          <a:p xmlns:a="http://schemas.openxmlformats.org/drawingml/2006/main">
            <a:r>
              <a:t/>
            </a:r>
          </a:p>
          <a:p xmlns:a="http://schemas.openxmlformats.org/drawingml/2006/main">
            <a:r>
              <a:t>Fuentes</a:t>
            </a:r>
          </a:p>
          <a:p xmlns:a="http://schemas.openxmlformats.org/drawingml/2006/main">
            <a:r>
              <a:t>Ejemplo local: ejemplos/cloud-clase-2/ (inspeccionado el 15 de octubre de 2026).</a:t>
            </a:r>
          </a:p>
          <a:p xmlns:a="http://schemas.openxmlformats.org/drawingml/2006/main">
            <a:r>
              <a:t>https://docs.ansible.com/projects/ansible/latest/playbook_guide/playbooks_checkmode.html</a:t>
            </a:r>
          </a:p>
          <a:p xmlns:a="http://schemas.openxmlformats.org/drawingml/2006/main">
            <a:r>
              <a:t>https://claude.ai/artifact/MvXoQYtxyDShTEwZK1F2NN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9 min · Ventana: 70–79 min</a:t>
            </a:r>
          </a:p>
          <a:p xmlns:a="http://schemas.openxmlformats.org/drawingml/2006/main">
            <a:r>
              <a:t/>
            </a:r>
          </a:p>
          <a:p xmlns:a="http://schemas.openxmlformats.org/drawingml/2006/main">
            <a:r>
              <a:t>Explicación sugerida</a:t>
            </a:r>
          </a:p>
          <a:p xmlns:a="http://schemas.openxmlformats.org/drawingml/2006/main">
            <a:r>
              <a:t>Minutos 70–73: contrastar el código duplicado y el módulo. Minutos 73–77: revisar cuenta, variables, init y plan; aplicar si la infraestructura no se preparó antes. Minutos 77–79: seguir las IPs al inventario y mostrar state list. Si apply tarda, usar la espera para explicar el puente. No prometer una cantidad fija de cambios: leer el plan. Si Azure falla, usar evidencia real del ensayo y aclarar que es previa.</a:t>
            </a:r>
          </a:p>
          <a:p xmlns:a="http://schemas.openxmlformats.org/drawingml/2006/main">
            <a:r>
              <a:t/>
            </a:r>
          </a:p>
          <a:p xmlns:a="http://schemas.openxmlformats.org/drawingml/2006/main">
            <a:r>
              <a:t>Pregunta</a:t>
            </a:r>
          </a:p>
          <a:p xmlns:a="http://schemas.openxmlformats.org/drawingml/2006/main">
            <a:r>
              <a:t>¿Qué prueba que las dos llamadas del módulo tienen recursos independientes?</a:t>
            </a:r>
          </a:p>
          <a:p xmlns:a="http://schemas.openxmlformats.org/drawingml/2006/main">
            <a:r>
              <a:t/>
            </a:r>
          </a:p>
          <a:p xmlns:a="http://schemas.openxmlformats.org/drawingml/2006/main">
            <a:r>
              <a:t>Respuesta esperada</a:t>
            </a:r>
          </a:p>
          <a:p xmlns:a="http://schemas.openxmlformats.org/drawingml/2006/main">
            <a:r>
              <a:t>Sus direcciones module.staging y module.prod en el estado y sus nombres o IPs distintos.</a:t>
            </a:r>
          </a:p>
          <a:p xmlns:a="http://schemas.openxmlformats.org/drawingml/2006/main">
            <a:r>
              <a:t/>
            </a:r>
          </a:p>
          <a:p xmlns:a="http://schemas.openxmlformats.org/drawingml/2006/main">
            <a:r>
              <a:t>Qué mostrar</a:t>
            </a:r>
          </a:p>
          <a:p xmlns:a="http://schemas.openxmlformats.org/drawingml/2006/main">
            <a:r>
              <a:t>Usar los comandos completos del bloque de demostración 1 del guion.</a:t>
            </a:r>
          </a:p>
          <a:p xmlns:a="http://schemas.openxmlformats.org/drawingml/2006/main">
            <a:r>
              <a:t/>
            </a:r>
          </a:p>
          <a:p xmlns:a="http://schemas.openxmlformats.org/drawingml/2006/main">
            <a:r>
              <a:t>Transición</a:t>
            </a:r>
          </a:p>
          <a:p xmlns:a="http://schemas.openxmlformats.org/drawingml/2006/main">
            <a:r>
              <a:t>El inventario ya permite conectar Ansible a las máquinas.</a:t>
            </a:r>
          </a:p>
          <a:p xmlns:a="http://schemas.openxmlformats.org/drawingml/2006/main">
            <a:r>
              <a:t/>
            </a:r>
          </a:p>
          <a:p xmlns:a="http://schemas.openxmlformats.org/drawingml/2006/main">
            <a:r>
              <a:t>Fuentes</a:t>
            </a:r>
          </a:p>
          <a:p xmlns:a="http://schemas.openxmlformats.org/drawingml/2006/main">
            <a:r>
              <a:t>Ejemplo local: ejemplos/cloud-clase-2/ (inspeccionado el 15 de octubre de 2026).</a:t>
            </a:r>
          </a:p>
          <a:p xmlns:a="http://schemas.openxmlformats.org/drawingml/2006/main">
            <a:r>
              <a:t>https://developer.hashicorp.com/terraform/language/block/module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9 min · Ventana: 79–88 min</a:t>
            </a:r>
          </a:p>
          <a:p xmlns:a="http://schemas.openxmlformats.org/drawingml/2006/main">
            <a:r>
              <a:t/>
            </a:r>
          </a:p>
          <a:p xmlns:a="http://schemas.openxmlformats.org/drawingml/2006/main">
            <a:r>
              <a:t>Explicación sugerida</a:t>
            </a:r>
          </a:p>
          <a:p xmlns:a="http://schemas.openxmlformats.org/drawingml/2006/main">
            <a:r>
              <a:t>Minutos 79–81: verificar conexión y el playbook plano. Minutos 81–85: ejecutar site.yml y recorrer los roles en la salida. Minutos 85–88: repetir inmediatamente, leer qué cambió y comprobar la web y sus encabezados. Este bloque aplica los conceptos explicados; no volver a leer cada archivo entero. Si changed no es cero, identificar la tarea y sus entradas antes de concluir que hay un error.</a:t>
            </a:r>
          </a:p>
          <a:p xmlns:a="http://schemas.openxmlformats.org/drawingml/2006/main">
            <a:r>
              <a:t/>
            </a:r>
          </a:p>
          <a:p xmlns:a="http://schemas.openxmlformats.org/drawingml/2006/main">
            <a:r>
              <a:t>Pregunta</a:t>
            </a:r>
          </a:p>
          <a:p xmlns:a="http://schemas.openxmlformats.org/drawingml/2006/main">
            <a:r>
              <a:t>¿Cómo distinguirían un cambio esperado de una pérdida de idempotencia?</a:t>
            </a:r>
          </a:p>
          <a:p xmlns:a="http://schemas.openxmlformats.org/drawingml/2006/main">
            <a:r>
              <a:t/>
            </a:r>
          </a:p>
          <a:p xmlns:a="http://schemas.openxmlformats.org/drawingml/2006/main">
            <a:r>
              <a:t>Respuesta esperada</a:t>
            </a:r>
          </a:p>
          <a:p xmlns:a="http://schemas.openxmlformats.org/drawingml/2006/main">
            <a:r>
              <a:t>Identificando la tarea y verificando si cambiaron entradas, caché o estado externo.</a:t>
            </a:r>
          </a:p>
          <a:p xmlns:a="http://schemas.openxmlformats.org/drawingml/2006/main">
            <a:r>
              <a:t/>
            </a:r>
          </a:p>
          <a:p xmlns:a="http://schemas.openxmlformats.org/drawingml/2006/main">
            <a:r>
              <a:t>Qué mostrar</a:t>
            </a:r>
          </a:p>
          <a:p xmlns:a="http://schemas.openxmlformats.org/drawingml/2006/main">
            <a:r>
              <a:t>Usar el bloque de demostración 2; abrir navegador y consultar encabezados con curl.</a:t>
            </a:r>
          </a:p>
          <a:p xmlns:a="http://schemas.openxmlformats.org/drawingml/2006/main">
            <a:r>
              <a:t/>
            </a:r>
          </a:p>
          <a:p xmlns:a="http://schemas.openxmlformats.org/drawingml/2006/main">
            <a:r>
              <a:t>Transición</a:t>
            </a:r>
          </a:p>
          <a:p xmlns:a="http://schemas.openxmlformats.org/drawingml/2006/main">
            <a:r>
              <a:t>Ahora cambiaremos solo el alcance de producción y comprobaremos el handler.</a:t>
            </a:r>
          </a:p>
          <a:p xmlns:a="http://schemas.openxmlformats.org/drawingml/2006/main">
            <a:r>
              <a:t/>
            </a:r>
          </a:p>
          <a:p xmlns:a="http://schemas.openxmlformats.org/drawingml/2006/main">
            <a:r>
              <a:t>Fuentes</a:t>
            </a:r>
          </a:p>
          <a:p xmlns:a="http://schemas.openxmlformats.org/drawingml/2006/main">
            <a:r>
              <a:t>Ejemplo local: ejemplos/cloud-clase-2/ (inspeccionado el 15 de octubre de 2026).</a:t>
            </a:r>
          </a:p>
          <a:p xmlns:a="http://schemas.openxmlformats.org/drawingml/2006/main">
            <a:r>
              <a:t>https://docs.ansible.com/projects/ansible/latest/playbook_guide/playbooks_intro.html</a:t>
            </a:r>
          </a:p>
          <a:p xmlns:a="http://schemas.openxmlformats.org/drawingml/2006/main">
            <a:r>
              <a:t>https://docs.ansible.com/projects/ansible/latest/playbook_guide/playbooks_handlers.html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7 min · Ventana: 88–95 min</a:t>
            </a:r>
          </a:p>
          <a:p xmlns:a="http://schemas.openxmlformats.org/drawingml/2006/main">
            <a:r>
              <a:t/>
            </a:r>
          </a:p>
          <a:p xmlns:a="http://schemas.openxmlformats.org/drawingml/2006/main">
            <a:r>
              <a:t>Explicación sugerida</a:t>
            </a:r>
          </a:p>
          <a:p xmlns:a="http://schemas.openxmlformats.org/drawingml/2006/main">
            <a:r>
              <a:t>Minutos 88–91: promover v2 con --limit prod y -e, comprobar la plantilla y el handler. Aclarar que la variable extra es temporal. Minutos 91–95: revisar y ejecutar destroy y comprobar el estado y los recursos de Azure. Si tarda, mantener la eliminación visible durante el cierre y confirmar que finaliza. Eliminar recursos no borra el consumo acumulado.</a:t>
            </a:r>
          </a:p>
          <a:p xmlns:a="http://schemas.openxmlformats.org/drawingml/2006/main">
            <a:r>
              <a:t/>
            </a:r>
          </a:p>
          <a:p xmlns:a="http://schemas.openxmlformats.org/drawingml/2006/main">
            <a:r>
              <a:t>Pregunta</a:t>
            </a:r>
          </a:p>
          <a:p xmlns:a="http://schemas.openxmlformats.org/drawingml/2006/main">
            <a:r>
              <a:t>¿Terraform destroy elimina un recurso que creamos manualmente y no está gestionado por este estado?</a:t>
            </a:r>
          </a:p>
          <a:p xmlns:a="http://schemas.openxmlformats.org/drawingml/2006/main">
            <a:r>
              <a:t/>
            </a:r>
          </a:p>
          <a:p xmlns:a="http://schemas.openxmlformats.org/drawingml/2006/main">
            <a:r>
              <a:t>Respuesta esperada</a:t>
            </a:r>
          </a:p>
          <a:p xmlns:a="http://schemas.openxmlformats.org/drawingml/2006/main">
            <a:r>
              <a:t>No necesariamente. Debemos revisar el alcance del estado y verificar qué recursos permanecen.</a:t>
            </a:r>
          </a:p>
          <a:p xmlns:a="http://schemas.openxmlformats.org/drawingml/2006/main">
            <a:r>
              <a:t/>
            </a:r>
          </a:p>
          <a:p xmlns:a="http://schemas.openxmlformats.org/drawingml/2006/main">
            <a:r>
              <a:t>Qué mostrar</a:t>
            </a:r>
          </a:p>
          <a:p xmlns:a="http://schemas.openxmlformats.org/drawingml/2006/main">
            <a:r>
              <a:t>Usar el bloque de demostración 3 del guion y revisar los recursos restantes.</a:t>
            </a:r>
          </a:p>
          <a:p xmlns:a="http://schemas.openxmlformats.org/drawingml/2006/main">
            <a:r>
              <a:t/>
            </a:r>
          </a:p>
          <a:p xmlns:a="http://schemas.openxmlformats.org/drawingml/2006/main">
            <a:r>
              <a:t>Transición</a:t>
            </a:r>
          </a:p>
          <a:p xmlns:a="http://schemas.openxmlformats.org/drawingml/2006/main">
            <a:r>
              <a:t>Cerremos relacionando las decisiones de costo y automatización.</a:t>
            </a:r>
          </a:p>
          <a:p xmlns:a="http://schemas.openxmlformats.org/drawingml/2006/main">
            <a:r>
              <a:t/>
            </a:r>
          </a:p>
          <a:p xmlns:a="http://schemas.openxmlformats.org/drawingml/2006/main">
            <a:r>
              <a:t>Fuentes</a:t>
            </a:r>
          </a:p>
          <a:p xmlns:a="http://schemas.openxmlformats.org/drawingml/2006/main">
            <a:r>
              <a:t>Ejemplo local: ejemplos/cloud-clase-2/ (inspeccionado el 15 de octubre de 2026).</a:t>
            </a:r>
          </a:p>
          <a:p xmlns:a="http://schemas.openxmlformats.org/drawingml/2006/main">
            <a:r>
              <a:t>https://docs.ansible.com/projects/ansible/latest/playbook_guide/playbooks_handlers.html</a:t>
            </a:r>
          </a:p>
          <a:p xmlns:a="http://schemas.openxmlformats.org/drawingml/2006/main">
            <a:r>
              <a:t>https://learn.microsoft.com/en-us/azure/virtual-machines/states-billing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5 min · Ventana: 95–100 min</a:t>
            </a:r>
          </a:p>
          <a:p xmlns:a="http://schemas.openxmlformats.org/drawingml/2006/main">
            <a:r>
              <a:t/>
            </a:r>
          </a:p>
          <a:p xmlns:a="http://schemas.openxmlformats.org/drawingml/2006/main">
            <a:r>
              <a:t>Explicación sugerida</a:t>
            </a:r>
          </a:p>
          <a:p xmlns:a="http://schemas.openxmlformats.org/drawingml/2006/main">
            <a:r>
              <a:t>Reservar tres minutos para respuestas y dos para dudas. Pedir que cada respuesta incluya evidencia del recorrido: un recurso que permanezca, una llamada al módulo o la tarea que contiene notify. Relacionar el costo con la duración y la limpieza; la reutilización con una definición compartida y recursos propios por llamada; la idempotencia con comparar estado deseado y actual. Retomar el objetivo de hoy: poder explicar qué se crea, cómo se configura y cómo se controla el consumo. Si quedan dudas de la práctica 2 o de la HC de la fase 3, remitir a las lecturas anunciadas sin añadir requisitos nuevos.</a:t>
            </a:r>
          </a:p>
          <a:p xmlns:a="http://schemas.openxmlformats.org/drawingml/2006/main">
            <a:r>
              <a:t/>
            </a:r>
          </a:p>
          <a:p xmlns:a="http://schemas.openxmlformats.org/drawingml/2006/main">
            <a:r>
              <a:t>Pregunta</a:t>
            </a:r>
          </a:p>
          <a:p xmlns:a="http://schemas.openxmlformats.org/drawingml/2006/main">
            <a:r>
              <a:t>Responder las tres preguntas proyectadas y recoger dudas finales.</a:t>
            </a:r>
          </a:p>
          <a:p xmlns:a="http://schemas.openxmlformats.org/drawingml/2006/main">
            <a:r>
              <a:t/>
            </a:r>
          </a:p>
          <a:p xmlns:a="http://schemas.openxmlformats.org/drawingml/2006/main">
            <a:r>
              <a:t>Respuesta esperada</a:t>
            </a:r>
          </a:p>
          <a:p xmlns:a="http://schemas.openxmlformats.org/drawingml/2006/main">
            <a:r>
              <a:t>1) Discos, IPs u otros recursos conservados; incluso cómputo si solo está detenida y asignada. 2) Se comparte la definición; cada llamada conserva sus recursos. 3) Un cambio reportado por la tarea template que notifica Recargar nginx.</a:t>
            </a:r>
          </a:p>
          <a:p xmlns:a="http://schemas.openxmlformats.org/drawingml/2006/main">
            <a:r>
              <a:t/>
            </a:r>
          </a:p>
          <a:p xmlns:a="http://schemas.openxmlformats.org/drawingml/2006/main">
            <a:r>
              <a:t>Qué mostrar</a:t>
            </a:r>
          </a:p>
          <a:p xmlns:a="http://schemas.openxmlformats.org/drawingml/2006/main">
            <a:r>
              <a:t>Confirmar el resultado final de destroy antes de cerrar la sesión.</a:t>
            </a:r>
          </a:p>
          <a:p xmlns:a="http://schemas.openxmlformats.org/drawingml/2006/main">
            <a:r>
              <a:t/>
            </a:r>
          </a:p>
          <a:p xmlns:a="http://schemas.openxmlformats.org/drawingml/2006/main">
            <a:r>
              <a:t>Transición</a:t>
            </a:r>
          </a:p>
          <a:p xmlns:a="http://schemas.openxmlformats.org/drawingml/2006/main">
            <a:r>
              <a:t>Fin de la clase.</a:t>
            </a:r>
          </a:p>
          <a:p xmlns:a="http://schemas.openxmlformats.org/drawingml/2006/main">
            <a:r>
              <a:t/>
            </a:r>
          </a:p>
          <a:p xmlns:a="http://schemas.openxmlformats.org/drawingml/2006/main">
            <a:r>
              <a:t>Fuentes</a:t>
            </a:r>
          </a:p>
          <a:p xmlns:a="http://schemas.openxmlformats.org/drawingml/2006/main">
            <a:r>
              <a:t>Ejemplo local: ejemplos/cloud-clase-2/ (inspeccionado el 15 de octubre de 2026).</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1c6374f113a4db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e163a9ddd6f45a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49389c3b6a845d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1c76b75d17a4f5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e6eebd612344b8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7936a7bfab2411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A415183-35C3-4177-B3D8-92FB780D2F2D}"/>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24B5DFA-514D-4F44-BB55-C4FEEBFD4969}"/>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60D45EF-E1AC-4F18-A0A8-DF9F584C36B3}"/>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1FE1AA3-2A03-47B3-B538-5F32517F8105}"/>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466A3B2-27F4-4C21-B5EC-E79869E64F5D}"/>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4E0CAF5-1153-434F-AFB5-337611C674B7}"/>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A17C1CA-BDCF-409D-A725-5533554AEF7B}"/>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21073F7-84CD-4D12-BBDA-74979FD5239B}"/>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C194781-7F71-4DDC-B786-BBE09DEE14D4}"/>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64FC767-B30A-4220-91AA-54D5F80964E7}"/>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ed0fadad1dc43e6" /><Relationship Type="http://schemas.openxmlformats.org/officeDocument/2006/relationships/slideLayout" Target="/ppt/slideLayouts/slideLayout1.xml" Id="Raa05554e6e624bba" /><Relationship Type="http://schemas.openxmlformats.org/officeDocument/2006/relationships/slideLayout" Target="/ppt/slideLayouts/slideLayout2.xml" Id="R5e2d17bbc5e24060" /><Relationship Type="http://schemas.openxmlformats.org/officeDocument/2006/relationships/slideLayout" Target="/ppt/slideLayouts/slideLayout3.xml" Id="R4bdc9217c0e34f91" /><Relationship Type="http://schemas.openxmlformats.org/officeDocument/2006/relationships/slideLayout" Target="/ppt/slideLayouts/slideLayout4.xml" Id="Rb75450f790d7470a" /><Relationship Type="http://schemas.openxmlformats.org/officeDocument/2006/relationships/slideLayout" Target="/ppt/slideLayouts/slideLayout5.xml" Id="Ra6d3d81940e74666" /><Relationship Type="http://schemas.openxmlformats.org/officeDocument/2006/relationships/slideLayout" Target="/ppt/slideLayouts/slideLayout6.xml" Id="Ree7ef4fd766344a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a05554e6e624bba"/>
    <p:sldLayoutId xmlns:r="http://schemas.openxmlformats.org/officeDocument/2006/relationships" id="2147483650" r:id="R5e2d17bbc5e24060"/>
    <p:sldLayoutId xmlns:r="http://schemas.openxmlformats.org/officeDocument/2006/relationships" id="2147483651" r:id="R4bdc9217c0e34f91"/>
    <p:sldLayoutId xmlns:r="http://schemas.openxmlformats.org/officeDocument/2006/relationships" id="2147483652" r:id="Rb75450f790d7470a"/>
    <p:sldLayoutId xmlns:r="http://schemas.openxmlformats.org/officeDocument/2006/relationships" id="2147483653" r:id="Ra6d3d81940e74666"/>
    <p:sldLayoutId xmlns:r="http://schemas.openxmlformats.org/officeDocument/2006/relationships" id="2147483654" r:id="Ree7ef4fd766344a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c322234d79d445d" /><Relationship Type="http://schemas.openxmlformats.org/officeDocument/2006/relationships/notesSlide" Target="/ppt/notesSlides/notesSlide1.xml" Id="R4a34bfa3d3704b5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1e2f5346ed545e7" /><Relationship Type="http://schemas.openxmlformats.org/officeDocument/2006/relationships/notesSlide" Target="/ppt/notesSlides/notesSlide2.xml" Id="R6c4730eebcb1493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08b593e99e94e78" /><Relationship Type="http://schemas.openxmlformats.org/officeDocument/2006/relationships/notesSlide" Target="/ppt/notesSlides/notesSlide3.xml" Id="Rf4ba0e5abcab471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5601889e32f43b7" /><Relationship Type="http://schemas.openxmlformats.org/officeDocument/2006/relationships/notesSlide" Target="/ppt/notesSlides/notesSlide4.xml" Id="R3b61a72546a4449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7f2226e66a547c8" /><Relationship Type="http://schemas.openxmlformats.org/officeDocument/2006/relationships/notesSlide" Target="/ppt/notesSlides/notesSlide5.xml" Id="R17949a2b2aa7433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b7c38b253534982" /><Relationship Type="http://schemas.openxmlformats.org/officeDocument/2006/relationships/notesSlide" Target="/ppt/notesSlides/notesSlide6.xml" Id="R02b7e321c0aa40c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2b49f6a827a4d29" /><Relationship Type="http://schemas.openxmlformats.org/officeDocument/2006/relationships/notesSlide" Target="/ppt/notesSlides/notesSlide7.xml" Id="Ra68c2ab9b13a489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56f872fa8534561" /><Relationship Type="http://schemas.openxmlformats.org/officeDocument/2006/relationships/notesSlide" Target="/ppt/notesSlides/notesSlide8.xml" Id="Re75b97987f46495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8ca568d2118473d" /><Relationship Type="http://schemas.openxmlformats.org/officeDocument/2006/relationships/notesSlide" Target="/ppt/notesSlides/notesSlide9.xml" Id="R4f289f39e57b4b4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1ef63774d1e4d17" /><Relationship Type="http://schemas.openxmlformats.org/officeDocument/2006/relationships/notesSlide" Target="/ppt/notesSlides/notesSlide10.xml" Id="R2f0f1bc9357447a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c6aa01c9f4f4a20" /><Relationship Type="http://schemas.openxmlformats.org/officeDocument/2006/relationships/notesSlide" Target="/ppt/notesSlides/notesSlide11.xml" Id="R6ffa5ffa5433499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b234e75a2bf4561" /><Relationship Type="http://schemas.openxmlformats.org/officeDocument/2006/relationships/notesSlide" Target="/ppt/notesSlides/notesSlide12.xml" Id="R7d2ece006655402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1e0f20a751e4a4e" /><Relationship Type="http://schemas.openxmlformats.org/officeDocument/2006/relationships/notesSlide" Target="/ppt/notesSlides/notesSlide13.xml" Id="Rd571a32e31a244f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5a777a9389c4290" /><Relationship Type="http://schemas.openxmlformats.org/officeDocument/2006/relationships/notesSlide" Target="/ppt/notesSlides/notesSlide14.xml" Id="R97b08de9ffd34b8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65dfbc2b39794012" /><Relationship Type="http://schemas.openxmlformats.org/officeDocument/2006/relationships/notesSlide" Target="/ppt/notesSlides/notesSlide15.xml" Id="Rb83417975b8442f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3f4d047ec9f949db" /><Relationship Type="http://schemas.openxmlformats.org/officeDocument/2006/relationships/notesSlide" Target="/ppt/notesSlides/notesSlide16.xml" Id="R1fb5bed9dfdf44e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4d084b924eac4d53" /><Relationship Type="http://schemas.openxmlformats.org/officeDocument/2006/relationships/notesSlide" Target="/ppt/notesSlides/notesSlide17.xml" Id="R2ed8ba80f9d6401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aeb931600c204634" /><Relationship Type="http://schemas.openxmlformats.org/officeDocument/2006/relationships/notesSlide" Target="/ppt/notesSlides/notesSlide18.xml" Id="R7aa2f1ec8c82438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180479666df74388" /><Relationship Type="http://schemas.openxmlformats.org/officeDocument/2006/relationships/notesSlide" Target="/ppt/notesSlides/notesSlide19.xml" Id="R93907b6474824b6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7862a037b0044871" /><Relationship Type="http://schemas.openxmlformats.org/officeDocument/2006/relationships/notesSlide" Target="/ppt/notesSlides/notesSlide20.xml" Id="R496c365058734d8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cc12629220c24a8b" /><Relationship Type="http://schemas.openxmlformats.org/officeDocument/2006/relationships/notesSlide" Target="/ppt/notesSlides/notesSlide21.xml" Id="Rcacd117a55204da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455b66b251c54f59" /><Relationship Type="http://schemas.openxmlformats.org/officeDocument/2006/relationships/notesSlide" Target="/ppt/notesSlides/notesSlide22.xml" Id="Re4f3a2ecbe854e0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d9a239da975541c5" /><Relationship Type="http://schemas.openxmlformats.org/officeDocument/2006/relationships/notesSlide" Target="/ppt/notesSlides/notesSlide23.xml" Id="R6a161c205e524ed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b2a663537ea946a2" /><Relationship Type="http://schemas.openxmlformats.org/officeDocument/2006/relationships/notesSlide" Target="/ppt/notesSlides/notesSlide24.xml" Id="Rff92e170f7804ed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619e3689d16f44b2" /><Relationship Type="http://schemas.openxmlformats.org/officeDocument/2006/relationships/notesSlide" Target="/ppt/notesSlides/notesSlide25.xml" Id="Reb4f00e293f64b64"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68e7a246361e49a2" /><Relationship Type="http://schemas.openxmlformats.org/officeDocument/2006/relationships/notesSlide" Target="/ppt/notesSlides/notesSlide26.xml" Id="Rd75dec39807f45b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1aceb6c4a8ef4dba" /><Relationship Type="http://schemas.openxmlformats.org/officeDocument/2006/relationships/notesSlide" Target="/ppt/notesSlides/notesSlide27.xml" Id="R4cea7d8fcad94d7f"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bd1bf94ac7864c93" /><Relationship Type="http://schemas.openxmlformats.org/officeDocument/2006/relationships/notesSlide" Target="/ppt/notesSlides/notesSlide28.xml" Id="R2b10a976cdc74c22"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a417fd63353b41e3" /><Relationship Type="http://schemas.openxmlformats.org/officeDocument/2006/relationships/notesSlide" Target="/ppt/notesSlides/notesSlide29.xml" Id="R4c000cabcf9a49db"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c1d18e1000de4df5" /><Relationship Type="http://schemas.openxmlformats.org/officeDocument/2006/relationships/notesSlide" Target="/ppt/notesSlides/notesSlide30.xml" Id="Ra8b42bc01ce840bb"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a7cb8a8863f046cd" /><Relationship Type="http://schemas.openxmlformats.org/officeDocument/2006/relationships/notesSlide" Target="/ppt/notesSlides/notesSlide31.xml" Id="Rbe3d4d450ab3443f"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6a585270518c4272" /><Relationship Type="http://schemas.openxmlformats.org/officeDocument/2006/relationships/notesSlide" Target="/ppt/notesSlides/notesSlide32.xml" Id="Rf88fcfc0a1df4f95"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9f55c9ddfea64160" /><Relationship Type="http://schemas.openxmlformats.org/officeDocument/2006/relationships/notesSlide" Target="/ppt/notesSlides/notesSlide33.xml" Id="Ra80717712dfe4373"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922976d6f45e4b12" /><Relationship Type="http://schemas.openxmlformats.org/officeDocument/2006/relationships/notesSlide" Target="/ppt/notesSlides/notesSlide34.xml" Id="R9ce791f5e0ad4fe1" /></Relationships>
</file>

<file path=ppt/slides/slide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CLOUD · CLASE 2">
            <a:extLst xmlns:a="http://schemas.openxmlformats.org/drawingml/2006/main">
              <a:ext uri="{FF2B5EF4-FFF2-40B4-BE49-F238E27FC236}">
                <a16:creationId xmlns:a16="http://schemas.microsoft.com/office/drawing/2014/main" id="{A842C9EF-5F5A-43D5-A292-190BFD664922}"/>
              </a:ext>
            </a:extLst>
          </p:cNvPr>
          <p:cNvSpPr>
            <a:spLocks xmlns:a="http://schemas.openxmlformats.org/drawingml/2006/main" noGrp="1"/>
          </p:cNvSpPr>
          <p:nvPr/>
        </p:nvSpPr>
        <p:spPr>
          <a:xfrm xmlns:a="http://schemas.openxmlformats.org/drawingml/2006/main">
            <a:off x="914400" y="542925"/>
            <a:ext cx="1238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087F8C"/>
                </a:solidFill>
                <a:latin typeface="Arial"/>
                <a:ea typeface="Arial"/>
                <a:cs typeface="Arial"/>
              </a:defRPr>
            </a:defPPr>
          </a:lstStyle>
          <a:p xmlns:a="http://schemas.openxmlformats.org/drawingml/2006/main">
            <a:pPr>
              <a:defRPr sz="1575" b="1">
                <a:solidFill>
                  <a:srgbClr val="087F8C"/>
                </a:solidFill>
                <a:latin typeface="Arial"/>
                <a:ea typeface="Arial"/>
                <a:cs typeface="Arial"/>
              </a:defRPr>
            </a:pPr>
            <a:r>
              <a:rPr sz="1575" b="1">
                <a:solidFill>
                  <a:srgbClr val="087F8C"/>
                </a:solidFill>
                <a:latin typeface="Arial"/>
                <a:ea typeface="Arial"/>
                <a:cs typeface="Arial"/>
              </a:rPr>
              <a:t>CLOUD · CLASE 2</a:t>
            </a:r>
          </a:p>
        </p:txBody>
      </p:sp>
      <p:sp>
        <p:nvSpPr>
          <p:cNvPr id="2" name="01 / 34">
            <a:extLst xmlns:a="http://schemas.openxmlformats.org/drawingml/2006/main">
              <a:ext uri="{FF2B5EF4-FFF2-40B4-BE49-F238E27FC236}">
                <a16:creationId xmlns:a16="http://schemas.microsoft.com/office/drawing/2014/main" id="{F10708EA-4689-4591-844F-A9F93D547D67}"/>
              </a:ext>
            </a:extLst>
          </p:cNvPr>
          <p:cNvSpPr>
            <a:spLocks xmlns:a="http://schemas.openxmlformats.org/drawingml/2006/main" noGrp="1"/>
          </p:cNvSpPr>
          <p:nvPr/>
        </p:nvSpPr>
        <p:spPr>
          <a:xfrm xmlns:a="http://schemas.openxmlformats.org/drawingml/2006/main">
            <a:off x="13192125" y="561975"/>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77C"/>
                </a:solidFill>
                <a:latin typeface="Arial"/>
                <a:ea typeface="Arial"/>
                <a:cs typeface="Arial"/>
              </a:defRPr>
            </a:defPPr>
          </a:lstStyle>
          <a:p xmlns:a="http://schemas.openxmlformats.org/drawingml/2006/main">
            <a:pPr>
              <a:defRPr sz="1500" b="0">
                <a:solidFill>
                  <a:srgbClr val="53677C"/>
                </a:solidFill>
                <a:latin typeface="Arial"/>
                <a:ea typeface="Arial"/>
                <a:cs typeface="Arial"/>
              </a:defRPr>
            </a:pPr>
            <a:r>
              <a:rPr sz="1500" b="0">
                <a:solidFill>
                  <a:srgbClr val="53677C"/>
                </a:solidFill>
                <a:latin typeface="Arial"/>
                <a:ea typeface="Arial"/>
                <a:cs typeface="Arial"/>
              </a:rPr>
              <a:t>01 / 34</a:t>
            </a:r>
          </a:p>
        </p:txBody>
      </p:sp>
      <p:sp>
        <p:nvSpPr>
          <p:cNvPr id="3" name="Costos y automatización&#10;en la nube">
            <a:extLst xmlns:a="http://schemas.openxmlformats.org/drawingml/2006/main">
              <a:ext uri="{FF2B5EF4-FFF2-40B4-BE49-F238E27FC236}">
                <a16:creationId xmlns:a16="http://schemas.microsoft.com/office/drawing/2014/main" id="{40A74780-23EF-4CFE-A180-06F4C7DF5BEC}"/>
              </a:ext>
            </a:extLst>
          </p:cNvPr>
          <p:cNvSpPr>
            <a:spLocks xmlns:a="http://schemas.openxmlformats.org/drawingml/2006/main" noGrp="1"/>
          </p:cNvSpPr>
          <p:nvPr/>
        </p:nvSpPr>
        <p:spPr>
          <a:xfrm xmlns:a="http://schemas.openxmlformats.org/drawingml/2006/main">
            <a:off x="914400" y="2143125"/>
            <a:ext cx="134112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550" b="1">
                <a:solidFill>
                  <a:srgbClr val="132E50"/>
                </a:solidFill>
                <a:latin typeface="Arial"/>
                <a:ea typeface="Arial"/>
                <a:cs typeface="Arial"/>
              </a:defRPr>
            </a:defPPr>
          </a:lstStyle>
          <a:p xmlns:a="http://schemas.openxmlformats.org/drawingml/2006/main">
            <a:pPr>
              <a:defRPr sz="5550" b="1">
                <a:solidFill>
                  <a:srgbClr val="132E50"/>
                </a:solidFill>
                <a:latin typeface="Arial"/>
                <a:ea typeface="Arial"/>
                <a:cs typeface="Arial"/>
              </a:defRPr>
            </a:pPr>
            <a:r>
              <a:rPr sz="5550" b="1">
                <a:solidFill>
                  <a:srgbClr val="132E50"/>
                </a:solidFill>
                <a:latin typeface="Arial"/>
                <a:ea typeface="Arial"/>
                <a:cs typeface="Arial"/>
              </a:rPr>
              <a:t>Costos y automatización</a:t>
            </a:r>
          </a:p>
          <a:p xmlns:a="http://schemas.openxmlformats.org/drawingml/2006/main">
            <a:pPr>
              <a:defRPr sz="5550" b="1">
                <a:solidFill>
                  <a:srgbClr val="132E50"/>
                </a:solidFill>
                <a:latin typeface="Arial"/>
                <a:ea typeface="Arial"/>
                <a:cs typeface="Arial"/>
              </a:defRPr>
            </a:pPr>
            <a:r>
              <a:rPr sz="5550" b="1">
                <a:solidFill>
                  <a:srgbClr val="132E50"/>
                </a:solidFill>
                <a:latin typeface="Arial"/>
                <a:ea typeface="Arial"/>
                <a:cs typeface="Arial"/>
              </a:rPr>
              <a:t>en la nube</a:t>
            </a:r>
          </a:p>
        </p:txBody>
      </p:sp>
      <p:sp>
        <p:nvSpPr>
          <p:cNvPr id="4" name="Módulos de Terraform y roles de Ansible">
            <a:extLst xmlns:a="http://schemas.openxmlformats.org/drawingml/2006/main">
              <a:ext uri="{FF2B5EF4-FFF2-40B4-BE49-F238E27FC236}">
                <a16:creationId xmlns:a16="http://schemas.microsoft.com/office/drawing/2014/main" id="{EC42E6A4-FF6E-468E-BACE-A161E09D6C9E}"/>
              </a:ext>
            </a:extLst>
          </p:cNvPr>
          <p:cNvSpPr>
            <a:spLocks xmlns:a="http://schemas.openxmlformats.org/drawingml/2006/main" noGrp="1"/>
          </p:cNvSpPr>
          <p:nvPr/>
        </p:nvSpPr>
        <p:spPr>
          <a:xfrm xmlns:a="http://schemas.openxmlformats.org/drawingml/2006/main">
            <a:off x="952500" y="4667250"/>
            <a:ext cx="12858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75" b="0">
                <a:solidFill>
                  <a:srgbClr val="26384B"/>
                </a:solidFill>
                <a:latin typeface="Arial"/>
                <a:ea typeface="Arial"/>
                <a:cs typeface="Arial"/>
              </a:defRPr>
            </a:defPPr>
          </a:lstStyle>
          <a:p xmlns:a="http://schemas.openxmlformats.org/drawingml/2006/main">
            <a:pPr>
              <a:defRPr sz="2775" b="0">
                <a:solidFill>
                  <a:srgbClr val="26384B"/>
                </a:solidFill>
                <a:latin typeface="Arial"/>
                <a:ea typeface="Arial"/>
                <a:cs typeface="Arial"/>
              </a:defRPr>
            </a:pPr>
            <a:r>
              <a:rPr sz="2775" b="0">
                <a:solidFill>
                  <a:srgbClr val="26384B"/>
                </a:solidFill>
                <a:latin typeface="Arial"/>
                <a:ea typeface="Arial"/>
                <a:cs typeface="Arial"/>
              </a:rPr>
              <a:t>Módulos de Terraform y roles de Ansible</a:t>
            </a:r>
          </a:p>
        </p:txBody>
      </p:sp>
      <p:sp>
        <p:nvSpPr>
          <p:cNvPr id="5" name="Análisis y Diseño de Sistemas 2 · Continuación">
            <a:extLst xmlns:a="http://schemas.openxmlformats.org/drawingml/2006/main">
              <a:ext uri="{FF2B5EF4-FFF2-40B4-BE49-F238E27FC236}">
                <a16:creationId xmlns:a16="http://schemas.microsoft.com/office/drawing/2014/main" id="{1D7BAEB5-7C88-4911-8473-CFF49E30EAAA}"/>
              </a:ext>
            </a:extLst>
          </p:cNvPr>
          <p:cNvSpPr>
            <a:spLocks xmlns:a="http://schemas.openxmlformats.org/drawingml/2006/main" noGrp="1"/>
          </p:cNvSpPr>
          <p:nvPr/>
        </p:nvSpPr>
        <p:spPr>
          <a:xfrm xmlns:a="http://schemas.openxmlformats.org/drawingml/2006/main">
            <a:off x="952500" y="5810250"/>
            <a:ext cx="1238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3677C"/>
                </a:solidFill>
                <a:latin typeface="Arial"/>
                <a:ea typeface="Arial"/>
                <a:cs typeface="Arial"/>
              </a:defRPr>
            </a:defPPr>
          </a:lstStyle>
          <a:p xmlns:a="http://schemas.openxmlformats.org/drawingml/2006/main">
            <a:pPr>
              <a:defRPr sz="2025" b="0">
                <a:solidFill>
                  <a:srgbClr val="53677C"/>
                </a:solidFill>
                <a:latin typeface="Arial"/>
                <a:ea typeface="Arial"/>
                <a:cs typeface="Arial"/>
              </a:defRPr>
            </a:pPr>
            <a:r>
              <a:rPr sz="2025" b="0">
                <a:solidFill>
                  <a:srgbClr val="53677C"/>
                </a:solidFill>
                <a:latin typeface="Arial"/>
                <a:ea typeface="Arial"/>
                <a:cs typeface="Arial"/>
              </a:rPr>
              <a:t>Análisis y Diseño de Sistemas 2 · Continuación</a:t>
            </a:r>
          </a:p>
        </p:txBody>
      </p:sp>
    </p:spTree>
    <p:extLst>
      <p:ext uri="{BB962C8B-B14F-4D97-AF65-F5344CB8AC3E}">
        <p14:creationId xmlns:p14="http://schemas.microsoft.com/office/powerpoint/2010/main" val="1460642944"/>
      </p:ext>
    </p:extLst>
  </p:cSld>
</p:sld>
</file>

<file path=ppt/slides/slide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6" name="INICIO">
            <a:extLst xmlns:a="http://schemas.openxmlformats.org/drawingml/2006/main">
              <a:ext uri="{FF2B5EF4-FFF2-40B4-BE49-F238E27FC236}">
                <a16:creationId xmlns:a16="http://schemas.microsoft.com/office/drawing/2014/main" id="{CCC5A2E1-F74D-48DE-AA90-FEFE4D6704EF}"/>
              </a:ext>
            </a:extLst>
          </p:cNvPr>
          <p:cNvSpPr>
            <a:spLocks xmlns:a="http://schemas.openxmlformats.org/drawingml/2006/main" noGrp="1"/>
          </p:cNvSpPr>
          <p:nvPr/>
        </p:nvSpPr>
        <p:spPr>
          <a:xfrm xmlns:a="http://schemas.openxmlformats.org/drawingml/2006/main">
            <a:off x="914400" y="542925"/>
            <a:ext cx="1238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087F8C"/>
                </a:solidFill>
                <a:latin typeface="Arial"/>
                <a:ea typeface="Arial"/>
                <a:cs typeface="Arial"/>
              </a:defRPr>
            </a:defPPr>
          </a:lstStyle>
          <a:p xmlns:a="http://schemas.openxmlformats.org/drawingml/2006/main">
            <a:pPr>
              <a:defRPr sz="1575" b="1">
                <a:solidFill>
                  <a:srgbClr val="087F8C"/>
                </a:solidFill>
                <a:latin typeface="Arial"/>
                <a:ea typeface="Arial"/>
                <a:cs typeface="Arial"/>
              </a:defRPr>
            </a:pPr>
            <a:r>
              <a:rPr sz="1575" b="1">
                <a:solidFill>
                  <a:srgbClr val="087F8C"/>
                </a:solidFill>
                <a:latin typeface="Arial"/>
                <a:ea typeface="Arial"/>
                <a:cs typeface="Arial"/>
              </a:rPr>
              <a:t>INICIO</a:t>
            </a:r>
          </a:p>
        </p:txBody>
      </p:sp>
      <p:sp>
        <p:nvSpPr>
          <p:cNvPr id="2" name="02 / 34">
            <a:extLst xmlns:a="http://schemas.openxmlformats.org/drawingml/2006/main">
              <a:ext uri="{FF2B5EF4-FFF2-40B4-BE49-F238E27FC236}">
                <a16:creationId xmlns:a16="http://schemas.microsoft.com/office/drawing/2014/main" id="{BB8351AA-357E-4661-9B36-F6F51CE3EA0B}"/>
              </a:ext>
            </a:extLst>
          </p:cNvPr>
          <p:cNvSpPr>
            <a:spLocks xmlns:a="http://schemas.openxmlformats.org/drawingml/2006/main" noGrp="1"/>
          </p:cNvSpPr>
          <p:nvPr/>
        </p:nvSpPr>
        <p:spPr>
          <a:xfrm xmlns:a="http://schemas.openxmlformats.org/drawingml/2006/main">
            <a:off x="13192125" y="561975"/>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77C"/>
                </a:solidFill>
                <a:latin typeface="Arial"/>
                <a:ea typeface="Arial"/>
                <a:cs typeface="Arial"/>
              </a:defRPr>
            </a:defPPr>
          </a:lstStyle>
          <a:p xmlns:a="http://schemas.openxmlformats.org/drawingml/2006/main">
            <a:pPr>
              <a:defRPr sz="1500" b="0">
                <a:solidFill>
                  <a:srgbClr val="53677C"/>
                </a:solidFill>
                <a:latin typeface="Arial"/>
                <a:ea typeface="Arial"/>
                <a:cs typeface="Arial"/>
              </a:defRPr>
            </a:pPr>
            <a:r>
              <a:rPr sz="1500" b="0">
                <a:solidFill>
                  <a:srgbClr val="53677C"/>
                </a:solidFill>
                <a:latin typeface="Arial"/>
                <a:ea typeface="Arial"/>
                <a:cs typeface="Arial"/>
              </a:rPr>
              <a:t>02 / 34</a:t>
            </a:r>
          </a:p>
        </p:txBody>
      </p:sp>
      <p:sp>
        <p:nvSpPr>
          <p:cNvPr id="3" name="Agenda">
            <a:extLst xmlns:a="http://schemas.openxmlformats.org/drawingml/2006/main">
              <a:ext uri="{FF2B5EF4-FFF2-40B4-BE49-F238E27FC236}">
                <a16:creationId xmlns:a16="http://schemas.microsoft.com/office/drawing/2014/main" id="{7A2863A2-12C6-4844-BF5D-08948594F87F}"/>
              </a:ext>
            </a:extLst>
          </p:cNvPr>
          <p:cNvSpPr>
            <a:spLocks xmlns:a="http://schemas.openxmlformats.org/drawingml/2006/main" noGrp="1"/>
          </p:cNvSpPr>
          <p:nvPr/>
        </p:nvSpPr>
        <p:spPr>
          <a:xfrm xmlns:a="http://schemas.openxmlformats.org/drawingml/2006/main">
            <a:off x="914400" y="1143000"/>
            <a:ext cx="13411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132E50"/>
                </a:solidFill>
                <a:latin typeface="Arial"/>
                <a:ea typeface="Arial"/>
                <a:cs typeface="Arial"/>
              </a:defRPr>
            </a:defPPr>
          </a:lstStyle>
          <a:p xmlns:a="http://schemas.openxmlformats.org/drawingml/2006/main">
            <a:pPr>
              <a:defRPr sz="3825" b="1">
                <a:solidFill>
                  <a:srgbClr val="132E50"/>
                </a:solidFill>
                <a:latin typeface="Arial"/>
                <a:ea typeface="Arial"/>
                <a:cs typeface="Arial"/>
              </a:defRPr>
            </a:pPr>
            <a:r>
              <a:rPr sz="3825" b="1">
                <a:solidFill>
                  <a:srgbClr val="132E50"/>
                </a:solidFill>
                <a:latin typeface="Arial"/>
                <a:ea typeface="Arial"/>
                <a:cs typeface="Arial"/>
              </a:rPr>
              <a:t>Agenda</a:t>
            </a:r>
          </a:p>
        </p:txBody>
      </p:sp>
      <p:sp>
        <p:nvSpPr>
          <p:cNvPr id="4" name="Inicio y anuncios">
            <a:extLst xmlns:a="http://schemas.openxmlformats.org/drawingml/2006/main">
              <a:ext uri="{FF2B5EF4-FFF2-40B4-BE49-F238E27FC236}">
                <a16:creationId xmlns:a16="http://schemas.microsoft.com/office/drawing/2014/main" id="{72C17B89-20CA-40B1-862C-0DBF1B949C12}"/>
              </a:ext>
            </a:extLst>
          </p:cNvPr>
          <p:cNvSpPr>
            <a:spLocks xmlns:a="http://schemas.openxmlformats.org/drawingml/2006/main" noGrp="1"/>
          </p:cNvSpPr>
          <p:nvPr/>
        </p:nvSpPr>
        <p:spPr>
          <a:xfrm xmlns:a="http://schemas.openxmlformats.org/drawingml/2006/main">
            <a:off x="952500" y="2333625"/>
            <a:ext cx="11525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26384B"/>
                </a:solidFill>
                <a:latin typeface="Arial"/>
                <a:ea typeface="Arial"/>
                <a:cs typeface="Arial"/>
              </a:defRPr>
            </a:defPPr>
          </a:lstStyle>
          <a:p xmlns:a="http://schemas.openxmlformats.org/drawingml/2006/main">
            <a:pPr>
              <a:defRPr sz="2175" b="0">
                <a:solidFill>
                  <a:srgbClr val="26384B"/>
                </a:solidFill>
                <a:latin typeface="Arial"/>
                <a:ea typeface="Arial"/>
                <a:cs typeface="Arial"/>
              </a:defRPr>
            </a:pPr>
            <a:r>
              <a:rPr sz="2175" b="0">
                <a:solidFill>
                  <a:srgbClr val="26384B"/>
                </a:solidFill>
                <a:latin typeface="Arial"/>
                <a:ea typeface="Arial"/>
                <a:cs typeface="Arial"/>
              </a:rPr>
              <a:t>Inicio y anuncios</a:t>
            </a:r>
          </a:p>
        </p:txBody>
      </p:sp>
      <p:sp>
        <p:nvSpPr>
          <p:cNvPr id="5" name="10 min">
            <a:extLst xmlns:a="http://schemas.openxmlformats.org/drawingml/2006/main">
              <a:ext uri="{FF2B5EF4-FFF2-40B4-BE49-F238E27FC236}">
                <a16:creationId xmlns:a16="http://schemas.microsoft.com/office/drawing/2014/main" id="{8D144E00-0348-48E8-BBA4-69AA4C7CB555}"/>
              </a:ext>
            </a:extLst>
          </p:cNvPr>
          <p:cNvSpPr>
            <a:spLocks xmlns:a="http://schemas.openxmlformats.org/drawingml/2006/main" noGrp="1"/>
          </p:cNvSpPr>
          <p:nvPr/>
        </p:nvSpPr>
        <p:spPr>
          <a:xfrm xmlns:a="http://schemas.openxmlformats.org/drawingml/2006/main">
            <a:off x="12858750" y="2333625"/>
            <a:ext cx="142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087F8C"/>
                </a:solidFill>
                <a:latin typeface="Arial"/>
                <a:ea typeface="Arial"/>
                <a:cs typeface="Arial"/>
              </a:defRPr>
            </a:defPPr>
          </a:lstStyle>
          <a:p xmlns:a="http://schemas.openxmlformats.org/drawingml/2006/main">
            <a:pPr>
              <a:defRPr sz="2100" b="1">
                <a:solidFill>
                  <a:srgbClr val="087F8C"/>
                </a:solidFill>
                <a:latin typeface="Arial"/>
                <a:ea typeface="Arial"/>
                <a:cs typeface="Arial"/>
              </a:defRPr>
            </a:pPr>
            <a:r>
              <a:rPr sz="2100" b="1">
                <a:solidFill>
                  <a:srgbClr val="087F8C"/>
                </a:solidFill>
                <a:latin typeface="Arial"/>
                <a:ea typeface="Arial"/>
                <a:cs typeface="Arial"/>
              </a:rPr>
              <a:t>10 min</a:t>
            </a:r>
          </a:p>
        </p:txBody>
      </p:sp>
      <p:sp>
        <p:nvSpPr>
          <p:cNvPr id="6" name="Análisis de Costos en Nube (Cost Management)">
            <a:extLst xmlns:a="http://schemas.openxmlformats.org/drawingml/2006/main">
              <a:ext uri="{FF2B5EF4-FFF2-40B4-BE49-F238E27FC236}">
                <a16:creationId xmlns:a16="http://schemas.microsoft.com/office/drawing/2014/main" id="{B26C49D0-7ACA-42D8-A908-794F1827C7B2}"/>
              </a:ext>
            </a:extLst>
          </p:cNvPr>
          <p:cNvSpPr>
            <a:spLocks xmlns:a="http://schemas.openxmlformats.org/drawingml/2006/main" noGrp="1"/>
          </p:cNvSpPr>
          <p:nvPr/>
        </p:nvSpPr>
        <p:spPr>
          <a:xfrm xmlns:a="http://schemas.openxmlformats.org/drawingml/2006/main">
            <a:off x="952500" y="3171825"/>
            <a:ext cx="11525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26384B"/>
                </a:solidFill>
                <a:latin typeface="Arial"/>
                <a:ea typeface="Arial"/>
                <a:cs typeface="Arial"/>
              </a:defRPr>
            </a:defPPr>
          </a:lstStyle>
          <a:p xmlns:a="http://schemas.openxmlformats.org/drawingml/2006/main">
            <a:pPr>
              <a:defRPr sz="2175" b="0">
                <a:solidFill>
                  <a:srgbClr val="26384B"/>
                </a:solidFill>
                <a:latin typeface="Arial"/>
                <a:ea typeface="Arial"/>
                <a:cs typeface="Arial"/>
              </a:defRPr>
            </a:pPr>
            <a:r>
              <a:rPr sz="2175" b="0">
                <a:solidFill>
                  <a:srgbClr val="26384B"/>
                </a:solidFill>
                <a:latin typeface="Arial"/>
                <a:ea typeface="Arial"/>
                <a:cs typeface="Arial"/>
              </a:rPr>
              <a:t>Análisis de Costos en Nube (Cost Management)</a:t>
            </a:r>
          </a:p>
        </p:txBody>
      </p:sp>
      <p:sp>
        <p:nvSpPr>
          <p:cNvPr id="7" name="25 min">
            <a:extLst xmlns:a="http://schemas.openxmlformats.org/drawingml/2006/main">
              <a:ext uri="{FF2B5EF4-FFF2-40B4-BE49-F238E27FC236}">
                <a16:creationId xmlns:a16="http://schemas.microsoft.com/office/drawing/2014/main" id="{DB7DC7BD-547B-4016-ADA3-6B053ED246D0}"/>
              </a:ext>
            </a:extLst>
          </p:cNvPr>
          <p:cNvSpPr>
            <a:spLocks xmlns:a="http://schemas.openxmlformats.org/drawingml/2006/main" noGrp="1"/>
          </p:cNvSpPr>
          <p:nvPr/>
        </p:nvSpPr>
        <p:spPr>
          <a:xfrm xmlns:a="http://schemas.openxmlformats.org/drawingml/2006/main">
            <a:off x="12858750" y="3171825"/>
            <a:ext cx="142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087F8C"/>
                </a:solidFill>
                <a:latin typeface="Arial"/>
                <a:ea typeface="Arial"/>
                <a:cs typeface="Arial"/>
              </a:defRPr>
            </a:defPPr>
          </a:lstStyle>
          <a:p xmlns:a="http://schemas.openxmlformats.org/drawingml/2006/main">
            <a:pPr>
              <a:defRPr sz="2100" b="1">
                <a:solidFill>
                  <a:srgbClr val="087F8C"/>
                </a:solidFill>
                <a:latin typeface="Arial"/>
                <a:ea typeface="Arial"/>
                <a:cs typeface="Arial"/>
              </a:defRPr>
            </a:pPr>
            <a:r>
              <a:rPr sz="2100" b="1">
                <a:solidFill>
                  <a:srgbClr val="087F8C"/>
                </a:solidFill>
                <a:latin typeface="Arial"/>
                <a:ea typeface="Arial"/>
                <a:cs typeface="Arial"/>
              </a:rPr>
              <a:t>25 min</a:t>
            </a:r>
          </a:p>
        </p:txBody>
      </p:sp>
      <p:sp>
        <p:nvSpPr>
          <p:cNvPr id="8" name="Módulos y Reutilización de Código en Terraform">
            <a:extLst xmlns:a="http://schemas.openxmlformats.org/drawingml/2006/main">
              <a:ext uri="{FF2B5EF4-FFF2-40B4-BE49-F238E27FC236}">
                <a16:creationId xmlns:a16="http://schemas.microsoft.com/office/drawing/2014/main" id="{57C40D77-F9BA-49BD-BB11-370C30DF282B}"/>
              </a:ext>
            </a:extLst>
          </p:cNvPr>
          <p:cNvSpPr>
            <a:spLocks xmlns:a="http://schemas.openxmlformats.org/drawingml/2006/main" noGrp="1"/>
          </p:cNvSpPr>
          <p:nvPr/>
        </p:nvSpPr>
        <p:spPr>
          <a:xfrm xmlns:a="http://schemas.openxmlformats.org/drawingml/2006/main">
            <a:off x="952500" y="4010025"/>
            <a:ext cx="11525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26384B"/>
                </a:solidFill>
                <a:latin typeface="Arial"/>
                <a:ea typeface="Arial"/>
                <a:cs typeface="Arial"/>
              </a:defRPr>
            </a:defPPr>
          </a:lstStyle>
          <a:p xmlns:a="http://schemas.openxmlformats.org/drawingml/2006/main">
            <a:pPr>
              <a:defRPr sz="2175" b="0">
                <a:solidFill>
                  <a:srgbClr val="26384B"/>
                </a:solidFill>
                <a:latin typeface="Arial"/>
                <a:ea typeface="Arial"/>
                <a:cs typeface="Arial"/>
              </a:defRPr>
            </a:pPr>
            <a:r>
              <a:rPr sz="2175" b="0">
                <a:solidFill>
                  <a:srgbClr val="26384B"/>
                </a:solidFill>
                <a:latin typeface="Arial"/>
                <a:ea typeface="Arial"/>
                <a:cs typeface="Arial"/>
              </a:rPr>
              <a:t>Módulos y Reutilización de Código en Terraform</a:t>
            </a:r>
          </a:p>
        </p:txBody>
      </p:sp>
      <p:sp>
        <p:nvSpPr>
          <p:cNvPr id="9" name="15 min">
            <a:extLst xmlns:a="http://schemas.openxmlformats.org/drawingml/2006/main">
              <a:ext uri="{FF2B5EF4-FFF2-40B4-BE49-F238E27FC236}">
                <a16:creationId xmlns:a16="http://schemas.microsoft.com/office/drawing/2014/main" id="{FF9A18F9-47DF-454C-AE9D-28FCA20B0A0B}"/>
              </a:ext>
            </a:extLst>
          </p:cNvPr>
          <p:cNvSpPr>
            <a:spLocks xmlns:a="http://schemas.openxmlformats.org/drawingml/2006/main" noGrp="1"/>
          </p:cNvSpPr>
          <p:nvPr/>
        </p:nvSpPr>
        <p:spPr>
          <a:xfrm xmlns:a="http://schemas.openxmlformats.org/drawingml/2006/main">
            <a:off x="12858750" y="4010025"/>
            <a:ext cx="142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087F8C"/>
                </a:solidFill>
                <a:latin typeface="Arial"/>
                <a:ea typeface="Arial"/>
                <a:cs typeface="Arial"/>
              </a:defRPr>
            </a:defPPr>
          </a:lstStyle>
          <a:p xmlns:a="http://schemas.openxmlformats.org/drawingml/2006/main">
            <a:pPr>
              <a:defRPr sz="2100" b="1">
                <a:solidFill>
                  <a:srgbClr val="087F8C"/>
                </a:solidFill>
                <a:latin typeface="Arial"/>
                <a:ea typeface="Arial"/>
                <a:cs typeface="Arial"/>
              </a:defRPr>
            </a:pPr>
            <a:r>
              <a:rPr sz="2100" b="1">
                <a:solidFill>
                  <a:srgbClr val="087F8C"/>
                </a:solidFill>
                <a:latin typeface="Arial"/>
                <a:ea typeface="Arial"/>
                <a:cs typeface="Arial"/>
              </a:rPr>
              <a:t>15 min</a:t>
            </a:r>
          </a:p>
        </p:txBody>
      </p:sp>
      <p:sp>
        <p:nvSpPr>
          <p:cNvPr id="10" name="Ansible Playbooks y Roles para Automatización Compleja">
            <a:extLst xmlns:a="http://schemas.openxmlformats.org/drawingml/2006/main">
              <a:ext uri="{FF2B5EF4-FFF2-40B4-BE49-F238E27FC236}">
                <a16:creationId xmlns:a16="http://schemas.microsoft.com/office/drawing/2014/main" id="{DA3E245C-1D55-4612-98E9-8919BC484F3E}"/>
              </a:ext>
            </a:extLst>
          </p:cNvPr>
          <p:cNvSpPr>
            <a:spLocks xmlns:a="http://schemas.openxmlformats.org/drawingml/2006/main" noGrp="1"/>
          </p:cNvSpPr>
          <p:nvPr/>
        </p:nvSpPr>
        <p:spPr>
          <a:xfrm xmlns:a="http://schemas.openxmlformats.org/drawingml/2006/main">
            <a:off x="952500" y="4848225"/>
            <a:ext cx="11525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26384B"/>
                </a:solidFill>
                <a:latin typeface="Arial"/>
                <a:ea typeface="Arial"/>
                <a:cs typeface="Arial"/>
              </a:defRPr>
            </a:defPPr>
          </a:lstStyle>
          <a:p xmlns:a="http://schemas.openxmlformats.org/drawingml/2006/main">
            <a:pPr>
              <a:defRPr sz="2175" b="0">
                <a:solidFill>
                  <a:srgbClr val="26384B"/>
                </a:solidFill>
                <a:latin typeface="Arial"/>
                <a:ea typeface="Arial"/>
                <a:cs typeface="Arial"/>
              </a:defRPr>
            </a:pPr>
            <a:r>
              <a:rPr sz="2175" b="0">
                <a:solidFill>
                  <a:srgbClr val="26384B"/>
                </a:solidFill>
                <a:latin typeface="Arial"/>
                <a:ea typeface="Arial"/>
                <a:cs typeface="Arial"/>
              </a:rPr>
              <a:t>Ansible Playbooks y Roles para Automatización Compleja</a:t>
            </a:r>
          </a:p>
        </p:txBody>
      </p:sp>
      <p:sp>
        <p:nvSpPr>
          <p:cNvPr id="11" name="20 min">
            <a:extLst xmlns:a="http://schemas.openxmlformats.org/drawingml/2006/main">
              <a:ext uri="{FF2B5EF4-FFF2-40B4-BE49-F238E27FC236}">
                <a16:creationId xmlns:a16="http://schemas.microsoft.com/office/drawing/2014/main" id="{57CA7C3F-4ED0-4363-BDAA-1FE01314FF2F}"/>
              </a:ext>
            </a:extLst>
          </p:cNvPr>
          <p:cNvSpPr>
            <a:spLocks xmlns:a="http://schemas.openxmlformats.org/drawingml/2006/main" noGrp="1"/>
          </p:cNvSpPr>
          <p:nvPr/>
        </p:nvSpPr>
        <p:spPr>
          <a:xfrm xmlns:a="http://schemas.openxmlformats.org/drawingml/2006/main">
            <a:off x="12858750" y="4848225"/>
            <a:ext cx="142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087F8C"/>
                </a:solidFill>
                <a:latin typeface="Arial"/>
                <a:ea typeface="Arial"/>
                <a:cs typeface="Arial"/>
              </a:defRPr>
            </a:defPPr>
          </a:lstStyle>
          <a:p xmlns:a="http://schemas.openxmlformats.org/drawingml/2006/main">
            <a:pPr>
              <a:defRPr sz="2100" b="1">
                <a:solidFill>
                  <a:srgbClr val="087F8C"/>
                </a:solidFill>
                <a:latin typeface="Arial"/>
                <a:ea typeface="Arial"/>
                <a:cs typeface="Arial"/>
              </a:defRPr>
            </a:pPr>
            <a:r>
              <a:rPr sz="2100" b="1">
                <a:solidFill>
                  <a:srgbClr val="087F8C"/>
                </a:solidFill>
                <a:latin typeface="Arial"/>
                <a:ea typeface="Arial"/>
                <a:cs typeface="Arial"/>
              </a:rPr>
              <a:t>20 min</a:t>
            </a:r>
          </a:p>
        </p:txBody>
      </p:sp>
      <p:sp>
        <p:nvSpPr>
          <p:cNvPr id="12" name="Demostración del ejemplo existente">
            <a:extLst xmlns:a="http://schemas.openxmlformats.org/drawingml/2006/main">
              <a:ext uri="{FF2B5EF4-FFF2-40B4-BE49-F238E27FC236}">
                <a16:creationId xmlns:a16="http://schemas.microsoft.com/office/drawing/2014/main" id="{10361D5B-8FFC-4504-A87B-50B00DE2CA9A}"/>
              </a:ext>
            </a:extLst>
          </p:cNvPr>
          <p:cNvSpPr>
            <a:spLocks xmlns:a="http://schemas.openxmlformats.org/drawingml/2006/main" noGrp="1"/>
          </p:cNvSpPr>
          <p:nvPr/>
        </p:nvSpPr>
        <p:spPr>
          <a:xfrm xmlns:a="http://schemas.openxmlformats.org/drawingml/2006/main">
            <a:off x="952500" y="5686425"/>
            <a:ext cx="11525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26384B"/>
                </a:solidFill>
                <a:latin typeface="Arial"/>
                <a:ea typeface="Arial"/>
                <a:cs typeface="Arial"/>
              </a:defRPr>
            </a:defPPr>
          </a:lstStyle>
          <a:p xmlns:a="http://schemas.openxmlformats.org/drawingml/2006/main">
            <a:pPr>
              <a:defRPr sz="2175" b="0">
                <a:solidFill>
                  <a:srgbClr val="26384B"/>
                </a:solidFill>
                <a:latin typeface="Arial"/>
                <a:ea typeface="Arial"/>
                <a:cs typeface="Arial"/>
              </a:defRPr>
            </a:pPr>
            <a:r>
              <a:rPr sz="2175" b="0">
                <a:solidFill>
                  <a:srgbClr val="26384B"/>
                </a:solidFill>
                <a:latin typeface="Arial"/>
                <a:ea typeface="Arial"/>
                <a:cs typeface="Arial"/>
              </a:rPr>
              <a:t>Demostración del ejemplo existente</a:t>
            </a:r>
          </a:p>
        </p:txBody>
      </p:sp>
      <p:sp>
        <p:nvSpPr>
          <p:cNvPr id="13" name="25 min">
            <a:extLst xmlns:a="http://schemas.openxmlformats.org/drawingml/2006/main">
              <a:ext uri="{FF2B5EF4-FFF2-40B4-BE49-F238E27FC236}">
                <a16:creationId xmlns:a16="http://schemas.microsoft.com/office/drawing/2014/main" id="{DEAFB8E3-5656-4608-9A1D-E84C8E159BA6}"/>
              </a:ext>
            </a:extLst>
          </p:cNvPr>
          <p:cNvSpPr>
            <a:spLocks xmlns:a="http://schemas.openxmlformats.org/drawingml/2006/main" noGrp="1"/>
          </p:cNvSpPr>
          <p:nvPr/>
        </p:nvSpPr>
        <p:spPr>
          <a:xfrm xmlns:a="http://schemas.openxmlformats.org/drawingml/2006/main">
            <a:off x="12858750" y="5686425"/>
            <a:ext cx="142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087F8C"/>
                </a:solidFill>
                <a:latin typeface="Arial"/>
                <a:ea typeface="Arial"/>
                <a:cs typeface="Arial"/>
              </a:defRPr>
            </a:defPPr>
          </a:lstStyle>
          <a:p xmlns:a="http://schemas.openxmlformats.org/drawingml/2006/main">
            <a:pPr>
              <a:defRPr sz="2100" b="1">
                <a:solidFill>
                  <a:srgbClr val="087F8C"/>
                </a:solidFill>
                <a:latin typeface="Arial"/>
                <a:ea typeface="Arial"/>
                <a:cs typeface="Arial"/>
              </a:defRPr>
            </a:pPr>
            <a:r>
              <a:rPr sz="2100" b="1">
                <a:solidFill>
                  <a:srgbClr val="087F8C"/>
                </a:solidFill>
                <a:latin typeface="Arial"/>
                <a:ea typeface="Arial"/>
                <a:cs typeface="Arial"/>
              </a:rPr>
              <a:t>25 min</a:t>
            </a:r>
          </a:p>
        </p:txBody>
      </p:sp>
      <p:sp>
        <p:nvSpPr>
          <p:cNvPr id="14" name="Cierre y preguntas">
            <a:extLst xmlns:a="http://schemas.openxmlformats.org/drawingml/2006/main">
              <a:ext uri="{FF2B5EF4-FFF2-40B4-BE49-F238E27FC236}">
                <a16:creationId xmlns:a16="http://schemas.microsoft.com/office/drawing/2014/main" id="{08A3B6A3-2CEF-4CA5-83FA-A4AA744B52F4}"/>
              </a:ext>
            </a:extLst>
          </p:cNvPr>
          <p:cNvSpPr>
            <a:spLocks xmlns:a="http://schemas.openxmlformats.org/drawingml/2006/main" noGrp="1"/>
          </p:cNvSpPr>
          <p:nvPr/>
        </p:nvSpPr>
        <p:spPr>
          <a:xfrm xmlns:a="http://schemas.openxmlformats.org/drawingml/2006/main">
            <a:off x="952500" y="6524625"/>
            <a:ext cx="11525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26384B"/>
                </a:solidFill>
                <a:latin typeface="Arial"/>
                <a:ea typeface="Arial"/>
                <a:cs typeface="Arial"/>
              </a:defRPr>
            </a:defPPr>
          </a:lstStyle>
          <a:p xmlns:a="http://schemas.openxmlformats.org/drawingml/2006/main">
            <a:pPr>
              <a:defRPr sz="2175" b="0">
                <a:solidFill>
                  <a:srgbClr val="26384B"/>
                </a:solidFill>
                <a:latin typeface="Arial"/>
                <a:ea typeface="Arial"/>
                <a:cs typeface="Arial"/>
              </a:defRPr>
            </a:pPr>
            <a:r>
              <a:rPr sz="2175" b="0">
                <a:solidFill>
                  <a:srgbClr val="26384B"/>
                </a:solidFill>
                <a:latin typeface="Arial"/>
                <a:ea typeface="Arial"/>
                <a:cs typeface="Arial"/>
              </a:rPr>
              <a:t>Cierre y preguntas</a:t>
            </a:r>
          </a:p>
        </p:txBody>
      </p:sp>
      <p:sp>
        <p:nvSpPr>
          <p:cNvPr id="15" name="5 min">
            <a:extLst xmlns:a="http://schemas.openxmlformats.org/drawingml/2006/main">
              <a:ext uri="{FF2B5EF4-FFF2-40B4-BE49-F238E27FC236}">
                <a16:creationId xmlns:a16="http://schemas.microsoft.com/office/drawing/2014/main" id="{072AAF69-8765-4DCF-B7CF-2D08900ADF5E}"/>
              </a:ext>
            </a:extLst>
          </p:cNvPr>
          <p:cNvSpPr>
            <a:spLocks xmlns:a="http://schemas.openxmlformats.org/drawingml/2006/main" noGrp="1"/>
          </p:cNvSpPr>
          <p:nvPr/>
        </p:nvSpPr>
        <p:spPr>
          <a:xfrm xmlns:a="http://schemas.openxmlformats.org/drawingml/2006/main">
            <a:off x="12858750" y="6524625"/>
            <a:ext cx="142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087F8C"/>
                </a:solidFill>
                <a:latin typeface="Arial"/>
                <a:ea typeface="Arial"/>
                <a:cs typeface="Arial"/>
              </a:defRPr>
            </a:defPPr>
          </a:lstStyle>
          <a:p xmlns:a="http://schemas.openxmlformats.org/drawingml/2006/main">
            <a:pPr>
              <a:defRPr sz="2100" b="1">
                <a:solidFill>
                  <a:srgbClr val="087F8C"/>
                </a:solidFill>
                <a:latin typeface="Arial"/>
                <a:ea typeface="Arial"/>
                <a:cs typeface="Arial"/>
              </a:defRPr>
            </a:pPr>
            <a:r>
              <a:rPr sz="2100" b="1">
                <a:solidFill>
                  <a:srgbClr val="087F8C"/>
                </a:solidFill>
                <a:latin typeface="Arial"/>
                <a:ea typeface="Arial"/>
                <a:cs typeface="Arial"/>
              </a:rPr>
              <a:t>5 min</a:t>
            </a:r>
          </a:p>
        </p:txBody>
      </p:sp>
    </p:spTree>
    <p:extLst>
      <p:ext uri="{BB962C8B-B14F-4D97-AF65-F5344CB8AC3E}">
        <p14:creationId xmlns:p14="http://schemas.microsoft.com/office/powerpoint/2010/main" val="1896560515"/>
      </p:ext>
    </p:extLst>
  </p:cSld>
</p:sld>
</file>

<file path=ppt/slides/slide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0" name="INICIO">
            <a:extLst xmlns:a="http://schemas.openxmlformats.org/drawingml/2006/main">
              <a:ext uri="{FF2B5EF4-FFF2-40B4-BE49-F238E27FC236}">
                <a16:creationId xmlns:a16="http://schemas.microsoft.com/office/drawing/2014/main" id="{E1272629-DAA7-4636-B380-75D87C5DBB44}"/>
              </a:ext>
            </a:extLst>
          </p:cNvPr>
          <p:cNvSpPr>
            <a:spLocks xmlns:a="http://schemas.openxmlformats.org/drawingml/2006/main" noGrp="1"/>
          </p:cNvSpPr>
          <p:nvPr/>
        </p:nvSpPr>
        <p:spPr>
          <a:xfrm xmlns:a="http://schemas.openxmlformats.org/drawingml/2006/main">
            <a:off x="914400" y="542925"/>
            <a:ext cx="1238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087F8C"/>
                </a:solidFill>
                <a:latin typeface="Arial"/>
                <a:ea typeface="Arial"/>
                <a:cs typeface="Arial"/>
              </a:defRPr>
            </a:defPPr>
          </a:lstStyle>
          <a:p xmlns:a="http://schemas.openxmlformats.org/drawingml/2006/main">
            <a:pPr>
              <a:defRPr sz="1575" b="1">
                <a:solidFill>
                  <a:srgbClr val="087F8C"/>
                </a:solidFill>
                <a:latin typeface="Arial"/>
                <a:ea typeface="Arial"/>
                <a:cs typeface="Arial"/>
              </a:defRPr>
            </a:pPr>
            <a:r>
              <a:rPr sz="1575" b="1">
                <a:solidFill>
                  <a:srgbClr val="087F8C"/>
                </a:solidFill>
                <a:latin typeface="Arial"/>
                <a:ea typeface="Arial"/>
                <a:cs typeface="Arial"/>
              </a:rPr>
              <a:t>INICIO</a:t>
            </a:r>
          </a:p>
        </p:txBody>
      </p:sp>
      <p:sp>
        <p:nvSpPr>
          <p:cNvPr id="2" name="03 / 34">
            <a:extLst xmlns:a="http://schemas.openxmlformats.org/drawingml/2006/main">
              <a:ext uri="{FF2B5EF4-FFF2-40B4-BE49-F238E27FC236}">
                <a16:creationId xmlns:a16="http://schemas.microsoft.com/office/drawing/2014/main" id="{D886AE56-27BC-4FBB-BFE5-BD4417BB0340}"/>
              </a:ext>
            </a:extLst>
          </p:cNvPr>
          <p:cNvSpPr>
            <a:spLocks xmlns:a="http://schemas.openxmlformats.org/drawingml/2006/main" noGrp="1"/>
          </p:cNvSpPr>
          <p:nvPr/>
        </p:nvSpPr>
        <p:spPr>
          <a:xfrm xmlns:a="http://schemas.openxmlformats.org/drawingml/2006/main">
            <a:off x="13192125" y="561975"/>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77C"/>
                </a:solidFill>
                <a:latin typeface="Arial"/>
                <a:ea typeface="Arial"/>
                <a:cs typeface="Arial"/>
              </a:defRPr>
            </a:defPPr>
          </a:lstStyle>
          <a:p xmlns:a="http://schemas.openxmlformats.org/drawingml/2006/main">
            <a:pPr>
              <a:defRPr sz="1500" b="0">
                <a:solidFill>
                  <a:srgbClr val="53677C"/>
                </a:solidFill>
                <a:latin typeface="Arial"/>
                <a:ea typeface="Arial"/>
                <a:cs typeface="Arial"/>
              </a:defRPr>
            </a:pPr>
            <a:r>
              <a:rPr sz="1500" b="0">
                <a:solidFill>
                  <a:srgbClr val="53677C"/>
                </a:solidFill>
                <a:latin typeface="Arial"/>
                <a:ea typeface="Arial"/>
                <a:cs typeface="Arial"/>
              </a:rPr>
              <a:t>03 / 34</a:t>
            </a:r>
          </a:p>
        </p:txBody>
      </p:sp>
      <p:sp>
        <p:nvSpPr>
          <p:cNvPr id="3" name="Anuncios importantes">
            <a:extLst xmlns:a="http://schemas.openxmlformats.org/drawingml/2006/main">
              <a:ext uri="{FF2B5EF4-FFF2-40B4-BE49-F238E27FC236}">
                <a16:creationId xmlns:a16="http://schemas.microsoft.com/office/drawing/2014/main" id="{433CB195-D403-413A-B3BA-A43DACB435D8}"/>
              </a:ext>
            </a:extLst>
          </p:cNvPr>
          <p:cNvSpPr>
            <a:spLocks xmlns:a="http://schemas.openxmlformats.org/drawingml/2006/main" noGrp="1"/>
          </p:cNvSpPr>
          <p:nvPr/>
        </p:nvSpPr>
        <p:spPr>
          <a:xfrm xmlns:a="http://schemas.openxmlformats.org/drawingml/2006/main">
            <a:off x="914400" y="1143000"/>
            <a:ext cx="13411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132E50"/>
                </a:solidFill>
                <a:latin typeface="Arial"/>
                <a:ea typeface="Arial"/>
                <a:cs typeface="Arial"/>
              </a:defRPr>
            </a:defPPr>
          </a:lstStyle>
          <a:p xmlns:a="http://schemas.openxmlformats.org/drawingml/2006/main">
            <a:pPr>
              <a:defRPr sz="3825" b="1">
                <a:solidFill>
                  <a:srgbClr val="132E50"/>
                </a:solidFill>
                <a:latin typeface="Arial"/>
                <a:ea typeface="Arial"/>
                <a:cs typeface="Arial"/>
              </a:defRPr>
            </a:pPr>
            <a:r>
              <a:rPr sz="3825" b="1">
                <a:solidFill>
                  <a:srgbClr val="132E50"/>
                </a:solidFill>
                <a:latin typeface="Arial"/>
                <a:ea typeface="Arial"/>
                <a:cs typeface="Arial"/>
              </a:rPr>
              <a:t>Anuncios importantes</a:t>
            </a:r>
          </a:p>
        </p:txBody>
      </p:sp>
      <p:sp>
        <p:nvSpPr>
          <p:cNvPr id="4" name="01">
            <a:extLst xmlns:a="http://schemas.openxmlformats.org/drawingml/2006/main">
              <a:ext uri="{FF2B5EF4-FFF2-40B4-BE49-F238E27FC236}">
                <a16:creationId xmlns:a16="http://schemas.microsoft.com/office/drawing/2014/main" id="{DB6E8493-ADE6-435A-98E3-2D80C222FDF4}"/>
              </a:ext>
            </a:extLst>
          </p:cNvPr>
          <p:cNvSpPr>
            <a:spLocks xmlns:a="http://schemas.openxmlformats.org/drawingml/2006/main" noGrp="1"/>
          </p:cNvSpPr>
          <p:nvPr/>
        </p:nvSpPr>
        <p:spPr>
          <a:xfrm xmlns:a="http://schemas.openxmlformats.org/drawingml/2006/main">
            <a:off x="952500" y="2381250"/>
            <a:ext cx="1047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087F8C"/>
                </a:solidFill>
                <a:latin typeface="Arial"/>
                <a:ea typeface="Arial"/>
                <a:cs typeface="Arial"/>
              </a:defRPr>
            </a:defPPr>
          </a:lstStyle>
          <a:p xmlns:a="http://schemas.openxmlformats.org/drawingml/2006/main">
            <a:pPr>
              <a:defRPr sz="3825" b="1">
                <a:solidFill>
                  <a:srgbClr val="087F8C"/>
                </a:solidFill>
                <a:latin typeface="Arial"/>
                <a:ea typeface="Arial"/>
                <a:cs typeface="Arial"/>
              </a:defRPr>
            </a:pPr>
            <a:r>
              <a:rPr sz="3825" b="1">
                <a:solidFill>
                  <a:srgbClr val="087F8C"/>
                </a:solidFill>
                <a:latin typeface="Arial"/>
                <a:ea typeface="Arial"/>
                <a:cs typeface="Arial"/>
              </a:rPr>
              <a:t>01</a:t>
            </a:r>
          </a:p>
        </p:txBody>
      </p:sp>
      <p:sp>
        <p:nvSpPr>
          <p:cNvPr id="5" name="Lectura de la práctica 2">
            <a:extLst xmlns:a="http://schemas.openxmlformats.org/drawingml/2006/main">
              <a:ext uri="{FF2B5EF4-FFF2-40B4-BE49-F238E27FC236}">
                <a16:creationId xmlns:a16="http://schemas.microsoft.com/office/drawing/2014/main" id="{7110F21C-C35D-4BCE-8B30-492BB3B1AACB}"/>
              </a:ext>
            </a:extLst>
          </p:cNvPr>
          <p:cNvSpPr>
            <a:spLocks xmlns:a="http://schemas.openxmlformats.org/drawingml/2006/main" noGrp="1"/>
          </p:cNvSpPr>
          <p:nvPr/>
        </p:nvSpPr>
        <p:spPr>
          <a:xfrm xmlns:a="http://schemas.openxmlformats.org/drawingml/2006/main">
            <a:off x="2476500" y="2400300"/>
            <a:ext cx="115728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0">
                <a:solidFill>
                  <a:srgbClr val="26384B"/>
                </a:solidFill>
                <a:latin typeface="Arial"/>
                <a:ea typeface="Arial"/>
                <a:cs typeface="Arial"/>
              </a:defRPr>
            </a:defPPr>
          </a:lstStyle>
          <a:p xmlns:a="http://schemas.openxmlformats.org/drawingml/2006/main">
            <a:pPr>
              <a:defRPr sz="3300" b="0">
                <a:solidFill>
                  <a:srgbClr val="26384B"/>
                </a:solidFill>
                <a:latin typeface="Arial"/>
                <a:ea typeface="Arial"/>
                <a:cs typeface="Arial"/>
              </a:defRPr>
            </a:pPr>
            <a:r>
              <a:rPr sz="3300" b="0">
                <a:solidFill>
                  <a:srgbClr val="26384B"/>
                </a:solidFill>
                <a:latin typeface="Arial"/>
                <a:ea typeface="Arial"/>
                <a:cs typeface="Arial"/>
              </a:rPr>
              <a:t>Lectura de la práctica 2</a:t>
            </a:r>
          </a:p>
        </p:txBody>
      </p:sp>
      <p:sp>
        <p:nvSpPr>
          <p:cNvPr id="6" name="02">
            <a:extLst xmlns:a="http://schemas.openxmlformats.org/drawingml/2006/main">
              <a:ext uri="{FF2B5EF4-FFF2-40B4-BE49-F238E27FC236}">
                <a16:creationId xmlns:a16="http://schemas.microsoft.com/office/drawing/2014/main" id="{AA3A03AC-F66F-4082-8A61-1022BBE92274}"/>
              </a:ext>
            </a:extLst>
          </p:cNvPr>
          <p:cNvSpPr>
            <a:spLocks xmlns:a="http://schemas.openxmlformats.org/drawingml/2006/main" noGrp="1"/>
          </p:cNvSpPr>
          <p:nvPr/>
        </p:nvSpPr>
        <p:spPr>
          <a:xfrm xmlns:a="http://schemas.openxmlformats.org/drawingml/2006/main">
            <a:off x="952500" y="4019550"/>
            <a:ext cx="1047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087F8C"/>
                </a:solidFill>
                <a:latin typeface="Arial"/>
                <a:ea typeface="Arial"/>
                <a:cs typeface="Arial"/>
              </a:defRPr>
            </a:defPPr>
          </a:lstStyle>
          <a:p xmlns:a="http://schemas.openxmlformats.org/drawingml/2006/main">
            <a:pPr>
              <a:defRPr sz="3825" b="1">
                <a:solidFill>
                  <a:srgbClr val="087F8C"/>
                </a:solidFill>
                <a:latin typeface="Arial"/>
                <a:ea typeface="Arial"/>
                <a:cs typeface="Arial"/>
              </a:defRPr>
            </a:pPr>
            <a:r>
              <a:rPr sz="3825" b="1">
                <a:solidFill>
                  <a:srgbClr val="087F8C"/>
                </a:solidFill>
                <a:latin typeface="Arial"/>
                <a:ea typeface="Arial"/>
                <a:cs typeface="Arial"/>
              </a:rPr>
              <a:t>02</a:t>
            </a:r>
          </a:p>
        </p:txBody>
      </p:sp>
      <p:sp>
        <p:nvSpPr>
          <p:cNvPr id="7" name="Lectura de la HC de la fase 3">
            <a:extLst xmlns:a="http://schemas.openxmlformats.org/drawingml/2006/main">
              <a:ext uri="{FF2B5EF4-FFF2-40B4-BE49-F238E27FC236}">
                <a16:creationId xmlns:a16="http://schemas.microsoft.com/office/drawing/2014/main" id="{3650485B-9837-437A-B555-AEC1A3F68DFC}"/>
              </a:ext>
            </a:extLst>
          </p:cNvPr>
          <p:cNvSpPr>
            <a:spLocks xmlns:a="http://schemas.openxmlformats.org/drawingml/2006/main" noGrp="1"/>
          </p:cNvSpPr>
          <p:nvPr/>
        </p:nvSpPr>
        <p:spPr>
          <a:xfrm xmlns:a="http://schemas.openxmlformats.org/drawingml/2006/main">
            <a:off x="2476500" y="4038600"/>
            <a:ext cx="115728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0">
                <a:solidFill>
                  <a:srgbClr val="26384B"/>
                </a:solidFill>
                <a:latin typeface="Arial"/>
                <a:ea typeface="Arial"/>
                <a:cs typeface="Arial"/>
              </a:defRPr>
            </a:defPPr>
          </a:lstStyle>
          <a:p xmlns:a="http://schemas.openxmlformats.org/drawingml/2006/main">
            <a:pPr>
              <a:defRPr sz="3300" b="0">
                <a:solidFill>
                  <a:srgbClr val="26384B"/>
                </a:solidFill>
                <a:latin typeface="Arial"/>
                <a:ea typeface="Arial"/>
                <a:cs typeface="Arial"/>
              </a:defRPr>
            </a:pPr>
            <a:r>
              <a:rPr sz="3300" b="0">
                <a:solidFill>
                  <a:srgbClr val="26384B"/>
                </a:solidFill>
                <a:latin typeface="Arial"/>
                <a:ea typeface="Arial"/>
                <a:cs typeface="Arial"/>
              </a:rPr>
              <a:t>Lectura de la HC de la fase 3</a:t>
            </a:r>
          </a:p>
        </p:txBody>
      </p:sp>
      <p:sp>
        <p:nvSpPr>
          <p:cNvPr id="8" name="03">
            <a:extLst xmlns:a="http://schemas.openxmlformats.org/drawingml/2006/main">
              <a:ext uri="{FF2B5EF4-FFF2-40B4-BE49-F238E27FC236}">
                <a16:creationId xmlns:a16="http://schemas.microsoft.com/office/drawing/2014/main" id="{077083CB-7F2D-49D0-AF78-001795674243}"/>
              </a:ext>
            </a:extLst>
          </p:cNvPr>
          <p:cNvSpPr>
            <a:spLocks xmlns:a="http://schemas.openxmlformats.org/drawingml/2006/main" noGrp="1"/>
          </p:cNvSpPr>
          <p:nvPr/>
        </p:nvSpPr>
        <p:spPr>
          <a:xfrm xmlns:a="http://schemas.openxmlformats.org/drawingml/2006/main">
            <a:off x="952500" y="5657850"/>
            <a:ext cx="1047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087F8C"/>
                </a:solidFill>
                <a:latin typeface="Arial"/>
                <a:ea typeface="Arial"/>
                <a:cs typeface="Arial"/>
              </a:defRPr>
            </a:defPPr>
          </a:lstStyle>
          <a:p xmlns:a="http://schemas.openxmlformats.org/drawingml/2006/main">
            <a:pPr>
              <a:defRPr sz="3825" b="1">
                <a:solidFill>
                  <a:srgbClr val="087F8C"/>
                </a:solidFill>
                <a:latin typeface="Arial"/>
                <a:ea typeface="Arial"/>
                <a:cs typeface="Arial"/>
              </a:defRPr>
            </a:pPr>
            <a:r>
              <a:rPr sz="3825" b="1">
                <a:solidFill>
                  <a:srgbClr val="087F8C"/>
                </a:solidFill>
                <a:latin typeface="Arial"/>
                <a:ea typeface="Arial"/>
                <a:cs typeface="Arial"/>
              </a:rPr>
              <a:t>03</a:t>
            </a:r>
          </a:p>
        </p:txBody>
      </p:sp>
      <p:sp>
        <p:nvSpPr>
          <p:cNvPr id="9" name="Horarios de calificación">
            <a:extLst xmlns:a="http://schemas.openxmlformats.org/drawingml/2006/main">
              <a:ext uri="{FF2B5EF4-FFF2-40B4-BE49-F238E27FC236}">
                <a16:creationId xmlns:a16="http://schemas.microsoft.com/office/drawing/2014/main" id="{C4C1EDA7-DDDC-4058-8BFA-E5CE660BF3D8}"/>
              </a:ext>
            </a:extLst>
          </p:cNvPr>
          <p:cNvSpPr>
            <a:spLocks xmlns:a="http://schemas.openxmlformats.org/drawingml/2006/main" noGrp="1"/>
          </p:cNvSpPr>
          <p:nvPr/>
        </p:nvSpPr>
        <p:spPr>
          <a:xfrm xmlns:a="http://schemas.openxmlformats.org/drawingml/2006/main">
            <a:off x="2476500" y="5676900"/>
            <a:ext cx="115728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0">
                <a:solidFill>
                  <a:srgbClr val="26384B"/>
                </a:solidFill>
                <a:latin typeface="Arial"/>
                <a:ea typeface="Arial"/>
                <a:cs typeface="Arial"/>
              </a:defRPr>
            </a:defPPr>
          </a:lstStyle>
          <a:p xmlns:a="http://schemas.openxmlformats.org/drawingml/2006/main">
            <a:pPr>
              <a:defRPr sz="3300" b="0">
                <a:solidFill>
                  <a:srgbClr val="26384B"/>
                </a:solidFill>
                <a:latin typeface="Arial"/>
                <a:ea typeface="Arial"/>
                <a:cs typeface="Arial"/>
              </a:defRPr>
            </a:pPr>
            <a:r>
              <a:rPr sz="3300" b="0">
                <a:solidFill>
                  <a:srgbClr val="26384B"/>
                </a:solidFill>
                <a:latin typeface="Arial"/>
                <a:ea typeface="Arial"/>
                <a:cs typeface="Arial"/>
              </a:rPr>
              <a:t>Horarios de calificación</a:t>
            </a:r>
          </a:p>
        </p:txBody>
      </p:sp>
    </p:spTree>
    <p:extLst>
      <p:ext uri="{BB962C8B-B14F-4D97-AF65-F5344CB8AC3E}">
        <p14:creationId xmlns:p14="http://schemas.microsoft.com/office/powerpoint/2010/main" val="1409425379"/>
      </p:ext>
    </p:extLst>
  </p:cSld>
</p:sld>
</file>

<file path=ppt/slides/slide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1" name="CONTINUACIÓN">
            <a:extLst xmlns:a="http://schemas.openxmlformats.org/drawingml/2006/main">
              <a:ext uri="{FF2B5EF4-FFF2-40B4-BE49-F238E27FC236}">
                <a16:creationId xmlns:a16="http://schemas.microsoft.com/office/drawing/2014/main" id="{E2E19750-538A-4E67-9335-1CA93C467647}"/>
              </a:ext>
            </a:extLst>
          </p:cNvPr>
          <p:cNvSpPr>
            <a:spLocks xmlns:a="http://schemas.openxmlformats.org/drawingml/2006/main" noGrp="1"/>
          </p:cNvSpPr>
          <p:nvPr/>
        </p:nvSpPr>
        <p:spPr>
          <a:xfrm xmlns:a="http://schemas.openxmlformats.org/drawingml/2006/main">
            <a:off x="914400" y="542925"/>
            <a:ext cx="1238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087F8C"/>
                </a:solidFill>
                <a:latin typeface="Arial"/>
                <a:ea typeface="Arial"/>
                <a:cs typeface="Arial"/>
              </a:defRPr>
            </a:defPPr>
          </a:lstStyle>
          <a:p xmlns:a="http://schemas.openxmlformats.org/drawingml/2006/main">
            <a:pPr>
              <a:defRPr sz="1575" b="1">
                <a:solidFill>
                  <a:srgbClr val="087F8C"/>
                </a:solidFill>
                <a:latin typeface="Arial"/>
                <a:ea typeface="Arial"/>
                <a:cs typeface="Arial"/>
              </a:defRPr>
            </a:pPr>
            <a:r>
              <a:rPr sz="1575" b="1">
                <a:solidFill>
                  <a:srgbClr val="087F8C"/>
                </a:solidFill>
                <a:latin typeface="Arial"/>
                <a:ea typeface="Arial"/>
                <a:cs typeface="Arial"/>
              </a:rPr>
              <a:t>CONTINUACIÓN</a:t>
            </a:r>
          </a:p>
        </p:txBody>
      </p:sp>
      <p:sp>
        <p:nvSpPr>
          <p:cNvPr id="2" name="04 / 34">
            <a:extLst xmlns:a="http://schemas.openxmlformats.org/drawingml/2006/main">
              <a:ext uri="{FF2B5EF4-FFF2-40B4-BE49-F238E27FC236}">
                <a16:creationId xmlns:a16="http://schemas.microsoft.com/office/drawing/2014/main" id="{8DB8E54F-534E-4AA1-88BB-29EA0D1BB033}"/>
              </a:ext>
            </a:extLst>
          </p:cNvPr>
          <p:cNvSpPr>
            <a:spLocks xmlns:a="http://schemas.openxmlformats.org/drawingml/2006/main" noGrp="1"/>
          </p:cNvSpPr>
          <p:nvPr/>
        </p:nvSpPr>
        <p:spPr>
          <a:xfrm xmlns:a="http://schemas.openxmlformats.org/drawingml/2006/main">
            <a:off x="13192125" y="561975"/>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77C"/>
                </a:solidFill>
                <a:latin typeface="Arial"/>
                <a:ea typeface="Arial"/>
                <a:cs typeface="Arial"/>
              </a:defRPr>
            </a:defPPr>
          </a:lstStyle>
          <a:p xmlns:a="http://schemas.openxmlformats.org/drawingml/2006/main">
            <a:pPr>
              <a:defRPr sz="1500" b="0">
                <a:solidFill>
                  <a:srgbClr val="53677C"/>
                </a:solidFill>
                <a:latin typeface="Arial"/>
                <a:ea typeface="Arial"/>
                <a:cs typeface="Arial"/>
              </a:defRPr>
            </a:pPr>
            <a:r>
              <a:rPr sz="1500" b="0">
                <a:solidFill>
                  <a:srgbClr val="53677C"/>
                </a:solidFill>
                <a:latin typeface="Arial"/>
                <a:ea typeface="Arial"/>
                <a:cs typeface="Arial"/>
              </a:rPr>
              <a:t>04 / 34</a:t>
            </a:r>
          </a:p>
        </p:txBody>
      </p:sp>
      <p:sp>
        <p:nvSpPr>
          <p:cNvPr id="3" name="La misma web, otras responsabilidades">
            <a:extLst xmlns:a="http://schemas.openxmlformats.org/drawingml/2006/main">
              <a:ext uri="{FF2B5EF4-FFF2-40B4-BE49-F238E27FC236}">
                <a16:creationId xmlns:a16="http://schemas.microsoft.com/office/drawing/2014/main" id="{FD91D197-4FBC-439D-A107-817390F871F5}"/>
              </a:ext>
            </a:extLst>
          </p:cNvPr>
          <p:cNvSpPr>
            <a:spLocks xmlns:a="http://schemas.openxmlformats.org/drawingml/2006/main" noGrp="1"/>
          </p:cNvSpPr>
          <p:nvPr/>
        </p:nvSpPr>
        <p:spPr>
          <a:xfrm xmlns:a="http://schemas.openxmlformats.org/drawingml/2006/main">
            <a:off x="914400" y="1143000"/>
            <a:ext cx="13411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132E50"/>
                </a:solidFill>
                <a:latin typeface="Arial"/>
                <a:ea typeface="Arial"/>
                <a:cs typeface="Arial"/>
              </a:defRPr>
            </a:defPPr>
          </a:lstStyle>
          <a:p xmlns:a="http://schemas.openxmlformats.org/drawingml/2006/main">
            <a:pPr>
              <a:defRPr sz="3825" b="1">
                <a:solidFill>
                  <a:srgbClr val="132E50"/>
                </a:solidFill>
                <a:latin typeface="Arial"/>
                <a:ea typeface="Arial"/>
                <a:cs typeface="Arial"/>
              </a:defRPr>
            </a:pPr>
            <a:r>
              <a:rPr sz="3825" b="1">
                <a:solidFill>
                  <a:srgbClr val="132E50"/>
                </a:solidFill>
                <a:latin typeface="Arial"/>
                <a:ea typeface="Arial"/>
                <a:cs typeface="Arial"/>
              </a:rPr>
              <a:t>La misma web, otras responsabilidades</a:t>
            </a:r>
          </a:p>
        </p:txBody>
      </p:sp>
      <p:sp>
        <p:nvSpPr>
          <p:cNvPr id="4" name="Clase anterior">
            <a:extLst xmlns:a="http://schemas.openxmlformats.org/drawingml/2006/main">
              <a:ext uri="{FF2B5EF4-FFF2-40B4-BE49-F238E27FC236}">
                <a16:creationId xmlns:a16="http://schemas.microsoft.com/office/drawing/2014/main" id="{72FD785A-B347-4AFA-98A4-3CA02A53A920}"/>
              </a:ext>
            </a:extLst>
          </p:cNvPr>
          <p:cNvSpPr>
            <a:spLocks xmlns:a="http://schemas.openxmlformats.org/drawingml/2006/main" noGrp="1"/>
          </p:cNvSpPr>
          <p:nvPr/>
        </p:nvSpPr>
        <p:spPr>
          <a:xfrm xmlns:a="http://schemas.openxmlformats.org/drawingml/2006/main">
            <a:off x="952500" y="2428875"/>
            <a:ext cx="6143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087F8C"/>
                </a:solidFill>
                <a:latin typeface="Arial"/>
                <a:ea typeface="Arial"/>
                <a:cs typeface="Arial"/>
              </a:defRPr>
            </a:defPPr>
          </a:lstStyle>
          <a:p xmlns:a="http://schemas.openxmlformats.org/drawingml/2006/main">
            <a:pPr>
              <a:defRPr sz="1950" b="1">
                <a:solidFill>
                  <a:srgbClr val="087F8C"/>
                </a:solidFill>
                <a:latin typeface="Arial"/>
                <a:ea typeface="Arial"/>
                <a:cs typeface="Arial"/>
              </a:defRPr>
            </a:pPr>
            <a:r>
              <a:rPr sz="1950" b="1">
                <a:solidFill>
                  <a:srgbClr val="087F8C"/>
                </a:solidFill>
                <a:latin typeface="Arial"/>
                <a:ea typeface="Arial"/>
                <a:cs typeface="Arial"/>
              </a:rPr>
              <a:t>Clase anterior</a:t>
            </a:r>
          </a:p>
        </p:txBody>
      </p:sp>
      <p:sp>
        <p:nvSpPr>
          <p:cNvPr id="5" name="Publicación en Vercel">
            <a:extLst xmlns:a="http://schemas.openxmlformats.org/drawingml/2006/main">
              <a:ext uri="{FF2B5EF4-FFF2-40B4-BE49-F238E27FC236}">
                <a16:creationId xmlns:a16="http://schemas.microsoft.com/office/drawing/2014/main" id="{8D391B6F-087C-47A7-8D64-2436FF14B83F}"/>
              </a:ext>
            </a:extLst>
          </p:cNvPr>
          <p:cNvSpPr>
            <a:spLocks xmlns:a="http://schemas.openxmlformats.org/drawingml/2006/main" noGrp="1"/>
          </p:cNvSpPr>
          <p:nvPr/>
        </p:nvSpPr>
        <p:spPr>
          <a:xfrm xmlns:a="http://schemas.openxmlformats.org/drawingml/2006/main">
            <a:off x="952500" y="3238500"/>
            <a:ext cx="6191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32E50"/>
                </a:solidFill>
                <a:latin typeface="Arial"/>
                <a:ea typeface="Arial"/>
                <a:cs typeface="Arial"/>
              </a:defRPr>
            </a:defPPr>
          </a:lstStyle>
          <a:p xmlns:a="http://schemas.openxmlformats.org/drawingml/2006/main">
            <a:pPr>
              <a:defRPr sz="3375" b="1">
                <a:solidFill>
                  <a:srgbClr val="132E50"/>
                </a:solidFill>
                <a:latin typeface="Arial"/>
                <a:ea typeface="Arial"/>
                <a:cs typeface="Arial"/>
              </a:defRPr>
            </a:pPr>
            <a:r>
              <a:rPr sz="3375" b="1">
                <a:solidFill>
                  <a:srgbClr val="132E50"/>
                </a:solidFill>
                <a:latin typeface="Arial"/>
                <a:ea typeface="Arial"/>
                <a:cs typeface="Arial"/>
              </a:rPr>
              <a:t>Publicación en Vercel</a:t>
            </a:r>
          </a:p>
        </p:txBody>
      </p:sp>
      <p:sp>
        <p:nvSpPr>
          <p:cNvPr id="6" name="La plataforma administra el entorno de publicación.">
            <a:extLst xmlns:a="http://schemas.openxmlformats.org/drawingml/2006/main">
              <a:ext uri="{FF2B5EF4-FFF2-40B4-BE49-F238E27FC236}">
                <a16:creationId xmlns:a16="http://schemas.microsoft.com/office/drawing/2014/main" id="{95DCF73B-F676-4815-9D7B-5EA7BC129287}"/>
              </a:ext>
            </a:extLst>
          </p:cNvPr>
          <p:cNvSpPr>
            <a:spLocks xmlns:a="http://schemas.openxmlformats.org/drawingml/2006/main" noGrp="1"/>
          </p:cNvSpPr>
          <p:nvPr/>
        </p:nvSpPr>
        <p:spPr>
          <a:xfrm xmlns:a="http://schemas.openxmlformats.org/drawingml/2006/main">
            <a:off x="952500" y="4572000"/>
            <a:ext cx="614362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26384B"/>
                </a:solidFill>
                <a:latin typeface="Arial"/>
                <a:ea typeface="Arial"/>
                <a:cs typeface="Arial"/>
              </a:defRPr>
            </a:defPPr>
          </a:lstStyle>
          <a:p xmlns:a="http://schemas.openxmlformats.org/drawingml/2006/main">
            <a:pPr>
              <a:defRPr sz="2550" b="0">
                <a:solidFill>
                  <a:srgbClr val="26384B"/>
                </a:solidFill>
                <a:latin typeface="Arial"/>
                <a:ea typeface="Arial"/>
                <a:cs typeface="Arial"/>
              </a:defRPr>
            </a:pPr>
            <a:r>
              <a:rPr sz="2550" b="0">
                <a:solidFill>
                  <a:srgbClr val="26384B"/>
                </a:solidFill>
                <a:latin typeface="Arial"/>
                <a:ea typeface="Arial"/>
                <a:cs typeface="Arial"/>
              </a:rPr>
              <a:t>La plataforma administra el entorno de publicación.</a:t>
            </a:r>
          </a:p>
        </p:txBody>
      </p:sp>
      <p:sp>
        <p:nvSpPr>
          <p:cNvPr id="7" name="Hoy">
            <a:extLst xmlns:a="http://schemas.openxmlformats.org/drawingml/2006/main">
              <a:ext uri="{FF2B5EF4-FFF2-40B4-BE49-F238E27FC236}">
                <a16:creationId xmlns:a16="http://schemas.microsoft.com/office/drawing/2014/main" id="{BE123D1F-48C5-442C-952E-AB009D79245D}"/>
              </a:ext>
            </a:extLst>
          </p:cNvPr>
          <p:cNvSpPr>
            <a:spLocks xmlns:a="http://schemas.openxmlformats.org/drawingml/2006/main" noGrp="1"/>
          </p:cNvSpPr>
          <p:nvPr/>
        </p:nvSpPr>
        <p:spPr>
          <a:xfrm xmlns:a="http://schemas.openxmlformats.org/drawingml/2006/main">
            <a:off x="8001000" y="2428875"/>
            <a:ext cx="6143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087F8C"/>
                </a:solidFill>
                <a:latin typeface="Arial"/>
                <a:ea typeface="Arial"/>
                <a:cs typeface="Arial"/>
              </a:defRPr>
            </a:defPPr>
          </a:lstStyle>
          <a:p xmlns:a="http://schemas.openxmlformats.org/drawingml/2006/main">
            <a:pPr>
              <a:defRPr sz="1950" b="1">
                <a:solidFill>
                  <a:srgbClr val="087F8C"/>
                </a:solidFill>
                <a:latin typeface="Arial"/>
                <a:ea typeface="Arial"/>
                <a:cs typeface="Arial"/>
              </a:defRPr>
            </a:pPr>
            <a:r>
              <a:rPr sz="1950" b="1">
                <a:solidFill>
                  <a:srgbClr val="087F8C"/>
                </a:solidFill>
                <a:latin typeface="Arial"/>
                <a:ea typeface="Arial"/>
                <a:cs typeface="Arial"/>
              </a:rPr>
              <a:t>Hoy</a:t>
            </a:r>
          </a:p>
        </p:txBody>
      </p:sp>
      <p:sp>
        <p:nvSpPr>
          <p:cNvPr id="8" name="Máquinas virtuales en Azure">
            <a:extLst xmlns:a="http://schemas.openxmlformats.org/drawingml/2006/main">
              <a:ext uri="{FF2B5EF4-FFF2-40B4-BE49-F238E27FC236}">
                <a16:creationId xmlns:a16="http://schemas.microsoft.com/office/drawing/2014/main" id="{57FCACDF-5F40-431A-A629-85B1A4832178}"/>
              </a:ext>
            </a:extLst>
          </p:cNvPr>
          <p:cNvSpPr>
            <a:spLocks xmlns:a="http://schemas.openxmlformats.org/drawingml/2006/main" noGrp="1"/>
          </p:cNvSpPr>
          <p:nvPr/>
        </p:nvSpPr>
        <p:spPr>
          <a:xfrm xmlns:a="http://schemas.openxmlformats.org/drawingml/2006/main">
            <a:off x="8001000" y="3238500"/>
            <a:ext cx="6191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32E50"/>
                </a:solidFill>
                <a:latin typeface="Arial"/>
                <a:ea typeface="Arial"/>
                <a:cs typeface="Arial"/>
              </a:defRPr>
            </a:defPPr>
          </a:lstStyle>
          <a:p xmlns:a="http://schemas.openxmlformats.org/drawingml/2006/main">
            <a:pPr>
              <a:defRPr sz="3375" b="1">
                <a:solidFill>
                  <a:srgbClr val="132E50"/>
                </a:solidFill>
                <a:latin typeface="Arial"/>
                <a:ea typeface="Arial"/>
                <a:cs typeface="Arial"/>
              </a:defRPr>
            </a:pPr>
            <a:r>
              <a:rPr sz="3375" b="1">
                <a:solidFill>
                  <a:srgbClr val="132E50"/>
                </a:solidFill>
                <a:latin typeface="Arial"/>
                <a:ea typeface="Arial"/>
                <a:cs typeface="Arial"/>
              </a:rPr>
              <a:t>Máquinas virtuales en Azure</a:t>
            </a:r>
          </a:p>
        </p:txBody>
      </p:sp>
      <p:sp>
        <p:nvSpPr>
          <p:cNvPr id="9" name="Terraform crea recursos; Ansible configura el software.">
            <a:extLst xmlns:a="http://schemas.openxmlformats.org/drawingml/2006/main">
              <a:ext uri="{FF2B5EF4-FFF2-40B4-BE49-F238E27FC236}">
                <a16:creationId xmlns:a16="http://schemas.microsoft.com/office/drawing/2014/main" id="{66384B48-1262-4A36-87F3-2F68E395BC3B}"/>
              </a:ext>
            </a:extLst>
          </p:cNvPr>
          <p:cNvSpPr>
            <a:spLocks xmlns:a="http://schemas.openxmlformats.org/drawingml/2006/main" noGrp="1"/>
          </p:cNvSpPr>
          <p:nvPr/>
        </p:nvSpPr>
        <p:spPr>
          <a:xfrm xmlns:a="http://schemas.openxmlformats.org/drawingml/2006/main">
            <a:off x="8001000" y="4572000"/>
            <a:ext cx="614362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26384B"/>
                </a:solidFill>
                <a:latin typeface="Arial"/>
                <a:ea typeface="Arial"/>
                <a:cs typeface="Arial"/>
              </a:defRPr>
            </a:defPPr>
          </a:lstStyle>
          <a:p xmlns:a="http://schemas.openxmlformats.org/drawingml/2006/main">
            <a:pPr>
              <a:defRPr sz="2550" b="0">
                <a:solidFill>
                  <a:srgbClr val="26384B"/>
                </a:solidFill>
                <a:latin typeface="Arial"/>
                <a:ea typeface="Arial"/>
                <a:cs typeface="Arial"/>
              </a:defRPr>
            </a:pPr>
            <a:r>
              <a:rPr sz="2550" b="0">
                <a:solidFill>
                  <a:srgbClr val="26384B"/>
                </a:solidFill>
                <a:latin typeface="Arial"/>
                <a:ea typeface="Arial"/>
                <a:cs typeface="Arial"/>
              </a:rPr>
              <a:t>Terraform crea recursos; Ansible configura el software.</a:t>
            </a:r>
          </a:p>
        </p:txBody>
      </p:sp>
      <p:sp>
        <p:nvSpPr>
          <p:cNvPr id="10" name="El costo también depende de cuánto tiempo conservamos los recurso">
            <a:extLst xmlns:a="http://schemas.openxmlformats.org/drawingml/2006/main">
              <a:ext uri="{FF2B5EF4-FFF2-40B4-BE49-F238E27FC236}">
                <a16:creationId xmlns:a16="http://schemas.microsoft.com/office/drawing/2014/main" id="{4491E3B9-EF57-4F2E-9B8C-D399F57583C1}"/>
              </a:ext>
            </a:extLst>
          </p:cNvPr>
          <p:cNvSpPr>
            <a:spLocks xmlns:a="http://schemas.openxmlformats.org/drawingml/2006/main" noGrp="1"/>
          </p:cNvSpPr>
          <p:nvPr/>
        </p:nvSpPr>
        <p:spPr>
          <a:xfrm xmlns:a="http://schemas.openxmlformats.org/drawingml/2006/main">
            <a:off x="952500" y="7629525"/>
            <a:ext cx="13335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3677C"/>
                </a:solidFill>
                <a:latin typeface="Arial"/>
                <a:ea typeface="Arial"/>
                <a:cs typeface="Arial"/>
              </a:defRPr>
            </a:defPPr>
          </a:lstStyle>
          <a:p xmlns:a="http://schemas.openxmlformats.org/drawingml/2006/main">
            <a:pPr>
              <a:defRPr sz="1800" b="0">
                <a:solidFill>
                  <a:srgbClr val="53677C"/>
                </a:solidFill>
                <a:latin typeface="Arial"/>
                <a:ea typeface="Arial"/>
                <a:cs typeface="Arial"/>
              </a:defRPr>
            </a:pPr>
            <a:r>
              <a:rPr sz="1800" b="0">
                <a:solidFill>
                  <a:srgbClr val="53677C"/>
                </a:solidFill>
                <a:latin typeface="Arial"/>
                <a:ea typeface="Arial"/>
                <a:cs typeface="Arial"/>
              </a:rPr>
              <a:t>El costo también depende de cuánto tiempo conservamos los recursos.</a:t>
            </a:r>
          </a:p>
        </p:txBody>
      </p:sp>
    </p:spTree>
    <p:extLst>
      <p:ext uri="{BB962C8B-B14F-4D97-AF65-F5344CB8AC3E}">
        <p14:creationId xmlns:p14="http://schemas.microsoft.com/office/powerpoint/2010/main" val="555689735"/>
      </p:ext>
    </p:extLst>
  </p:cSld>
</p:sld>
</file>

<file path=ppt/slides/slide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3" name="COST MANAGEMENT">
            <a:extLst xmlns:a="http://schemas.openxmlformats.org/drawingml/2006/main">
              <a:ext uri="{FF2B5EF4-FFF2-40B4-BE49-F238E27FC236}">
                <a16:creationId xmlns:a16="http://schemas.microsoft.com/office/drawing/2014/main" id="{704B3F36-1E97-4021-98B9-AC6E77050715}"/>
              </a:ext>
            </a:extLst>
          </p:cNvPr>
          <p:cNvSpPr>
            <a:spLocks xmlns:a="http://schemas.openxmlformats.org/drawingml/2006/main" noGrp="1"/>
          </p:cNvSpPr>
          <p:nvPr/>
        </p:nvSpPr>
        <p:spPr>
          <a:xfrm xmlns:a="http://schemas.openxmlformats.org/drawingml/2006/main">
            <a:off x="914400" y="542925"/>
            <a:ext cx="1238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087F8C"/>
                </a:solidFill>
                <a:latin typeface="Arial"/>
                <a:ea typeface="Arial"/>
                <a:cs typeface="Arial"/>
              </a:defRPr>
            </a:defPPr>
          </a:lstStyle>
          <a:p xmlns:a="http://schemas.openxmlformats.org/drawingml/2006/main">
            <a:pPr>
              <a:defRPr sz="1575" b="1">
                <a:solidFill>
                  <a:srgbClr val="087F8C"/>
                </a:solidFill>
                <a:latin typeface="Arial"/>
                <a:ea typeface="Arial"/>
                <a:cs typeface="Arial"/>
              </a:defRPr>
            </a:pPr>
            <a:r>
              <a:rPr sz="1575" b="1">
                <a:solidFill>
                  <a:srgbClr val="087F8C"/>
                </a:solidFill>
                <a:latin typeface="Arial"/>
                <a:ea typeface="Arial"/>
                <a:cs typeface="Arial"/>
              </a:rPr>
              <a:t>COST MANAGEMENT</a:t>
            </a:r>
          </a:p>
        </p:txBody>
      </p:sp>
      <p:sp>
        <p:nvSpPr>
          <p:cNvPr id="2" name="05 / 34">
            <a:extLst xmlns:a="http://schemas.openxmlformats.org/drawingml/2006/main">
              <a:ext uri="{FF2B5EF4-FFF2-40B4-BE49-F238E27FC236}">
                <a16:creationId xmlns:a16="http://schemas.microsoft.com/office/drawing/2014/main" id="{F7395060-0ADC-461A-A991-ADF9C449CFB1}"/>
              </a:ext>
            </a:extLst>
          </p:cNvPr>
          <p:cNvSpPr>
            <a:spLocks xmlns:a="http://schemas.openxmlformats.org/drawingml/2006/main" noGrp="1"/>
          </p:cNvSpPr>
          <p:nvPr/>
        </p:nvSpPr>
        <p:spPr>
          <a:xfrm xmlns:a="http://schemas.openxmlformats.org/drawingml/2006/main">
            <a:off x="13192125" y="561975"/>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77C"/>
                </a:solidFill>
                <a:latin typeface="Arial"/>
                <a:ea typeface="Arial"/>
                <a:cs typeface="Arial"/>
              </a:defRPr>
            </a:defPPr>
          </a:lstStyle>
          <a:p xmlns:a="http://schemas.openxmlformats.org/drawingml/2006/main">
            <a:pPr>
              <a:defRPr sz="1500" b="0">
                <a:solidFill>
                  <a:srgbClr val="53677C"/>
                </a:solidFill>
                <a:latin typeface="Arial"/>
                <a:ea typeface="Arial"/>
                <a:cs typeface="Arial"/>
              </a:defRPr>
            </a:pPr>
            <a:r>
              <a:rPr sz="1500" b="0">
                <a:solidFill>
                  <a:srgbClr val="53677C"/>
                </a:solidFill>
                <a:latin typeface="Arial"/>
                <a:ea typeface="Arial"/>
                <a:cs typeface="Arial"/>
              </a:rPr>
              <a:t>05 / 34</a:t>
            </a:r>
          </a:p>
        </p:txBody>
      </p:sp>
      <p:sp>
        <p:nvSpPr>
          <p:cNvPr id="3" name="Componentes del costo">
            <a:extLst xmlns:a="http://schemas.openxmlformats.org/drawingml/2006/main">
              <a:ext uri="{FF2B5EF4-FFF2-40B4-BE49-F238E27FC236}">
                <a16:creationId xmlns:a16="http://schemas.microsoft.com/office/drawing/2014/main" id="{8D2D9B90-C704-4EEA-8A01-CF359931B898}"/>
              </a:ext>
            </a:extLst>
          </p:cNvPr>
          <p:cNvSpPr>
            <a:spLocks xmlns:a="http://schemas.openxmlformats.org/drawingml/2006/main" noGrp="1"/>
          </p:cNvSpPr>
          <p:nvPr/>
        </p:nvSpPr>
        <p:spPr>
          <a:xfrm xmlns:a="http://schemas.openxmlformats.org/drawingml/2006/main">
            <a:off x="914400" y="1143000"/>
            <a:ext cx="13411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132E50"/>
                </a:solidFill>
                <a:latin typeface="Arial"/>
                <a:ea typeface="Arial"/>
                <a:cs typeface="Arial"/>
              </a:defRPr>
            </a:defPPr>
          </a:lstStyle>
          <a:p xmlns:a="http://schemas.openxmlformats.org/drawingml/2006/main">
            <a:pPr>
              <a:defRPr sz="3825" b="1">
                <a:solidFill>
                  <a:srgbClr val="132E50"/>
                </a:solidFill>
                <a:latin typeface="Arial"/>
                <a:ea typeface="Arial"/>
                <a:cs typeface="Arial"/>
              </a:defRPr>
            </a:pPr>
            <a:r>
              <a:rPr sz="3825" b="1">
                <a:solidFill>
                  <a:srgbClr val="132E50"/>
                </a:solidFill>
                <a:latin typeface="Arial"/>
                <a:ea typeface="Arial"/>
                <a:cs typeface="Arial"/>
              </a:rPr>
              <a:t>Componentes del costo</a:t>
            </a:r>
          </a:p>
        </p:txBody>
      </p:sp>
      <p:sp>
        <p:nvSpPr>
          <p:cNvPr id="4" name="Cómputo">
            <a:extLst xmlns:a="http://schemas.openxmlformats.org/drawingml/2006/main">
              <a:ext uri="{FF2B5EF4-FFF2-40B4-BE49-F238E27FC236}">
                <a16:creationId xmlns:a16="http://schemas.microsoft.com/office/drawing/2014/main" id="{6B200BC8-6A78-4E2A-A22F-FE5354913AE8}"/>
              </a:ext>
            </a:extLst>
          </p:cNvPr>
          <p:cNvSpPr>
            <a:spLocks xmlns:a="http://schemas.openxmlformats.org/drawingml/2006/main" noGrp="1"/>
          </p:cNvSpPr>
          <p:nvPr/>
        </p:nvSpPr>
        <p:spPr>
          <a:xfrm xmlns:a="http://schemas.openxmlformats.org/drawingml/2006/main">
            <a:off x="952500" y="2333625"/>
            <a:ext cx="4381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87F8C"/>
                </a:solidFill>
                <a:latin typeface="Arial"/>
                <a:ea typeface="Arial"/>
                <a:cs typeface="Arial"/>
              </a:defRPr>
            </a:defPPr>
          </a:lstStyle>
          <a:p xmlns:a="http://schemas.openxmlformats.org/drawingml/2006/main">
            <a:pPr>
              <a:defRPr sz="2325" b="1">
                <a:solidFill>
                  <a:srgbClr val="087F8C"/>
                </a:solidFill>
                <a:latin typeface="Arial"/>
                <a:ea typeface="Arial"/>
                <a:cs typeface="Arial"/>
              </a:defRPr>
            </a:pPr>
            <a:r>
              <a:rPr sz="2325" b="1">
                <a:solidFill>
                  <a:srgbClr val="087F8C"/>
                </a:solidFill>
                <a:latin typeface="Arial"/>
                <a:ea typeface="Arial"/>
                <a:cs typeface="Arial"/>
              </a:rPr>
              <a:t>Cómputo</a:t>
            </a:r>
          </a:p>
        </p:txBody>
      </p:sp>
      <p:sp>
        <p:nvSpPr>
          <p:cNvPr id="5" name="Tamaño y tiempo de uso de las VMs">
            <a:extLst xmlns:a="http://schemas.openxmlformats.org/drawingml/2006/main">
              <a:ext uri="{FF2B5EF4-FFF2-40B4-BE49-F238E27FC236}">
                <a16:creationId xmlns:a16="http://schemas.microsoft.com/office/drawing/2014/main" id="{8070D269-5352-4E3C-BBD4-4402B981EF9C}"/>
              </a:ext>
            </a:extLst>
          </p:cNvPr>
          <p:cNvSpPr>
            <a:spLocks xmlns:a="http://schemas.openxmlformats.org/drawingml/2006/main" noGrp="1"/>
          </p:cNvSpPr>
          <p:nvPr/>
        </p:nvSpPr>
        <p:spPr>
          <a:xfrm xmlns:a="http://schemas.openxmlformats.org/drawingml/2006/main">
            <a:off x="5810250" y="2333625"/>
            <a:ext cx="8429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0">
                <a:solidFill>
                  <a:srgbClr val="26384B"/>
                </a:solidFill>
                <a:latin typeface="Arial"/>
                <a:ea typeface="Arial"/>
                <a:cs typeface="Arial"/>
              </a:defRPr>
            </a:defPPr>
          </a:lstStyle>
          <a:p xmlns:a="http://schemas.openxmlformats.org/drawingml/2006/main">
            <a:pPr>
              <a:defRPr sz="2475" b="0">
                <a:solidFill>
                  <a:srgbClr val="26384B"/>
                </a:solidFill>
                <a:latin typeface="Arial"/>
                <a:ea typeface="Arial"/>
                <a:cs typeface="Arial"/>
              </a:defRPr>
            </a:pPr>
            <a:r>
              <a:rPr sz="2475" b="0">
                <a:solidFill>
                  <a:srgbClr val="26384B"/>
                </a:solidFill>
                <a:latin typeface="Arial"/>
                <a:ea typeface="Arial"/>
                <a:cs typeface="Arial"/>
              </a:rPr>
              <a:t>Tamaño y tiempo de uso de las VMs</a:t>
            </a:r>
          </a:p>
        </p:txBody>
      </p:sp>
      <p:sp>
        <p:nvSpPr>
          <p:cNvPr id="6" name="Almacenamiento">
            <a:extLst xmlns:a="http://schemas.openxmlformats.org/drawingml/2006/main">
              <a:ext uri="{FF2B5EF4-FFF2-40B4-BE49-F238E27FC236}">
                <a16:creationId xmlns:a16="http://schemas.microsoft.com/office/drawing/2014/main" id="{B8259E96-4E3E-483B-9820-2E40B4EFD898}"/>
              </a:ext>
            </a:extLst>
          </p:cNvPr>
          <p:cNvSpPr>
            <a:spLocks xmlns:a="http://schemas.openxmlformats.org/drawingml/2006/main" noGrp="1"/>
          </p:cNvSpPr>
          <p:nvPr/>
        </p:nvSpPr>
        <p:spPr>
          <a:xfrm xmlns:a="http://schemas.openxmlformats.org/drawingml/2006/main">
            <a:off x="952500" y="3438525"/>
            <a:ext cx="4381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87F8C"/>
                </a:solidFill>
                <a:latin typeface="Arial"/>
                <a:ea typeface="Arial"/>
                <a:cs typeface="Arial"/>
              </a:defRPr>
            </a:defPPr>
          </a:lstStyle>
          <a:p xmlns:a="http://schemas.openxmlformats.org/drawingml/2006/main">
            <a:pPr>
              <a:defRPr sz="2325" b="1">
                <a:solidFill>
                  <a:srgbClr val="087F8C"/>
                </a:solidFill>
                <a:latin typeface="Arial"/>
                <a:ea typeface="Arial"/>
                <a:cs typeface="Arial"/>
              </a:defRPr>
            </a:pPr>
            <a:r>
              <a:rPr sz="2325" b="1">
                <a:solidFill>
                  <a:srgbClr val="087F8C"/>
                </a:solidFill>
                <a:latin typeface="Arial"/>
                <a:ea typeface="Arial"/>
                <a:cs typeface="Arial"/>
              </a:rPr>
              <a:t>Almacenamiento</a:t>
            </a:r>
          </a:p>
        </p:txBody>
      </p:sp>
      <p:sp>
        <p:nvSpPr>
          <p:cNvPr id="7" name="Discos y datos conservados">
            <a:extLst xmlns:a="http://schemas.openxmlformats.org/drawingml/2006/main">
              <a:ext uri="{FF2B5EF4-FFF2-40B4-BE49-F238E27FC236}">
                <a16:creationId xmlns:a16="http://schemas.microsoft.com/office/drawing/2014/main" id="{4A076ABC-2EEC-435D-B553-48AEE6B7F704}"/>
              </a:ext>
            </a:extLst>
          </p:cNvPr>
          <p:cNvSpPr>
            <a:spLocks xmlns:a="http://schemas.openxmlformats.org/drawingml/2006/main" noGrp="1"/>
          </p:cNvSpPr>
          <p:nvPr/>
        </p:nvSpPr>
        <p:spPr>
          <a:xfrm xmlns:a="http://schemas.openxmlformats.org/drawingml/2006/main">
            <a:off x="5810250" y="3438525"/>
            <a:ext cx="8429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0">
                <a:solidFill>
                  <a:srgbClr val="26384B"/>
                </a:solidFill>
                <a:latin typeface="Arial"/>
                <a:ea typeface="Arial"/>
                <a:cs typeface="Arial"/>
              </a:defRPr>
            </a:defPPr>
          </a:lstStyle>
          <a:p xmlns:a="http://schemas.openxmlformats.org/drawingml/2006/main">
            <a:pPr>
              <a:defRPr sz="2475" b="0">
                <a:solidFill>
                  <a:srgbClr val="26384B"/>
                </a:solidFill>
                <a:latin typeface="Arial"/>
                <a:ea typeface="Arial"/>
                <a:cs typeface="Arial"/>
              </a:defRPr>
            </a:pPr>
            <a:r>
              <a:rPr sz="2475" b="0">
                <a:solidFill>
                  <a:srgbClr val="26384B"/>
                </a:solidFill>
                <a:latin typeface="Arial"/>
                <a:ea typeface="Arial"/>
                <a:cs typeface="Arial"/>
              </a:rPr>
              <a:t>Discos y datos conservados</a:t>
            </a:r>
          </a:p>
        </p:txBody>
      </p:sp>
      <p:sp>
        <p:nvSpPr>
          <p:cNvPr id="8" name="Red">
            <a:extLst xmlns:a="http://schemas.openxmlformats.org/drawingml/2006/main">
              <a:ext uri="{FF2B5EF4-FFF2-40B4-BE49-F238E27FC236}">
                <a16:creationId xmlns:a16="http://schemas.microsoft.com/office/drawing/2014/main" id="{BD403EB6-DD12-40D6-ACCF-7F688A102C2C}"/>
              </a:ext>
            </a:extLst>
          </p:cNvPr>
          <p:cNvSpPr>
            <a:spLocks xmlns:a="http://schemas.openxmlformats.org/drawingml/2006/main" noGrp="1"/>
          </p:cNvSpPr>
          <p:nvPr/>
        </p:nvSpPr>
        <p:spPr>
          <a:xfrm xmlns:a="http://schemas.openxmlformats.org/drawingml/2006/main">
            <a:off x="952500" y="4543425"/>
            <a:ext cx="4381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87F8C"/>
                </a:solidFill>
                <a:latin typeface="Arial"/>
                <a:ea typeface="Arial"/>
                <a:cs typeface="Arial"/>
              </a:defRPr>
            </a:defPPr>
          </a:lstStyle>
          <a:p xmlns:a="http://schemas.openxmlformats.org/drawingml/2006/main">
            <a:pPr>
              <a:defRPr sz="2325" b="1">
                <a:solidFill>
                  <a:srgbClr val="087F8C"/>
                </a:solidFill>
                <a:latin typeface="Arial"/>
                <a:ea typeface="Arial"/>
                <a:cs typeface="Arial"/>
              </a:defRPr>
            </a:pPr>
            <a:r>
              <a:rPr sz="2325" b="1">
                <a:solidFill>
                  <a:srgbClr val="087F8C"/>
                </a:solidFill>
                <a:latin typeface="Arial"/>
                <a:ea typeface="Arial"/>
                <a:cs typeface="Arial"/>
              </a:rPr>
              <a:t>Red</a:t>
            </a:r>
          </a:p>
        </p:txBody>
      </p:sp>
      <p:sp>
        <p:nvSpPr>
          <p:cNvPr id="9" name="IPs públicas y transferencia según el servicio">
            <a:extLst xmlns:a="http://schemas.openxmlformats.org/drawingml/2006/main">
              <a:ext uri="{FF2B5EF4-FFF2-40B4-BE49-F238E27FC236}">
                <a16:creationId xmlns:a16="http://schemas.microsoft.com/office/drawing/2014/main" id="{A4FC2DF4-B08C-421F-85D0-7DF82DA3E0F1}"/>
              </a:ext>
            </a:extLst>
          </p:cNvPr>
          <p:cNvSpPr>
            <a:spLocks xmlns:a="http://schemas.openxmlformats.org/drawingml/2006/main" noGrp="1"/>
          </p:cNvSpPr>
          <p:nvPr/>
        </p:nvSpPr>
        <p:spPr>
          <a:xfrm xmlns:a="http://schemas.openxmlformats.org/drawingml/2006/main">
            <a:off x="5810250" y="4543425"/>
            <a:ext cx="8429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0">
                <a:solidFill>
                  <a:srgbClr val="26384B"/>
                </a:solidFill>
                <a:latin typeface="Arial"/>
                <a:ea typeface="Arial"/>
                <a:cs typeface="Arial"/>
              </a:defRPr>
            </a:defPPr>
          </a:lstStyle>
          <a:p xmlns:a="http://schemas.openxmlformats.org/drawingml/2006/main">
            <a:pPr>
              <a:defRPr sz="2475" b="0">
                <a:solidFill>
                  <a:srgbClr val="26384B"/>
                </a:solidFill>
                <a:latin typeface="Arial"/>
                <a:ea typeface="Arial"/>
                <a:cs typeface="Arial"/>
              </a:defRPr>
            </a:pPr>
            <a:r>
              <a:rPr sz="2475" b="0">
                <a:solidFill>
                  <a:srgbClr val="26384B"/>
                </a:solidFill>
                <a:latin typeface="Arial"/>
                <a:ea typeface="Arial"/>
                <a:cs typeface="Arial"/>
              </a:rPr>
              <a:t>IPs públicas y transferencia según el servicio</a:t>
            </a:r>
          </a:p>
        </p:txBody>
      </p:sp>
      <p:sp>
        <p:nvSpPr>
          <p:cNvPr id="10" name="Operación">
            <a:extLst xmlns:a="http://schemas.openxmlformats.org/drawingml/2006/main">
              <a:ext uri="{FF2B5EF4-FFF2-40B4-BE49-F238E27FC236}">
                <a16:creationId xmlns:a16="http://schemas.microsoft.com/office/drawing/2014/main" id="{014C2403-FD46-4DC7-B389-D4CFEDE39051}"/>
              </a:ext>
            </a:extLst>
          </p:cNvPr>
          <p:cNvSpPr>
            <a:spLocks xmlns:a="http://schemas.openxmlformats.org/drawingml/2006/main" noGrp="1"/>
          </p:cNvSpPr>
          <p:nvPr/>
        </p:nvSpPr>
        <p:spPr>
          <a:xfrm xmlns:a="http://schemas.openxmlformats.org/drawingml/2006/main">
            <a:off x="952500" y="5648325"/>
            <a:ext cx="4381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87F8C"/>
                </a:solidFill>
                <a:latin typeface="Arial"/>
                <a:ea typeface="Arial"/>
                <a:cs typeface="Arial"/>
              </a:defRPr>
            </a:defPPr>
          </a:lstStyle>
          <a:p xmlns:a="http://schemas.openxmlformats.org/drawingml/2006/main">
            <a:pPr>
              <a:defRPr sz="2325" b="1">
                <a:solidFill>
                  <a:srgbClr val="087F8C"/>
                </a:solidFill>
                <a:latin typeface="Arial"/>
                <a:ea typeface="Arial"/>
                <a:cs typeface="Arial"/>
              </a:defRPr>
            </a:pPr>
            <a:r>
              <a:rPr sz="2325" b="1">
                <a:solidFill>
                  <a:srgbClr val="087F8C"/>
                </a:solidFill>
                <a:latin typeface="Arial"/>
                <a:ea typeface="Arial"/>
                <a:cs typeface="Arial"/>
              </a:rPr>
              <a:t>Operación</a:t>
            </a:r>
          </a:p>
        </p:txBody>
      </p:sp>
      <p:sp>
        <p:nvSpPr>
          <p:cNvPr id="11" name="Monitoreo y otros servicios habilitados">
            <a:extLst xmlns:a="http://schemas.openxmlformats.org/drawingml/2006/main">
              <a:ext uri="{FF2B5EF4-FFF2-40B4-BE49-F238E27FC236}">
                <a16:creationId xmlns:a16="http://schemas.microsoft.com/office/drawing/2014/main" id="{C711FE86-0554-4821-8F57-A6187BC028F8}"/>
              </a:ext>
            </a:extLst>
          </p:cNvPr>
          <p:cNvSpPr>
            <a:spLocks xmlns:a="http://schemas.openxmlformats.org/drawingml/2006/main" noGrp="1"/>
          </p:cNvSpPr>
          <p:nvPr/>
        </p:nvSpPr>
        <p:spPr>
          <a:xfrm xmlns:a="http://schemas.openxmlformats.org/drawingml/2006/main">
            <a:off x="5810250" y="5648325"/>
            <a:ext cx="8429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0">
                <a:solidFill>
                  <a:srgbClr val="26384B"/>
                </a:solidFill>
                <a:latin typeface="Arial"/>
                <a:ea typeface="Arial"/>
                <a:cs typeface="Arial"/>
              </a:defRPr>
            </a:defPPr>
          </a:lstStyle>
          <a:p xmlns:a="http://schemas.openxmlformats.org/drawingml/2006/main">
            <a:pPr>
              <a:defRPr sz="2475" b="0">
                <a:solidFill>
                  <a:srgbClr val="26384B"/>
                </a:solidFill>
                <a:latin typeface="Arial"/>
                <a:ea typeface="Arial"/>
                <a:cs typeface="Arial"/>
              </a:defRPr>
            </a:pPr>
            <a:r>
              <a:rPr sz="2475" b="0">
                <a:solidFill>
                  <a:srgbClr val="26384B"/>
                </a:solidFill>
                <a:latin typeface="Arial"/>
                <a:ea typeface="Arial"/>
                <a:cs typeface="Arial"/>
              </a:rPr>
              <a:t>Monitoreo y otros servicios habilitados</a:t>
            </a:r>
          </a:p>
        </p:txBody>
      </p:sp>
      <p:sp>
        <p:nvSpPr>
          <p:cNvPr id="12" name="El costo total no se reduce al precio de una VM.">
            <a:extLst xmlns:a="http://schemas.openxmlformats.org/drawingml/2006/main">
              <a:ext uri="{FF2B5EF4-FFF2-40B4-BE49-F238E27FC236}">
                <a16:creationId xmlns:a16="http://schemas.microsoft.com/office/drawing/2014/main" id="{C6BB6B3D-20BB-409C-8211-1F8745263ED8}"/>
              </a:ext>
            </a:extLst>
          </p:cNvPr>
          <p:cNvSpPr>
            <a:spLocks xmlns:a="http://schemas.openxmlformats.org/drawingml/2006/main" noGrp="1"/>
          </p:cNvSpPr>
          <p:nvPr/>
        </p:nvSpPr>
        <p:spPr>
          <a:xfrm xmlns:a="http://schemas.openxmlformats.org/drawingml/2006/main">
            <a:off x="952500" y="7629525"/>
            <a:ext cx="13335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3677C"/>
                </a:solidFill>
                <a:latin typeface="Arial"/>
                <a:ea typeface="Arial"/>
                <a:cs typeface="Arial"/>
              </a:defRPr>
            </a:defPPr>
          </a:lstStyle>
          <a:p xmlns:a="http://schemas.openxmlformats.org/drawingml/2006/main">
            <a:pPr>
              <a:defRPr sz="1800" b="0">
                <a:solidFill>
                  <a:srgbClr val="53677C"/>
                </a:solidFill>
                <a:latin typeface="Arial"/>
                <a:ea typeface="Arial"/>
                <a:cs typeface="Arial"/>
              </a:defRPr>
            </a:pPr>
            <a:r>
              <a:rPr sz="1800" b="0">
                <a:solidFill>
                  <a:srgbClr val="53677C"/>
                </a:solidFill>
                <a:latin typeface="Arial"/>
                <a:ea typeface="Arial"/>
                <a:cs typeface="Arial"/>
              </a:rPr>
              <a:t>El costo total no se reduce al precio de una VM.</a:t>
            </a:r>
          </a:p>
        </p:txBody>
      </p:sp>
    </p:spTree>
    <p:extLst>
      <p:ext uri="{BB962C8B-B14F-4D97-AF65-F5344CB8AC3E}">
        <p14:creationId xmlns:p14="http://schemas.microsoft.com/office/powerpoint/2010/main" val="1873370676"/>
      </p:ext>
    </p:extLst>
  </p:cSld>
</p:sld>
</file>

<file path=ppt/slides/slide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7" name="COST MANAGEMENT">
            <a:extLst xmlns:a="http://schemas.openxmlformats.org/drawingml/2006/main">
              <a:ext uri="{FF2B5EF4-FFF2-40B4-BE49-F238E27FC236}">
                <a16:creationId xmlns:a16="http://schemas.microsoft.com/office/drawing/2014/main" id="{9E61EDD6-A145-4D99-8221-62D2A80766D6}"/>
              </a:ext>
            </a:extLst>
          </p:cNvPr>
          <p:cNvSpPr>
            <a:spLocks xmlns:a="http://schemas.openxmlformats.org/drawingml/2006/main" noGrp="1"/>
          </p:cNvSpPr>
          <p:nvPr/>
        </p:nvSpPr>
        <p:spPr>
          <a:xfrm xmlns:a="http://schemas.openxmlformats.org/drawingml/2006/main">
            <a:off x="914400" y="542925"/>
            <a:ext cx="1238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087F8C"/>
                </a:solidFill>
                <a:latin typeface="Arial"/>
                <a:ea typeface="Arial"/>
                <a:cs typeface="Arial"/>
              </a:defRPr>
            </a:defPPr>
          </a:lstStyle>
          <a:p xmlns:a="http://schemas.openxmlformats.org/drawingml/2006/main">
            <a:pPr>
              <a:defRPr sz="1575" b="1">
                <a:solidFill>
                  <a:srgbClr val="087F8C"/>
                </a:solidFill>
                <a:latin typeface="Arial"/>
                <a:ea typeface="Arial"/>
                <a:cs typeface="Arial"/>
              </a:defRPr>
            </a:pPr>
            <a:r>
              <a:rPr sz="1575" b="1">
                <a:solidFill>
                  <a:srgbClr val="087F8C"/>
                </a:solidFill>
                <a:latin typeface="Arial"/>
                <a:ea typeface="Arial"/>
                <a:cs typeface="Arial"/>
              </a:rPr>
              <a:t>COST MANAGEMENT</a:t>
            </a:r>
          </a:p>
        </p:txBody>
      </p:sp>
      <p:sp>
        <p:nvSpPr>
          <p:cNvPr id="2" name="06 / 34">
            <a:extLst xmlns:a="http://schemas.openxmlformats.org/drawingml/2006/main">
              <a:ext uri="{FF2B5EF4-FFF2-40B4-BE49-F238E27FC236}">
                <a16:creationId xmlns:a16="http://schemas.microsoft.com/office/drawing/2014/main" id="{88F03607-FCB3-4C84-B3B0-BCA69A71686F}"/>
              </a:ext>
            </a:extLst>
          </p:cNvPr>
          <p:cNvSpPr>
            <a:spLocks xmlns:a="http://schemas.openxmlformats.org/drawingml/2006/main" noGrp="1"/>
          </p:cNvSpPr>
          <p:nvPr/>
        </p:nvSpPr>
        <p:spPr>
          <a:xfrm xmlns:a="http://schemas.openxmlformats.org/drawingml/2006/main">
            <a:off x="13192125" y="561975"/>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77C"/>
                </a:solidFill>
                <a:latin typeface="Arial"/>
                <a:ea typeface="Arial"/>
                <a:cs typeface="Arial"/>
              </a:defRPr>
            </a:defPPr>
          </a:lstStyle>
          <a:p xmlns:a="http://schemas.openxmlformats.org/drawingml/2006/main">
            <a:pPr>
              <a:defRPr sz="1500" b="0">
                <a:solidFill>
                  <a:srgbClr val="53677C"/>
                </a:solidFill>
                <a:latin typeface="Arial"/>
                <a:ea typeface="Arial"/>
                <a:cs typeface="Arial"/>
              </a:defRPr>
            </a:pPr>
            <a:r>
              <a:rPr sz="1500" b="0">
                <a:solidFill>
                  <a:srgbClr val="53677C"/>
                </a:solidFill>
                <a:latin typeface="Arial"/>
                <a:ea typeface="Arial"/>
                <a:cs typeface="Arial"/>
              </a:rPr>
              <a:t>06 / 34</a:t>
            </a:r>
          </a:p>
        </p:txBody>
      </p:sp>
      <p:sp>
        <p:nvSpPr>
          <p:cNvPr id="3" name="VMs pequeñas: recursos y precio por hora">
            <a:extLst xmlns:a="http://schemas.openxmlformats.org/drawingml/2006/main">
              <a:ext uri="{FF2B5EF4-FFF2-40B4-BE49-F238E27FC236}">
                <a16:creationId xmlns:a16="http://schemas.microsoft.com/office/drawing/2014/main" id="{C0D12445-D7E9-450B-8CA3-04714061DFD6}"/>
              </a:ext>
            </a:extLst>
          </p:cNvPr>
          <p:cNvSpPr>
            <a:spLocks xmlns:a="http://schemas.openxmlformats.org/drawingml/2006/main" noGrp="1"/>
          </p:cNvSpPr>
          <p:nvPr/>
        </p:nvSpPr>
        <p:spPr>
          <a:xfrm xmlns:a="http://schemas.openxmlformats.org/drawingml/2006/main">
            <a:off x="914400" y="1143000"/>
            <a:ext cx="13411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132E50"/>
                </a:solidFill>
                <a:latin typeface="Arial"/>
                <a:ea typeface="Arial"/>
                <a:cs typeface="Arial"/>
              </a:defRPr>
            </a:defPPr>
          </a:lstStyle>
          <a:p xmlns:a="http://schemas.openxmlformats.org/drawingml/2006/main">
            <a:pPr>
              <a:defRPr sz="3825" b="1">
                <a:solidFill>
                  <a:srgbClr val="132E50"/>
                </a:solidFill>
                <a:latin typeface="Arial"/>
                <a:ea typeface="Arial"/>
                <a:cs typeface="Arial"/>
              </a:defRPr>
            </a:pPr>
            <a:r>
              <a:rPr sz="3825" b="1">
                <a:solidFill>
                  <a:srgbClr val="132E50"/>
                </a:solidFill>
                <a:latin typeface="Arial"/>
                <a:ea typeface="Arial"/>
                <a:cs typeface="Arial"/>
              </a:rPr>
              <a:t>VMs pequeñas: recursos y precio por hora</a:t>
            </a:r>
          </a:p>
        </p:txBody>
      </p:sp>
      <p:sp>
        <p:nvSpPr>
          <p:cNvPr id="4" name="Linux · bajo demanda · solo cómputo · tarifas consultadas el 15/1">
            <a:extLst xmlns:a="http://schemas.openxmlformats.org/drawingml/2006/main">
              <a:ext uri="{FF2B5EF4-FFF2-40B4-BE49-F238E27FC236}">
                <a16:creationId xmlns:a16="http://schemas.microsoft.com/office/drawing/2014/main" id="{E9104878-EE31-47B7-9532-6838A3D7BAE6}"/>
              </a:ext>
            </a:extLst>
          </p:cNvPr>
          <p:cNvSpPr>
            <a:spLocks xmlns:a="http://schemas.openxmlformats.org/drawingml/2006/main" noGrp="1"/>
          </p:cNvSpPr>
          <p:nvPr/>
        </p:nvSpPr>
        <p:spPr>
          <a:xfrm xmlns:a="http://schemas.openxmlformats.org/drawingml/2006/main">
            <a:off x="952500" y="2238375"/>
            <a:ext cx="1333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Linux · bajo demanda · solo cómputo · tarifas consultadas el 15/10/2026</a:t>
            </a:r>
          </a:p>
        </p:txBody>
      </p:sp>
      <p:graphicFrame>
        <p:nvGraphicFramePr>
          <p:cNvPr id="5" name="">
            <a:extLst xmlns:a="http://schemas.openxmlformats.org/drawingml/2006/main">
              <a:ext uri="{FF2B5EF4-FFF2-40B4-BE49-F238E27FC236}">
                <a16:creationId xmlns:a16="http://schemas.microsoft.com/office/drawing/2014/main" id="{99D45FD5-B51E-420A-BF5F-EDECD3EE9C1E}"/>
              </a:ext>
            </a:extLst>
          </p:cNvPr>
          <p:cNvGraphicFramePr/>
          <p:nvPr/>
        </p:nvGraphicFramePr>
        <p:xfrm>
          <a:off xmlns:a="http://schemas.openxmlformats.org/drawingml/2006/main" x="914400" y="3238500"/>
          <a:ext xmlns:a="http://schemas.openxmlformats.org/drawingml/2006/main" cx="13411200" cy="3238500"/>
        </p:xfrm>
        <a:graphic xmlns:a="http://schemas.openxmlformats.org/drawingml/2006/main">
          <a:graphicData uri="http://schemas.openxmlformats.org/drawingml/2006/table">
            <a:tbl>
              <a:tblPr/>
              <a:tblGrid>
                <a:gridCol w="4048125"/>
                <a:gridCol w="2952750"/>
                <a:gridCol w="3333750"/>
                <a:gridCol w="3076575"/>
              </a:tblGrid>
              <a:tr h="809625">
                <a:tc>
                  <a:txBody>
                    <a:bodyPr lIns="171450" tIns="171450" rIns="171450" bIns="171450"/>
                    <a:lstStyle/>
                    <a:p>
                      <a:r>
                        <a:rPr sz="2100" b="1">
                          <a:solidFill>
                            <a:srgbClr val="FFFFFF"/>
                          </a:solidFill>
                          <a:latin typeface="Arial"/>
                          <a:ea typeface="Arial"/>
                          <a:cs typeface="Arial"/>
                        </a:rPr>
                        <a:t>Proveedor / VM</a:t>
                      </a:r>
                    </a:p>
                  </a:txBody>
                  <a:tcPr marL="91440" marR="91440" marT="45720" marB="45720">
                    <a:lnL w="9525">
                      <a:solidFill>
                        <a:srgbClr val="D4DFE7"/>
                      </a:solidFill>
                      <a:prstDash val="solid"/>
                    </a:lnL>
                    <a:lnR w="9525">
                      <a:solidFill>
                        <a:srgbClr val="D4DFE7"/>
                      </a:solidFill>
                      <a:prstDash val="solid"/>
                    </a:lnR>
                    <a:lnT w="9525">
                      <a:solidFill>
                        <a:srgbClr val="D4DFE7"/>
                      </a:solidFill>
                      <a:prstDash val="solid"/>
                    </a:lnT>
                    <a:lnB w="9525">
                      <a:solidFill>
                        <a:srgbClr val="D4DFE7"/>
                      </a:solidFill>
                      <a:prstDash val="solid"/>
                    </a:lnB>
                    <a:solidFill>
                      <a:srgbClr val="132E50"/>
                    </a:solidFill>
                  </a:tcPr>
                </a:tc>
                <a:tc>
                  <a:txBody>
                    <a:bodyPr lIns="171450" tIns="171450" rIns="171450" bIns="171450"/>
                    <a:lstStyle/>
                    <a:p>
                      <a:r>
                        <a:rPr sz="2100" b="1">
                          <a:solidFill>
                            <a:srgbClr val="FFFFFF"/>
                          </a:solidFill>
                          <a:latin typeface="Arial"/>
                          <a:ea typeface="Arial"/>
                          <a:cs typeface="Arial"/>
                        </a:rPr>
                        <a:t>Región</a:t>
                      </a:r>
                    </a:p>
                  </a:txBody>
                  <a:tcPr marL="91440" marR="91440" marT="45720" marB="45720">
                    <a:lnR w="9525">
                      <a:solidFill>
                        <a:srgbClr val="D4DFE7"/>
                      </a:solidFill>
                      <a:prstDash val="solid"/>
                    </a:lnR>
                    <a:lnT w="9525">
                      <a:solidFill>
                        <a:srgbClr val="D4DFE7"/>
                      </a:solidFill>
                      <a:prstDash val="solid"/>
                    </a:lnT>
                    <a:lnB w="9525">
                      <a:solidFill>
                        <a:srgbClr val="D4DFE7"/>
                      </a:solidFill>
                      <a:prstDash val="solid"/>
                    </a:lnB>
                    <a:solidFill>
                      <a:srgbClr val="132E50"/>
                    </a:solidFill>
                  </a:tcPr>
                </a:tc>
                <a:tc>
                  <a:txBody>
                    <a:bodyPr lIns="171450" tIns="171450" rIns="171450" bIns="171450"/>
                    <a:lstStyle/>
                    <a:p>
                      <a:r>
                        <a:rPr sz="2100" b="1">
                          <a:solidFill>
                            <a:srgbClr val="FFFFFF"/>
                          </a:solidFill>
                          <a:latin typeface="Arial"/>
                          <a:ea typeface="Arial"/>
                          <a:cs typeface="Arial"/>
                        </a:rPr>
                        <a:t>Recursos</a:t>
                      </a:r>
                    </a:p>
                  </a:txBody>
                  <a:tcPr marL="91440" marR="91440" marT="45720" marB="45720">
                    <a:lnR w="9525">
                      <a:solidFill>
                        <a:srgbClr val="D4DFE7"/>
                      </a:solidFill>
                      <a:prstDash val="solid"/>
                    </a:lnR>
                    <a:lnT w="9525">
                      <a:solidFill>
                        <a:srgbClr val="D4DFE7"/>
                      </a:solidFill>
                      <a:prstDash val="solid"/>
                    </a:lnT>
                    <a:lnB w="9525">
                      <a:solidFill>
                        <a:srgbClr val="D4DFE7"/>
                      </a:solidFill>
                      <a:prstDash val="solid"/>
                    </a:lnB>
                    <a:solidFill>
                      <a:srgbClr val="132E50"/>
                    </a:solidFill>
                  </a:tcPr>
                </a:tc>
                <a:tc>
                  <a:txBody>
                    <a:bodyPr lIns="171450" tIns="171450" rIns="171450" bIns="171450"/>
                    <a:lstStyle/>
                    <a:p>
                      <a:r>
                        <a:rPr sz="2100" b="1">
                          <a:solidFill>
                            <a:srgbClr val="FFFFFF"/>
                          </a:solidFill>
                          <a:latin typeface="Arial"/>
                          <a:ea typeface="Arial"/>
                          <a:cs typeface="Arial"/>
                        </a:rPr>
                        <a:t>USD / hora</a:t>
                      </a:r>
                    </a:p>
                  </a:txBody>
                  <a:tcPr marL="91440" marR="91440" marT="45720" marB="45720">
                    <a:lnR w="9525">
                      <a:solidFill>
                        <a:srgbClr val="D4DFE7"/>
                      </a:solidFill>
                      <a:prstDash val="solid"/>
                    </a:lnR>
                    <a:lnT w="9525">
                      <a:solidFill>
                        <a:srgbClr val="D4DFE7"/>
                      </a:solidFill>
                      <a:prstDash val="solid"/>
                    </a:lnT>
                    <a:lnB w="9525">
                      <a:solidFill>
                        <a:srgbClr val="D4DFE7"/>
                      </a:solidFill>
                      <a:prstDash val="solid"/>
                    </a:lnB>
                    <a:solidFill>
                      <a:srgbClr val="132E50"/>
                    </a:solidFill>
                  </a:tcPr>
                </a:tc>
              </a:tr>
              <a:tr h="809625">
                <a:tc>
                  <a:txBody>
                    <a:bodyPr lIns="171450" tIns="171450" rIns="171450" bIns="171450"/>
                    <a:lstStyle/>
                    <a:p>
                      <a:r>
                        <a:rPr sz="2100" b="0">
                          <a:solidFill>
                            <a:srgbClr val="26384B"/>
                          </a:solidFill>
                          <a:latin typeface="Arial"/>
                          <a:ea typeface="Arial"/>
                          <a:cs typeface="Arial"/>
                        </a:rPr>
                        <a:t>AWS · t3.medium</a:t>
                      </a:r>
                    </a:p>
                  </a:txBody>
                  <a:tcPr marL="91440" marR="91440" marT="45720" marB="45720">
                    <a:lnL w="9525">
                      <a:solidFill>
                        <a:srgbClr val="D4DFE7"/>
                      </a:solidFill>
                      <a:prstDash val="solid"/>
                    </a:lnL>
                    <a:lnR w="9525">
                      <a:solidFill>
                        <a:srgbClr val="D4DFE7"/>
                      </a:solidFill>
                      <a:prstDash val="solid"/>
                    </a:lnR>
                    <a:lnB w="9525">
                      <a:solidFill>
                        <a:srgbClr val="D4DFE7"/>
                      </a:solidFill>
                      <a:prstDash val="solid"/>
                    </a:lnB>
                    <a:solidFill>
                      <a:srgbClr val="FFFFFF"/>
                    </a:solidFill>
                  </a:tcPr>
                </a:tc>
                <a:tc>
                  <a:txBody>
                    <a:bodyPr lIns="171450" tIns="171450" rIns="171450" bIns="171450"/>
                    <a:lstStyle/>
                    <a:p>
                      <a:r>
                        <a:rPr sz="2100" b="0">
                          <a:solidFill>
                            <a:srgbClr val="26384B"/>
                          </a:solidFill>
                          <a:latin typeface="Arial"/>
                          <a:ea typeface="Arial"/>
                          <a:cs typeface="Arial"/>
                        </a:rPr>
                        <a:t>us-east-1</a:t>
                      </a:r>
                    </a:p>
                  </a:txBody>
                  <a:tcPr marL="91440" marR="91440" marT="45720" marB="45720">
                    <a:lnR w="9525">
                      <a:solidFill>
                        <a:srgbClr val="D4DFE7"/>
                      </a:solidFill>
                      <a:prstDash val="solid"/>
                    </a:lnR>
                    <a:lnB w="9525">
                      <a:solidFill>
                        <a:srgbClr val="D4DFE7"/>
                      </a:solidFill>
                      <a:prstDash val="solid"/>
                    </a:lnB>
                    <a:solidFill>
                      <a:srgbClr val="FFFFFF"/>
                    </a:solidFill>
                  </a:tcPr>
                </a:tc>
                <a:tc>
                  <a:txBody>
                    <a:bodyPr lIns="171450" tIns="171450" rIns="171450" bIns="171450"/>
                    <a:lstStyle/>
                    <a:p>
                      <a:r>
                        <a:rPr sz="2100" b="0">
                          <a:solidFill>
                            <a:srgbClr val="26384B"/>
                          </a:solidFill>
                          <a:latin typeface="Arial"/>
                          <a:ea typeface="Arial"/>
                          <a:cs typeface="Arial"/>
                        </a:rPr>
                        <a:t>2 vCPU · 4 GiB</a:t>
                      </a:r>
                    </a:p>
                  </a:txBody>
                  <a:tcPr marL="91440" marR="91440" marT="45720" marB="45720">
                    <a:lnR w="9525">
                      <a:solidFill>
                        <a:srgbClr val="D4DFE7"/>
                      </a:solidFill>
                      <a:prstDash val="solid"/>
                    </a:lnR>
                    <a:lnB w="9525">
                      <a:solidFill>
                        <a:srgbClr val="D4DFE7"/>
                      </a:solidFill>
                      <a:prstDash val="solid"/>
                    </a:lnB>
                    <a:solidFill>
                      <a:srgbClr val="FFFFFF"/>
                    </a:solidFill>
                  </a:tcPr>
                </a:tc>
                <a:tc>
                  <a:txBody>
                    <a:bodyPr lIns="171450" tIns="171450" rIns="171450" bIns="171450"/>
                    <a:lstStyle/>
                    <a:p>
                      <a:r>
                        <a:rPr sz="2100" b="0">
                          <a:solidFill>
                            <a:srgbClr val="26384B"/>
                          </a:solidFill>
                          <a:latin typeface="Arial"/>
                          <a:ea typeface="Arial"/>
                          <a:cs typeface="Arial"/>
                        </a:rPr>
                        <a:t>0.04160000</a:t>
                      </a:r>
                    </a:p>
                  </a:txBody>
                  <a:tcPr marL="91440" marR="91440" marT="45720" marB="45720">
                    <a:lnR w="9525">
                      <a:solidFill>
                        <a:srgbClr val="D4DFE7"/>
                      </a:solidFill>
                      <a:prstDash val="solid"/>
                    </a:lnR>
                    <a:lnB w="9525">
                      <a:solidFill>
                        <a:srgbClr val="D4DFE7"/>
                      </a:solidFill>
                      <a:prstDash val="solid"/>
                    </a:lnB>
                    <a:solidFill>
                      <a:srgbClr val="FFFFFF"/>
                    </a:solidFill>
                  </a:tcPr>
                </a:tc>
              </a:tr>
              <a:tr h="809625">
                <a:tc>
                  <a:txBody>
                    <a:bodyPr lIns="171450" tIns="171450" rIns="171450" bIns="171450"/>
                    <a:lstStyle/>
                    <a:p>
                      <a:r>
                        <a:rPr sz="2100" b="0">
                          <a:solidFill>
                            <a:srgbClr val="26384B"/>
                          </a:solidFill>
                          <a:latin typeface="Arial"/>
                          <a:ea typeface="Arial"/>
                          <a:cs typeface="Arial"/>
                        </a:rPr>
                        <a:t>GCP · e2-medium</a:t>
                      </a:r>
                    </a:p>
                  </a:txBody>
                  <a:tcPr marL="91440" marR="91440" marT="45720" marB="45720">
                    <a:lnL w="9525">
                      <a:solidFill>
                        <a:srgbClr val="D4DFE7"/>
                      </a:solidFill>
                      <a:prstDash val="solid"/>
                    </a:lnL>
                    <a:lnR w="9525">
                      <a:solidFill>
                        <a:srgbClr val="D4DFE7"/>
                      </a:solidFill>
                      <a:prstDash val="solid"/>
                    </a:lnR>
                    <a:lnB w="9525">
                      <a:solidFill>
                        <a:srgbClr val="D4DFE7"/>
                      </a:solidFill>
                      <a:prstDash val="solid"/>
                    </a:lnB>
                    <a:solidFill>
                      <a:srgbClr val="E8F1F4"/>
                    </a:solidFill>
                  </a:tcPr>
                </a:tc>
                <a:tc>
                  <a:txBody>
                    <a:bodyPr lIns="171450" tIns="171450" rIns="171450" bIns="171450"/>
                    <a:lstStyle/>
                    <a:p>
                      <a:r>
                        <a:rPr sz="2100" b="0">
                          <a:solidFill>
                            <a:srgbClr val="26384B"/>
                          </a:solidFill>
                          <a:latin typeface="Arial"/>
                          <a:ea typeface="Arial"/>
                          <a:cs typeface="Arial"/>
                        </a:rPr>
                        <a:t>us-central1</a:t>
                      </a:r>
                    </a:p>
                  </a:txBody>
                  <a:tcPr marL="91440" marR="91440" marT="45720" marB="45720">
                    <a:lnR w="9525">
                      <a:solidFill>
                        <a:srgbClr val="D4DFE7"/>
                      </a:solidFill>
                      <a:prstDash val="solid"/>
                    </a:lnR>
                    <a:lnB w="9525">
                      <a:solidFill>
                        <a:srgbClr val="D4DFE7"/>
                      </a:solidFill>
                      <a:prstDash val="solid"/>
                    </a:lnB>
                    <a:solidFill>
                      <a:srgbClr val="E8F1F4"/>
                    </a:solidFill>
                  </a:tcPr>
                </a:tc>
                <a:tc>
                  <a:txBody>
                    <a:bodyPr lIns="171450" tIns="171450" rIns="171450" bIns="171450"/>
                    <a:lstStyle/>
                    <a:p>
                      <a:r>
                        <a:rPr sz="2100" b="0">
                          <a:solidFill>
                            <a:srgbClr val="26384B"/>
                          </a:solidFill>
                          <a:latin typeface="Arial"/>
                          <a:ea typeface="Arial"/>
                          <a:cs typeface="Arial"/>
                        </a:rPr>
                        <a:t>2 vCPU · 4 GiB</a:t>
                      </a:r>
                    </a:p>
                  </a:txBody>
                  <a:tcPr marL="91440" marR="91440" marT="45720" marB="45720">
                    <a:lnR w="9525">
                      <a:solidFill>
                        <a:srgbClr val="D4DFE7"/>
                      </a:solidFill>
                      <a:prstDash val="solid"/>
                    </a:lnR>
                    <a:lnB w="9525">
                      <a:solidFill>
                        <a:srgbClr val="D4DFE7"/>
                      </a:solidFill>
                      <a:prstDash val="solid"/>
                    </a:lnB>
                    <a:solidFill>
                      <a:srgbClr val="E8F1F4"/>
                    </a:solidFill>
                  </a:tcPr>
                </a:tc>
                <a:tc>
                  <a:txBody>
                    <a:bodyPr lIns="171450" tIns="171450" rIns="171450" bIns="171450"/>
                    <a:lstStyle/>
                    <a:p>
                      <a:r>
                        <a:rPr sz="2100" b="0">
                          <a:solidFill>
                            <a:srgbClr val="26384B"/>
                          </a:solidFill>
                          <a:latin typeface="Arial"/>
                          <a:ea typeface="Arial"/>
                          <a:cs typeface="Arial"/>
                        </a:rPr>
                        <a:t>0.03350571</a:t>
                      </a:r>
                    </a:p>
                  </a:txBody>
                  <a:tcPr marL="91440" marR="91440" marT="45720" marB="45720">
                    <a:lnR w="9525">
                      <a:solidFill>
                        <a:srgbClr val="D4DFE7"/>
                      </a:solidFill>
                      <a:prstDash val="solid"/>
                    </a:lnR>
                    <a:lnB w="9525">
                      <a:solidFill>
                        <a:srgbClr val="D4DFE7"/>
                      </a:solidFill>
                      <a:prstDash val="solid"/>
                    </a:lnB>
                    <a:solidFill>
                      <a:srgbClr val="E8F1F4"/>
                    </a:solidFill>
                  </a:tcPr>
                </a:tc>
              </a:tr>
              <a:tr h="809625">
                <a:tc>
                  <a:txBody>
                    <a:bodyPr lIns="171450" tIns="171450" rIns="171450" bIns="171450"/>
                    <a:lstStyle/>
                    <a:p>
                      <a:r>
                        <a:rPr sz="2100" b="0">
                          <a:solidFill>
                            <a:srgbClr val="26384B"/>
                          </a:solidFill>
                          <a:latin typeface="Arial"/>
                          <a:ea typeface="Arial"/>
                          <a:cs typeface="Arial"/>
                        </a:rPr>
                        <a:t>Azure · B2s</a:t>
                      </a:r>
                    </a:p>
                  </a:txBody>
                  <a:tcPr marL="91440" marR="91440" marT="45720" marB="45720">
                    <a:lnL w="9525">
                      <a:solidFill>
                        <a:srgbClr val="D4DFE7"/>
                      </a:solidFill>
                      <a:prstDash val="solid"/>
                    </a:lnL>
                    <a:lnR w="9525">
                      <a:solidFill>
                        <a:srgbClr val="D4DFE7"/>
                      </a:solidFill>
                      <a:prstDash val="solid"/>
                    </a:lnR>
                    <a:lnB w="9525">
                      <a:solidFill>
                        <a:srgbClr val="D4DFE7"/>
                      </a:solidFill>
                      <a:prstDash val="solid"/>
                    </a:lnB>
                    <a:solidFill>
                      <a:srgbClr val="FFFFFF"/>
                    </a:solidFill>
                  </a:tcPr>
                </a:tc>
                <a:tc>
                  <a:txBody>
                    <a:bodyPr lIns="171450" tIns="171450" rIns="171450" bIns="171450"/>
                    <a:lstStyle/>
                    <a:p>
                      <a:r>
                        <a:rPr sz="2100" b="0">
                          <a:solidFill>
                            <a:srgbClr val="26384B"/>
                          </a:solidFill>
                          <a:latin typeface="Arial"/>
                          <a:ea typeface="Arial"/>
                          <a:cs typeface="Arial"/>
                        </a:rPr>
                        <a:t>eastus</a:t>
                      </a:r>
                    </a:p>
                  </a:txBody>
                  <a:tcPr marL="91440" marR="91440" marT="45720" marB="45720">
                    <a:lnR w="9525">
                      <a:solidFill>
                        <a:srgbClr val="D4DFE7"/>
                      </a:solidFill>
                      <a:prstDash val="solid"/>
                    </a:lnR>
                    <a:lnB w="9525">
                      <a:solidFill>
                        <a:srgbClr val="D4DFE7"/>
                      </a:solidFill>
                      <a:prstDash val="solid"/>
                    </a:lnB>
                    <a:solidFill>
                      <a:srgbClr val="FFFFFF"/>
                    </a:solidFill>
                  </a:tcPr>
                </a:tc>
                <a:tc>
                  <a:txBody>
                    <a:bodyPr lIns="171450" tIns="171450" rIns="171450" bIns="171450"/>
                    <a:lstStyle/>
                    <a:p>
                      <a:r>
                        <a:rPr sz="2100" b="0">
                          <a:solidFill>
                            <a:srgbClr val="26384B"/>
                          </a:solidFill>
                          <a:latin typeface="Arial"/>
                          <a:ea typeface="Arial"/>
                          <a:cs typeface="Arial"/>
                        </a:rPr>
                        <a:t>2 vCPU · 4 GiB</a:t>
                      </a:r>
                    </a:p>
                  </a:txBody>
                  <a:tcPr marL="91440" marR="91440" marT="45720" marB="45720">
                    <a:lnR w="9525">
                      <a:solidFill>
                        <a:srgbClr val="D4DFE7"/>
                      </a:solidFill>
                      <a:prstDash val="solid"/>
                    </a:lnR>
                    <a:lnB w="9525">
                      <a:solidFill>
                        <a:srgbClr val="D4DFE7"/>
                      </a:solidFill>
                      <a:prstDash val="solid"/>
                    </a:lnB>
                    <a:solidFill>
                      <a:srgbClr val="FFFFFF"/>
                    </a:solidFill>
                  </a:tcPr>
                </a:tc>
                <a:tc>
                  <a:txBody>
                    <a:bodyPr lIns="171450" tIns="171450" rIns="171450" bIns="171450"/>
                    <a:lstStyle/>
                    <a:p>
                      <a:r>
                        <a:rPr sz="2100" b="0">
                          <a:solidFill>
                            <a:srgbClr val="26384B"/>
                          </a:solidFill>
                          <a:latin typeface="Arial"/>
                          <a:ea typeface="Arial"/>
                          <a:cs typeface="Arial"/>
                        </a:rPr>
                        <a:t>0.04160000</a:t>
                      </a:r>
                    </a:p>
                  </a:txBody>
                  <a:tcPr marL="91440" marR="91440" marT="45720" marB="45720">
                    <a:lnR w="9525">
                      <a:solidFill>
                        <a:srgbClr val="D4DFE7"/>
                      </a:solidFill>
                      <a:prstDash val="solid"/>
                    </a:lnR>
                    <a:lnB w="9525">
                      <a:solidFill>
                        <a:srgbClr val="D4DFE7"/>
                      </a:solidFill>
                      <a:prstDash val="solid"/>
                    </a:lnB>
                    <a:solidFill>
                      <a:srgbClr val="FFFFFF"/>
                    </a:solidFill>
                  </a:tcPr>
                </a:tc>
              </a:tr>
            </a:tbl>
          </a:graphicData>
        </a:graphic>
      </p:graphicFrame>
      <p:sp>
        <p:nvSpPr>
          <p:cNvPr id="6" name="CPU compartida o con créditos: los recursos nominales no implican">
            <a:extLst xmlns:a="http://schemas.openxmlformats.org/drawingml/2006/main">
              <a:ext uri="{FF2B5EF4-FFF2-40B4-BE49-F238E27FC236}">
                <a16:creationId xmlns:a16="http://schemas.microsoft.com/office/drawing/2014/main" id="{067EED16-10DF-45F5-AD94-5BE7105F93C0}"/>
              </a:ext>
            </a:extLst>
          </p:cNvPr>
          <p:cNvSpPr>
            <a:spLocks xmlns:a="http://schemas.openxmlformats.org/drawingml/2006/main" noGrp="1"/>
          </p:cNvSpPr>
          <p:nvPr/>
        </p:nvSpPr>
        <p:spPr>
          <a:xfrm xmlns:a="http://schemas.openxmlformats.org/drawingml/2006/main">
            <a:off x="952500" y="7629525"/>
            <a:ext cx="13335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3677C"/>
                </a:solidFill>
                <a:latin typeface="Arial"/>
                <a:ea typeface="Arial"/>
                <a:cs typeface="Arial"/>
              </a:defRPr>
            </a:defPPr>
          </a:lstStyle>
          <a:p xmlns:a="http://schemas.openxmlformats.org/drawingml/2006/main">
            <a:pPr>
              <a:defRPr sz="1800" b="0">
                <a:solidFill>
                  <a:srgbClr val="53677C"/>
                </a:solidFill>
                <a:latin typeface="Arial"/>
                <a:ea typeface="Arial"/>
                <a:cs typeface="Arial"/>
              </a:defRPr>
            </a:pPr>
            <a:r>
              <a:rPr sz="1800" b="0">
                <a:solidFill>
                  <a:srgbClr val="53677C"/>
                </a:solidFill>
                <a:latin typeface="Arial"/>
                <a:ea typeface="Arial"/>
                <a:cs typeface="Arial"/>
              </a:rPr>
              <a:t>CPU compartida o con créditos: los recursos nominales no implican igual rendimiento.</a:t>
            </a:r>
          </a:p>
        </p:txBody>
      </p:sp>
    </p:spTree>
    <p:extLst>
      <p:ext uri="{BB962C8B-B14F-4D97-AF65-F5344CB8AC3E}">
        <p14:creationId xmlns:p14="http://schemas.microsoft.com/office/powerpoint/2010/main" val="1885293436"/>
      </p:ext>
    </p:extLst>
  </p:cSld>
</p:sld>
</file>

<file path=ppt/slides/slide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7" name="COST MANAGEMENT">
            <a:extLst xmlns:a="http://schemas.openxmlformats.org/drawingml/2006/main">
              <a:ext uri="{FF2B5EF4-FFF2-40B4-BE49-F238E27FC236}">
                <a16:creationId xmlns:a16="http://schemas.microsoft.com/office/drawing/2014/main" id="{52A74700-8871-48FE-A16B-BCFA49B431DB}"/>
              </a:ext>
            </a:extLst>
          </p:cNvPr>
          <p:cNvSpPr>
            <a:spLocks xmlns:a="http://schemas.openxmlformats.org/drawingml/2006/main" noGrp="1"/>
          </p:cNvSpPr>
          <p:nvPr/>
        </p:nvSpPr>
        <p:spPr>
          <a:xfrm xmlns:a="http://schemas.openxmlformats.org/drawingml/2006/main">
            <a:off x="914400" y="542925"/>
            <a:ext cx="1238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087F8C"/>
                </a:solidFill>
                <a:latin typeface="Arial"/>
                <a:ea typeface="Arial"/>
                <a:cs typeface="Arial"/>
              </a:defRPr>
            </a:defPPr>
          </a:lstStyle>
          <a:p xmlns:a="http://schemas.openxmlformats.org/drawingml/2006/main">
            <a:pPr>
              <a:defRPr sz="1575" b="1">
                <a:solidFill>
                  <a:srgbClr val="087F8C"/>
                </a:solidFill>
                <a:latin typeface="Arial"/>
                <a:ea typeface="Arial"/>
                <a:cs typeface="Arial"/>
              </a:defRPr>
            </a:pPr>
            <a:r>
              <a:rPr sz="1575" b="1">
                <a:solidFill>
                  <a:srgbClr val="087F8C"/>
                </a:solidFill>
                <a:latin typeface="Arial"/>
                <a:ea typeface="Arial"/>
                <a:cs typeface="Arial"/>
              </a:rPr>
              <a:t>COST MANAGEMENT</a:t>
            </a:r>
          </a:p>
        </p:txBody>
      </p:sp>
      <p:sp>
        <p:nvSpPr>
          <p:cNvPr id="2" name="07 / 34">
            <a:extLst xmlns:a="http://schemas.openxmlformats.org/drawingml/2006/main">
              <a:ext uri="{FF2B5EF4-FFF2-40B4-BE49-F238E27FC236}">
                <a16:creationId xmlns:a16="http://schemas.microsoft.com/office/drawing/2014/main" id="{39B2203A-91AA-46AC-9830-2F6FE3758761}"/>
              </a:ext>
            </a:extLst>
          </p:cNvPr>
          <p:cNvSpPr>
            <a:spLocks xmlns:a="http://schemas.openxmlformats.org/drawingml/2006/main" noGrp="1"/>
          </p:cNvSpPr>
          <p:nvPr/>
        </p:nvSpPr>
        <p:spPr>
          <a:xfrm xmlns:a="http://schemas.openxmlformats.org/drawingml/2006/main">
            <a:off x="13192125" y="561975"/>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77C"/>
                </a:solidFill>
                <a:latin typeface="Arial"/>
                <a:ea typeface="Arial"/>
                <a:cs typeface="Arial"/>
              </a:defRPr>
            </a:defPPr>
          </a:lstStyle>
          <a:p xmlns:a="http://schemas.openxmlformats.org/drawingml/2006/main">
            <a:pPr>
              <a:defRPr sz="1500" b="0">
                <a:solidFill>
                  <a:srgbClr val="53677C"/>
                </a:solidFill>
                <a:latin typeface="Arial"/>
                <a:ea typeface="Arial"/>
                <a:cs typeface="Arial"/>
              </a:defRPr>
            </a:pPr>
            <a:r>
              <a:rPr sz="1500" b="0">
                <a:solidFill>
                  <a:srgbClr val="53677C"/>
                </a:solidFill>
                <a:latin typeface="Arial"/>
                <a:ea typeface="Arial"/>
                <a:cs typeface="Arial"/>
              </a:rPr>
              <a:t>07 / 34</a:t>
            </a:r>
          </a:p>
        </p:txBody>
      </p:sp>
      <p:sp>
        <p:nvSpPr>
          <p:cNvPr id="3" name="Una VM por horas, días o meses">
            <a:extLst xmlns:a="http://schemas.openxmlformats.org/drawingml/2006/main">
              <a:ext uri="{FF2B5EF4-FFF2-40B4-BE49-F238E27FC236}">
                <a16:creationId xmlns:a16="http://schemas.microsoft.com/office/drawing/2014/main" id="{64233CDF-A97A-44DB-A8A4-46CC311088D7}"/>
              </a:ext>
            </a:extLst>
          </p:cNvPr>
          <p:cNvSpPr>
            <a:spLocks xmlns:a="http://schemas.openxmlformats.org/drawingml/2006/main" noGrp="1"/>
          </p:cNvSpPr>
          <p:nvPr/>
        </p:nvSpPr>
        <p:spPr>
          <a:xfrm xmlns:a="http://schemas.openxmlformats.org/drawingml/2006/main">
            <a:off x="914400" y="1143000"/>
            <a:ext cx="13411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132E50"/>
                </a:solidFill>
                <a:latin typeface="Arial"/>
                <a:ea typeface="Arial"/>
                <a:cs typeface="Arial"/>
              </a:defRPr>
            </a:defPPr>
          </a:lstStyle>
          <a:p xmlns:a="http://schemas.openxmlformats.org/drawingml/2006/main">
            <a:pPr>
              <a:defRPr sz="3825" b="1">
                <a:solidFill>
                  <a:srgbClr val="132E50"/>
                </a:solidFill>
                <a:latin typeface="Arial"/>
                <a:ea typeface="Arial"/>
                <a:cs typeface="Arial"/>
              </a:defRPr>
            </a:pPr>
            <a:r>
              <a:rPr sz="3825" b="1">
                <a:solidFill>
                  <a:srgbClr val="132E50"/>
                </a:solidFill>
                <a:latin typeface="Arial"/>
                <a:ea typeface="Arial"/>
                <a:cs typeface="Arial"/>
              </a:rPr>
              <a:t>Una VM por horas, días o meses</a:t>
            </a:r>
          </a:p>
        </p:txBody>
      </p:sp>
      <p:sp>
        <p:nvSpPr>
          <p:cNvPr id="4" name="Mismas VMs y regiones de la diapositiva anterior · importe = tari">
            <a:extLst xmlns:a="http://schemas.openxmlformats.org/drawingml/2006/main">
              <a:ext uri="{FF2B5EF4-FFF2-40B4-BE49-F238E27FC236}">
                <a16:creationId xmlns:a16="http://schemas.microsoft.com/office/drawing/2014/main" id="{9D6F3A65-3BB2-4271-89F0-B4DF9D9CEC51}"/>
              </a:ext>
            </a:extLst>
          </p:cNvPr>
          <p:cNvSpPr>
            <a:spLocks xmlns:a="http://schemas.openxmlformats.org/drawingml/2006/main" noGrp="1"/>
          </p:cNvSpPr>
          <p:nvPr/>
        </p:nvSpPr>
        <p:spPr>
          <a:xfrm xmlns:a="http://schemas.openxmlformats.org/drawingml/2006/main">
            <a:off x="952500" y="2238375"/>
            <a:ext cx="1333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Mismas VMs y regiones de la diapositiva anterior · importe = tarifa × horas</a:t>
            </a:r>
          </a:p>
        </p:txBody>
      </p:sp>
      <p:graphicFrame>
        <p:nvGraphicFramePr>
          <p:cNvPr id="5" name="">
            <a:extLst xmlns:a="http://schemas.openxmlformats.org/drawingml/2006/main">
              <a:ext uri="{FF2B5EF4-FFF2-40B4-BE49-F238E27FC236}">
                <a16:creationId xmlns:a16="http://schemas.microsoft.com/office/drawing/2014/main" id="{EC1C64CA-8749-438B-87D5-554E51F5A345}"/>
              </a:ext>
            </a:extLst>
          </p:cNvPr>
          <p:cNvGraphicFramePr/>
          <p:nvPr/>
        </p:nvGraphicFramePr>
        <p:xfrm>
          <a:off xmlns:a="http://schemas.openxmlformats.org/drawingml/2006/main" x="914400" y="3238500"/>
          <a:ext xmlns:a="http://schemas.openxmlformats.org/drawingml/2006/main" cx="13411200" cy="3238500"/>
        </p:xfrm>
        <a:graphic xmlns:a="http://schemas.openxmlformats.org/drawingml/2006/main">
          <a:graphicData uri="http://schemas.openxmlformats.org/drawingml/2006/table">
            <a:tbl>
              <a:tblPr/>
              <a:tblGrid>
                <a:gridCol w="4381500"/>
                <a:gridCol w="3009900"/>
                <a:gridCol w="3009900"/>
                <a:gridCol w="3009900"/>
              </a:tblGrid>
              <a:tr h="809625">
                <a:tc>
                  <a:txBody>
                    <a:bodyPr lIns="171450" tIns="171450" rIns="171450" bIns="171450"/>
                    <a:lstStyle/>
                    <a:p>
                      <a:r>
                        <a:rPr sz="2100" b="1">
                          <a:solidFill>
                            <a:srgbClr val="FFFFFF"/>
                          </a:solidFill>
                          <a:latin typeface="Arial"/>
                          <a:ea typeface="Arial"/>
                          <a:cs typeface="Arial"/>
                        </a:rPr>
                        <a:t>Una VM</a:t>
                      </a:r>
                    </a:p>
                  </a:txBody>
                  <a:tcPr marL="91440" marR="91440" marT="45720" marB="45720">
                    <a:lnL w="9525">
                      <a:solidFill>
                        <a:srgbClr val="D4DFE7"/>
                      </a:solidFill>
                      <a:prstDash val="solid"/>
                    </a:lnL>
                    <a:lnR w="9525">
                      <a:solidFill>
                        <a:srgbClr val="D4DFE7"/>
                      </a:solidFill>
                      <a:prstDash val="solid"/>
                    </a:lnR>
                    <a:lnT w="9525">
                      <a:solidFill>
                        <a:srgbClr val="D4DFE7"/>
                      </a:solidFill>
                      <a:prstDash val="solid"/>
                    </a:lnT>
                    <a:lnB w="9525">
                      <a:solidFill>
                        <a:srgbClr val="D4DFE7"/>
                      </a:solidFill>
                      <a:prstDash val="solid"/>
                    </a:lnB>
                    <a:solidFill>
                      <a:srgbClr val="132E50"/>
                    </a:solidFill>
                  </a:tcPr>
                </a:tc>
                <a:tc>
                  <a:txBody>
                    <a:bodyPr lIns="171450" tIns="171450" rIns="171450" bIns="171450"/>
                    <a:lstStyle/>
                    <a:p>
                      <a:r>
                        <a:rPr sz="2100" b="1">
                          <a:solidFill>
                            <a:srgbClr val="FFFFFF"/>
                          </a:solidFill>
                          <a:latin typeface="Arial"/>
                          <a:ea typeface="Arial"/>
                          <a:cs typeface="Arial"/>
                        </a:rPr>
                        <a:t>2 horas</a:t>
                      </a:r>
                    </a:p>
                  </a:txBody>
                  <a:tcPr marL="91440" marR="91440" marT="45720" marB="45720">
                    <a:lnR w="9525">
                      <a:solidFill>
                        <a:srgbClr val="D4DFE7"/>
                      </a:solidFill>
                      <a:prstDash val="solid"/>
                    </a:lnR>
                    <a:lnT w="9525">
                      <a:solidFill>
                        <a:srgbClr val="D4DFE7"/>
                      </a:solidFill>
                      <a:prstDash val="solid"/>
                    </a:lnT>
                    <a:lnB w="9525">
                      <a:solidFill>
                        <a:srgbClr val="D4DFE7"/>
                      </a:solidFill>
                      <a:prstDash val="solid"/>
                    </a:lnB>
                    <a:solidFill>
                      <a:srgbClr val="132E50"/>
                    </a:solidFill>
                  </a:tcPr>
                </a:tc>
                <a:tc>
                  <a:txBody>
                    <a:bodyPr lIns="171450" tIns="171450" rIns="171450" bIns="171450"/>
                    <a:lstStyle/>
                    <a:p>
                      <a:r>
                        <a:rPr sz="2100" b="1">
                          <a:solidFill>
                            <a:srgbClr val="FFFFFF"/>
                          </a:solidFill>
                          <a:latin typeface="Arial"/>
                          <a:ea typeface="Arial"/>
                          <a:cs typeface="Arial"/>
                        </a:rPr>
                        <a:t>24 horas</a:t>
                      </a:r>
                    </a:p>
                  </a:txBody>
                  <a:tcPr marL="91440" marR="91440" marT="45720" marB="45720">
                    <a:lnR w="9525">
                      <a:solidFill>
                        <a:srgbClr val="D4DFE7"/>
                      </a:solidFill>
                      <a:prstDash val="solid"/>
                    </a:lnR>
                    <a:lnT w="9525">
                      <a:solidFill>
                        <a:srgbClr val="D4DFE7"/>
                      </a:solidFill>
                      <a:prstDash val="solid"/>
                    </a:lnT>
                    <a:lnB w="9525">
                      <a:solidFill>
                        <a:srgbClr val="D4DFE7"/>
                      </a:solidFill>
                      <a:prstDash val="solid"/>
                    </a:lnB>
                    <a:solidFill>
                      <a:srgbClr val="132E50"/>
                    </a:solidFill>
                  </a:tcPr>
                </a:tc>
                <a:tc>
                  <a:txBody>
                    <a:bodyPr lIns="171450" tIns="171450" rIns="171450" bIns="171450"/>
                    <a:lstStyle/>
                    <a:p>
                      <a:r>
                        <a:rPr sz="2100" b="1">
                          <a:solidFill>
                            <a:srgbClr val="FFFFFF"/>
                          </a:solidFill>
                          <a:latin typeface="Arial"/>
                          <a:ea typeface="Arial"/>
                          <a:cs typeface="Arial"/>
                        </a:rPr>
                        <a:t>730 horas</a:t>
                      </a:r>
                    </a:p>
                  </a:txBody>
                  <a:tcPr marL="91440" marR="91440" marT="45720" marB="45720">
                    <a:lnR w="9525">
                      <a:solidFill>
                        <a:srgbClr val="D4DFE7"/>
                      </a:solidFill>
                      <a:prstDash val="solid"/>
                    </a:lnR>
                    <a:lnT w="9525">
                      <a:solidFill>
                        <a:srgbClr val="D4DFE7"/>
                      </a:solidFill>
                      <a:prstDash val="solid"/>
                    </a:lnT>
                    <a:lnB w="9525">
                      <a:solidFill>
                        <a:srgbClr val="D4DFE7"/>
                      </a:solidFill>
                      <a:prstDash val="solid"/>
                    </a:lnB>
                    <a:solidFill>
                      <a:srgbClr val="132E50"/>
                    </a:solidFill>
                  </a:tcPr>
                </a:tc>
              </a:tr>
              <a:tr h="809625">
                <a:tc>
                  <a:txBody>
                    <a:bodyPr lIns="171450" tIns="171450" rIns="171450" bIns="171450"/>
                    <a:lstStyle/>
                    <a:p>
                      <a:r>
                        <a:rPr sz="2100" b="0">
                          <a:solidFill>
                            <a:srgbClr val="26384B"/>
                          </a:solidFill>
                          <a:latin typeface="Arial"/>
                          <a:ea typeface="Arial"/>
                          <a:cs typeface="Arial"/>
                        </a:rPr>
                        <a:t>AWS · t3.medium</a:t>
                      </a:r>
                    </a:p>
                  </a:txBody>
                  <a:tcPr marL="91440" marR="91440" marT="45720" marB="45720">
                    <a:lnL w="9525">
                      <a:solidFill>
                        <a:srgbClr val="D4DFE7"/>
                      </a:solidFill>
                      <a:prstDash val="solid"/>
                    </a:lnL>
                    <a:lnR w="9525">
                      <a:solidFill>
                        <a:srgbClr val="D4DFE7"/>
                      </a:solidFill>
                      <a:prstDash val="solid"/>
                    </a:lnR>
                    <a:lnB w="9525">
                      <a:solidFill>
                        <a:srgbClr val="D4DFE7"/>
                      </a:solidFill>
                      <a:prstDash val="solid"/>
                    </a:lnB>
                    <a:solidFill>
                      <a:srgbClr val="FFFFFF"/>
                    </a:solidFill>
                  </a:tcPr>
                </a:tc>
                <a:tc>
                  <a:txBody>
                    <a:bodyPr lIns="171450" tIns="171450" rIns="171450" bIns="171450"/>
                    <a:lstStyle/>
                    <a:p>
                      <a:r>
                        <a:rPr sz="2100" b="0">
                          <a:solidFill>
                            <a:srgbClr val="26384B"/>
                          </a:solidFill>
                          <a:latin typeface="Arial"/>
                          <a:ea typeface="Arial"/>
                          <a:cs typeface="Arial"/>
                        </a:rPr>
                        <a:t>USD 0.08</a:t>
                      </a:r>
                    </a:p>
                  </a:txBody>
                  <a:tcPr marL="91440" marR="91440" marT="45720" marB="45720">
                    <a:lnR w="9525">
                      <a:solidFill>
                        <a:srgbClr val="D4DFE7"/>
                      </a:solidFill>
                      <a:prstDash val="solid"/>
                    </a:lnR>
                    <a:lnB w="9525">
                      <a:solidFill>
                        <a:srgbClr val="D4DFE7"/>
                      </a:solidFill>
                      <a:prstDash val="solid"/>
                    </a:lnB>
                    <a:solidFill>
                      <a:srgbClr val="FFFFFF"/>
                    </a:solidFill>
                  </a:tcPr>
                </a:tc>
                <a:tc>
                  <a:txBody>
                    <a:bodyPr lIns="171450" tIns="171450" rIns="171450" bIns="171450"/>
                    <a:lstStyle/>
                    <a:p>
                      <a:r>
                        <a:rPr sz="2100" b="0">
                          <a:solidFill>
                            <a:srgbClr val="26384B"/>
                          </a:solidFill>
                          <a:latin typeface="Arial"/>
                          <a:ea typeface="Arial"/>
                          <a:cs typeface="Arial"/>
                        </a:rPr>
                        <a:t>USD 1.00</a:t>
                      </a:r>
                    </a:p>
                  </a:txBody>
                  <a:tcPr marL="91440" marR="91440" marT="45720" marB="45720">
                    <a:lnR w="9525">
                      <a:solidFill>
                        <a:srgbClr val="D4DFE7"/>
                      </a:solidFill>
                      <a:prstDash val="solid"/>
                    </a:lnR>
                    <a:lnB w="9525">
                      <a:solidFill>
                        <a:srgbClr val="D4DFE7"/>
                      </a:solidFill>
                      <a:prstDash val="solid"/>
                    </a:lnB>
                    <a:solidFill>
                      <a:srgbClr val="FFFFFF"/>
                    </a:solidFill>
                  </a:tcPr>
                </a:tc>
                <a:tc>
                  <a:txBody>
                    <a:bodyPr lIns="171450" tIns="171450" rIns="171450" bIns="171450"/>
                    <a:lstStyle/>
                    <a:p>
                      <a:r>
                        <a:rPr sz="2100" b="0">
                          <a:solidFill>
                            <a:srgbClr val="26384B"/>
                          </a:solidFill>
                          <a:latin typeface="Arial"/>
                          <a:ea typeface="Arial"/>
                          <a:cs typeface="Arial"/>
                        </a:rPr>
                        <a:t>USD 30.37</a:t>
                      </a:r>
                    </a:p>
                  </a:txBody>
                  <a:tcPr marL="91440" marR="91440" marT="45720" marB="45720">
                    <a:lnR w="9525">
                      <a:solidFill>
                        <a:srgbClr val="D4DFE7"/>
                      </a:solidFill>
                      <a:prstDash val="solid"/>
                    </a:lnR>
                    <a:lnB w="9525">
                      <a:solidFill>
                        <a:srgbClr val="D4DFE7"/>
                      </a:solidFill>
                      <a:prstDash val="solid"/>
                    </a:lnB>
                    <a:solidFill>
                      <a:srgbClr val="FFFFFF"/>
                    </a:solidFill>
                  </a:tcPr>
                </a:tc>
              </a:tr>
              <a:tr h="809625">
                <a:tc>
                  <a:txBody>
                    <a:bodyPr lIns="171450" tIns="171450" rIns="171450" bIns="171450"/>
                    <a:lstStyle/>
                    <a:p>
                      <a:r>
                        <a:rPr sz="2100" b="0">
                          <a:solidFill>
                            <a:srgbClr val="26384B"/>
                          </a:solidFill>
                          <a:latin typeface="Arial"/>
                          <a:ea typeface="Arial"/>
                          <a:cs typeface="Arial"/>
                        </a:rPr>
                        <a:t>GCP · e2-medium</a:t>
                      </a:r>
                    </a:p>
                  </a:txBody>
                  <a:tcPr marL="91440" marR="91440" marT="45720" marB="45720">
                    <a:lnL w="9525">
                      <a:solidFill>
                        <a:srgbClr val="D4DFE7"/>
                      </a:solidFill>
                      <a:prstDash val="solid"/>
                    </a:lnL>
                    <a:lnR w="9525">
                      <a:solidFill>
                        <a:srgbClr val="D4DFE7"/>
                      </a:solidFill>
                      <a:prstDash val="solid"/>
                    </a:lnR>
                    <a:lnB w="9525">
                      <a:solidFill>
                        <a:srgbClr val="D4DFE7"/>
                      </a:solidFill>
                      <a:prstDash val="solid"/>
                    </a:lnB>
                    <a:solidFill>
                      <a:srgbClr val="E8F1F4"/>
                    </a:solidFill>
                  </a:tcPr>
                </a:tc>
                <a:tc>
                  <a:txBody>
                    <a:bodyPr lIns="171450" tIns="171450" rIns="171450" bIns="171450"/>
                    <a:lstStyle/>
                    <a:p>
                      <a:r>
                        <a:rPr sz="2100" b="0">
                          <a:solidFill>
                            <a:srgbClr val="26384B"/>
                          </a:solidFill>
                          <a:latin typeface="Arial"/>
                          <a:ea typeface="Arial"/>
                          <a:cs typeface="Arial"/>
                        </a:rPr>
                        <a:t>USD 0.07</a:t>
                      </a:r>
                    </a:p>
                  </a:txBody>
                  <a:tcPr marL="91440" marR="91440" marT="45720" marB="45720">
                    <a:lnR w="9525">
                      <a:solidFill>
                        <a:srgbClr val="D4DFE7"/>
                      </a:solidFill>
                      <a:prstDash val="solid"/>
                    </a:lnR>
                    <a:lnB w="9525">
                      <a:solidFill>
                        <a:srgbClr val="D4DFE7"/>
                      </a:solidFill>
                      <a:prstDash val="solid"/>
                    </a:lnB>
                    <a:solidFill>
                      <a:srgbClr val="E8F1F4"/>
                    </a:solidFill>
                  </a:tcPr>
                </a:tc>
                <a:tc>
                  <a:txBody>
                    <a:bodyPr lIns="171450" tIns="171450" rIns="171450" bIns="171450"/>
                    <a:lstStyle/>
                    <a:p>
                      <a:r>
                        <a:rPr sz="2100" b="0">
                          <a:solidFill>
                            <a:srgbClr val="26384B"/>
                          </a:solidFill>
                          <a:latin typeface="Arial"/>
                          <a:ea typeface="Arial"/>
                          <a:cs typeface="Arial"/>
                        </a:rPr>
                        <a:t>USD 0.80</a:t>
                      </a:r>
                    </a:p>
                  </a:txBody>
                  <a:tcPr marL="91440" marR="91440" marT="45720" marB="45720">
                    <a:lnR w="9525">
                      <a:solidFill>
                        <a:srgbClr val="D4DFE7"/>
                      </a:solidFill>
                      <a:prstDash val="solid"/>
                    </a:lnR>
                    <a:lnB w="9525">
                      <a:solidFill>
                        <a:srgbClr val="D4DFE7"/>
                      </a:solidFill>
                      <a:prstDash val="solid"/>
                    </a:lnB>
                    <a:solidFill>
                      <a:srgbClr val="E8F1F4"/>
                    </a:solidFill>
                  </a:tcPr>
                </a:tc>
                <a:tc>
                  <a:txBody>
                    <a:bodyPr lIns="171450" tIns="171450" rIns="171450" bIns="171450"/>
                    <a:lstStyle/>
                    <a:p>
                      <a:r>
                        <a:rPr sz="2100" b="0">
                          <a:solidFill>
                            <a:srgbClr val="26384B"/>
                          </a:solidFill>
                          <a:latin typeface="Arial"/>
                          <a:ea typeface="Arial"/>
                          <a:cs typeface="Arial"/>
                        </a:rPr>
                        <a:t>USD 24.46</a:t>
                      </a:r>
                    </a:p>
                  </a:txBody>
                  <a:tcPr marL="91440" marR="91440" marT="45720" marB="45720">
                    <a:lnR w="9525">
                      <a:solidFill>
                        <a:srgbClr val="D4DFE7"/>
                      </a:solidFill>
                      <a:prstDash val="solid"/>
                    </a:lnR>
                    <a:lnB w="9525">
                      <a:solidFill>
                        <a:srgbClr val="D4DFE7"/>
                      </a:solidFill>
                      <a:prstDash val="solid"/>
                    </a:lnB>
                    <a:solidFill>
                      <a:srgbClr val="E8F1F4"/>
                    </a:solidFill>
                  </a:tcPr>
                </a:tc>
              </a:tr>
              <a:tr h="809625">
                <a:tc>
                  <a:txBody>
                    <a:bodyPr lIns="171450" tIns="171450" rIns="171450" bIns="171450"/>
                    <a:lstStyle/>
                    <a:p>
                      <a:r>
                        <a:rPr sz="2100" b="0">
                          <a:solidFill>
                            <a:srgbClr val="26384B"/>
                          </a:solidFill>
                          <a:latin typeface="Arial"/>
                          <a:ea typeface="Arial"/>
                          <a:cs typeface="Arial"/>
                        </a:rPr>
                        <a:t>Azure · B2s</a:t>
                      </a:r>
                    </a:p>
                  </a:txBody>
                  <a:tcPr marL="91440" marR="91440" marT="45720" marB="45720">
                    <a:lnL w="9525">
                      <a:solidFill>
                        <a:srgbClr val="D4DFE7"/>
                      </a:solidFill>
                      <a:prstDash val="solid"/>
                    </a:lnL>
                    <a:lnR w="9525">
                      <a:solidFill>
                        <a:srgbClr val="D4DFE7"/>
                      </a:solidFill>
                      <a:prstDash val="solid"/>
                    </a:lnR>
                    <a:lnB w="9525">
                      <a:solidFill>
                        <a:srgbClr val="D4DFE7"/>
                      </a:solidFill>
                      <a:prstDash val="solid"/>
                    </a:lnB>
                    <a:solidFill>
                      <a:srgbClr val="FFFFFF"/>
                    </a:solidFill>
                  </a:tcPr>
                </a:tc>
                <a:tc>
                  <a:txBody>
                    <a:bodyPr lIns="171450" tIns="171450" rIns="171450" bIns="171450"/>
                    <a:lstStyle/>
                    <a:p>
                      <a:r>
                        <a:rPr sz="2100" b="0">
                          <a:solidFill>
                            <a:srgbClr val="26384B"/>
                          </a:solidFill>
                          <a:latin typeface="Arial"/>
                          <a:ea typeface="Arial"/>
                          <a:cs typeface="Arial"/>
                        </a:rPr>
                        <a:t>USD 0.08</a:t>
                      </a:r>
                    </a:p>
                  </a:txBody>
                  <a:tcPr marL="91440" marR="91440" marT="45720" marB="45720">
                    <a:lnR w="9525">
                      <a:solidFill>
                        <a:srgbClr val="D4DFE7"/>
                      </a:solidFill>
                      <a:prstDash val="solid"/>
                    </a:lnR>
                    <a:lnB w="9525">
                      <a:solidFill>
                        <a:srgbClr val="D4DFE7"/>
                      </a:solidFill>
                      <a:prstDash val="solid"/>
                    </a:lnB>
                    <a:solidFill>
                      <a:srgbClr val="FFFFFF"/>
                    </a:solidFill>
                  </a:tcPr>
                </a:tc>
                <a:tc>
                  <a:txBody>
                    <a:bodyPr lIns="171450" tIns="171450" rIns="171450" bIns="171450"/>
                    <a:lstStyle/>
                    <a:p>
                      <a:r>
                        <a:rPr sz="2100" b="0">
                          <a:solidFill>
                            <a:srgbClr val="26384B"/>
                          </a:solidFill>
                          <a:latin typeface="Arial"/>
                          <a:ea typeface="Arial"/>
                          <a:cs typeface="Arial"/>
                        </a:rPr>
                        <a:t>USD 1.00</a:t>
                      </a:r>
                    </a:p>
                  </a:txBody>
                  <a:tcPr marL="91440" marR="91440" marT="45720" marB="45720">
                    <a:lnR w="9525">
                      <a:solidFill>
                        <a:srgbClr val="D4DFE7"/>
                      </a:solidFill>
                      <a:prstDash val="solid"/>
                    </a:lnR>
                    <a:lnB w="9525">
                      <a:solidFill>
                        <a:srgbClr val="D4DFE7"/>
                      </a:solidFill>
                      <a:prstDash val="solid"/>
                    </a:lnB>
                    <a:solidFill>
                      <a:srgbClr val="FFFFFF"/>
                    </a:solidFill>
                  </a:tcPr>
                </a:tc>
                <a:tc>
                  <a:txBody>
                    <a:bodyPr lIns="171450" tIns="171450" rIns="171450" bIns="171450"/>
                    <a:lstStyle/>
                    <a:p>
                      <a:r>
                        <a:rPr sz="2100" b="0">
                          <a:solidFill>
                            <a:srgbClr val="26384B"/>
                          </a:solidFill>
                          <a:latin typeface="Arial"/>
                          <a:ea typeface="Arial"/>
                          <a:cs typeface="Arial"/>
                        </a:rPr>
                        <a:t>USD 30.37</a:t>
                      </a:r>
                    </a:p>
                  </a:txBody>
                  <a:tcPr marL="91440" marR="91440" marT="45720" marB="45720">
                    <a:lnR w="9525">
                      <a:solidFill>
                        <a:srgbClr val="D4DFE7"/>
                      </a:solidFill>
                      <a:prstDash val="solid"/>
                    </a:lnR>
                    <a:lnB w="9525">
                      <a:solidFill>
                        <a:srgbClr val="D4DFE7"/>
                      </a:solidFill>
                      <a:prstDash val="solid"/>
                    </a:lnB>
                    <a:solidFill>
                      <a:srgbClr val="FFFFFF"/>
                    </a:solidFill>
                  </a:tcPr>
                </a:tc>
              </a:tr>
            </a:tbl>
          </a:graphicData>
        </a:graphic>
      </p:graphicFrame>
      <p:sp>
        <p:nvSpPr>
          <p:cNvPr id="6" name="Mes supuesto de 730 h. Cifras redondeadas; faltan los cargos asoc">
            <a:extLst xmlns:a="http://schemas.openxmlformats.org/drawingml/2006/main">
              <a:ext uri="{FF2B5EF4-FFF2-40B4-BE49-F238E27FC236}">
                <a16:creationId xmlns:a16="http://schemas.microsoft.com/office/drawing/2014/main" id="{E7B86D34-429B-468B-B349-EC03EE7F130F}"/>
              </a:ext>
            </a:extLst>
          </p:cNvPr>
          <p:cNvSpPr>
            <a:spLocks xmlns:a="http://schemas.openxmlformats.org/drawingml/2006/main" noGrp="1"/>
          </p:cNvSpPr>
          <p:nvPr/>
        </p:nvSpPr>
        <p:spPr>
          <a:xfrm xmlns:a="http://schemas.openxmlformats.org/drawingml/2006/main">
            <a:off x="952500" y="7629525"/>
            <a:ext cx="13335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3677C"/>
                </a:solidFill>
                <a:latin typeface="Arial"/>
                <a:ea typeface="Arial"/>
                <a:cs typeface="Arial"/>
              </a:defRPr>
            </a:defPPr>
          </a:lstStyle>
          <a:p xmlns:a="http://schemas.openxmlformats.org/drawingml/2006/main">
            <a:pPr>
              <a:defRPr sz="1800" b="0">
                <a:solidFill>
                  <a:srgbClr val="53677C"/>
                </a:solidFill>
                <a:latin typeface="Arial"/>
                <a:ea typeface="Arial"/>
                <a:cs typeface="Arial"/>
              </a:defRPr>
            </a:pPr>
            <a:r>
              <a:rPr sz="1800" b="0">
                <a:solidFill>
                  <a:srgbClr val="53677C"/>
                </a:solidFill>
                <a:latin typeface="Arial"/>
                <a:ea typeface="Arial"/>
                <a:cs typeface="Arial"/>
              </a:rPr>
              <a:t>Mes supuesto de 730 h. Cifras redondeadas; faltan los cargos asociados.</a:t>
            </a:r>
          </a:p>
        </p:txBody>
      </p:sp>
    </p:spTree>
    <p:extLst>
      <p:ext uri="{BB962C8B-B14F-4D97-AF65-F5344CB8AC3E}">
        <p14:creationId xmlns:p14="http://schemas.microsoft.com/office/powerpoint/2010/main" val="605524343"/>
      </p:ext>
    </p:extLst>
  </p:cSld>
</p:sld>
</file>

<file path=ppt/slides/slide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7" name="COST MANAGEMENT">
            <a:extLst xmlns:a="http://schemas.openxmlformats.org/drawingml/2006/main">
              <a:ext uri="{FF2B5EF4-FFF2-40B4-BE49-F238E27FC236}">
                <a16:creationId xmlns:a16="http://schemas.microsoft.com/office/drawing/2014/main" id="{7EC54BEB-5F7C-4E92-BA16-6B705F64FE8B}"/>
              </a:ext>
            </a:extLst>
          </p:cNvPr>
          <p:cNvSpPr>
            <a:spLocks xmlns:a="http://schemas.openxmlformats.org/drawingml/2006/main" noGrp="1"/>
          </p:cNvSpPr>
          <p:nvPr/>
        </p:nvSpPr>
        <p:spPr>
          <a:xfrm xmlns:a="http://schemas.openxmlformats.org/drawingml/2006/main">
            <a:off x="914400" y="542925"/>
            <a:ext cx="1238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087F8C"/>
                </a:solidFill>
                <a:latin typeface="Arial"/>
                <a:ea typeface="Arial"/>
                <a:cs typeface="Arial"/>
              </a:defRPr>
            </a:defPPr>
          </a:lstStyle>
          <a:p xmlns:a="http://schemas.openxmlformats.org/drawingml/2006/main">
            <a:pPr>
              <a:defRPr sz="1575" b="1">
                <a:solidFill>
                  <a:srgbClr val="087F8C"/>
                </a:solidFill>
                <a:latin typeface="Arial"/>
                <a:ea typeface="Arial"/>
                <a:cs typeface="Arial"/>
              </a:defRPr>
            </a:pPr>
            <a:r>
              <a:rPr sz="1575" b="1">
                <a:solidFill>
                  <a:srgbClr val="087F8C"/>
                </a:solidFill>
                <a:latin typeface="Arial"/>
                <a:ea typeface="Arial"/>
                <a:cs typeface="Arial"/>
              </a:rPr>
              <a:t>COST MANAGEMENT</a:t>
            </a:r>
          </a:p>
        </p:txBody>
      </p:sp>
      <p:sp>
        <p:nvSpPr>
          <p:cNvPr id="2" name="08 / 34">
            <a:extLst xmlns:a="http://schemas.openxmlformats.org/drawingml/2006/main">
              <a:ext uri="{FF2B5EF4-FFF2-40B4-BE49-F238E27FC236}">
                <a16:creationId xmlns:a16="http://schemas.microsoft.com/office/drawing/2014/main" id="{85CB9643-4DEB-4541-A444-4125702E90B1}"/>
              </a:ext>
            </a:extLst>
          </p:cNvPr>
          <p:cNvSpPr>
            <a:spLocks xmlns:a="http://schemas.openxmlformats.org/drawingml/2006/main" noGrp="1"/>
          </p:cNvSpPr>
          <p:nvPr/>
        </p:nvSpPr>
        <p:spPr>
          <a:xfrm xmlns:a="http://schemas.openxmlformats.org/drawingml/2006/main">
            <a:off x="13192125" y="561975"/>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77C"/>
                </a:solidFill>
                <a:latin typeface="Arial"/>
                <a:ea typeface="Arial"/>
                <a:cs typeface="Arial"/>
              </a:defRPr>
            </a:defPPr>
          </a:lstStyle>
          <a:p xmlns:a="http://schemas.openxmlformats.org/drawingml/2006/main">
            <a:pPr>
              <a:defRPr sz="1500" b="0">
                <a:solidFill>
                  <a:srgbClr val="53677C"/>
                </a:solidFill>
                <a:latin typeface="Arial"/>
                <a:ea typeface="Arial"/>
                <a:cs typeface="Arial"/>
              </a:defRPr>
            </a:pPr>
            <a:r>
              <a:rPr sz="1500" b="0">
                <a:solidFill>
                  <a:srgbClr val="53677C"/>
                </a:solidFill>
                <a:latin typeface="Arial"/>
                <a:ea typeface="Arial"/>
                <a:cs typeface="Arial"/>
              </a:rPr>
              <a:t>08 / 34</a:t>
            </a:r>
          </a:p>
        </p:txBody>
      </p:sp>
      <p:sp>
        <p:nvSpPr>
          <p:cNvPr id="3" name="AWS: la VM no es toda la cuenta">
            <a:extLst xmlns:a="http://schemas.openxmlformats.org/drawingml/2006/main">
              <a:ext uri="{FF2B5EF4-FFF2-40B4-BE49-F238E27FC236}">
                <a16:creationId xmlns:a16="http://schemas.microsoft.com/office/drawing/2014/main" id="{9575C000-BBD0-404C-B28B-05EF4E4BDAF0}"/>
              </a:ext>
            </a:extLst>
          </p:cNvPr>
          <p:cNvSpPr>
            <a:spLocks xmlns:a="http://schemas.openxmlformats.org/drawingml/2006/main" noGrp="1"/>
          </p:cNvSpPr>
          <p:nvPr/>
        </p:nvSpPr>
        <p:spPr>
          <a:xfrm xmlns:a="http://schemas.openxmlformats.org/drawingml/2006/main">
            <a:off x="914400" y="1143000"/>
            <a:ext cx="13411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132E50"/>
                </a:solidFill>
                <a:latin typeface="Arial"/>
                <a:ea typeface="Arial"/>
                <a:cs typeface="Arial"/>
              </a:defRPr>
            </a:defPPr>
          </a:lstStyle>
          <a:p xmlns:a="http://schemas.openxmlformats.org/drawingml/2006/main">
            <a:pPr>
              <a:defRPr sz="3825" b="1">
                <a:solidFill>
                  <a:srgbClr val="132E50"/>
                </a:solidFill>
                <a:latin typeface="Arial"/>
                <a:ea typeface="Arial"/>
                <a:cs typeface="Arial"/>
              </a:defRPr>
            </a:pPr>
            <a:r>
              <a:rPr sz="3825" b="1">
                <a:solidFill>
                  <a:srgbClr val="132E50"/>
                </a:solidFill>
                <a:latin typeface="Arial"/>
                <a:ea typeface="Arial"/>
                <a:cs typeface="Arial"/>
              </a:rPr>
              <a:t>AWS: la VM no es toda la cuenta</a:t>
            </a:r>
          </a:p>
        </p:txBody>
      </p:sp>
      <p:sp>
        <p:nvSpPr>
          <p:cNvPr id="4" name="us-east-1 · Linux · 730 h · disco con rendimiento base · sin desc">
            <a:extLst xmlns:a="http://schemas.openxmlformats.org/drawingml/2006/main">
              <a:ext uri="{FF2B5EF4-FFF2-40B4-BE49-F238E27FC236}">
                <a16:creationId xmlns:a16="http://schemas.microsoft.com/office/drawing/2014/main" id="{0B9E3420-A4D2-4334-9D9C-21F87E329C0C}"/>
              </a:ext>
            </a:extLst>
          </p:cNvPr>
          <p:cNvSpPr>
            <a:spLocks xmlns:a="http://schemas.openxmlformats.org/drawingml/2006/main" noGrp="1"/>
          </p:cNvSpPr>
          <p:nvPr/>
        </p:nvSpPr>
        <p:spPr>
          <a:xfrm xmlns:a="http://schemas.openxmlformats.org/drawingml/2006/main">
            <a:off x="952500" y="2238375"/>
            <a:ext cx="1333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us-east-1 · Linux · 730 h · disco con rendimiento base · sin descuentos</a:t>
            </a:r>
          </a:p>
        </p:txBody>
      </p:sp>
      <p:graphicFrame>
        <p:nvGraphicFramePr>
          <p:cNvPr id="5" name="">
            <a:extLst xmlns:a="http://schemas.openxmlformats.org/drawingml/2006/main">
              <a:ext uri="{FF2B5EF4-FFF2-40B4-BE49-F238E27FC236}">
                <a16:creationId xmlns:a16="http://schemas.microsoft.com/office/drawing/2014/main" id="{9409A19B-D041-43D1-A4F4-F3EDFA24E7DE}"/>
              </a:ext>
            </a:extLst>
          </p:cNvPr>
          <p:cNvGraphicFramePr/>
          <p:nvPr/>
        </p:nvGraphicFramePr>
        <p:xfrm>
          <a:off xmlns:a="http://schemas.openxmlformats.org/drawingml/2006/main" x="914400" y="3238500"/>
          <a:ext xmlns:a="http://schemas.openxmlformats.org/drawingml/2006/main" cx="13411200" cy="3238500"/>
        </p:xfrm>
        <a:graphic xmlns:a="http://schemas.openxmlformats.org/drawingml/2006/main">
          <a:graphicData uri="http://schemas.openxmlformats.org/drawingml/2006/table">
            <a:tbl>
              <a:tblPr/>
              <a:tblGrid>
                <a:gridCol w="4524375"/>
                <a:gridCol w="5334000"/>
                <a:gridCol w="3552825"/>
              </a:tblGrid>
              <a:tr h="647700">
                <a:tc>
                  <a:txBody>
                    <a:bodyPr lIns="171450" tIns="171450" rIns="171450" bIns="171450"/>
                    <a:lstStyle/>
                    <a:p>
                      <a:r>
                        <a:rPr sz="2100" b="1">
                          <a:solidFill>
                            <a:srgbClr val="FFFFFF"/>
                          </a:solidFill>
                          <a:latin typeface="Arial"/>
                          <a:ea typeface="Arial"/>
                          <a:cs typeface="Arial"/>
                        </a:rPr>
                        <a:t>Componente</a:t>
                      </a:r>
                    </a:p>
                  </a:txBody>
                  <a:tcPr marL="91440" marR="91440" marT="45720" marB="45720">
                    <a:lnL w="9525">
                      <a:solidFill>
                        <a:srgbClr val="D4DFE7"/>
                      </a:solidFill>
                      <a:prstDash val="solid"/>
                    </a:lnL>
                    <a:lnR w="9525">
                      <a:solidFill>
                        <a:srgbClr val="D4DFE7"/>
                      </a:solidFill>
                      <a:prstDash val="solid"/>
                    </a:lnR>
                    <a:lnT w="9525">
                      <a:solidFill>
                        <a:srgbClr val="D4DFE7"/>
                      </a:solidFill>
                      <a:prstDash val="solid"/>
                    </a:lnT>
                    <a:lnB w="9525">
                      <a:solidFill>
                        <a:srgbClr val="D4DFE7"/>
                      </a:solidFill>
                      <a:prstDash val="solid"/>
                    </a:lnB>
                    <a:solidFill>
                      <a:srgbClr val="132E50"/>
                    </a:solidFill>
                  </a:tcPr>
                </a:tc>
                <a:tc>
                  <a:txBody>
                    <a:bodyPr lIns="171450" tIns="171450" rIns="171450" bIns="171450"/>
                    <a:lstStyle/>
                    <a:p>
                      <a:r>
                        <a:rPr sz="2100" b="1">
                          <a:solidFill>
                            <a:srgbClr val="FFFFFF"/>
                          </a:solidFill>
                          <a:latin typeface="Arial"/>
                          <a:ea typeface="Arial"/>
                          <a:cs typeface="Arial"/>
                        </a:rPr>
                        <a:t>Supuesto de uso</a:t>
                      </a:r>
                    </a:p>
                  </a:txBody>
                  <a:tcPr marL="91440" marR="91440" marT="45720" marB="45720">
                    <a:lnR w="9525">
                      <a:solidFill>
                        <a:srgbClr val="D4DFE7"/>
                      </a:solidFill>
                      <a:prstDash val="solid"/>
                    </a:lnR>
                    <a:lnT w="9525">
                      <a:solidFill>
                        <a:srgbClr val="D4DFE7"/>
                      </a:solidFill>
                      <a:prstDash val="solid"/>
                    </a:lnT>
                    <a:lnB w="9525">
                      <a:solidFill>
                        <a:srgbClr val="D4DFE7"/>
                      </a:solidFill>
                      <a:prstDash val="solid"/>
                    </a:lnB>
                    <a:solidFill>
                      <a:srgbClr val="132E50"/>
                    </a:solidFill>
                  </a:tcPr>
                </a:tc>
                <a:tc>
                  <a:txBody>
                    <a:bodyPr lIns="171450" tIns="171450" rIns="171450" bIns="171450"/>
                    <a:lstStyle/>
                    <a:p>
                      <a:r>
                        <a:rPr sz="2100" b="1">
                          <a:solidFill>
                            <a:srgbClr val="FFFFFF"/>
                          </a:solidFill>
                          <a:latin typeface="Arial"/>
                          <a:ea typeface="Arial"/>
                          <a:cs typeface="Arial"/>
                        </a:rPr>
                        <a:t>USD / mes</a:t>
                      </a:r>
                    </a:p>
                  </a:txBody>
                  <a:tcPr marL="91440" marR="91440" marT="45720" marB="45720">
                    <a:lnR w="9525">
                      <a:solidFill>
                        <a:srgbClr val="D4DFE7"/>
                      </a:solidFill>
                      <a:prstDash val="solid"/>
                    </a:lnR>
                    <a:lnT w="9525">
                      <a:solidFill>
                        <a:srgbClr val="D4DFE7"/>
                      </a:solidFill>
                      <a:prstDash val="solid"/>
                    </a:lnT>
                    <a:lnB w="9525">
                      <a:solidFill>
                        <a:srgbClr val="D4DFE7"/>
                      </a:solidFill>
                      <a:prstDash val="solid"/>
                    </a:lnB>
                    <a:solidFill>
                      <a:srgbClr val="132E50"/>
                    </a:solidFill>
                  </a:tcPr>
                </a:tc>
              </a:tr>
              <a:tr h="647700">
                <a:tc>
                  <a:txBody>
                    <a:bodyPr lIns="171450" tIns="171450" rIns="171450" bIns="171450"/>
                    <a:lstStyle/>
                    <a:p>
                      <a:r>
                        <a:rPr sz="2100" b="0">
                          <a:solidFill>
                            <a:srgbClr val="26384B"/>
                          </a:solidFill>
                          <a:latin typeface="Arial"/>
                          <a:ea typeface="Arial"/>
                          <a:cs typeface="Arial"/>
                        </a:rPr>
                        <a:t>VM t3.medium</a:t>
                      </a:r>
                    </a:p>
                  </a:txBody>
                  <a:tcPr marL="91440" marR="91440" marT="45720" marB="45720">
                    <a:lnL w="9525">
                      <a:solidFill>
                        <a:srgbClr val="D4DFE7"/>
                      </a:solidFill>
                      <a:prstDash val="solid"/>
                    </a:lnL>
                    <a:lnR w="9525">
                      <a:solidFill>
                        <a:srgbClr val="D4DFE7"/>
                      </a:solidFill>
                      <a:prstDash val="solid"/>
                    </a:lnR>
                    <a:lnB w="9525">
                      <a:solidFill>
                        <a:srgbClr val="D4DFE7"/>
                      </a:solidFill>
                      <a:prstDash val="solid"/>
                    </a:lnB>
                    <a:solidFill>
                      <a:srgbClr val="FFFFFF"/>
                    </a:solidFill>
                  </a:tcPr>
                </a:tc>
                <a:tc>
                  <a:txBody>
                    <a:bodyPr lIns="171450" tIns="171450" rIns="171450" bIns="171450"/>
                    <a:lstStyle/>
                    <a:p>
                      <a:r>
                        <a:rPr sz="2100" b="0">
                          <a:solidFill>
                            <a:srgbClr val="26384B"/>
                          </a:solidFill>
                          <a:latin typeface="Arial"/>
                          <a:ea typeface="Arial"/>
                          <a:cs typeface="Arial"/>
                        </a:rPr>
                        <a:t>0.0416 × 730 h</a:t>
                      </a:r>
                    </a:p>
                  </a:txBody>
                  <a:tcPr marL="91440" marR="91440" marT="45720" marB="45720">
                    <a:lnR w="9525">
                      <a:solidFill>
                        <a:srgbClr val="D4DFE7"/>
                      </a:solidFill>
                      <a:prstDash val="solid"/>
                    </a:lnR>
                    <a:lnB w="9525">
                      <a:solidFill>
                        <a:srgbClr val="D4DFE7"/>
                      </a:solidFill>
                      <a:prstDash val="solid"/>
                    </a:lnB>
                    <a:solidFill>
                      <a:srgbClr val="FFFFFF"/>
                    </a:solidFill>
                  </a:tcPr>
                </a:tc>
                <a:tc>
                  <a:txBody>
                    <a:bodyPr lIns="171450" tIns="171450" rIns="171450" bIns="171450"/>
                    <a:lstStyle/>
                    <a:p>
                      <a:r>
                        <a:rPr sz="2100" b="0">
                          <a:solidFill>
                            <a:srgbClr val="26384B"/>
                          </a:solidFill>
                          <a:latin typeface="Arial"/>
                          <a:ea typeface="Arial"/>
                          <a:cs typeface="Arial"/>
                        </a:rPr>
                        <a:t>30.37</a:t>
                      </a:r>
                    </a:p>
                  </a:txBody>
                  <a:tcPr marL="91440" marR="91440" marT="45720" marB="45720">
                    <a:lnR w="9525">
                      <a:solidFill>
                        <a:srgbClr val="D4DFE7"/>
                      </a:solidFill>
                      <a:prstDash val="solid"/>
                    </a:lnR>
                    <a:lnB w="9525">
                      <a:solidFill>
                        <a:srgbClr val="D4DFE7"/>
                      </a:solidFill>
                      <a:prstDash val="solid"/>
                    </a:lnB>
                    <a:solidFill>
                      <a:srgbClr val="FFFFFF"/>
                    </a:solidFill>
                  </a:tcPr>
                </a:tc>
              </a:tr>
              <a:tr h="647700">
                <a:tc>
                  <a:txBody>
                    <a:bodyPr lIns="171450" tIns="171450" rIns="171450" bIns="171450"/>
                    <a:lstStyle/>
                    <a:p>
                      <a:r>
                        <a:rPr sz="2100" b="0">
                          <a:solidFill>
                            <a:srgbClr val="26384B"/>
                          </a:solidFill>
                          <a:latin typeface="Arial"/>
                          <a:ea typeface="Arial"/>
                          <a:cs typeface="Arial"/>
                        </a:rPr>
                        <a:t>Disco EBS gp3 · 30 GiB</a:t>
                      </a:r>
                    </a:p>
                  </a:txBody>
                  <a:tcPr marL="91440" marR="91440" marT="45720" marB="45720">
                    <a:lnL w="9525">
                      <a:solidFill>
                        <a:srgbClr val="D4DFE7"/>
                      </a:solidFill>
                      <a:prstDash val="solid"/>
                    </a:lnL>
                    <a:lnR w="9525">
                      <a:solidFill>
                        <a:srgbClr val="D4DFE7"/>
                      </a:solidFill>
                      <a:prstDash val="solid"/>
                    </a:lnR>
                    <a:lnB w="9525">
                      <a:solidFill>
                        <a:srgbClr val="D4DFE7"/>
                      </a:solidFill>
                      <a:prstDash val="solid"/>
                    </a:lnB>
                    <a:solidFill>
                      <a:srgbClr val="E8F1F4"/>
                    </a:solidFill>
                  </a:tcPr>
                </a:tc>
                <a:tc>
                  <a:txBody>
                    <a:bodyPr lIns="171450" tIns="171450" rIns="171450" bIns="171450"/>
                    <a:lstStyle/>
                    <a:p>
                      <a:r>
                        <a:rPr sz="2100" b="0">
                          <a:solidFill>
                            <a:srgbClr val="26384B"/>
                          </a:solidFill>
                          <a:latin typeface="Arial"/>
                          <a:ea typeface="Arial"/>
                          <a:cs typeface="Arial"/>
                        </a:rPr>
                        <a:t>30 × 0.08 / mes</a:t>
                      </a:r>
                    </a:p>
                  </a:txBody>
                  <a:tcPr marL="91440" marR="91440" marT="45720" marB="45720">
                    <a:lnR w="9525">
                      <a:solidFill>
                        <a:srgbClr val="D4DFE7"/>
                      </a:solidFill>
                      <a:prstDash val="solid"/>
                    </a:lnR>
                    <a:lnB w="9525">
                      <a:solidFill>
                        <a:srgbClr val="D4DFE7"/>
                      </a:solidFill>
                      <a:prstDash val="solid"/>
                    </a:lnB>
                    <a:solidFill>
                      <a:srgbClr val="E8F1F4"/>
                    </a:solidFill>
                  </a:tcPr>
                </a:tc>
                <a:tc>
                  <a:txBody>
                    <a:bodyPr lIns="171450" tIns="171450" rIns="171450" bIns="171450"/>
                    <a:lstStyle/>
                    <a:p>
                      <a:r>
                        <a:rPr sz="2100" b="0">
                          <a:solidFill>
                            <a:srgbClr val="26384B"/>
                          </a:solidFill>
                          <a:latin typeface="Arial"/>
                          <a:ea typeface="Arial"/>
                          <a:cs typeface="Arial"/>
                        </a:rPr>
                        <a:t>2.40</a:t>
                      </a:r>
                    </a:p>
                  </a:txBody>
                  <a:tcPr marL="91440" marR="91440" marT="45720" marB="45720">
                    <a:lnR w="9525">
                      <a:solidFill>
                        <a:srgbClr val="D4DFE7"/>
                      </a:solidFill>
                      <a:prstDash val="solid"/>
                    </a:lnR>
                    <a:lnB w="9525">
                      <a:solidFill>
                        <a:srgbClr val="D4DFE7"/>
                      </a:solidFill>
                      <a:prstDash val="solid"/>
                    </a:lnB>
                    <a:solidFill>
                      <a:srgbClr val="E8F1F4"/>
                    </a:solidFill>
                  </a:tcPr>
                </a:tc>
              </a:tr>
              <a:tr h="647700">
                <a:tc>
                  <a:txBody>
                    <a:bodyPr lIns="171450" tIns="171450" rIns="171450" bIns="171450"/>
                    <a:lstStyle/>
                    <a:p>
                      <a:r>
                        <a:rPr sz="2100" b="0">
                          <a:solidFill>
                            <a:srgbClr val="26384B"/>
                          </a:solidFill>
                          <a:latin typeface="Arial"/>
                          <a:ea typeface="Arial"/>
                          <a:cs typeface="Arial"/>
                        </a:rPr>
                        <a:t>Una IPv4 pública</a:t>
                      </a:r>
                    </a:p>
                  </a:txBody>
                  <a:tcPr marL="91440" marR="91440" marT="45720" marB="45720">
                    <a:lnL w="9525">
                      <a:solidFill>
                        <a:srgbClr val="D4DFE7"/>
                      </a:solidFill>
                      <a:prstDash val="solid"/>
                    </a:lnL>
                    <a:lnR w="9525">
                      <a:solidFill>
                        <a:srgbClr val="D4DFE7"/>
                      </a:solidFill>
                      <a:prstDash val="solid"/>
                    </a:lnR>
                    <a:lnB w="9525">
                      <a:solidFill>
                        <a:srgbClr val="D4DFE7"/>
                      </a:solidFill>
                      <a:prstDash val="solid"/>
                    </a:lnB>
                    <a:solidFill>
                      <a:srgbClr val="FFFFFF"/>
                    </a:solidFill>
                  </a:tcPr>
                </a:tc>
                <a:tc>
                  <a:txBody>
                    <a:bodyPr lIns="171450" tIns="171450" rIns="171450" bIns="171450"/>
                    <a:lstStyle/>
                    <a:p>
                      <a:r>
                        <a:rPr sz="2100" b="0">
                          <a:solidFill>
                            <a:srgbClr val="26384B"/>
                          </a:solidFill>
                          <a:latin typeface="Arial"/>
                          <a:ea typeface="Arial"/>
                          <a:cs typeface="Arial"/>
                        </a:rPr>
                        <a:t>0.005 × 730 h</a:t>
                      </a:r>
                    </a:p>
                  </a:txBody>
                  <a:tcPr marL="91440" marR="91440" marT="45720" marB="45720">
                    <a:lnR w="9525">
                      <a:solidFill>
                        <a:srgbClr val="D4DFE7"/>
                      </a:solidFill>
                      <a:prstDash val="solid"/>
                    </a:lnR>
                    <a:lnB w="9525">
                      <a:solidFill>
                        <a:srgbClr val="D4DFE7"/>
                      </a:solidFill>
                      <a:prstDash val="solid"/>
                    </a:lnB>
                    <a:solidFill>
                      <a:srgbClr val="FFFFFF"/>
                    </a:solidFill>
                  </a:tcPr>
                </a:tc>
                <a:tc>
                  <a:txBody>
                    <a:bodyPr lIns="171450" tIns="171450" rIns="171450" bIns="171450"/>
                    <a:lstStyle/>
                    <a:p>
                      <a:r>
                        <a:rPr sz="2100" b="0">
                          <a:solidFill>
                            <a:srgbClr val="26384B"/>
                          </a:solidFill>
                          <a:latin typeface="Arial"/>
                          <a:ea typeface="Arial"/>
                          <a:cs typeface="Arial"/>
                        </a:rPr>
                        <a:t>3.65</a:t>
                      </a:r>
                    </a:p>
                  </a:txBody>
                  <a:tcPr marL="91440" marR="91440" marT="45720" marB="45720">
                    <a:lnR w="9525">
                      <a:solidFill>
                        <a:srgbClr val="D4DFE7"/>
                      </a:solidFill>
                      <a:prstDash val="solid"/>
                    </a:lnR>
                    <a:lnB w="9525">
                      <a:solidFill>
                        <a:srgbClr val="D4DFE7"/>
                      </a:solidFill>
                      <a:prstDash val="solid"/>
                    </a:lnB>
                    <a:solidFill>
                      <a:srgbClr val="FFFFFF"/>
                    </a:solidFill>
                  </a:tcPr>
                </a:tc>
              </a:tr>
              <a:tr h="647700">
                <a:tc>
                  <a:txBody>
                    <a:bodyPr lIns="171450" tIns="171450" rIns="171450" bIns="171450"/>
                    <a:lstStyle/>
                    <a:p>
                      <a:r>
                        <a:rPr sz="2100" b="0">
                          <a:solidFill>
                            <a:srgbClr val="26384B"/>
                          </a:solidFill>
                          <a:latin typeface="Arial"/>
                          <a:ea typeface="Arial"/>
                          <a:cs typeface="Arial"/>
                        </a:rPr>
                        <a:t>Subtotal parcial</a:t>
                      </a:r>
                    </a:p>
                  </a:txBody>
                  <a:tcPr marL="91440" marR="91440" marT="45720" marB="45720">
                    <a:lnL w="9525">
                      <a:solidFill>
                        <a:srgbClr val="D4DFE7"/>
                      </a:solidFill>
                      <a:prstDash val="solid"/>
                    </a:lnL>
                    <a:lnR w="9525">
                      <a:solidFill>
                        <a:srgbClr val="D4DFE7"/>
                      </a:solidFill>
                      <a:prstDash val="solid"/>
                    </a:lnR>
                    <a:lnB w="9525">
                      <a:solidFill>
                        <a:srgbClr val="D4DFE7"/>
                      </a:solidFill>
                      <a:prstDash val="solid"/>
                    </a:lnB>
                    <a:solidFill>
                      <a:srgbClr val="E8F1F4"/>
                    </a:solidFill>
                  </a:tcPr>
                </a:tc>
                <a:tc>
                  <a:txBody>
                    <a:bodyPr lIns="171450" tIns="171450" rIns="171450" bIns="171450"/>
                    <a:lstStyle/>
                    <a:p>
                      <a:r>
                        <a:rPr sz="2100" b="0">
                          <a:solidFill>
                            <a:srgbClr val="26384B"/>
                          </a:solidFill>
                          <a:latin typeface="Arial"/>
                          <a:ea typeface="Arial"/>
                          <a:cs typeface="Arial"/>
                        </a:rPr>
                        <a:t>Sin tráfico ni otros extras</a:t>
                      </a:r>
                    </a:p>
                  </a:txBody>
                  <a:tcPr marL="91440" marR="91440" marT="45720" marB="45720">
                    <a:lnR w="9525">
                      <a:solidFill>
                        <a:srgbClr val="D4DFE7"/>
                      </a:solidFill>
                      <a:prstDash val="solid"/>
                    </a:lnR>
                    <a:lnB w="9525">
                      <a:solidFill>
                        <a:srgbClr val="D4DFE7"/>
                      </a:solidFill>
                      <a:prstDash val="solid"/>
                    </a:lnB>
                    <a:solidFill>
                      <a:srgbClr val="E8F1F4"/>
                    </a:solidFill>
                  </a:tcPr>
                </a:tc>
                <a:tc>
                  <a:txBody>
                    <a:bodyPr lIns="171450" tIns="171450" rIns="171450" bIns="171450"/>
                    <a:lstStyle/>
                    <a:p>
                      <a:r>
                        <a:rPr sz="2100" b="0">
                          <a:solidFill>
                            <a:srgbClr val="26384B"/>
                          </a:solidFill>
                          <a:latin typeface="Arial"/>
                          <a:ea typeface="Arial"/>
                          <a:cs typeface="Arial"/>
                        </a:rPr>
                        <a:t>36.42</a:t>
                      </a:r>
                    </a:p>
                  </a:txBody>
                  <a:tcPr marL="91440" marR="91440" marT="45720" marB="45720">
                    <a:lnR w="9525">
                      <a:solidFill>
                        <a:srgbClr val="D4DFE7"/>
                      </a:solidFill>
                      <a:prstDash val="solid"/>
                    </a:lnR>
                    <a:lnB w="9525">
                      <a:solidFill>
                        <a:srgbClr val="D4DFE7"/>
                      </a:solidFill>
                      <a:prstDash val="solid"/>
                    </a:lnB>
                    <a:solidFill>
                      <a:srgbClr val="E8F1F4"/>
                    </a:solidFill>
                  </a:tcPr>
                </a:tc>
              </a:tr>
            </a:tbl>
          </a:graphicData>
        </a:graphic>
      </p:graphicFrame>
      <p:sp>
        <p:nvSpPr>
          <p:cNvPr id="6" name="Tarifas publicadas al 15/10/2026. El subtotal se calculó antes de">
            <a:extLst xmlns:a="http://schemas.openxmlformats.org/drawingml/2006/main">
              <a:ext uri="{FF2B5EF4-FFF2-40B4-BE49-F238E27FC236}">
                <a16:creationId xmlns:a16="http://schemas.microsoft.com/office/drawing/2014/main" id="{6767E972-E6E5-474B-A38D-68AB0365F1C8}"/>
              </a:ext>
            </a:extLst>
          </p:cNvPr>
          <p:cNvSpPr>
            <a:spLocks xmlns:a="http://schemas.openxmlformats.org/drawingml/2006/main" noGrp="1"/>
          </p:cNvSpPr>
          <p:nvPr/>
        </p:nvSpPr>
        <p:spPr>
          <a:xfrm xmlns:a="http://schemas.openxmlformats.org/drawingml/2006/main">
            <a:off x="952500" y="7629525"/>
            <a:ext cx="13335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3677C"/>
                </a:solidFill>
                <a:latin typeface="Arial"/>
                <a:ea typeface="Arial"/>
                <a:cs typeface="Arial"/>
              </a:defRPr>
            </a:defPPr>
          </a:lstStyle>
          <a:p xmlns:a="http://schemas.openxmlformats.org/drawingml/2006/main">
            <a:pPr>
              <a:defRPr sz="1800" b="0">
                <a:solidFill>
                  <a:srgbClr val="53677C"/>
                </a:solidFill>
                <a:latin typeface="Arial"/>
                <a:ea typeface="Arial"/>
                <a:cs typeface="Arial"/>
              </a:defRPr>
            </a:pPr>
            <a:r>
              <a:rPr sz="1800" b="0">
                <a:solidFill>
                  <a:srgbClr val="53677C"/>
                </a:solidFill>
                <a:latin typeface="Arial"/>
                <a:ea typeface="Arial"/>
                <a:cs typeface="Arial"/>
              </a:rPr>
              <a:t>Tarifas publicadas al 15/10/2026. El subtotal se calculó antes de redondear.</a:t>
            </a:r>
          </a:p>
        </p:txBody>
      </p:sp>
    </p:spTree>
    <p:extLst>
      <p:ext uri="{BB962C8B-B14F-4D97-AF65-F5344CB8AC3E}">
        <p14:creationId xmlns:p14="http://schemas.microsoft.com/office/powerpoint/2010/main" val="1359189257"/>
      </p:ext>
    </p:extLst>
  </p:cSld>
</p:sld>
</file>

<file path=ppt/slides/slide9.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7" name="COST MANAGEMENT">
            <a:extLst xmlns:a="http://schemas.openxmlformats.org/drawingml/2006/main">
              <a:ext uri="{FF2B5EF4-FFF2-40B4-BE49-F238E27FC236}">
                <a16:creationId xmlns:a16="http://schemas.microsoft.com/office/drawing/2014/main" id="{DABEA734-3D76-4E2A-A89E-4513B640947C}"/>
              </a:ext>
            </a:extLst>
          </p:cNvPr>
          <p:cNvSpPr>
            <a:spLocks xmlns:a="http://schemas.openxmlformats.org/drawingml/2006/main" noGrp="1"/>
          </p:cNvSpPr>
          <p:nvPr/>
        </p:nvSpPr>
        <p:spPr>
          <a:xfrm xmlns:a="http://schemas.openxmlformats.org/drawingml/2006/main">
            <a:off x="914400" y="542925"/>
            <a:ext cx="1238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087F8C"/>
                </a:solidFill>
                <a:latin typeface="Arial"/>
                <a:ea typeface="Arial"/>
                <a:cs typeface="Arial"/>
              </a:defRPr>
            </a:defPPr>
          </a:lstStyle>
          <a:p xmlns:a="http://schemas.openxmlformats.org/drawingml/2006/main">
            <a:pPr>
              <a:defRPr sz="1575" b="1">
                <a:solidFill>
                  <a:srgbClr val="087F8C"/>
                </a:solidFill>
                <a:latin typeface="Arial"/>
                <a:ea typeface="Arial"/>
                <a:cs typeface="Arial"/>
              </a:defRPr>
            </a:pPr>
            <a:r>
              <a:rPr sz="1575" b="1">
                <a:solidFill>
                  <a:srgbClr val="087F8C"/>
                </a:solidFill>
                <a:latin typeface="Arial"/>
                <a:ea typeface="Arial"/>
                <a:cs typeface="Arial"/>
              </a:rPr>
              <a:t>COST MANAGEMENT</a:t>
            </a:r>
          </a:p>
        </p:txBody>
      </p:sp>
      <p:sp>
        <p:nvSpPr>
          <p:cNvPr id="2" name="09 / 34">
            <a:extLst xmlns:a="http://schemas.openxmlformats.org/drawingml/2006/main">
              <a:ext uri="{FF2B5EF4-FFF2-40B4-BE49-F238E27FC236}">
                <a16:creationId xmlns:a16="http://schemas.microsoft.com/office/drawing/2014/main" id="{B176DE6E-291D-45D8-A34D-8BD3B3EF7805}"/>
              </a:ext>
            </a:extLst>
          </p:cNvPr>
          <p:cNvSpPr>
            <a:spLocks xmlns:a="http://schemas.openxmlformats.org/drawingml/2006/main" noGrp="1"/>
          </p:cNvSpPr>
          <p:nvPr/>
        </p:nvSpPr>
        <p:spPr>
          <a:xfrm xmlns:a="http://schemas.openxmlformats.org/drawingml/2006/main">
            <a:off x="13192125" y="561975"/>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77C"/>
                </a:solidFill>
                <a:latin typeface="Arial"/>
                <a:ea typeface="Arial"/>
                <a:cs typeface="Arial"/>
              </a:defRPr>
            </a:defPPr>
          </a:lstStyle>
          <a:p xmlns:a="http://schemas.openxmlformats.org/drawingml/2006/main">
            <a:pPr>
              <a:defRPr sz="1500" b="0">
                <a:solidFill>
                  <a:srgbClr val="53677C"/>
                </a:solidFill>
                <a:latin typeface="Arial"/>
                <a:ea typeface="Arial"/>
                <a:cs typeface="Arial"/>
              </a:defRPr>
            </a:pPr>
            <a:r>
              <a:rPr sz="1500" b="0">
                <a:solidFill>
                  <a:srgbClr val="53677C"/>
                </a:solidFill>
                <a:latin typeface="Arial"/>
                <a:ea typeface="Arial"/>
                <a:cs typeface="Arial"/>
              </a:rPr>
              <a:t>09 / 34</a:t>
            </a:r>
          </a:p>
        </p:txBody>
      </p:sp>
      <p:sp>
        <p:nvSpPr>
          <p:cNvPr id="3" name="Cloud Run: precio por consumo activo">
            <a:extLst xmlns:a="http://schemas.openxmlformats.org/drawingml/2006/main">
              <a:ext uri="{FF2B5EF4-FFF2-40B4-BE49-F238E27FC236}">
                <a16:creationId xmlns:a16="http://schemas.microsoft.com/office/drawing/2014/main" id="{F5F66428-8DCE-4B2B-AE3C-D06CCC13E276}"/>
              </a:ext>
            </a:extLst>
          </p:cNvPr>
          <p:cNvSpPr>
            <a:spLocks xmlns:a="http://schemas.openxmlformats.org/drawingml/2006/main" noGrp="1"/>
          </p:cNvSpPr>
          <p:nvPr/>
        </p:nvSpPr>
        <p:spPr>
          <a:xfrm xmlns:a="http://schemas.openxmlformats.org/drawingml/2006/main">
            <a:off x="914400" y="1143000"/>
            <a:ext cx="13411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132E50"/>
                </a:solidFill>
                <a:latin typeface="Arial"/>
                <a:ea typeface="Arial"/>
                <a:cs typeface="Arial"/>
              </a:defRPr>
            </a:defPPr>
          </a:lstStyle>
          <a:p xmlns:a="http://schemas.openxmlformats.org/drawingml/2006/main">
            <a:pPr>
              <a:defRPr sz="3825" b="1">
                <a:solidFill>
                  <a:srgbClr val="132E50"/>
                </a:solidFill>
                <a:latin typeface="Arial"/>
                <a:ea typeface="Arial"/>
                <a:cs typeface="Arial"/>
              </a:defRPr>
            </a:pPr>
            <a:r>
              <a:rPr sz="3825" b="1">
                <a:solidFill>
                  <a:srgbClr val="132E50"/>
                </a:solidFill>
                <a:latin typeface="Arial"/>
                <a:ea typeface="Arial"/>
                <a:cs typeface="Arial"/>
              </a:rPr>
              <a:t>Cloud Run: precio por consumo activo</a:t>
            </a:r>
          </a:p>
        </p:txBody>
      </p:sp>
      <p:sp>
        <p:nvSpPr>
          <p:cNvPr id="4" name="Google Cloud · us-central1 · facturación por solicitudes · precio">
            <a:extLst xmlns:a="http://schemas.openxmlformats.org/drawingml/2006/main">
              <a:ext uri="{FF2B5EF4-FFF2-40B4-BE49-F238E27FC236}">
                <a16:creationId xmlns:a16="http://schemas.microsoft.com/office/drawing/2014/main" id="{15038614-F1AA-421B-A4E7-49C6DDB2034D}"/>
              </a:ext>
            </a:extLst>
          </p:cNvPr>
          <p:cNvSpPr>
            <a:spLocks xmlns:a="http://schemas.openxmlformats.org/drawingml/2006/main" noGrp="1"/>
          </p:cNvSpPr>
          <p:nvPr/>
        </p:nvSpPr>
        <p:spPr>
          <a:xfrm xmlns:a="http://schemas.openxmlformats.org/drawingml/2006/main">
            <a:off x="952500" y="2238375"/>
            <a:ext cx="1333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Google Cloud · us-central1 · facturación por solicitudes · precio de lista</a:t>
            </a:r>
          </a:p>
        </p:txBody>
      </p:sp>
      <p:graphicFrame>
        <p:nvGraphicFramePr>
          <p:cNvPr id="5" name="">
            <a:extLst xmlns:a="http://schemas.openxmlformats.org/drawingml/2006/main">
              <a:ext uri="{FF2B5EF4-FFF2-40B4-BE49-F238E27FC236}">
                <a16:creationId xmlns:a16="http://schemas.microsoft.com/office/drawing/2014/main" id="{BD3384D4-2074-410D-9035-A7497B242867}"/>
              </a:ext>
            </a:extLst>
          </p:cNvPr>
          <p:cNvGraphicFramePr/>
          <p:nvPr/>
        </p:nvGraphicFramePr>
        <p:xfrm>
          <a:off xmlns:a="http://schemas.openxmlformats.org/drawingml/2006/main" x="914400" y="3238500"/>
          <a:ext xmlns:a="http://schemas.openxmlformats.org/drawingml/2006/main" cx="13411200" cy="3238500"/>
        </p:xfrm>
        <a:graphic xmlns:a="http://schemas.openxmlformats.org/drawingml/2006/main">
          <a:graphicData uri="http://schemas.openxmlformats.org/drawingml/2006/table">
            <a:tbl>
              <a:tblPr/>
              <a:tblGrid>
                <a:gridCol w="4286250"/>
                <a:gridCol w="4286250"/>
                <a:gridCol w="4838700"/>
              </a:tblGrid>
              <a:tr h="809625">
                <a:tc>
                  <a:txBody>
                    <a:bodyPr lIns="171450" tIns="171450" rIns="171450" bIns="171450"/>
                    <a:lstStyle/>
                    <a:p>
                      <a:r>
                        <a:rPr sz="2100" b="1">
                          <a:solidFill>
                            <a:srgbClr val="FFFFFF"/>
                          </a:solidFill>
                          <a:latin typeface="Arial"/>
                          <a:ea typeface="Arial"/>
                          <a:cs typeface="Arial"/>
                        </a:rPr>
                        <a:t>Recurso activo</a:t>
                      </a:r>
                    </a:p>
                  </a:txBody>
                  <a:tcPr marL="91440" marR="91440" marT="45720" marB="45720">
                    <a:lnL w="9525">
                      <a:solidFill>
                        <a:srgbClr val="D4DFE7"/>
                      </a:solidFill>
                      <a:prstDash val="solid"/>
                    </a:lnL>
                    <a:lnR w="9525">
                      <a:solidFill>
                        <a:srgbClr val="D4DFE7"/>
                      </a:solidFill>
                      <a:prstDash val="solid"/>
                    </a:lnR>
                    <a:lnT w="9525">
                      <a:solidFill>
                        <a:srgbClr val="D4DFE7"/>
                      </a:solidFill>
                      <a:prstDash val="solid"/>
                    </a:lnT>
                    <a:lnB w="9525">
                      <a:solidFill>
                        <a:srgbClr val="D4DFE7"/>
                      </a:solidFill>
                      <a:prstDash val="solid"/>
                    </a:lnB>
                    <a:solidFill>
                      <a:srgbClr val="132E50"/>
                    </a:solidFill>
                  </a:tcPr>
                </a:tc>
                <a:tc>
                  <a:txBody>
                    <a:bodyPr lIns="171450" tIns="171450" rIns="171450" bIns="171450"/>
                    <a:lstStyle/>
                    <a:p>
                      <a:r>
                        <a:rPr sz="2100" b="1">
                          <a:solidFill>
                            <a:srgbClr val="FFFFFF"/>
                          </a:solidFill>
                          <a:latin typeface="Arial"/>
                          <a:ea typeface="Arial"/>
                          <a:cs typeface="Arial"/>
                        </a:rPr>
                        <a:t>Unidad</a:t>
                      </a:r>
                    </a:p>
                  </a:txBody>
                  <a:tcPr marL="91440" marR="91440" marT="45720" marB="45720">
                    <a:lnR w="9525">
                      <a:solidFill>
                        <a:srgbClr val="D4DFE7"/>
                      </a:solidFill>
                      <a:prstDash val="solid"/>
                    </a:lnR>
                    <a:lnT w="9525">
                      <a:solidFill>
                        <a:srgbClr val="D4DFE7"/>
                      </a:solidFill>
                      <a:prstDash val="solid"/>
                    </a:lnT>
                    <a:lnB w="9525">
                      <a:solidFill>
                        <a:srgbClr val="D4DFE7"/>
                      </a:solidFill>
                      <a:prstDash val="solid"/>
                    </a:lnB>
                    <a:solidFill>
                      <a:srgbClr val="132E50"/>
                    </a:solidFill>
                  </a:tcPr>
                </a:tc>
                <a:tc>
                  <a:txBody>
                    <a:bodyPr lIns="171450" tIns="171450" rIns="171450" bIns="171450"/>
                    <a:lstStyle/>
                    <a:p>
                      <a:r>
                        <a:rPr sz="2100" b="1">
                          <a:solidFill>
                            <a:srgbClr val="FFFFFF"/>
                          </a:solidFill>
                          <a:latin typeface="Arial"/>
                          <a:ea typeface="Arial"/>
                          <a:cs typeface="Arial"/>
                        </a:rPr>
                        <a:t>Tarifa USD</a:t>
                      </a:r>
                    </a:p>
                  </a:txBody>
                  <a:tcPr marL="91440" marR="91440" marT="45720" marB="45720">
                    <a:lnR w="9525">
                      <a:solidFill>
                        <a:srgbClr val="D4DFE7"/>
                      </a:solidFill>
                      <a:prstDash val="solid"/>
                    </a:lnR>
                    <a:lnT w="9525">
                      <a:solidFill>
                        <a:srgbClr val="D4DFE7"/>
                      </a:solidFill>
                      <a:prstDash val="solid"/>
                    </a:lnT>
                    <a:lnB w="9525">
                      <a:solidFill>
                        <a:srgbClr val="D4DFE7"/>
                      </a:solidFill>
                      <a:prstDash val="solid"/>
                    </a:lnB>
                    <a:solidFill>
                      <a:srgbClr val="132E50"/>
                    </a:solidFill>
                  </a:tcPr>
                </a:tc>
              </a:tr>
              <a:tr h="809625">
                <a:tc>
                  <a:txBody>
                    <a:bodyPr lIns="171450" tIns="171450" rIns="171450" bIns="171450"/>
                    <a:lstStyle/>
                    <a:p>
                      <a:r>
                        <a:rPr sz="2100" b="0">
                          <a:solidFill>
                            <a:srgbClr val="26384B"/>
                          </a:solidFill>
                          <a:latin typeface="Arial"/>
                          <a:ea typeface="Arial"/>
                          <a:cs typeface="Arial"/>
                        </a:rPr>
                        <a:t>CPU</a:t>
                      </a:r>
                    </a:p>
                  </a:txBody>
                  <a:tcPr marL="91440" marR="91440" marT="45720" marB="45720">
                    <a:lnL w="9525">
                      <a:solidFill>
                        <a:srgbClr val="D4DFE7"/>
                      </a:solidFill>
                      <a:prstDash val="solid"/>
                    </a:lnL>
                    <a:lnR w="9525">
                      <a:solidFill>
                        <a:srgbClr val="D4DFE7"/>
                      </a:solidFill>
                      <a:prstDash val="solid"/>
                    </a:lnR>
                    <a:lnB w="9525">
                      <a:solidFill>
                        <a:srgbClr val="D4DFE7"/>
                      </a:solidFill>
                      <a:prstDash val="solid"/>
                    </a:lnB>
                    <a:solidFill>
                      <a:srgbClr val="FFFFFF"/>
                    </a:solidFill>
                  </a:tcPr>
                </a:tc>
                <a:tc>
                  <a:txBody>
                    <a:bodyPr lIns="171450" tIns="171450" rIns="171450" bIns="171450"/>
                    <a:lstStyle/>
                    <a:p>
                      <a:r>
                        <a:rPr sz="2100" b="0">
                          <a:solidFill>
                            <a:srgbClr val="26384B"/>
                          </a:solidFill>
                          <a:latin typeface="Arial"/>
                          <a:ea typeface="Arial"/>
                          <a:cs typeface="Arial"/>
                        </a:rPr>
                        <a:t>vCPU-segundo</a:t>
                      </a:r>
                    </a:p>
                  </a:txBody>
                  <a:tcPr marL="91440" marR="91440" marT="45720" marB="45720">
                    <a:lnR w="9525">
                      <a:solidFill>
                        <a:srgbClr val="D4DFE7"/>
                      </a:solidFill>
                      <a:prstDash val="solid"/>
                    </a:lnR>
                    <a:lnB w="9525">
                      <a:solidFill>
                        <a:srgbClr val="D4DFE7"/>
                      </a:solidFill>
                      <a:prstDash val="solid"/>
                    </a:lnB>
                    <a:solidFill>
                      <a:srgbClr val="FFFFFF"/>
                    </a:solidFill>
                  </a:tcPr>
                </a:tc>
                <a:tc>
                  <a:txBody>
                    <a:bodyPr lIns="171450" tIns="171450" rIns="171450" bIns="171450"/>
                    <a:lstStyle/>
                    <a:p>
                      <a:r>
                        <a:rPr sz="2100" b="0">
                          <a:solidFill>
                            <a:srgbClr val="26384B"/>
                          </a:solidFill>
                          <a:latin typeface="Arial"/>
                          <a:ea typeface="Arial"/>
                          <a:cs typeface="Arial"/>
                        </a:rPr>
                        <a:t>0.000024</a:t>
                      </a:r>
                    </a:p>
                  </a:txBody>
                  <a:tcPr marL="91440" marR="91440" marT="45720" marB="45720">
                    <a:lnR w="9525">
                      <a:solidFill>
                        <a:srgbClr val="D4DFE7"/>
                      </a:solidFill>
                      <a:prstDash val="solid"/>
                    </a:lnR>
                    <a:lnB w="9525">
                      <a:solidFill>
                        <a:srgbClr val="D4DFE7"/>
                      </a:solidFill>
                      <a:prstDash val="solid"/>
                    </a:lnB>
                    <a:solidFill>
                      <a:srgbClr val="FFFFFF"/>
                    </a:solidFill>
                  </a:tcPr>
                </a:tc>
              </a:tr>
              <a:tr h="809625">
                <a:tc>
                  <a:txBody>
                    <a:bodyPr lIns="171450" tIns="171450" rIns="171450" bIns="171450"/>
                    <a:lstStyle/>
                    <a:p>
                      <a:r>
                        <a:rPr sz="2100" b="0">
                          <a:solidFill>
                            <a:srgbClr val="26384B"/>
                          </a:solidFill>
                          <a:latin typeface="Arial"/>
                          <a:ea typeface="Arial"/>
                          <a:cs typeface="Arial"/>
                        </a:rPr>
                        <a:t>Memoria</a:t>
                      </a:r>
                    </a:p>
                  </a:txBody>
                  <a:tcPr marL="91440" marR="91440" marT="45720" marB="45720">
                    <a:lnL w="9525">
                      <a:solidFill>
                        <a:srgbClr val="D4DFE7"/>
                      </a:solidFill>
                      <a:prstDash val="solid"/>
                    </a:lnL>
                    <a:lnR w="9525">
                      <a:solidFill>
                        <a:srgbClr val="D4DFE7"/>
                      </a:solidFill>
                      <a:prstDash val="solid"/>
                    </a:lnR>
                    <a:lnB w="9525">
                      <a:solidFill>
                        <a:srgbClr val="D4DFE7"/>
                      </a:solidFill>
                      <a:prstDash val="solid"/>
                    </a:lnB>
                    <a:solidFill>
                      <a:srgbClr val="E8F1F4"/>
                    </a:solidFill>
                  </a:tcPr>
                </a:tc>
                <a:tc>
                  <a:txBody>
                    <a:bodyPr lIns="171450" tIns="171450" rIns="171450" bIns="171450"/>
                    <a:lstStyle/>
                    <a:p>
                      <a:r>
                        <a:rPr sz="2100" b="0">
                          <a:solidFill>
                            <a:srgbClr val="26384B"/>
                          </a:solidFill>
                          <a:latin typeface="Arial"/>
                          <a:ea typeface="Arial"/>
                          <a:cs typeface="Arial"/>
                        </a:rPr>
                        <a:t>GiB-segundo</a:t>
                      </a:r>
                    </a:p>
                  </a:txBody>
                  <a:tcPr marL="91440" marR="91440" marT="45720" marB="45720">
                    <a:lnR w="9525">
                      <a:solidFill>
                        <a:srgbClr val="D4DFE7"/>
                      </a:solidFill>
                      <a:prstDash val="solid"/>
                    </a:lnR>
                    <a:lnB w="9525">
                      <a:solidFill>
                        <a:srgbClr val="D4DFE7"/>
                      </a:solidFill>
                      <a:prstDash val="solid"/>
                    </a:lnB>
                    <a:solidFill>
                      <a:srgbClr val="E8F1F4"/>
                    </a:solidFill>
                  </a:tcPr>
                </a:tc>
                <a:tc>
                  <a:txBody>
                    <a:bodyPr lIns="171450" tIns="171450" rIns="171450" bIns="171450"/>
                    <a:lstStyle/>
                    <a:p>
                      <a:r>
                        <a:rPr sz="2100" b="0">
                          <a:solidFill>
                            <a:srgbClr val="26384B"/>
                          </a:solidFill>
                          <a:latin typeface="Arial"/>
                          <a:ea typeface="Arial"/>
                          <a:cs typeface="Arial"/>
                        </a:rPr>
                        <a:t>0.0000025</a:t>
                      </a:r>
                    </a:p>
                  </a:txBody>
                  <a:tcPr marL="91440" marR="91440" marT="45720" marB="45720">
                    <a:lnR w="9525">
                      <a:solidFill>
                        <a:srgbClr val="D4DFE7"/>
                      </a:solidFill>
                      <a:prstDash val="solid"/>
                    </a:lnR>
                    <a:lnB w="9525">
                      <a:solidFill>
                        <a:srgbClr val="D4DFE7"/>
                      </a:solidFill>
                      <a:prstDash val="solid"/>
                    </a:lnB>
                    <a:solidFill>
                      <a:srgbClr val="E8F1F4"/>
                    </a:solidFill>
                  </a:tcPr>
                </a:tc>
              </a:tr>
              <a:tr h="809625">
                <a:tc>
                  <a:txBody>
                    <a:bodyPr lIns="171450" tIns="171450" rIns="171450" bIns="171450"/>
                    <a:lstStyle/>
                    <a:p>
                      <a:r>
                        <a:rPr sz="2100" b="0">
                          <a:solidFill>
                            <a:srgbClr val="26384B"/>
                          </a:solidFill>
                          <a:latin typeface="Arial"/>
                          <a:ea typeface="Arial"/>
                          <a:cs typeface="Arial"/>
                        </a:rPr>
                        <a:t>Solicitudes</a:t>
                      </a:r>
                    </a:p>
                  </a:txBody>
                  <a:tcPr marL="91440" marR="91440" marT="45720" marB="45720">
                    <a:lnL w="9525">
                      <a:solidFill>
                        <a:srgbClr val="D4DFE7"/>
                      </a:solidFill>
                      <a:prstDash val="solid"/>
                    </a:lnL>
                    <a:lnR w="9525">
                      <a:solidFill>
                        <a:srgbClr val="D4DFE7"/>
                      </a:solidFill>
                      <a:prstDash val="solid"/>
                    </a:lnR>
                    <a:lnB w="9525">
                      <a:solidFill>
                        <a:srgbClr val="D4DFE7"/>
                      </a:solidFill>
                      <a:prstDash val="solid"/>
                    </a:lnB>
                    <a:solidFill>
                      <a:srgbClr val="FFFFFF"/>
                    </a:solidFill>
                  </a:tcPr>
                </a:tc>
                <a:tc>
                  <a:txBody>
                    <a:bodyPr lIns="171450" tIns="171450" rIns="171450" bIns="171450"/>
                    <a:lstStyle/>
                    <a:p>
                      <a:r>
                        <a:rPr sz="2100" b="0">
                          <a:solidFill>
                            <a:srgbClr val="26384B"/>
                          </a:solidFill>
                          <a:latin typeface="Arial"/>
                          <a:ea typeface="Arial"/>
                          <a:cs typeface="Arial"/>
                        </a:rPr>
                        <a:t>1 millón</a:t>
                      </a:r>
                    </a:p>
                  </a:txBody>
                  <a:tcPr marL="91440" marR="91440" marT="45720" marB="45720">
                    <a:lnR w="9525">
                      <a:solidFill>
                        <a:srgbClr val="D4DFE7"/>
                      </a:solidFill>
                      <a:prstDash val="solid"/>
                    </a:lnR>
                    <a:lnB w="9525">
                      <a:solidFill>
                        <a:srgbClr val="D4DFE7"/>
                      </a:solidFill>
                      <a:prstDash val="solid"/>
                    </a:lnB>
                    <a:solidFill>
                      <a:srgbClr val="FFFFFF"/>
                    </a:solidFill>
                  </a:tcPr>
                </a:tc>
                <a:tc>
                  <a:txBody>
                    <a:bodyPr lIns="171450" tIns="171450" rIns="171450" bIns="171450"/>
                    <a:lstStyle/>
                    <a:p>
                      <a:r>
                        <a:rPr sz="2100" b="0">
                          <a:solidFill>
                            <a:srgbClr val="26384B"/>
                          </a:solidFill>
                          <a:latin typeface="Arial"/>
                          <a:ea typeface="Arial"/>
                          <a:cs typeface="Arial"/>
                        </a:rPr>
                        <a:t>0.40</a:t>
                      </a:r>
                    </a:p>
                  </a:txBody>
                  <a:tcPr marL="91440" marR="91440" marT="45720" marB="45720">
                    <a:lnR w="9525">
                      <a:solidFill>
                        <a:srgbClr val="D4DFE7"/>
                      </a:solidFill>
                      <a:prstDash val="solid"/>
                    </a:lnR>
                    <a:lnB w="9525">
                      <a:solidFill>
                        <a:srgbClr val="D4DFE7"/>
                      </a:solidFill>
                      <a:prstDash val="solid"/>
                    </a:lnB>
                    <a:solidFill>
                      <a:srgbClr val="FFFFFF"/>
                    </a:solidFill>
                  </a:tcPr>
                </a:tc>
              </a:tr>
            </a:tbl>
          </a:graphicData>
        </a:graphic>
      </p:graphicFrame>
      <p:sp>
        <p:nvSpPr>
          <p:cNvPr id="6" name="Capa gratuita y cargos adicionales se calculan aparte. Consulta: ">
            <a:extLst xmlns:a="http://schemas.openxmlformats.org/drawingml/2006/main">
              <a:ext uri="{FF2B5EF4-FFF2-40B4-BE49-F238E27FC236}">
                <a16:creationId xmlns:a16="http://schemas.microsoft.com/office/drawing/2014/main" id="{30FFC791-7946-46BA-BB04-5D055B3EC733}"/>
              </a:ext>
            </a:extLst>
          </p:cNvPr>
          <p:cNvSpPr>
            <a:spLocks xmlns:a="http://schemas.openxmlformats.org/drawingml/2006/main" noGrp="1"/>
          </p:cNvSpPr>
          <p:nvPr/>
        </p:nvSpPr>
        <p:spPr>
          <a:xfrm xmlns:a="http://schemas.openxmlformats.org/drawingml/2006/main">
            <a:off x="952500" y="7629525"/>
            <a:ext cx="13335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3677C"/>
                </a:solidFill>
                <a:latin typeface="Arial"/>
                <a:ea typeface="Arial"/>
                <a:cs typeface="Arial"/>
              </a:defRPr>
            </a:defPPr>
          </a:lstStyle>
          <a:p xmlns:a="http://schemas.openxmlformats.org/drawingml/2006/main">
            <a:pPr>
              <a:defRPr sz="1800" b="0">
                <a:solidFill>
                  <a:srgbClr val="53677C"/>
                </a:solidFill>
                <a:latin typeface="Arial"/>
                <a:ea typeface="Arial"/>
                <a:cs typeface="Arial"/>
              </a:defRPr>
            </a:pPr>
            <a:r>
              <a:rPr sz="1800" b="0">
                <a:solidFill>
                  <a:srgbClr val="53677C"/>
                </a:solidFill>
                <a:latin typeface="Arial"/>
                <a:ea typeface="Arial"/>
                <a:cs typeface="Arial"/>
              </a:rPr>
              <a:t>Capa gratuita y cargos adicionales se calculan aparte. Consulta: 15/10/2026.</a:t>
            </a:r>
          </a:p>
        </p:txBody>
      </p:sp>
    </p:spTree>
    <p:extLst>
      <p:ext uri="{BB962C8B-B14F-4D97-AF65-F5344CB8AC3E}">
        <p14:creationId xmlns:p14="http://schemas.microsoft.com/office/powerpoint/2010/main" val="1337842292"/>
      </p:ext>
    </p:extLst>
  </p:cSld>
</p:sld>
</file>

<file path=ppt/slides/slide10.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7" name="COST MANAGEMENT">
            <a:extLst xmlns:a="http://schemas.openxmlformats.org/drawingml/2006/main">
              <a:ext uri="{FF2B5EF4-FFF2-40B4-BE49-F238E27FC236}">
                <a16:creationId xmlns:a16="http://schemas.microsoft.com/office/drawing/2014/main" id="{DE765F8A-191A-49D1-B901-7A2990AD41F4}"/>
              </a:ext>
            </a:extLst>
          </p:cNvPr>
          <p:cNvSpPr>
            <a:spLocks xmlns:a="http://schemas.openxmlformats.org/drawingml/2006/main" noGrp="1"/>
          </p:cNvSpPr>
          <p:nvPr/>
        </p:nvSpPr>
        <p:spPr>
          <a:xfrm xmlns:a="http://schemas.openxmlformats.org/drawingml/2006/main">
            <a:off x="914400" y="542925"/>
            <a:ext cx="1238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087F8C"/>
                </a:solidFill>
                <a:latin typeface="Arial"/>
                <a:ea typeface="Arial"/>
                <a:cs typeface="Arial"/>
              </a:defRPr>
            </a:defPPr>
          </a:lstStyle>
          <a:p xmlns:a="http://schemas.openxmlformats.org/drawingml/2006/main">
            <a:pPr>
              <a:defRPr sz="1575" b="1">
                <a:solidFill>
                  <a:srgbClr val="087F8C"/>
                </a:solidFill>
                <a:latin typeface="Arial"/>
                <a:ea typeface="Arial"/>
                <a:cs typeface="Arial"/>
              </a:defRPr>
            </a:pPr>
            <a:r>
              <a:rPr sz="1575" b="1">
                <a:solidFill>
                  <a:srgbClr val="087F8C"/>
                </a:solidFill>
                <a:latin typeface="Arial"/>
                <a:ea typeface="Arial"/>
                <a:cs typeface="Arial"/>
              </a:rPr>
              <a:t>COST MANAGEMENT</a:t>
            </a:r>
          </a:p>
        </p:txBody>
      </p:sp>
      <p:sp>
        <p:nvSpPr>
          <p:cNvPr id="2" name="10 / 34">
            <a:extLst xmlns:a="http://schemas.openxmlformats.org/drawingml/2006/main">
              <a:ext uri="{FF2B5EF4-FFF2-40B4-BE49-F238E27FC236}">
                <a16:creationId xmlns:a16="http://schemas.microsoft.com/office/drawing/2014/main" id="{93716315-A0F1-4C71-A242-5460D52E814D}"/>
              </a:ext>
            </a:extLst>
          </p:cNvPr>
          <p:cNvSpPr>
            <a:spLocks xmlns:a="http://schemas.openxmlformats.org/drawingml/2006/main" noGrp="1"/>
          </p:cNvSpPr>
          <p:nvPr/>
        </p:nvSpPr>
        <p:spPr>
          <a:xfrm xmlns:a="http://schemas.openxmlformats.org/drawingml/2006/main">
            <a:off x="13192125" y="561975"/>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77C"/>
                </a:solidFill>
                <a:latin typeface="Arial"/>
                <a:ea typeface="Arial"/>
                <a:cs typeface="Arial"/>
              </a:defRPr>
            </a:defPPr>
          </a:lstStyle>
          <a:p xmlns:a="http://schemas.openxmlformats.org/drawingml/2006/main">
            <a:pPr>
              <a:defRPr sz="1500" b="0">
                <a:solidFill>
                  <a:srgbClr val="53677C"/>
                </a:solidFill>
                <a:latin typeface="Arial"/>
                <a:ea typeface="Arial"/>
                <a:cs typeface="Arial"/>
              </a:defRPr>
            </a:pPr>
            <a:r>
              <a:rPr sz="1500" b="0">
                <a:solidFill>
                  <a:srgbClr val="53677C"/>
                </a:solidFill>
                <a:latin typeface="Arial"/>
                <a:ea typeface="Arial"/>
                <a:cs typeface="Arial"/>
              </a:rPr>
              <a:t>10 / 34</a:t>
            </a:r>
          </a:p>
        </p:txBody>
      </p:sp>
      <p:sp>
        <p:nvSpPr>
          <p:cNvPr id="3" name="Cloud Run: tráfico intermitente o continuo">
            <a:extLst xmlns:a="http://schemas.openxmlformats.org/drawingml/2006/main">
              <a:ext uri="{FF2B5EF4-FFF2-40B4-BE49-F238E27FC236}">
                <a16:creationId xmlns:a16="http://schemas.microsoft.com/office/drawing/2014/main" id="{427AF72E-3BAD-4E98-9857-9F2615D039C9}"/>
              </a:ext>
            </a:extLst>
          </p:cNvPr>
          <p:cNvSpPr>
            <a:spLocks xmlns:a="http://schemas.openxmlformats.org/drawingml/2006/main" noGrp="1"/>
          </p:cNvSpPr>
          <p:nvPr/>
        </p:nvSpPr>
        <p:spPr>
          <a:xfrm xmlns:a="http://schemas.openxmlformats.org/drawingml/2006/main">
            <a:off x="914400" y="1143000"/>
            <a:ext cx="13411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132E50"/>
                </a:solidFill>
                <a:latin typeface="Arial"/>
                <a:ea typeface="Arial"/>
                <a:cs typeface="Arial"/>
              </a:defRPr>
            </a:defPPr>
          </a:lstStyle>
          <a:p xmlns:a="http://schemas.openxmlformats.org/drawingml/2006/main">
            <a:pPr>
              <a:defRPr sz="3825" b="1">
                <a:solidFill>
                  <a:srgbClr val="132E50"/>
                </a:solidFill>
                <a:latin typeface="Arial"/>
                <a:ea typeface="Arial"/>
                <a:cs typeface="Arial"/>
              </a:defRPr>
            </a:pPr>
            <a:r>
              <a:rPr sz="3825" b="1">
                <a:solidFill>
                  <a:srgbClr val="132E50"/>
                </a:solidFill>
                <a:latin typeface="Arial"/>
                <a:ea typeface="Arial"/>
                <a:cs typeface="Arial"/>
              </a:rPr>
              <a:t>Cloud Run: tráfico intermitente o continuo</a:t>
            </a:r>
          </a:p>
        </p:txBody>
      </p:sp>
      <p:sp>
        <p:nvSpPr>
          <p:cNvPr id="4" name="1 vCPU · 0.5 GiB · 1 millón de solicitudes · sin instancias mínim">
            <a:extLst xmlns:a="http://schemas.openxmlformats.org/drawingml/2006/main">
              <a:ext uri="{FF2B5EF4-FFF2-40B4-BE49-F238E27FC236}">
                <a16:creationId xmlns:a16="http://schemas.microsoft.com/office/drawing/2014/main" id="{00B9452B-8BBA-44AE-BD47-0C9ECBC77141}"/>
              </a:ext>
            </a:extLst>
          </p:cNvPr>
          <p:cNvSpPr>
            <a:spLocks xmlns:a="http://schemas.openxmlformats.org/drawingml/2006/main" noGrp="1"/>
          </p:cNvSpPr>
          <p:nvPr/>
        </p:nvSpPr>
        <p:spPr>
          <a:xfrm xmlns:a="http://schemas.openxmlformats.org/drawingml/2006/main">
            <a:off x="952500" y="2238375"/>
            <a:ext cx="1333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1 vCPU · 0.5 GiB · 1 millón de solicitudes · sin instancias mínimas</a:t>
            </a:r>
          </a:p>
        </p:txBody>
      </p:sp>
      <p:graphicFrame>
        <p:nvGraphicFramePr>
          <p:cNvPr id="5" name="">
            <a:extLst xmlns:a="http://schemas.openxmlformats.org/drawingml/2006/main">
              <a:ext uri="{FF2B5EF4-FFF2-40B4-BE49-F238E27FC236}">
                <a16:creationId xmlns:a16="http://schemas.microsoft.com/office/drawing/2014/main" id="{1D02D348-37E0-4E12-ADE6-45AE8EF4F7F1}"/>
              </a:ext>
            </a:extLst>
          </p:cNvPr>
          <p:cNvGraphicFramePr/>
          <p:nvPr/>
        </p:nvGraphicFramePr>
        <p:xfrm>
          <a:off xmlns:a="http://schemas.openxmlformats.org/drawingml/2006/main" x="914400" y="3238500"/>
          <a:ext xmlns:a="http://schemas.openxmlformats.org/drawingml/2006/main" cx="13411200" cy="3238500"/>
        </p:xfrm>
        <a:graphic xmlns:a="http://schemas.openxmlformats.org/drawingml/2006/main">
          <a:graphicData uri="http://schemas.openxmlformats.org/drawingml/2006/table">
            <a:tbl>
              <a:tblPr/>
              <a:tblGrid>
                <a:gridCol w="4191000"/>
                <a:gridCol w="2952750"/>
                <a:gridCol w="2952750"/>
                <a:gridCol w="3314700"/>
              </a:tblGrid>
              <a:tr h="1079500">
                <a:tc>
                  <a:txBody>
                    <a:bodyPr lIns="171450" tIns="171450" rIns="171450" bIns="171450"/>
                    <a:lstStyle/>
                    <a:p>
                      <a:r>
                        <a:rPr sz="2100" b="1">
                          <a:solidFill>
                            <a:srgbClr val="FFFFFF"/>
                          </a:solidFill>
                          <a:latin typeface="Arial"/>
                          <a:ea typeface="Arial"/>
                          <a:cs typeface="Arial"/>
                        </a:rPr>
                        <a:t>Escenario supuesto</a:t>
                      </a:r>
                    </a:p>
                  </a:txBody>
                  <a:tcPr marL="91440" marR="91440" marT="45720" marB="45720">
                    <a:lnL w="9525">
                      <a:solidFill>
                        <a:srgbClr val="D4DFE7"/>
                      </a:solidFill>
                      <a:prstDash val="solid"/>
                    </a:lnL>
                    <a:lnR w="9525">
                      <a:solidFill>
                        <a:srgbClr val="D4DFE7"/>
                      </a:solidFill>
                      <a:prstDash val="solid"/>
                    </a:lnR>
                    <a:lnT w="9525">
                      <a:solidFill>
                        <a:srgbClr val="D4DFE7"/>
                      </a:solidFill>
                      <a:prstDash val="solid"/>
                    </a:lnT>
                    <a:lnB w="9525">
                      <a:solidFill>
                        <a:srgbClr val="D4DFE7"/>
                      </a:solidFill>
                      <a:prstDash val="solid"/>
                    </a:lnB>
                    <a:solidFill>
                      <a:srgbClr val="132E50"/>
                    </a:solidFill>
                  </a:tcPr>
                </a:tc>
                <a:tc>
                  <a:txBody>
                    <a:bodyPr lIns="171450" tIns="171450" rIns="171450" bIns="171450"/>
                    <a:lstStyle/>
                    <a:p>
                      <a:r>
                        <a:rPr sz="2100" b="1">
                          <a:solidFill>
                            <a:srgbClr val="FFFFFF"/>
                          </a:solidFill>
                          <a:latin typeface="Arial"/>
                          <a:ea typeface="Arial"/>
                          <a:cs typeface="Arial"/>
                        </a:rPr>
                        <a:t>CPU + RAM</a:t>
                      </a:r>
                    </a:p>
                  </a:txBody>
                  <a:tcPr marL="91440" marR="91440" marT="45720" marB="45720">
                    <a:lnR w="9525">
                      <a:solidFill>
                        <a:srgbClr val="D4DFE7"/>
                      </a:solidFill>
                      <a:prstDash val="solid"/>
                    </a:lnR>
                    <a:lnT w="9525">
                      <a:solidFill>
                        <a:srgbClr val="D4DFE7"/>
                      </a:solidFill>
                      <a:prstDash val="solid"/>
                    </a:lnT>
                    <a:lnB w="9525">
                      <a:solidFill>
                        <a:srgbClr val="D4DFE7"/>
                      </a:solidFill>
                      <a:prstDash val="solid"/>
                    </a:lnB>
                    <a:solidFill>
                      <a:srgbClr val="132E50"/>
                    </a:solidFill>
                  </a:tcPr>
                </a:tc>
                <a:tc>
                  <a:txBody>
                    <a:bodyPr lIns="171450" tIns="171450" rIns="171450" bIns="171450"/>
                    <a:lstStyle/>
                    <a:p>
                      <a:r>
                        <a:rPr sz="2100" b="1">
                          <a:solidFill>
                            <a:srgbClr val="FFFFFF"/>
                          </a:solidFill>
                          <a:latin typeface="Arial"/>
                          <a:ea typeface="Arial"/>
                          <a:cs typeface="Arial"/>
                        </a:rPr>
                        <a:t>Solicitudes</a:t>
                      </a:r>
                    </a:p>
                  </a:txBody>
                  <a:tcPr marL="91440" marR="91440" marT="45720" marB="45720">
                    <a:lnR w="9525">
                      <a:solidFill>
                        <a:srgbClr val="D4DFE7"/>
                      </a:solidFill>
                      <a:prstDash val="solid"/>
                    </a:lnR>
                    <a:lnT w="9525">
                      <a:solidFill>
                        <a:srgbClr val="D4DFE7"/>
                      </a:solidFill>
                      <a:prstDash val="solid"/>
                    </a:lnT>
                    <a:lnB w="9525">
                      <a:solidFill>
                        <a:srgbClr val="D4DFE7"/>
                      </a:solidFill>
                      <a:prstDash val="solid"/>
                    </a:lnB>
                    <a:solidFill>
                      <a:srgbClr val="132E50"/>
                    </a:solidFill>
                  </a:tcPr>
                </a:tc>
                <a:tc>
                  <a:txBody>
                    <a:bodyPr lIns="171450" tIns="171450" rIns="171450" bIns="171450"/>
                    <a:lstStyle/>
                    <a:p>
                      <a:r>
                        <a:rPr sz="2100" b="1">
                          <a:solidFill>
                            <a:srgbClr val="FFFFFF"/>
                          </a:solidFill>
                          <a:latin typeface="Arial"/>
                          <a:ea typeface="Arial"/>
                          <a:cs typeface="Arial"/>
                        </a:rPr>
                        <a:t>Subtotal bruto</a:t>
                      </a:r>
                    </a:p>
                  </a:txBody>
                  <a:tcPr marL="91440" marR="91440" marT="45720" marB="45720">
                    <a:lnR w="9525">
                      <a:solidFill>
                        <a:srgbClr val="D4DFE7"/>
                      </a:solidFill>
                      <a:prstDash val="solid"/>
                    </a:lnR>
                    <a:lnT w="9525">
                      <a:solidFill>
                        <a:srgbClr val="D4DFE7"/>
                      </a:solidFill>
                      <a:prstDash val="solid"/>
                    </a:lnT>
                    <a:lnB w="9525">
                      <a:solidFill>
                        <a:srgbClr val="D4DFE7"/>
                      </a:solidFill>
                      <a:prstDash val="solid"/>
                    </a:lnB>
                    <a:solidFill>
                      <a:srgbClr val="132E50"/>
                    </a:solidFill>
                  </a:tcPr>
                </a:tc>
              </a:tr>
              <a:tr h="1079500">
                <a:tc>
                  <a:txBody>
                    <a:bodyPr lIns="171450" tIns="171450" rIns="171450" bIns="171450"/>
                    <a:lstStyle/>
                    <a:p>
                      <a:r>
                        <a:rPr sz="2100" b="0">
                          <a:solidFill>
                            <a:srgbClr val="26384B"/>
                          </a:solidFill>
                          <a:latin typeface="Arial"/>
                          <a:ea typeface="Arial"/>
                          <a:cs typeface="Arial"/>
                        </a:rPr>
                        <a:t>20 h activas / mes</a:t>
                      </a:r>
                    </a:p>
                  </a:txBody>
                  <a:tcPr marL="91440" marR="91440" marT="45720" marB="45720">
                    <a:lnL w="9525">
                      <a:solidFill>
                        <a:srgbClr val="D4DFE7"/>
                      </a:solidFill>
                      <a:prstDash val="solid"/>
                    </a:lnL>
                    <a:lnR w="9525">
                      <a:solidFill>
                        <a:srgbClr val="D4DFE7"/>
                      </a:solidFill>
                      <a:prstDash val="solid"/>
                    </a:lnR>
                    <a:lnB w="9525">
                      <a:solidFill>
                        <a:srgbClr val="D4DFE7"/>
                      </a:solidFill>
                      <a:prstDash val="solid"/>
                    </a:lnB>
                    <a:solidFill>
                      <a:srgbClr val="FFFFFF"/>
                    </a:solidFill>
                  </a:tcPr>
                </a:tc>
                <a:tc>
                  <a:txBody>
                    <a:bodyPr lIns="171450" tIns="171450" rIns="171450" bIns="171450"/>
                    <a:lstStyle/>
                    <a:p>
                      <a:r>
                        <a:rPr sz="2100" b="0">
                          <a:solidFill>
                            <a:srgbClr val="26384B"/>
                          </a:solidFill>
                          <a:latin typeface="Arial"/>
                          <a:ea typeface="Arial"/>
                          <a:cs typeface="Arial"/>
                        </a:rPr>
                        <a:t>USD 1.82</a:t>
                      </a:r>
                    </a:p>
                  </a:txBody>
                  <a:tcPr marL="91440" marR="91440" marT="45720" marB="45720">
                    <a:lnR w="9525">
                      <a:solidFill>
                        <a:srgbClr val="D4DFE7"/>
                      </a:solidFill>
                      <a:prstDash val="solid"/>
                    </a:lnR>
                    <a:lnB w="9525">
                      <a:solidFill>
                        <a:srgbClr val="D4DFE7"/>
                      </a:solidFill>
                      <a:prstDash val="solid"/>
                    </a:lnB>
                    <a:solidFill>
                      <a:srgbClr val="FFFFFF"/>
                    </a:solidFill>
                  </a:tcPr>
                </a:tc>
                <a:tc>
                  <a:txBody>
                    <a:bodyPr lIns="171450" tIns="171450" rIns="171450" bIns="171450"/>
                    <a:lstStyle/>
                    <a:p>
                      <a:r>
                        <a:rPr sz="2100" b="0">
                          <a:solidFill>
                            <a:srgbClr val="26384B"/>
                          </a:solidFill>
                          <a:latin typeface="Arial"/>
                          <a:ea typeface="Arial"/>
                          <a:cs typeface="Arial"/>
                        </a:rPr>
                        <a:t>USD 0.40</a:t>
                      </a:r>
                    </a:p>
                  </a:txBody>
                  <a:tcPr marL="91440" marR="91440" marT="45720" marB="45720">
                    <a:lnR w="9525">
                      <a:solidFill>
                        <a:srgbClr val="D4DFE7"/>
                      </a:solidFill>
                      <a:prstDash val="solid"/>
                    </a:lnR>
                    <a:lnB w="9525">
                      <a:solidFill>
                        <a:srgbClr val="D4DFE7"/>
                      </a:solidFill>
                      <a:prstDash val="solid"/>
                    </a:lnB>
                    <a:solidFill>
                      <a:srgbClr val="FFFFFF"/>
                    </a:solidFill>
                  </a:tcPr>
                </a:tc>
                <a:tc>
                  <a:txBody>
                    <a:bodyPr lIns="171450" tIns="171450" rIns="171450" bIns="171450"/>
                    <a:lstStyle/>
                    <a:p>
                      <a:r>
                        <a:rPr sz="2100" b="0">
                          <a:solidFill>
                            <a:srgbClr val="26384B"/>
                          </a:solidFill>
                          <a:latin typeface="Arial"/>
                          <a:ea typeface="Arial"/>
                          <a:cs typeface="Arial"/>
                        </a:rPr>
                        <a:t>USD 2.22</a:t>
                      </a:r>
                    </a:p>
                  </a:txBody>
                  <a:tcPr marL="91440" marR="91440" marT="45720" marB="45720">
                    <a:lnR w="9525">
                      <a:solidFill>
                        <a:srgbClr val="D4DFE7"/>
                      </a:solidFill>
                      <a:prstDash val="solid"/>
                    </a:lnR>
                    <a:lnB w="9525">
                      <a:solidFill>
                        <a:srgbClr val="D4DFE7"/>
                      </a:solidFill>
                      <a:prstDash val="solid"/>
                    </a:lnB>
                    <a:solidFill>
                      <a:srgbClr val="FFFFFF"/>
                    </a:solidFill>
                  </a:tcPr>
                </a:tc>
              </a:tr>
              <a:tr h="1079500">
                <a:tc>
                  <a:txBody>
                    <a:bodyPr lIns="171450" tIns="171450" rIns="171450" bIns="171450"/>
                    <a:lstStyle/>
                    <a:p>
                      <a:r>
                        <a:rPr sz="2100" b="0">
                          <a:solidFill>
                            <a:srgbClr val="26384B"/>
                          </a:solidFill>
                          <a:latin typeface="Arial"/>
                          <a:ea typeface="Arial"/>
                          <a:cs typeface="Arial"/>
                        </a:rPr>
                        <a:t>730 h activas / mes</a:t>
                      </a:r>
                    </a:p>
                  </a:txBody>
                  <a:tcPr marL="91440" marR="91440" marT="45720" marB="45720">
                    <a:lnL w="9525">
                      <a:solidFill>
                        <a:srgbClr val="D4DFE7"/>
                      </a:solidFill>
                      <a:prstDash val="solid"/>
                    </a:lnL>
                    <a:lnR w="9525">
                      <a:solidFill>
                        <a:srgbClr val="D4DFE7"/>
                      </a:solidFill>
                      <a:prstDash val="solid"/>
                    </a:lnR>
                    <a:lnB w="9525">
                      <a:solidFill>
                        <a:srgbClr val="D4DFE7"/>
                      </a:solidFill>
                      <a:prstDash val="solid"/>
                    </a:lnB>
                    <a:solidFill>
                      <a:srgbClr val="E8F1F4"/>
                    </a:solidFill>
                  </a:tcPr>
                </a:tc>
                <a:tc>
                  <a:txBody>
                    <a:bodyPr lIns="171450" tIns="171450" rIns="171450" bIns="171450"/>
                    <a:lstStyle/>
                    <a:p>
                      <a:r>
                        <a:rPr sz="2100" b="0">
                          <a:solidFill>
                            <a:srgbClr val="26384B"/>
                          </a:solidFill>
                          <a:latin typeface="Arial"/>
                          <a:ea typeface="Arial"/>
                          <a:cs typeface="Arial"/>
                        </a:rPr>
                        <a:t>USD 66.36</a:t>
                      </a:r>
                    </a:p>
                  </a:txBody>
                  <a:tcPr marL="91440" marR="91440" marT="45720" marB="45720">
                    <a:lnR w="9525">
                      <a:solidFill>
                        <a:srgbClr val="D4DFE7"/>
                      </a:solidFill>
                      <a:prstDash val="solid"/>
                    </a:lnR>
                    <a:lnB w="9525">
                      <a:solidFill>
                        <a:srgbClr val="D4DFE7"/>
                      </a:solidFill>
                      <a:prstDash val="solid"/>
                    </a:lnB>
                    <a:solidFill>
                      <a:srgbClr val="E8F1F4"/>
                    </a:solidFill>
                  </a:tcPr>
                </a:tc>
                <a:tc>
                  <a:txBody>
                    <a:bodyPr lIns="171450" tIns="171450" rIns="171450" bIns="171450"/>
                    <a:lstStyle/>
                    <a:p>
                      <a:r>
                        <a:rPr sz="2100" b="0">
                          <a:solidFill>
                            <a:srgbClr val="26384B"/>
                          </a:solidFill>
                          <a:latin typeface="Arial"/>
                          <a:ea typeface="Arial"/>
                          <a:cs typeface="Arial"/>
                        </a:rPr>
                        <a:t>USD 0.40</a:t>
                      </a:r>
                    </a:p>
                  </a:txBody>
                  <a:tcPr marL="91440" marR="91440" marT="45720" marB="45720">
                    <a:lnR w="9525">
                      <a:solidFill>
                        <a:srgbClr val="D4DFE7"/>
                      </a:solidFill>
                      <a:prstDash val="solid"/>
                    </a:lnR>
                    <a:lnB w="9525">
                      <a:solidFill>
                        <a:srgbClr val="D4DFE7"/>
                      </a:solidFill>
                      <a:prstDash val="solid"/>
                    </a:lnB>
                    <a:solidFill>
                      <a:srgbClr val="E8F1F4"/>
                    </a:solidFill>
                  </a:tcPr>
                </a:tc>
                <a:tc>
                  <a:txBody>
                    <a:bodyPr lIns="171450" tIns="171450" rIns="171450" bIns="171450"/>
                    <a:lstStyle/>
                    <a:p>
                      <a:r>
                        <a:rPr sz="2100" b="0">
                          <a:solidFill>
                            <a:srgbClr val="26384B"/>
                          </a:solidFill>
                          <a:latin typeface="Arial"/>
                          <a:ea typeface="Arial"/>
                          <a:cs typeface="Arial"/>
                        </a:rPr>
                        <a:t>USD 66.76</a:t>
                      </a:r>
                    </a:p>
                  </a:txBody>
                  <a:tcPr marL="91440" marR="91440" marT="45720" marB="45720">
                    <a:lnR w="9525">
                      <a:solidFill>
                        <a:srgbClr val="D4DFE7"/>
                      </a:solidFill>
                      <a:prstDash val="solid"/>
                    </a:lnR>
                    <a:lnB w="9525">
                      <a:solidFill>
                        <a:srgbClr val="D4DFE7"/>
                      </a:solidFill>
                      <a:prstDash val="solid"/>
                    </a:lnB>
                    <a:solidFill>
                      <a:srgbClr val="E8F1F4"/>
                    </a:solidFill>
                  </a:tcPr>
                </a:tc>
              </a:tr>
            </a:tbl>
          </a:graphicData>
        </a:graphic>
      </p:graphicFrame>
      <p:sp>
        <p:nvSpPr>
          <p:cNvPr id="6" name="Antes de capa gratuita y extras. Sumar tiempo facturable entre in">
            <a:extLst xmlns:a="http://schemas.openxmlformats.org/drawingml/2006/main">
              <a:ext uri="{FF2B5EF4-FFF2-40B4-BE49-F238E27FC236}">
                <a16:creationId xmlns:a16="http://schemas.microsoft.com/office/drawing/2014/main" id="{310847CB-CFFD-4DF2-8B20-48D7967DFC94}"/>
              </a:ext>
            </a:extLst>
          </p:cNvPr>
          <p:cNvSpPr>
            <a:spLocks xmlns:a="http://schemas.openxmlformats.org/drawingml/2006/main" noGrp="1"/>
          </p:cNvSpPr>
          <p:nvPr/>
        </p:nvSpPr>
        <p:spPr>
          <a:xfrm xmlns:a="http://schemas.openxmlformats.org/drawingml/2006/main">
            <a:off x="952500" y="7629525"/>
            <a:ext cx="13335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3677C"/>
                </a:solidFill>
                <a:latin typeface="Arial"/>
                <a:ea typeface="Arial"/>
                <a:cs typeface="Arial"/>
              </a:defRPr>
            </a:defPPr>
          </a:lstStyle>
          <a:p xmlns:a="http://schemas.openxmlformats.org/drawingml/2006/main">
            <a:pPr>
              <a:defRPr sz="1800" b="0">
                <a:solidFill>
                  <a:srgbClr val="53677C"/>
                </a:solidFill>
                <a:latin typeface="Arial"/>
                <a:ea typeface="Arial"/>
                <a:cs typeface="Arial"/>
              </a:defRPr>
            </a:pPr>
            <a:r>
              <a:rPr sz="1800" b="0">
                <a:solidFill>
                  <a:srgbClr val="53677C"/>
                </a:solidFill>
                <a:latin typeface="Arial"/>
                <a:ea typeface="Arial"/>
                <a:cs typeface="Arial"/>
              </a:rPr>
              <a:t>Antes de capa gratuita y extras. Sumar tiempo facturable entre instancias; no es tiempo de usuario.</a:t>
            </a:r>
          </a:p>
        </p:txBody>
      </p:sp>
    </p:spTree>
    <p:extLst>
      <p:ext uri="{BB962C8B-B14F-4D97-AF65-F5344CB8AC3E}">
        <p14:creationId xmlns:p14="http://schemas.microsoft.com/office/powerpoint/2010/main" val="485627396"/>
      </p:ext>
    </p:extLst>
  </p:cSld>
</p:sld>
</file>

<file path=ppt/slides/slide1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7" name="COST MANAGEMENT">
            <a:extLst xmlns:a="http://schemas.openxmlformats.org/drawingml/2006/main">
              <a:ext uri="{FF2B5EF4-FFF2-40B4-BE49-F238E27FC236}">
                <a16:creationId xmlns:a16="http://schemas.microsoft.com/office/drawing/2014/main" id="{3FE2FF9C-ABD3-4E76-B40B-F99A2E58DBEC}"/>
              </a:ext>
            </a:extLst>
          </p:cNvPr>
          <p:cNvSpPr>
            <a:spLocks xmlns:a="http://schemas.openxmlformats.org/drawingml/2006/main" noGrp="1"/>
          </p:cNvSpPr>
          <p:nvPr/>
        </p:nvSpPr>
        <p:spPr>
          <a:xfrm xmlns:a="http://schemas.openxmlformats.org/drawingml/2006/main">
            <a:off x="914400" y="542925"/>
            <a:ext cx="1238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087F8C"/>
                </a:solidFill>
                <a:latin typeface="Arial"/>
                <a:ea typeface="Arial"/>
                <a:cs typeface="Arial"/>
              </a:defRPr>
            </a:defPPr>
          </a:lstStyle>
          <a:p xmlns:a="http://schemas.openxmlformats.org/drawingml/2006/main">
            <a:pPr>
              <a:defRPr sz="1575" b="1">
                <a:solidFill>
                  <a:srgbClr val="087F8C"/>
                </a:solidFill>
                <a:latin typeface="Arial"/>
                <a:ea typeface="Arial"/>
                <a:cs typeface="Arial"/>
              </a:defRPr>
            </a:pPr>
            <a:r>
              <a:rPr sz="1575" b="1">
                <a:solidFill>
                  <a:srgbClr val="087F8C"/>
                </a:solidFill>
                <a:latin typeface="Arial"/>
                <a:ea typeface="Arial"/>
                <a:cs typeface="Arial"/>
              </a:rPr>
              <a:t>COST MANAGEMENT</a:t>
            </a:r>
          </a:p>
        </p:txBody>
      </p:sp>
      <p:sp>
        <p:nvSpPr>
          <p:cNvPr id="2" name="11 / 34">
            <a:extLst xmlns:a="http://schemas.openxmlformats.org/drawingml/2006/main">
              <a:ext uri="{FF2B5EF4-FFF2-40B4-BE49-F238E27FC236}">
                <a16:creationId xmlns:a16="http://schemas.microsoft.com/office/drawing/2014/main" id="{A1FA2369-E748-4181-9D44-79F31E44805D}"/>
              </a:ext>
            </a:extLst>
          </p:cNvPr>
          <p:cNvSpPr>
            <a:spLocks xmlns:a="http://schemas.openxmlformats.org/drawingml/2006/main" noGrp="1"/>
          </p:cNvSpPr>
          <p:nvPr/>
        </p:nvSpPr>
        <p:spPr>
          <a:xfrm xmlns:a="http://schemas.openxmlformats.org/drawingml/2006/main">
            <a:off x="13192125" y="561975"/>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77C"/>
                </a:solidFill>
                <a:latin typeface="Arial"/>
                <a:ea typeface="Arial"/>
                <a:cs typeface="Arial"/>
              </a:defRPr>
            </a:defPPr>
          </a:lstStyle>
          <a:p xmlns:a="http://schemas.openxmlformats.org/drawingml/2006/main">
            <a:pPr>
              <a:defRPr sz="1500" b="0">
                <a:solidFill>
                  <a:srgbClr val="53677C"/>
                </a:solidFill>
                <a:latin typeface="Arial"/>
                <a:ea typeface="Arial"/>
                <a:cs typeface="Arial"/>
              </a:defRPr>
            </a:pPr>
            <a:r>
              <a:rPr sz="1500" b="0">
                <a:solidFill>
                  <a:srgbClr val="53677C"/>
                </a:solidFill>
                <a:latin typeface="Arial"/>
                <a:ea typeface="Arial"/>
                <a:cs typeface="Arial"/>
              </a:rPr>
              <a:t>11 / 34</a:t>
            </a:r>
          </a:p>
        </p:txBody>
      </p:sp>
      <p:sp>
        <p:nvSpPr>
          <p:cNvPr id="3" name="Cuándo conviene PaaS o una VM">
            <a:extLst xmlns:a="http://schemas.openxmlformats.org/drawingml/2006/main">
              <a:ext uri="{FF2B5EF4-FFF2-40B4-BE49-F238E27FC236}">
                <a16:creationId xmlns:a16="http://schemas.microsoft.com/office/drawing/2014/main" id="{FD42466D-685B-4A2D-8FE4-D1AED768D214}"/>
              </a:ext>
            </a:extLst>
          </p:cNvPr>
          <p:cNvSpPr>
            <a:spLocks xmlns:a="http://schemas.openxmlformats.org/drawingml/2006/main" noGrp="1"/>
          </p:cNvSpPr>
          <p:nvPr/>
        </p:nvSpPr>
        <p:spPr>
          <a:xfrm xmlns:a="http://schemas.openxmlformats.org/drawingml/2006/main">
            <a:off x="914400" y="1143000"/>
            <a:ext cx="13411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132E50"/>
                </a:solidFill>
                <a:latin typeface="Arial"/>
                <a:ea typeface="Arial"/>
                <a:cs typeface="Arial"/>
              </a:defRPr>
            </a:defPPr>
          </a:lstStyle>
          <a:p xmlns:a="http://schemas.openxmlformats.org/drawingml/2006/main">
            <a:pPr>
              <a:defRPr sz="3825" b="1">
                <a:solidFill>
                  <a:srgbClr val="132E50"/>
                </a:solidFill>
                <a:latin typeface="Arial"/>
                <a:ea typeface="Arial"/>
                <a:cs typeface="Arial"/>
              </a:defRPr>
            </a:pPr>
            <a:r>
              <a:rPr sz="3825" b="1">
                <a:solidFill>
                  <a:srgbClr val="132E50"/>
                </a:solidFill>
                <a:latin typeface="Arial"/>
                <a:ea typeface="Arial"/>
                <a:cs typeface="Arial"/>
              </a:rPr>
              <a:t>Cuándo conviene PaaS o una VM</a:t>
            </a:r>
          </a:p>
        </p:txBody>
      </p:sp>
      <p:sp>
        <p:nvSpPr>
          <p:cNvPr id="4" name="Elegir por requisitos, patrón de carga y costo total de operación">
            <a:extLst xmlns:a="http://schemas.openxmlformats.org/drawingml/2006/main">
              <a:ext uri="{FF2B5EF4-FFF2-40B4-BE49-F238E27FC236}">
                <a16:creationId xmlns:a16="http://schemas.microsoft.com/office/drawing/2014/main" id="{53015C64-7C7B-4B0C-8492-BE8240FEB35C}"/>
              </a:ext>
            </a:extLst>
          </p:cNvPr>
          <p:cNvSpPr>
            <a:spLocks xmlns:a="http://schemas.openxmlformats.org/drawingml/2006/main" noGrp="1"/>
          </p:cNvSpPr>
          <p:nvPr/>
        </p:nvSpPr>
        <p:spPr>
          <a:xfrm xmlns:a="http://schemas.openxmlformats.org/drawingml/2006/main">
            <a:off x="952500" y="2238375"/>
            <a:ext cx="1333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Elegir por requisitos, patrón de carga y costo total de operación</a:t>
            </a:r>
          </a:p>
        </p:txBody>
      </p:sp>
      <p:graphicFrame>
        <p:nvGraphicFramePr>
          <p:cNvPr id="5" name="">
            <a:extLst xmlns:a="http://schemas.openxmlformats.org/drawingml/2006/main">
              <a:ext uri="{FF2B5EF4-FFF2-40B4-BE49-F238E27FC236}">
                <a16:creationId xmlns:a16="http://schemas.microsoft.com/office/drawing/2014/main" id="{B684A594-E918-4691-83DF-C1C10E0BE27C}"/>
              </a:ext>
            </a:extLst>
          </p:cNvPr>
          <p:cNvGraphicFramePr/>
          <p:nvPr/>
        </p:nvGraphicFramePr>
        <p:xfrm>
          <a:off xmlns:a="http://schemas.openxmlformats.org/drawingml/2006/main" x="914400" y="3238500"/>
          <a:ext xmlns:a="http://schemas.openxmlformats.org/drawingml/2006/main" cx="13411200" cy="3238500"/>
        </p:xfrm>
        <a:graphic xmlns:a="http://schemas.openxmlformats.org/drawingml/2006/main">
          <a:graphicData uri="http://schemas.openxmlformats.org/drawingml/2006/table">
            <a:tbl>
              <a:tblPr/>
              <a:tblGrid>
                <a:gridCol w="5619750"/>
                <a:gridCol w="3810000"/>
                <a:gridCol w="3981450"/>
              </a:tblGrid>
              <a:tr h="647700">
                <a:tc>
                  <a:txBody>
                    <a:bodyPr lIns="171450" tIns="171450" rIns="171450" bIns="171450"/>
                    <a:lstStyle/>
                    <a:p>
                      <a:r>
                        <a:rPr sz="2100" b="1">
                          <a:solidFill>
                            <a:srgbClr val="FFFFFF"/>
                          </a:solidFill>
                          <a:latin typeface="Arial"/>
                          <a:ea typeface="Arial"/>
                          <a:cs typeface="Arial"/>
                        </a:rPr>
                        <a:t>Situación</a:t>
                      </a:r>
                    </a:p>
                  </a:txBody>
                  <a:tcPr marL="91440" marR="91440" marT="45720" marB="45720">
                    <a:lnL w="9525">
                      <a:solidFill>
                        <a:srgbClr val="D4DFE7"/>
                      </a:solidFill>
                      <a:prstDash val="solid"/>
                    </a:lnL>
                    <a:lnR w="9525">
                      <a:solidFill>
                        <a:srgbClr val="D4DFE7"/>
                      </a:solidFill>
                      <a:prstDash val="solid"/>
                    </a:lnR>
                    <a:lnT w="9525">
                      <a:solidFill>
                        <a:srgbClr val="D4DFE7"/>
                      </a:solidFill>
                      <a:prstDash val="solid"/>
                    </a:lnT>
                    <a:lnB w="9525">
                      <a:solidFill>
                        <a:srgbClr val="D4DFE7"/>
                      </a:solidFill>
                      <a:prstDash val="solid"/>
                    </a:lnB>
                    <a:solidFill>
                      <a:srgbClr val="132E50"/>
                    </a:solidFill>
                  </a:tcPr>
                </a:tc>
                <a:tc>
                  <a:txBody>
                    <a:bodyPr lIns="171450" tIns="171450" rIns="171450" bIns="171450"/>
                    <a:lstStyle/>
                    <a:p>
                      <a:r>
                        <a:rPr sz="2100" b="1">
                          <a:solidFill>
                            <a:srgbClr val="FFFFFF"/>
                          </a:solidFill>
                          <a:latin typeface="Arial"/>
                          <a:ea typeface="Arial"/>
                          <a:cs typeface="Arial"/>
                        </a:rPr>
                        <a:t>Primera opción a evaluar</a:t>
                      </a:r>
                    </a:p>
                  </a:txBody>
                  <a:tcPr marL="91440" marR="91440" marT="45720" marB="45720">
                    <a:lnR w="9525">
                      <a:solidFill>
                        <a:srgbClr val="D4DFE7"/>
                      </a:solidFill>
                      <a:prstDash val="solid"/>
                    </a:lnR>
                    <a:lnT w="9525">
                      <a:solidFill>
                        <a:srgbClr val="D4DFE7"/>
                      </a:solidFill>
                      <a:prstDash val="solid"/>
                    </a:lnT>
                    <a:lnB w="9525">
                      <a:solidFill>
                        <a:srgbClr val="D4DFE7"/>
                      </a:solidFill>
                      <a:prstDash val="solid"/>
                    </a:lnB>
                    <a:solidFill>
                      <a:srgbClr val="132E50"/>
                    </a:solidFill>
                  </a:tcPr>
                </a:tc>
                <a:tc>
                  <a:txBody>
                    <a:bodyPr lIns="171450" tIns="171450" rIns="171450" bIns="171450"/>
                    <a:lstStyle/>
                    <a:p>
                      <a:r>
                        <a:rPr sz="2100" b="1">
                          <a:solidFill>
                            <a:srgbClr val="FFFFFF"/>
                          </a:solidFill>
                          <a:latin typeface="Arial"/>
                          <a:ea typeface="Arial"/>
                          <a:cs typeface="Arial"/>
                        </a:rPr>
                        <a:t>Motivo</a:t>
                      </a:r>
                    </a:p>
                  </a:txBody>
                  <a:tcPr marL="91440" marR="91440" marT="45720" marB="45720">
                    <a:lnR w="9525">
                      <a:solidFill>
                        <a:srgbClr val="D4DFE7"/>
                      </a:solidFill>
                      <a:prstDash val="solid"/>
                    </a:lnR>
                    <a:lnT w="9525">
                      <a:solidFill>
                        <a:srgbClr val="D4DFE7"/>
                      </a:solidFill>
                      <a:prstDash val="solid"/>
                    </a:lnT>
                    <a:lnB w="9525">
                      <a:solidFill>
                        <a:srgbClr val="D4DFE7"/>
                      </a:solidFill>
                      <a:prstDash val="solid"/>
                    </a:lnB>
                    <a:solidFill>
                      <a:srgbClr val="132E50"/>
                    </a:solidFill>
                  </a:tcPr>
                </a:tc>
              </a:tr>
              <a:tr h="647700">
                <a:tc>
                  <a:txBody>
                    <a:bodyPr lIns="171450" tIns="171450" rIns="171450" bIns="171450"/>
                    <a:lstStyle/>
                    <a:p>
                      <a:r>
                        <a:rPr sz="2100" b="0">
                          <a:solidFill>
                            <a:srgbClr val="26384B"/>
                          </a:solidFill>
                          <a:latin typeface="Arial"/>
                          <a:ea typeface="Arial"/>
                          <a:cs typeface="Arial"/>
                        </a:rPr>
                        <a:t>Web/API compatible; poco equipo de operación</a:t>
                      </a:r>
                    </a:p>
                  </a:txBody>
                  <a:tcPr marL="91440" marR="91440" marT="45720" marB="45720">
                    <a:lnL w="9525">
                      <a:solidFill>
                        <a:srgbClr val="D4DFE7"/>
                      </a:solidFill>
                      <a:prstDash val="solid"/>
                    </a:lnL>
                    <a:lnR w="9525">
                      <a:solidFill>
                        <a:srgbClr val="D4DFE7"/>
                      </a:solidFill>
                      <a:prstDash val="solid"/>
                    </a:lnR>
                    <a:lnB w="9525">
                      <a:solidFill>
                        <a:srgbClr val="D4DFE7"/>
                      </a:solidFill>
                      <a:prstDash val="solid"/>
                    </a:lnB>
                    <a:solidFill>
                      <a:srgbClr val="FFFFFF"/>
                    </a:solidFill>
                  </a:tcPr>
                </a:tc>
                <a:tc>
                  <a:txBody>
                    <a:bodyPr lIns="171450" tIns="171450" rIns="171450" bIns="171450"/>
                    <a:lstStyle/>
                    <a:p>
                      <a:r>
                        <a:rPr sz="2100" b="0">
                          <a:solidFill>
                            <a:srgbClr val="26384B"/>
                          </a:solidFill>
                          <a:latin typeface="Arial"/>
                          <a:ea typeface="Arial"/>
                          <a:cs typeface="Arial"/>
                        </a:rPr>
                        <a:t>PaaS</a:t>
                      </a:r>
                    </a:p>
                  </a:txBody>
                  <a:tcPr marL="91440" marR="91440" marT="45720" marB="45720">
                    <a:lnR w="9525">
                      <a:solidFill>
                        <a:srgbClr val="D4DFE7"/>
                      </a:solidFill>
                      <a:prstDash val="solid"/>
                    </a:lnR>
                    <a:lnB w="9525">
                      <a:solidFill>
                        <a:srgbClr val="D4DFE7"/>
                      </a:solidFill>
                      <a:prstDash val="solid"/>
                    </a:lnB>
                    <a:solidFill>
                      <a:srgbClr val="FFFFFF"/>
                    </a:solidFill>
                  </a:tcPr>
                </a:tc>
                <a:tc>
                  <a:txBody>
                    <a:bodyPr lIns="171450" tIns="171450" rIns="171450" bIns="171450"/>
                    <a:lstStyle/>
                    <a:p>
                      <a:r>
                        <a:rPr sz="2100" b="0">
                          <a:solidFill>
                            <a:srgbClr val="26384B"/>
                          </a:solidFill>
                          <a:latin typeface="Arial"/>
                          <a:ea typeface="Arial"/>
                          <a:cs typeface="Arial"/>
                        </a:rPr>
                        <a:t>Menos administración de servidores</a:t>
                      </a:r>
                    </a:p>
                  </a:txBody>
                  <a:tcPr marL="91440" marR="91440" marT="45720" marB="45720">
                    <a:lnR w="9525">
                      <a:solidFill>
                        <a:srgbClr val="D4DFE7"/>
                      </a:solidFill>
                      <a:prstDash val="solid"/>
                    </a:lnR>
                    <a:lnB w="9525">
                      <a:solidFill>
                        <a:srgbClr val="D4DFE7"/>
                      </a:solidFill>
                      <a:prstDash val="solid"/>
                    </a:lnB>
                    <a:solidFill>
                      <a:srgbClr val="FFFFFF"/>
                    </a:solidFill>
                  </a:tcPr>
                </a:tc>
              </a:tr>
              <a:tr h="647700">
                <a:tc>
                  <a:txBody>
                    <a:bodyPr lIns="171450" tIns="171450" rIns="171450" bIns="171450"/>
                    <a:lstStyle/>
                    <a:p>
                      <a:r>
                        <a:rPr sz="2100" b="0">
                          <a:solidFill>
                            <a:srgbClr val="26384B"/>
                          </a:solidFill>
                          <a:latin typeface="Arial"/>
                          <a:ea typeface="Arial"/>
                          <a:cs typeface="Arial"/>
                        </a:rPr>
                        <a:t>Carga intermitente; tolera arranque en frío</a:t>
                      </a:r>
                    </a:p>
                  </a:txBody>
                  <a:tcPr marL="91440" marR="91440" marT="45720" marB="45720">
                    <a:lnL w="9525">
                      <a:solidFill>
                        <a:srgbClr val="D4DFE7"/>
                      </a:solidFill>
                      <a:prstDash val="solid"/>
                    </a:lnL>
                    <a:lnR w="9525">
                      <a:solidFill>
                        <a:srgbClr val="D4DFE7"/>
                      </a:solidFill>
                      <a:prstDash val="solid"/>
                    </a:lnR>
                    <a:lnB w="9525">
                      <a:solidFill>
                        <a:srgbClr val="D4DFE7"/>
                      </a:solidFill>
                      <a:prstDash val="solid"/>
                    </a:lnB>
                    <a:solidFill>
                      <a:srgbClr val="E8F1F4"/>
                    </a:solidFill>
                  </a:tcPr>
                </a:tc>
                <a:tc>
                  <a:txBody>
                    <a:bodyPr lIns="171450" tIns="171450" rIns="171450" bIns="171450"/>
                    <a:lstStyle/>
                    <a:p>
                      <a:r>
                        <a:rPr sz="2100" b="0">
                          <a:solidFill>
                            <a:srgbClr val="26384B"/>
                          </a:solidFill>
                          <a:latin typeface="Arial"/>
                          <a:ea typeface="Arial"/>
                          <a:cs typeface="Arial"/>
                        </a:rPr>
                        <a:t>PaaS con escalado a cero</a:t>
                      </a:r>
                    </a:p>
                  </a:txBody>
                  <a:tcPr marL="91440" marR="91440" marT="45720" marB="45720">
                    <a:lnR w="9525">
                      <a:solidFill>
                        <a:srgbClr val="D4DFE7"/>
                      </a:solidFill>
                      <a:prstDash val="solid"/>
                    </a:lnR>
                    <a:lnB w="9525">
                      <a:solidFill>
                        <a:srgbClr val="D4DFE7"/>
                      </a:solidFill>
                      <a:prstDash val="solid"/>
                    </a:lnB>
                    <a:solidFill>
                      <a:srgbClr val="E8F1F4"/>
                    </a:solidFill>
                  </a:tcPr>
                </a:tc>
                <a:tc>
                  <a:txBody>
                    <a:bodyPr lIns="171450" tIns="171450" rIns="171450" bIns="171450"/>
                    <a:lstStyle/>
                    <a:p>
                      <a:r>
                        <a:rPr sz="2100" b="0">
                          <a:solidFill>
                            <a:srgbClr val="26384B"/>
                          </a:solidFill>
                          <a:latin typeface="Arial"/>
                          <a:ea typeface="Arial"/>
                          <a:cs typeface="Arial"/>
                        </a:rPr>
                        <a:t>Menos capacidad ociosa</a:t>
                      </a:r>
                    </a:p>
                  </a:txBody>
                  <a:tcPr marL="91440" marR="91440" marT="45720" marB="45720">
                    <a:lnR w="9525">
                      <a:solidFill>
                        <a:srgbClr val="D4DFE7"/>
                      </a:solidFill>
                      <a:prstDash val="solid"/>
                    </a:lnR>
                    <a:lnB w="9525">
                      <a:solidFill>
                        <a:srgbClr val="D4DFE7"/>
                      </a:solidFill>
                      <a:prstDash val="solid"/>
                    </a:lnB>
                    <a:solidFill>
                      <a:srgbClr val="E8F1F4"/>
                    </a:solidFill>
                  </a:tcPr>
                </a:tc>
              </a:tr>
              <a:tr h="647700">
                <a:tc>
                  <a:txBody>
                    <a:bodyPr lIns="171450" tIns="171450" rIns="171450" bIns="171450"/>
                    <a:lstStyle/>
                    <a:p>
                      <a:r>
                        <a:rPr sz="2100" b="0">
                          <a:solidFill>
                            <a:srgbClr val="26384B"/>
                          </a:solidFill>
                          <a:latin typeface="Arial"/>
                          <a:ea typeface="Arial"/>
                          <a:cs typeface="Arial"/>
                        </a:rPr>
                        <a:t>Control del SO o software especial</a:t>
                      </a:r>
                    </a:p>
                  </a:txBody>
                  <a:tcPr marL="91440" marR="91440" marT="45720" marB="45720">
                    <a:lnL w="9525">
                      <a:solidFill>
                        <a:srgbClr val="D4DFE7"/>
                      </a:solidFill>
                      <a:prstDash val="solid"/>
                    </a:lnL>
                    <a:lnR w="9525">
                      <a:solidFill>
                        <a:srgbClr val="D4DFE7"/>
                      </a:solidFill>
                      <a:prstDash val="solid"/>
                    </a:lnR>
                    <a:lnB w="9525">
                      <a:solidFill>
                        <a:srgbClr val="D4DFE7"/>
                      </a:solidFill>
                      <a:prstDash val="solid"/>
                    </a:lnB>
                    <a:solidFill>
                      <a:srgbClr val="FFFFFF"/>
                    </a:solidFill>
                  </a:tcPr>
                </a:tc>
                <a:tc>
                  <a:txBody>
                    <a:bodyPr lIns="171450" tIns="171450" rIns="171450" bIns="171450"/>
                    <a:lstStyle/>
                    <a:p>
                      <a:r>
                        <a:rPr sz="2100" b="0">
                          <a:solidFill>
                            <a:srgbClr val="26384B"/>
                          </a:solidFill>
                          <a:latin typeface="Arial"/>
                          <a:ea typeface="Arial"/>
                          <a:cs typeface="Arial"/>
                        </a:rPr>
                        <a:t>VM / IaaS</a:t>
                      </a:r>
                    </a:p>
                  </a:txBody>
                  <a:tcPr marL="91440" marR="91440" marT="45720" marB="45720">
                    <a:lnR w="9525">
                      <a:solidFill>
                        <a:srgbClr val="D4DFE7"/>
                      </a:solidFill>
                      <a:prstDash val="solid"/>
                    </a:lnR>
                    <a:lnB w="9525">
                      <a:solidFill>
                        <a:srgbClr val="D4DFE7"/>
                      </a:solidFill>
                      <a:prstDash val="solid"/>
                    </a:lnB>
                    <a:solidFill>
                      <a:srgbClr val="FFFFFF"/>
                    </a:solidFill>
                  </a:tcPr>
                </a:tc>
                <a:tc>
                  <a:txBody>
                    <a:bodyPr lIns="171450" tIns="171450" rIns="171450" bIns="171450"/>
                    <a:lstStyle/>
                    <a:p>
                      <a:r>
                        <a:rPr sz="2100" b="0">
                          <a:solidFill>
                            <a:srgbClr val="26384B"/>
                          </a:solidFill>
                          <a:latin typeface="Arial"/>
                          <a:ea typeface="Arial"/>
                          <a:cs typeface="Arial"/>
                        </a:rPr>
                        <a:t>Mayor control del entorno</a:t>
                      </a:r>
                    </a:p>
                  </a:txBody>
                  <a:tcPr marL="91440" marR="91440" marT="45720" marB="45720">
                    <a:lnR w="9525">
                      <a:solidFill>
                        <a:srgbClr val="D4DFE7"/>
                      </a:solidFill>
                      <a:prstDash val="solid"/>
                    </a:lnR>
                    <a:lnB w="9525">
                      <a:solidFill>
                        <a:srgbClr val="D4DFE7"/>
                      </a:solidFill>
                      <a:prstDash val="solid"/>
                    </a:lnB>
                    <a:solidFill>
                      <a:srgbClr val="FFFFFF"/>
                    </a:solidFill>
                  </a:tcPr>
                </a:tc>
              </a:tr>
              <a:tr h="647700">
                <a:tc>
                  <a:txBody>
                    <a:bodyPr lIns="171450" tIns="171450" rIns="171450" bIns="171450"/>
                    <a:lstStyle/>
                    <a:p>
                      <a:r>
                        <a:rPr sz="2100" b="0">
                          <a:solidFill>
                            <a:srgbClr val="26384B"/>
                          </a:solidFill>
                          <a:latin typeface="Arial"/>
                          <a:ea typeface="Arial"/>
                          <a:cs typeface="Arial"/>
                        </a:rPr>
                        <a:t>Carga estable todo el día</a:t>
                      </a:r>
                    </a:p>
                  </a:txBody>
                  <a:tcPr marL="91440" marR="91440" marT="45720" marB="45720">
                    <a:lnL w="9525">
                      <a:solidFill>
                        <a:srgbClr val="D4DFE7"/>
                      </a:solidFill>
                      <a:prstDash val="solid"/>
                    </a:lnL>
                    <a:lnR w="9525">
                      <a:solidFill>
                        <a:srgbClr val="D4DFE7"/>
                      </a:solidFill>
                      <a:prstDash val="solid"/>
                    </a:lnR>
                    <a:lnB w="9525">
                      <a:solidFill>
                        <a:srgbClr val="D4DFE7"/>
                      </a:solidFill>
                      <a:prstDash val="solid"/>
                    </a:lnB>
                    <a:solidFill>
                      <a:srgbClr val="E8F1F4"/>
                    </a:solidFill>
                  </a:tcPr>
                </a:tc>
                <a:tc>
                  <a:txBody>
                    <a:bodyPr lIns="171450" tIns="171450" rIns="171450" bIns="171450"/>
                    <a:lstStyle/>
                    <a:p>
                      <a:r>
                        <a:rPr sz="2100" b="0">
                          <a:solidFill>
                            <a:srgbClr val="26384B"/>
                          </a:solidFill>
                          <a:latin typeface="Arial"/>
                          <a:ea typeface="Arial"/>
                          <a:cs typeface="Arial"/>
                        </a:rPr>
                        <a:t>Cotizar ambos</a:t>
                      </a:r>
                    </a:p>
                  </a:txBody>
                  <a:tcPr marL="91440" marR="91440" marT="45720" marB="45720">
                    <a:lnR w="9525">
                      <a:solidFill>
                        <a:srgbClr val="D4DFE7"/>
                      </a:solidFill>
                      <a:prstDash val="solid"/>
                    </a:lnR>
                    <a:lnB w="9525">
                      <a:solidFill>
                        <a:srgbClr val="D4DFE7"/>
                      </a:solidFill>
                      <a:prstDash val="solid"/>
                    </a:lnB>
                    <a:solidFill>
                      <a:srgbClr val="E8F1F4"/>
                    </a:solidFill>
                  </a:tcPr>
                </a:tc>
                <a:tc>
                  <a:txBody>
                    <a:bodyPr lIns="171450" tIns="171450" rIns="171450" bIns="171450"/>
                    <a:lstStyle/>
                    <a:p>
                      <a:r>
                        <a:rPr sz="2100" b="0">
                          <a:solidFill>
                            <a:srgbClr val="26384B"/>
                          </a:solidFill>
                          <a:latin typeface="Arial"/>
                          <a:ea typeface="Arial"/>
                          <a:cs typeface="Arial"/>
                        </a:rPr>
                        <a:t>Comparar servicio + operación</a:t>
                      </a:r>
                    </a:p>
                  </a:txBody>
                  <a:tcPr marL="91440" marR="91440" marT="45720" marB="45720">
                    <a:lnR w="9525">
                      <a:solidFill>
                        <a:srgbClr val="D4DFE7"/>
                      </a:solidFill>
                      <a:prstDash val="solid"/>
                    </a:lnR>
                    <a:lnB w="9525">
                      <a:solidFill>
                        <a:srgbClr val="D4DFE7"/>
                      </a:solidFill>
                      <a:prstDash val="solid"/>
                    </a:lnB>
                    <a:solidFill>
                      <a:srgbClr val="E8F1F4"/>
                    </a:solidFill>
                  </a:tcPr>
                </a:tc>
              </a:tr>
            </a:tbl>
          </a:graphicData>
        </a:graphic>
      </p:graphicFrame>
      <p:sp>
        <p:nvSpPr>
          <p:cNvPr id="6" name="PaaS no siempre escala a cero ni siempre cuesta menos; depende de">
            <a:extLst xmlns:a="http://schemas.openxmlformats.org/drawingml/2006/main">
              <a:ext uri="{FF2B5EF4-FFF2-40B4-BE49-F238E27FC236}">
                <a16:creationId xmlns:a16="http://schemas.microsoft.com/office/drawing/2014/main" id="{9FF58D26-079A-4132-A005-07B53F9A8282}"/>
              </a:ext>
            </a:extLst>
          </p:cNvPr>
          <p:cNvSpPr>
            <a:spLocks xmlns:a="http://schemas.openxmlformats.org/drawingml/2006/main" noGrp="1"/>
          </p:cNvSpPr>
          <p:nvPr/>
        </p:nvSpPr>
        <p:spPr>
          <a:xfrm xmlns:a="http://schemas.openxmlformats.org/drawingml/2006/main">
            <a:off x="952500" y="7629525"/>
            <a:ext cx="13335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3677C"/>
                </a:solidFill>
                <a:latin typeface="Arial"/>
                <a:ea typeface="Arial"/>
                <a:cs typeface="Arial"/>
              </a:defRPr>
            </a:defPPr>
          </a:lstStyle>
          <a:p xmlns:a="http://schemas.openxmlformats.org/drawingml/2006/main">
            <a:pPr>
              <a:defRPr sz="1800" b="0">
                <a:solidFill>
                  <a:srgbClr val="53677C"/>
                </a:solidFill>
                <a:latin typeface="Arial"/>
                <a:ea typeface="Arial"/>
                <a:cs typeface="Arial"/>
              </a:defRPr>
            </a:pPr>
            <a:r>
              <a:rPr sz="1800" b="0">
                <a:solidFill>
                  <a:srgbClr val="53677C"/>
                </a:solidFill>
                <a:latin typeface="Arial"/>
                <a:ea typeface="Arial"/>
                <a:cs typeface="Arial"/>
              </a:rPr>
              <a:t>PaaS no siempre escala a cero ni siempre cuesta menos; depende del servicio y su plan.</a:t>
            </a:r>
          </a:p>
        </p:txBody>
      </p:sp>
    </p:spTree>
    <p:extLst>
      <p:ext uri="{BB962C8B-B14F-4D97-AF65-F5344CB8AC3E}">
        <p14:creationId xmlns:p14="http://schemas.microsoft.com/office/powerpoint/2010/main" val="734020080"/>
      </p:ext>
    </p:extLst>
  </p:cSld>
</p:sld>
</file>

<file path=ppt/slides/slide1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3" name="COST MANAGEMENT">
            <a:extLst xmlns:a="http://schemas.openxmlformats.org/drawingml/2006/main">
              <a:ext uri="{FF2B5EF4-FFF2-40B4-BE49-F238E27FC236}">
                <a16:creationId xmlns:a16="http://schemas.microsoft.com/office/drawing/2014/main" id="{BEEC7C3A-26D9-4AFF-850F-E928A9EB10D1}"/>
              </a:ext>
            </a:extLst>
          </p:cNvPr>
          <p:cNvSpPr>
            <a:spLocks xmlns:a="http://schemas.openxmlformats.org/drawingml/2006/main" noGrp="1"/>
          </p:cNvSpPr>
          <p:nvPr/>
        </p:nvSpPr>
        <p:spPr>
          <a:xfrm xmlns:a="http://schemas.openxmlformats.org/drawingml/2006/main">
            <a:off x="914400" y="542925"/>
            <a:ext cx="1238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087F8C"/>
                </a:solidFill>
                <a:latin typeface="Arial"/>
                <a:ea typeface="Arial"/>
                <a:cs typeface="Arial"/>
              </a:defRPr>
            </a:defPPr>
          </a:lstStyle>
          <a:p xmlns:a="http://schemas.openxmlformats.org/drawingml/2006/main">
            <a:pPr>
              <a:defRPr sz="1575" b="1">
                <a:solidFill>
                  <a:srgbClr val="087F8C"/>
                </a:solidFill>
                <a:latin typeface="Arial"/>
                <a:ea typeface="Arial"/>
                <a:cs typeface="Arial"/>
              </a:defRPr>
            </a:pPr>
            <a:r>
              <a:rPr sz="1575" b="1">
                <a:solidFill>
                  <a:srgbClr val="087F8C"/>
                </a:solidFill>
                <a:latin typeface="Arial"/>
                <a:ea typeface="Arial"/>
                <a:cs typeface="Arial"/>
              </a:rPr>
              <a:t>COST MANAGEMENT</a:t>
            </a:r>
          </a:p>
        </p:txBody>
      </p:sp>
      <p:sp>
        <p:nvSpPr>
          <p:cNvPr id="2" name="12 / 34">
            <a:extLst xmlns:a="http://schemas.openxmlformats.org/drawingml/2006/main">
              <a:ext uri="{FF2B5EF4-FFF2-40B4-BE49-F238E27FC236}">
                <a16:creationId xmlns:a16="http://schemas.microsoft.com/office/drawing/2014/main" id="{1F7F7BBB-1DBA-4361-AE8E-D810008CEAD5}"/>
              </a:ext>
            </a:extLst>
          </p:cNvPr>
          <p:cNvSpPr>
            <a:spLocks xmlns:a="http://schemas.openxmlformats.org/drawingml/2006/main" noGrp="1"/>
          </p:cNvSpPr>
          <p:nvPr/>
        </p:nvSpPr>
        <p:spPr>
          <a:xfrm xmlns:a="http://schemas.openxmlformats.org/drawingml/2006/main">
            <a:off x="13192125" y="561975"/>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77C"/>
                </a:solidFill>
                <a:latin typeface="Arial"/>
                <a:ea typeface="Arial"/>
                <a:cs typeface="Arial"/>
              </a:defRPr>
            </a:defPPr>
          </a:lstStyle>
          <a:p xmlns:a="http://schemas.openxmlformats.org/drawingml/2006/main">
            <a:pPr>
              <a:defRPr sz="1500" b="0">
                <a:solidFill>
                  <a:srgbClr val="53677C"/>
                </a:solidFill>
                <a:latin typeface="Arial"/>
                <a:ea typeface="Arial"/>
                <a:cs typeface="Arial"/>
              </a:defRPr>
            </a:pPr>
            <a:r>
              <a:rPr sz="1500" b="0">
                <a:solidFill>
                  <a:srgbClr val="53677C"/>
                </a:solidFill>
                <a:latin typeface="Arial"/>
                <a:ea typeface="Arial"/>
                <a:cs typeface="Arial"/>
              </a:rPr>
              <a:t>12 / 34</a:t>
            </a:r>
          </a:p>
        </p:txBody>
      </p:sp>
      <p:sp>
        <p:nvSpPr>
          <p:cNvPr id="3" name="Modalidades de compra y ahorro">
            <a:extLst xmlns:a="http://schemas.openxmlformats.org/drawingml/2006/main">
              <a:ext uri="{FF2B5EF4-FFF2-40B4-BE49-F238E27FC236}">
                <a16:creationId xmlns:a16="http://schemas.microsoft.com/office/drawing/2014/main" id="{14385ED7-2D83-4784-AF81-6F23ABDE10DD}"/>
              </a:ext>
            </a:extLst>
          </p:cNvPr>
          <p:cNvSpPr>
            <a:spLocks xmlns:a="http://schemas.openxmlformats.org/drawingml/2006/main" noGrp="1"/>
          </p:cNvSpPr>
          <p:nvPr/>
        </p:nvSpPr>
        <p:spPr>
          <a:xfrm xmlns:a="http://schemas.openxmlformats.org/drawingml/2006/main">
            <a:off x="914400" y="1143000"/>
            <a:ext cx="13411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132E50"/>
                </a:solidFill>
                <a:latin typeface="Arial"/>
                <a:ea typeface="Arial"/>
                <a:cs typeface="Arial"/>
              </a:defRPr>
            </a:defPPr>
          </a:lstStyle>
          <a:p xmlns:a="http://schemas.openxmlformats.org/drawingml/2006/main">
            <a:pPr>
              <a:defRPr sz="3825" b="1">
                <a:solidFill>
                  <a:srgbClr val="132E50"/>
                </a:solidFill>
                <a:latin typeface="Arial"/>
                <a:ea typeface="Arial"/>
                <a:cs typeface="Arial"/>
              </a:defRPr>
            </a:pPr>
            <a:r>
              <a:rPr sz="3825" b="1">
                <a:solidFill>
                  <a:srgbClr val="132E50"/>
                </a:solidFill>
                <a:latin typeface="Arial"/>
                <a:ea typeface="Arial"/>
                <a:cs typeface="Arial"/>
              </a:rPr>
              <a:t>Modalidades de compra y ahorro</a:t>
            </a:r>
          </a:p>
        </p:txBody>
      </p:sp>
      <p:sp>
        <p:nvSpPr>
          <p:cNvPr id="4" name="Bajo demanda">
            <a:extLst xmlns:a="http://schemas.openxmlformats.org/drawingml/2006/main">
              <a:ext uri="{FF2B5EF4-FFF2-40B4-BE49-F238E27FC236}">
                <a16:creationId xmlns:a16="http://schemas.microsoft.com/office/drawing/2014/main" id="{D2116AD5-F74C-4893-887E-129B0FB7F115}"/>
              </a:ext>
            </a:extLst>
          </p:cNvPr>
          <p:cNvSpPr>
            <a:spLocks xmlns:a="http://schemas.openxmlformats.org/drawingml/2006/main" noGrp="1"/>
          </p:cNvSpPr>
          <p:nvPr/>
        </p:nvSpPr>
        <p:spPr>
          <a:xfrm xmlns:a="http://schemas.openxmlformats.org/drawingml/2006/main">
            <a:off x="952500" y="2333625"/>
            <a:ext cx="4381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87F8C"/>
                </a:solidFill>
                <a:latin typeface="Arial"/>
                <a:ea typeface="Arial"/>
                <a:cs typeface="Arial"/>
              </a:defRPr>
            </a:defPPr>
          </a:lstStyle>
          <a:p xmlns:a="http://schemas.openxmlformats.org/drawingml/2006/main">
            <a:pPr>
              <a:defRPr sz="2325" b="1">
                <a:solidFill>
                  <a:srgbClr val="087F8C"/>
                </a:solidFill>
                <a:latin typeface="Arial"/>
                <a:ea typeface="Arial"/>
                <a:cs typeface="Arial"/>
              </a:defRPr>
            </a:pPr>
            <a:r>
              <a:rPr sz="2325" b="1">
                <a:solidFill>
                  <a:srgbClr val="087F8C"/>
                </a:solidFill>
                <a:latin typeface="Arial"/>
                <a:ea typeface="Arial"/>
                <a:cs typeface="Arial"/>
              </a:rPr>
              <a:t>Bajo demanda</a:t>
            </a:r>
          </a:p>
        </p:txBody>
      </p:sp>
      <p:sp>
        <p:nvSpPr>
          <p:cNvPr id="5" name="Pagar uso; empezar sin compromiso prolongado">
            <a:extLst xmlns:a="http://schemas.openxmlformats.org/drawingml/2006/main">
              <a:ext uri="{FF2B5EF4-FFF2-40B4-BE49-F238E27FC236}">
                <a16:creationId xmlns:a16="http://schemas.microsoft.com/office/drawing/2014/main" id="{6436F83D-75C6-4F5D-ABE9-CD32C2E2AB06}"/>
              </a:ext>
            </a:extLst>
          </p:cNvPr>
          <p:cNvSpPr>
            <a:spLocks xmlns:a="http://schemas.openxmlformats.org/drawingml/2006/main" noGrp="1"/>
          </p:cNvSpPr>
          <p:nvPr/>
        </p:nvSpPr>
        <p:spPr>
          <a:xfrm xmlns:a="http://schemas.openxmlformats.org/drawingml/2006/main">
            <a:off x="5810250" y="2333625"/>
            <a:ext cx="8429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0">
                <a:solidFill>
                  <a:srgbClr val="26384B"/>
                </a:solidFill>
                <a:latin typeface="Arial"/>
                <a:ea typeface="Arial"/>
                <a:cs typeface="Arial"/>
              </a:defRPr>
            </a:defPPr>
          </a:lstStyle>
          <a:p xmlns:a="http://schemas.openxmlformats.org/drawingml/2006/main">
            <a:pPr>
              <a:defRPr sz="2475" b="0">
                <a:solidFill>
                  <a:srgbClr val="26384B"/>
                </a:solidFill>
                <a:latin typeface="Arial"/>
                <a:ea typeface="Arial"/>
                <a:cs typeface="Arial"/>
              </a:defRPr>
            </a:pPr>
            <a:r>
              <a:rPr sz="2475" b="0">
                <a:solidFill>
                  <a:srgbClr val="26384B"/>
                </a:solidFill>
                <a:latin typeface="Arial"/>
                <a:ea typeface="Arial"/>
                <a:cs typeface="Arial"/>
              </a:rPr>
              <a:t>Pagar uso; empezar sin compromiso prolongado</a:t>
            </a:r>
          </a:p>
        </p:txBody>
      </p:sp>
      <p:sp>
        <p:nvSpPr>
          <p:cNvPr id="6" name="Compromiso">
            <a:extLst xmlns:a="http://schemas.openxmlformats.org/drawingml/2006/main">
              <a:ext uri="{FF2B5EF4-FFF2-40B4-BE49-F238E27FC236}">
                <a16:creationId xmlns:a16="http://schemas.microsoft.com/office/drawing/2014/main" id="{A87E79A6-7D30-40FB-8FA2-CED1378922EB}"/>
              </a:ext>
            </a:extLst>
          </p:cNvPr>
          <p:cNvSpPr>
            <a:spLocks xmlns:a="http://schemas.openxmlformats.org/drawingml/2006/main" noGrp="1"/>
          </p:cNvSpPr>
          <p:nvPr/>
        </p:nvSpPr>
        <p:spPr>
          <a:xfrm xmlns:a="http://schemas.openxmlformats.org/drawingml/2006/main">
            <a:off x="952500" y="3438525"/>
            <a:ext cx="4381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87F8C"/>
                </a:solidFill>
                <a:latin typeface="Arial"/>
                <a:ea typeface="Arial"/>
                <a:cs typeface="Arial"/>
              </a:defRPr>
            </a:defPPr>
          </a:lstStyle>
          <a:p xmlns:a="http://schemas.openxmlformats.org/drawingml/2006/main">
            <a:pPr>
              <a:defRPr sz="2325" b="1">
                <a:solidFill>
                  <a:srgbClr val="087F8C"/>
                </a:solidFill>
                <a:latin typeface="Arial"/>
                <a:ea typeface="Arial"/>
                <a:cs typeface="Arial"/>
              </a:defRPr>
            </a:pPr>
            <a:r>
              <a:rPr sz="2325" b="1">
                <a:solidFill>
                  <a:srgbClr val="087F8C"/>
                </a:solidFill>
                <a:latin typeface="Arial"/>
                <a:ea typeface="Arial"/>
                <a:cs typeface="Arial"/>
              </a:rPr>
              <a:t>Compromiso</a:t>
            </a:r>
          </a:p>
        </p:txBody>
      </p:sp>
      <p:sp>
        <p:nvSpPr>
          <p:cNvPr id="7" name="Tarifa menor a cambio de gasto o uso comprometido">
            <a:extLst xmlns:a="http://schemas.openxmlformats.org/drawingml/2006/main">
              <a:ext uri="{FF2B5EF4-FFF2-40B4-BE49-F238E27FC236}">
                <a16:creationId xmlns:a16="http://schemas.microsoft.com/office/drawing/2014/main" id="{71048744-66A1-453E-B692-F0B76A53F374}"/>
              </a:ext>
            </a:extLst>
          </p:cNvPr>
          <p:cNvSpPr>
            <a:spLocks xmlns:a="http://schemas.openxmlformats.org/drawingml/2006/main" noGrp="1"/>
          </p:cNvSpPr>
          <p:nvPr/>
        </p:nvSpPr>
        <p:spPr>
          <a:xfrm xmlns:a="http://schemas.openxmlformats.org/drawingml/2006/main">
            <a:off x="5810250" y="3438525"/>
            <a:ext cx="8429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0">
                <a:solidFill>
                  <a:srgbClr val="26384B"/>
                </a:solidFill>
                <a:latin typeface="Arial"/>
                <a:ea typeface="Arial"/>
                <a:cs typeface="Arial"/>
              </a:defRPr>
            </a:defPPr>
          </a:lstStyle>
          <a:p xmlns:a="http://schemas.openxmlformats.org/drawingml/2006/main">
            <a:pPr>
              <a:defRPr sz="2475" b="0">
                <a:solidFill>
                  <a:srgbClr val="26384B"/>
                </a:solidFill>
                <a:latin typeface="Arial"/>
                <a:ea typeface="Arial"/>
                <a:cs typeface="Arial"/>
              </a:defRPr>
            </a:pPr>
            <a:r>
              <a:rPr sz="2475" b="0">
                <a:solidFill>
                  <a:srgbClr val="26384B"/>
                </a:solidFill>
                <a:latin typeface="Arial"/>
                <a:ea typeface="Arial"/>
                <a:cs typeface="Arial"/>
              </a:rPr>
              <a:t>Tarifa menor a cambio de gasto o uso comprometido</a:t>
            </a:r>
          </a:p>
        </p:txBody>
      </p:sp>
      <p:sp>
        <p:nvSpPr>
          <p:cNvPr id="8" name="Spot / interrumpible">
            <a:extLst xmlns:a="http://schemas.openxmlformats.org/drawingml/2006/main">
              <a:ext uri="{FF2B5EF4-FFF2-40B4-BE49-F238E27FC236}">
                <a16:creationId xmlns:a16="http://schemas.microsoft.com/office/drawing/2014/main" id="{D2A72444-5A3D-42A8-A714-8C49380A5C01}"/>
              </a:ext>
            </a:extLst>
          </p:cNvPr>
          <p:cNvSpPr>
            <a:spLocks xmlns:a="http://schemas.openxmlformats.org/drawingml/2006/main" noGrp="1"/>
          </p:cNvSpPr>
          <p:nvPr/>
        </p:nvSpPr>
        <p:spPr>
          <a:xfrm xmlns:a="http://schemas.openxmlformats.org/drawingml/2006/main">
            <a:off x="952500" y="4543425"/>
            <a:ext cx="4381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87F8C"/>
                </a:solidFill>
                <a:latin typeface="Arial"/>
                <a:ea typeface="Arial"/>
                <a:cs typeface="Arial"/>
              </a:defRPr>
            </a:defPPr>
          </a:lstStyle>
          <a:p xmlns:a="http://schemas.openxmlformats.org/drawingml/2006/main">
            <a:pPr>
              <a:defRPr sz="2325" b="1">
                <a:solidFill>
                  <a:srgbClr val="087F8C"/>
                </a:solidFill>
                <a:latin typeface="Arial"/>
                <a:ea typeface="Arial"/>
                <a:cs typeface="Arial"/>
              </a:defRPr>
            </a:pPr>
            <a:r>
              <a:rPr sz="2325" b="1">
                <a:solidFill>
                  <a:srgbClr val="087F8C"/>
                </a:solidFill>
                <a:latin typeface="Arial"/>
                <a:ea typeface="Arial"/>
                <a:cs typeface="Arial"/>
              </a:rPr>
              <a:t>Spot / interrumpible</a:t>
            </a:r>
          </a:p>
        </p:txBody>
      </p:sp>
      <p:sp>
        <p:nvSpPr>
          <p:cNvPr id="9" name="Menor precio; aceptar interrupciones y reintentos">
            <a:extLst xmlns:a="http://schemas.openxmlformats.org/drawingml/2006/main">
              <a:ext uri="{FF2B5EF4-FFF2-40B4-BE49-F238E27FC236}">
                <a16:creationId xmlns:a16="http://schemas.microsoft.com/office/drawing/2014/main" id="{218636C9-6659-4694-A74F-CFB9A28228B4}"/>
              </a:ext>
            </a:extLst>
          </p:cNvPr>
          <p:cNvSpPr>
            <a:spLocks xmlns:a="http://schemas.openxmlformats.org/drawingml/2006/main" noGrp="1"/>
          </p:cNvSpPr>
          <p:nvPr/>
        </p:nvSpPr>
        <p:spPr>
          <a:xfrm xmlns:a="http://schemas.openxmlformats.org/drawingml/2006/main">
            <a:off x="5810250" y="4543425"/>
            <a:ext cx="8429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0">
                <a:solidFill>
                  <a:srgbClr val="26384B"/>
                </a:solidFill>
                <a:latin typeface="Arial"/>
                <a:ea typeface="Arial"/>
                <a:cs typeface="Arial"/>
              </a:defRPr>
            </a:defPPr>
          </a:lstStyle>
          <a:p xmlns:a="http://schemas.openxmlformats.org/drawingml/2006/main">
            <a:pPr>
              <a:defRPr sz="2475" b="0">
                <a:solidFill>
                  <a:srgbClr val="26384B"/>
                </a:solidFill>
                <a:latin typeface="Arial"/>
                <a:ea typeface="Arial"/>
                <a:cs typeface="Arial"/>
              </a:defRPr>
            </a:pPr>
            <a:r>
              <a:rPr sz="2475" b="0">
                <a:solidFill>
                  <a:srgbClr val="26384B"/>
                </a:solidFill>
                <a:latin typeface="Arial"/>
                <a:ea typeface="Arial"/>
                <a:cs typeface="Arial"/>
              </a:rPr>
              <a:t>Menor precio; aceptar interrupciones y reintentos</a:t>
            </a:r>
          </a:p>
        </p:txBody>
      </p:sp>
      <p:sp>
        <p:nvSpPr>
          <p:cNvPr id="10" name="Optimización inicial">
            <a:extLst xmlns:a="http://schemas.openxmlformats.org/drawingml/2006/main">
              <a:ext uri="{FF2B5EF4-FFF2-40B4-BE49-F238E27FC236}">
                <a16:creationId xmlns:a16="http://schemas.microsoft.com/office/drawing/2014/main" id="{2F9A0CF5-A3CA-4C25-944B-452F15EA0C02}"/>
              </a:ext>
            </a:extLst>
          </p:cNvPr>
          <p:cNvSpPr>
            <a:spLocks xmlns:a="http://schemas.openxmlformats.org/drawingml/2006/main" noGrp="1"/>
          </p:cNvSpPr>
          <p:nvPr/>
        </p:nvSpPr>
        <p:spPr>
          <a:xfrm xmlns:a="http://schemas.openxmlformats.org/drawingml/2006/main">
            <a:off x="952500" y="5648325"/>
            <a:ext cx="4381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87F8C"/>
                </a:solidFill>
                <a:latin typeface="Arial"/>
                <a:ea typeface="Arial"/>
                <a:cs typeface="Arial"/>
              </a:defRPr>
            </a:defPPr>
          </a:lstStyle>
          <a:p xmlns:a="http://schemas.openxmlformats.org/drawingml/2006/main">
            <a:pPr>
              <a:defRPr sz="2325" b="1">
                <a:solidFill>
                  <a:srgbClr val="087F8C"/>
                </a:solidFill>
                <a:latin typeface="Arial"/>
                <a:ea typeface="Arial"/>
                <a:cs typeface="Arial"/>
              </a:defRPr>
            </a:pPr>
            <a:r>
              <a:rPr sz="2325" b="1">
                <a:solidFill>
                  <a:srgbClr val="087F8C"/>
                </a:solidFill>
                <a:latin typeface="Arial"/>
                <a:ea typeface="Arial"/>
                <a:cs typeface="Arial"/>
              </a:rPr>
              <a:t>Optimización inicial</a:t>
            </a:r>
          </a:p>
        </p:txBody>
      </p:sp>
      <p:sp>
        <p:nvSpPr>
          <p:cNvPr id="11" name="Apagar, eliminar o reducir lo que no se necesita">
            <a:extLst xmlns:a="http://schemas.openxmlformats.org/drawingml/2006/main">
              <a:ext uri="{FF2B5EF4-FFF2-40B4-BE49-F238E27FC236}">
                <a16:creationId xmlns:a16="http://schemas.microsoft.com/office/drawing/2014/main" id="{F95031F0-ED4A-4DA4-A2A5-5972F1E00ECA}"/>
              </a:ext>
            </a:extLst>
          </p:cNvPr>
          <p:cNvSpPr>
            <a:spLocks xmlns:a="http://schemas.openxmlformats.org/drawingml/2006/main" noGrp="1"/>
          </p:cNvSpPr>
          <p:nvPr/>
        </p:nvSpPr>
        <p:spPr>
          <a:xfrm xmlns:a="http://schemas.openxmlformats.org/drawingml/2006/main">
            <a:off x="5810250" y="5648325"/>
            <a:ext cx="8429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0">
                <a:solidFill>
                  <a:srgbClr val="26384B"/>
                </a:solidFill>
                <a:latin typeface="Arial"/>
                <a:ea typeface="Arial"/>
                <a:cs typeface="Arial"/>
              </a:defRPr>
            </a:defPPr>
          </a:lstStyle>
          <a:p xmlns:a="http://schemas.openxmlformats.org/drawingml/2006/main">
            <a:pPr>
              <a:defRPr sz="2475" b="0">
                <a:solidFill>
                  <a:srgbClr val="26384B"/>
                </a:solidFill>
                <a:latin typeface="Arial"/>
                <a:ea typeface="Arial"/>
                <a:cs typeface="Arial"/>
              </a:defRPr>
            </a:pPr>
            <a:r>
              <a:rPr sz="2475" b="0">
                <a:solidFill>
                  <a:srgbClr val="26384B"/>
                </a:solidFill>
                <a:latin typeface="Arial"/>
                <a:ea typeface="Arial"/>
                <a:cs typeface="Arial"/>
              </a:rPr>
              <a:t>Apagar, eliminar o reducir lo que no se necesita</a:t>
            </a:r>
          </a:p>
        </p:txBody>
      </p:sp>
      <p:sp>
        <p:nvSpPr>
          <p:cNvPr id="12" name="Medir antes de comprometer gasto. El porcentaje de ahorro depende">
            <a:extLst xmlns:a="http://schemas.openxmlformats.org/drawingml/2006/main">
              <a:ext uri="{FF2B5EF4-FFF2-40B4-BE49-F238E27FC236}">
                <a16:creationId xmlns:a16="http://schemas.microsoft.com/office/drawing/2014/main" id="{0918A9ED-C2DC-47D1-9013-B7F8CFAB1A3E}"/>
              </a:ext>
            </a:extLst>
          </p:cNvPr>
          <p:cNvSpPr>
            <a:spLocks xmlns:a="http://schemas.openxmlformats.org/drawingml/2006/main" noGrp="1"/>
          </p:cNvSpPr>
          <p:nvPr/>
        </p:nvSpPr>
        <p:spPr>
          <a:xfrm xmlns:a="http://schemas.openxmlformats.org/drawingml/2006/main">
            <a:off x="952500" y="7629525"/>
            <a:ext cx="13335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3677C"/>
                </a:solidFill>
                <a:latin typeface="Arial"/>
                <a:ea typeface="Arial"/>
                <a:cs typeface="Arial"/>
              </a:defRPr>
            </a:defPPr>
          </a:lstStyle>
          <a:p xmlns:a="http://schemas.openxmlformats.org/drawingml/2006/main">
            <a:pPr>
              <a:defRPr sz="1800" b="0">
                <a:solidFill>
                  <a:srgbClr val="53677C"/>
                </a:solidFill>
                <a:latin typeface="Arial"/>
                <a:ea typeface="Arial"/>
                <a:cs typeface="Arial"/>
              </a:defRPr>
            </a:pPr>
            <a:r>
              <a:rPr sz="1800" b="0">
                <a:solidFill>
                  <a:srgbClr val="53677C"/>
                </a:solidFill>
                <a:latin typeface="Arial"/>
                <a:ea typeface="Arial"/>
                <a:cs typeface="Arial"/>
              </a:rPr>
              <a:t>Medir antes de comprometer gasto. El porcentaje de ahorro depende de la oferta.</a:t>
            </a:r>
          </a:p>
        </p:txBody>
      </p:sp>
    </p:spTree>
    <p:extLst>
      <p:ext uri="{BB962C8B-B14F-4D97-AF65-F5344CB8AC3E}">
        <p14:creationId xmlns:p14="http://schemas.microsoft.com/office/powerpoint/2010/main" val="1526198234"/>
      </p:ext>
    </p:extLst>
  </p:cSld>
</p:sld>
</file>

<file path=ppt/slides/slide1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1" name="COST MANAGEMENT">
            <a:extLst xmlns:a="http://schemas.openxmlformats.org/drawingml/2006/main">
              <a:ext uri="{FF2B5EF4-FFF2-40B4-BE49-F238E27FC236}">
                <a16:creationId xmlns:a16="http://schemas.microsoft.com/office/drawing/2014/main" id="{B72E08F3-2CDE-4A9F-801E-E7533E3BC199}"/>
              </a:ext>
            </a:extLst>
          </p:cNvPr>
          <p:cNvSpPr>
            <a:spLocks xmlns:a="http://schemas.openxmlformats.org/drawingml/2006/main" noGrp="1"/>
          </p:cNvSpPr>
          <p:nvPr/>
        </p:nvSpPr>
        <p:spPr>
          <a:xfrm xmlns:a="http://schemas.openxmlformats.org/drawingml/2006/main">
            <a:off x="914400" y="542925"/>
            <a:ext cx="1238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087F8C"/>
                </a:solidFill>
                <a:latin typeface="Arial"/>
                <a:ea typeface="Arial"/>
                <a:cs typeface="Arial"/>
              </a:defRPr>
            </a:defPPr>
          </a:lstStyle>
          <a:p xmlns:a="http://schemas.openxmlformats.org/drawingml/2006/main">
            <a:pPr>
              <a:defRPr sz="1575" b="1">
                <a:solidFill>
                  <a:srgbClr val="087F8C"/>
                </a:solidFill>
                <a:latin typeface="Arial"/>
                <a:ea typeface="Arial"/>
                <a:cs typeface="Arial"/>
              </a:defRPr>
            </a:pPr>
            <a:r>
              <a:rPr sz="1575" b="1">
                <a:solidFill>
                  <a:srgbClr val="087F8C"/>
                </a:solidFill>
                <a:latin typeface="Arial"/>
                <a:ea typeface="Arial"/>
                <a:cs typeface="Arial"/>
              </a:rPr>
              <a:t>COST MANAGEMENT</a:t>
            </a:r>
          </a:p>
        </p:txBody>
      </p:sp>
      <p:sp>
        <p:nvSpPr>
          <p:cNvPr id="2" name="13 / 34">
            <a:extLst xmlns:a="http://schemas.openxmlformats.org/drawingml/2006/main">
              <a:ext uri="{FF2B5EF4-FFF2-40B4-BE49-F238E27FC236}">
                <a16:creationId xmlns:a16="http://schemas.microsoft.com/office/drawing/2014/main" id="{E6AD73D0-7BE6-49CA-BC1C-A3B835222AE4}"/>
              </a:ext>
            </a:extLst>
          </p:cNvPr>
          <p:cNvSpPr>
            <a:spLocks xmlns:a="http://schemas.openxmlformats.org/drawingml/2006/main" noGrp="1"/>
          </p:cNvSpPr>
          <p:nvPr/>
        </p:nvSpPr>
        <p:spPr>
          <a:xfrm xmlns:a="http://schemas.openxmlformats.org/drawingml/2006/main">
            <a:off x="13192125" y="561975"/>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77C"/>
                </a:solidFill>
                <a:latin typeface="Arial"/>
                <a:ea typeface="Arial"/>
                <a:cs typeface="Arial"/>
              </a:defRPr>
            </a:defPPr>
          </a:lstStyle>
          <a:p xmlns:a="http://schemas.openxmlformats.org/drawingml/2006/main">
            <a:pPr>
              <a:defRPr sz="1500" b="0">
                <a:solidFill>
                  <a:srgbClr val="53677C"/>
                </a:solidFill>
                <a:latin typeface="Arial"/>
                <a:ea typeface="Arial"/>
                <a:cs typeface="Arial"/>
              </a:defRPr>
            </a:pPr>
            <a:r>
              <a:rPr sz="1500" b="0">
                <a:solidFill>
                  <a:srgbClr val="53677C"/>
                </a:solidFill>
                <a:latin typeface="Arial"/>
                <a:ea typeface="Arial"/>
                <a:cs typeface="Arial"/>
              </a:rPr>
              <a:t>13 / 34</a:t>
            </a:r>
          </a:p>
        </p:txBody>
      </p:sp>
      <p:sp>
        <p:nvSpPr>
          <p:cNvPr id="3" name="Estimación y consumo real">
            <a:extLst xmlns:a="http://schemas.openxmlformats.org/drawingml/2006/main">
              <a:ext uri="{FF2B5EF4-FFF2-40B4-BE49-F238E27FC236}">
                <a16:creationId xmlns:a16="http://schemas.microsoft.com/office/drawing/2014/main" id="{F11364F4-548A-4C3E-A98C-19E532ED661E}"/>
              </a:ext>
            </a:extLst>
          </p:cNvPr>
          <p:cNvSpPr>
            <a:spLocks xmlns:a="http://schemas.openxmlformats.org/drawingml/2006/main" noGrp="1"/>
          </p:cNvSpPr>
          <p:nvPr/>
        </p:nvSpPr>
        <p:spPr>
          <a:xfrm xmlns:a="http://schemas.openxmlformats.org/drawingml/2006/main">
            <a:off x="914400" y="1143000"/>
            <a:ext cx="13411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132E50"/>
                </a:solidFill>
                <a:latin typeface="Arial"/>
                <a:ea typeface="Arial"/>
                <a:cs typeface="Arial"/>
              </a:defRPr>
            </a:defPPr>
          </a:lstStyle>
          <a:p xmlns:a="http://schemas.openxmlformats.org/drawingml/2006/main">
            <a:pPr>
              <a:defRPr sz="3825" b="1">
                <a:solidFill>
                  <a:srgbClr val="132E50"/>
                </a:solidFill>
                <a:latin typeface="Arial"/>
                <a:ea typeface="Arial"/>
                <a:cs typeface="Arial"/>
              </a:defRPr>
            </a:pPr>
            <a:r>
              <a:rPr sz="3825" b="1">
                <a:solidFill>
                  <a:srgbClr val="132E50"/>
                </a:solidFill>
                <a:latin typeface="Arial"/>
                <a:ea typeface="Arial"/>
                <a:cs typeface="Arial"/>
              </a:rPr>
              <a:t>Estimación y consumo real</a:t>
            </a:r>
          </a:p>
        </p:txBody>
      </p:sp>
      <p:sp>
        <p:nvSpPr>
          <p:cNvPr id="4" name="Antes de desplegar">
            <a:extLst xmlns:a="http://schemas.openxmlformats.org/drawingml/2006/main">
              <a:ext uri="{FF2B5EF4-FFF2-40B4-BE49-F238E27FC236}">
                <a16:creationId xmlns:a16="http://schemas.microsoft.com/office/drawing/2014/main" id="{3FB65F75-70E8-44EF-BC91-47F6B6AC83E1}"/>
              </a:ext>
            </a:extLst>
          </p:cNvPr>
          <p:cNvSpPr>
            <a:spLocks xmlns:a="http://schemas.openxmlformats.org/drawingml/2006/main" noGrp="1"/>
          </p:cNvSpPr>
          <p:nvPr/>
        </p:nvSpPr>
        <p:spPr>
          <a:xfrm xmlns:a="http://schemas.openxmlformats.org/drawingml/2006/main">
            <a:off x="952500" y="2428875"/>
            <a:ext cx="6143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087F8C"/>
                </a:solidFill>
                <a:latin typeface="Arial"/>
                <a:ea typeface="Arial"/>
                <a:cs typeface="Arial"/>
              </a:defRPr>
            </a:defPPr>
          </a:lstStyle>
          <a:p xmlns:a="http://schemas.openxmlformats.org/drawingml/2006/main">
            <a:pPr>
              <a:defRPr sz="1950" b="1">
                <a:solidFill>
                  <a:srgbClr val="087F8C"/>
                </a:solidFill>
                <a:latin typeface="Arial"/>
                <a:ea typeface="Arial"/>
                <a:cs typeface="Arial"/>
              </a:defRPr>
            </a:pPr>
            <a:r>
              <a:rPr sz="1950" b="1">
                <a:solidFill>
                  <a:srgbClr val="087F8C"/>
                </a:solidFill>
                <a:latin typeface="Arial"/>
                <a:ea typeface="Arial"/>
                <a:cs typeface="Arial"/>
              </a:rPr>
              <a:t>Antes de desplegar</a:t>
            </a:r>
          </a:p>
        </p:txBody>
      </p:sp>
      <p:sp>
        <p:nvSpPr>
          <p:cNvPr id="5" name="Estimar">
            <a:extLst xmlns:a="http://schemas.openxmlformats.org/drawingml/2006/main">
              <a:ext uri="{FF2B5EF4-FFF2-40B4-BE49-F238E27FC236}">
                <a16:creationId xmlns:a16="http://schemas.microsoft.com/office/drawing/2014/main" id="{AAFDBCCE-B215-4C94-A1B8-A8A7EFAE08E5}"/>
              </a:ext>
            </a:extLst>
          </p:cNvPr>
          <p:cNvSpPr>
            <a:spLocks xmlns:a="http://schemas.openxmlformats.org/drawingml/2006/main" noGrp="1"/>
          </p:cNvSpPr>
          <p:nvPr/>
        </p:nvSpPr>
        <p:spPr>
          <a:xfrm xmlns:a="http://schemas.openxmlformats.org/drawingml/2006/main">
            <a:off x="952500" y="3238500"/>
            <a:ext cx="6191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32E50"/>
                </a:solidFill>
                <a:latin typeface="Arial"/>
                <a:ea typeface="Arial"/>
                <a:cs typeface="Arial"/>
              </a:defRPr>
            </a:defPPr>
          </a:lstStyle>
          <a:p xmlns:a="http://schemas.openxmlformats.org/drawingml/2006/main">
            <a:pPr>
              <a:defRPr sz="3375" b="1">
                <a:solidFill>
                  <a:srgbClr val="132E50"/>
                </a:solidFill>
                <a:latin typeface="Arial"/>
                <a:ea typeface="Arial"/>
                <a:cs typeface="Arial"/>
              </a:defRPr>
            </a:pPr>
            <a:r>
              <a:rPr sz="3375" b="1">
                <a:solidFill>
                  <a:srgbClr val="132E50"/>
                </a:solidFill>
                <a:latin typeface="Arial"/>
                <a:ea typeface="Arial"/>
                <a:cs typeface="Arial"/>
              </a:rPr>
              <a:t>Estimar</a:t>
            </a:r>
          </a:p>
        </p:txBody>
      </p:sp>
      <p:sp>
        <p:nvSpPr>
          <p:cNvPr id="6" name="Definir recursos, región, horas y supuestos de uso.">
            <a:extLst xmlns:a="http://schemas.openxmlformats.org/drawingml/2006/main">
              <a:ext uri="{FF2B5EF4-FFF2-40B4-BE49-F238E27FC236}">
                <a16:creationId xmlns:a16="http://schemas.microsoft.com/office/drawing/2014/main" id="{CBB64E55-996B-4130-A314-263684F1C769}"/>
              </a:ext>
            </a:extLst>
          </p:cNvPr>
          <p:cNvSpPr>
            <a:spLocks xmlns:a="http://schemas.openxmlformats.org/drawingml/2006/main" noGrp="1"/>
          </p:cNvSpPr>
          <p:nvPr/>
        </p:nvSpPr>
        <p:spPr>
          <a:xfrm xmlns:a="http://schemas.openxmlformats.org/drawingml/2006/main">
            <a:off x="952500" y="4572000"/>
            <a:ext cx="614362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26384B"/>
                </a:solidFill>
                <a:latin typeface="Arial"/>
                <a:ea typeface="Arial"/>
                <a:cs typeface="Arial"/>
              </a:defRPr>
            </a:defPPr>
          </a:lstStyle>
          <a:p xmlns:a="http://schemas.openxmlformats.org/drawingml/2006/main">
            <a:pPr>
              <a:defRPr sz="2550" b="0">
                <a:solidFill>
                  <a:srgbClr val="26384B"/>
                </a:solidFill>
                <a:latin typeface="Arial"/>
                <a:ea typeface="Arial"/>
                <a:cs typeface="Arial"/>
              </a:defRPr>
            </a:pPr>
            <a:r>
              <a:rPr sz="2550" b="0">
                <a:solidFill>
                  <a:srgbClr val="26384B"/>
                </a:solidFill>
                <a:latin typeface="Arial"/>
                <a:ea typeface="Arial"/>
                <a:cs typeface="Arial"/>
              </a:rPr>
              <a:t>Definir recursos, región, horas y supuestos de uso.</a:t>
            </a:r>
          </a:p>
        </p:txBody>
      </p:sp>
      <p:sp>
        <p:nvSpPr>
          <p:cNvPr id="7" name="Durante la operación">
            <a:extLst xmlns:a="http://schemas.openxmlformats.org/drawingml/2006/main">
              <a:ext uri="{FF2B5EF4-FFF2-40B4-BE49-F238E27FC236}">
                <a16:creationId xmlns:a16="http://schemas.microsoft.com/office/drawing/2014/main" id="{7319DA2E-34D9-41CB-B0C2-D2AE81AB3B76}"/>
              </a:ext>
            </a:extLst>
          </p:cNvPr>
          <p:cNvSpPr>
            <a:spLocks xmlns:a="http://schemas.openxmlformats.org/drawingml/2006/main" noGrp="1"/>
          </p:cNvSpPr>
          <p:nvPr/>
        </p:nvSpPr>
        <p:spPr>
          <a:xfrm xmlns:a="http://schemas.openxmlformats.org/drawingml/2006/main">
            <a:off x="8001000" y="2428875"/>
            <a:ext cx="6143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087F8C"/>
                </a:solidFill>
                <a:latin typeface="Arial"/>
                <a:ea typeface="Arial"/>
                <a:cs typeface="Arial"/>
              </a:defRPr>
            </a:defPPr>
          </a:lstStyle>
          <a:p xmlns:a="http://schemas.openxmlformats.org/drawingml/2006/main">
            <a:pPr>
              <a:defRPr sz="1950" b="1">
                <a:solidFill>
                  <a:srgbClr val="087F8C"/>
                </a:solidFill>
                <a:latin typeface="Arial"/>
                <a:ea typeface="Arial"/>
                <a:cs typeface="Arial"/>
              </a:defRPr>
            </a:pPr>
            <a:r>
              <a:rPr sz="1950" b="1">
                <a:solidFill>
                  <a:srgbClr val="087F8C"/>
                </a:solidFill>
                <a:latin typeface="Arial"/>
                <a:ea typeface="Arial"/>
                <a:cs typeface="Arial"/>
              </a:rPr>
              <a:t>Durante la operación</a:t>
            </a:r>
          </a:p>
        </p:txBody>
      </p:sp>
      <p:sp>
        <p:nvSpPr>
          <p:cNvPr id="8" name="Medir">
            <a:extLst xmlns:a="http://schemas.openxmlformats.org/drawingml/2006/main">
              <a:ext uri="{FF2B5EF4-FFF2-40B4-BE49-F238E27FC236}">
                <a16:creationId xmlns:a16="http://schemas.microsoft.com/office/drawing/2014/main" id="{986F8C2A-929B-4B0C-BAC0-D4A25BD4D871}"/>
              </a:ext>
            </a:extLst>
          </p:cNvPr>
          <p:cNvSpPr>
            <a:spLocks xmlns:a="http://schemas.openxmlformats.org/drawingml/2006/main" noGrp="1"/>
          </p:cNvSpPr>
          <p:nvPr/>
        </p:nvSpPr>
        <p:spPr>
          <a:xfrm xmlns:a="http://schemas.openxmlformats.org/drawingml/2006/main">
            <a:off x="8001000" y="3238500"/>
            <a:ext cx="6191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32E50"/>
                </a:solidFill>
                <a:latin typeface="Arial"/>
                <a:ea typeface="Arial"/>
                <a:cs typeface="Arial"/>
              </a:defRPr>
            </a:defPPr>
          </a:lstStyle>
          <a:p xmlns:a="http://schemas.openxmlformats.org/drawingml/2006/main">
            <a:pPr>
              <a:defRPr sz="3375" b="1">
                <a:solidFill>
                  <a:srgbClr val="132E50"/>
                </a:solidFill>
                <a:latin typeface="Arial"/>
                <a:ea typeface="Arial"/>
                <a:cs typeface="Arial"/>
              </a:defRPr>
            </a:pPr>
            <a:r>
              <a:rPr sz="3375" b="1">
                <a:solidFill>
                  <a:srgbClr val="132E50"/>
                </a:solidFill>
                <a:latin typeface="Arial"/>
                <a:ea typeface="Arial"/>
                <a:cs typeface="Arial"/>
              </a:rPr>
              <a:t>Medir</a:t>
            </a:r>
          </a:p>
        </p:txBody>
      </p:sp>
      <p:sp>
        <p:nvSpPr>
          <p:cNvPr id="9" name="Revisar Cost Analysis por periodo, servicio y recurso.">
            <a:extLst xmlns:a="http://schemas.openxmlformats.org/drawingml/2006/main">
              <a:ext uri="{FF2B5EF4-FFF2-40B4-BE49-F238E27FC236}">
                <a16:creationId xmlns:a16="http://schemas.microsoft.com/office/drawing/2014/main" id="{1F46A2AE-12E8-41A9-A41C-BD7E67EC7C40}"/>
              </a:ext>
            </a:extLst>
          </p:cNvPr>
          <p:cNvSpPr>
            <a:spLocks xmlns:a="http://schemas.openxmlformats.org/drawingml/2006/main" noGrp="1"/>
          </p:cNvSpPr>
          <p:nvPr/>
        </p:nvSpPr>
        <p:spPr>
          <a:xfrm xmlns:a="http://schemas.openxmlformats.org/drawingml/2006/main">
            <a:off x="8001000" y="4572000"/>
            <a:ext cx="614362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26384B"/>
                </a:solidFill>
                <a:latin typeface="Arial"/>
                <a:ea typeface="Arial"/>
                <a:cs typeface="Arial"/>
              </a:defRPr>
            </a:defPPr>
          </a:lstStyle>
          <a:p xmlns:a="http://schemas.openxmlformats.org/drawingml/2006/main">
            <a:pPr>
              <a:defRPr sz="2550" b="0">
                <a:solidFill>
                  <a:srgbClr val="26384B"/>
                </a:solidFill>
                <a:latin typeface="Arial"/>
                <a:ea typeface="Arial"/>
                <a:cs typeface="Arial"/>
              </a:defRPr>
            </a:pPr>
            <a:r>
              <a:rPr sz="2550" b="0">
                <a:solidFill>
                  <a:srgbClr val="26384B"/>
                </a:solidFill>
                <a:latin typeface="Arial"/>
                <a:ea typeface="Arial"/>
                <a:cs typeface="Arial"/>
              </a:rPr>
              <a:t>Revisar Cost Analysis por periodo, servicio y recurso.</a:t>
            </a:r>
          </a:p>
        </p:txBody>
      </p:sp>
      <p:sp>
        <p:nvSpPr>
          <p:cNvPr id="10" name="Comparar la misma moneda, el mismo periodo y el mismo alcance.">
            <a:extLst xmlns:a="http://schemas.openxmlformats.org/drawingml/2006/main">
              <a:ext uri="{FF2B5EF4-FFF2-40B4-BE49-F238E27FC236}">
                <a16:creationId xmlns:a16="http://schemas.microsoft.com/office/drawing/2014/main" id="{A0C26157-612B-44D0-937D-2865ED05B6BE}"/>
              </a:ext>
            </a:extLst>
          </p:cNvPr>
          <p:cNvSpPr>
            <a:spLocks xmlns:a="http://schemas.openxmlformats.org/drawingml/2006/main" noGrp="1"/>
          </p:cNvSpPr>
          <p:nvPr/>
        </p:nvSpPr>
        <p:spPr>
          <a:xfrm xmlns:a="http://schemas.openxmlformats.org/drawingml/2006/main">
            <a:off x="952500" y="7629525"/>
            <a:ext cx="13335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3677C"/>
                </a:solidFill>
                <a:latin typeface="Arial"/>
                <a:ea typeface="Arial"/>
                <a:cs typeface="Arial"/>
              </a:defRPr>
            </a:defPPr>
          </a:lstStyle>
          <a:p xmlns:a="http://schemas.openxmlformats.org/drawingml/2006/main">
            <a:pPr>
              <a:defRPr sz="1800" b="0">
                <a:solidFill>
                  <a:srgbClr val="53677C"/>
                </a:solidFill>
                <a:latin typeface="Arial"/>
                <a:ea typeface="Arial"/>
                <a:cs typeface="Arial"/>
              </a:defRPr>
            </a:pPr>
            <a:r>
              <a:rPr sz="1800" b="0">
                <a:solidFill>
                  <a:srgbClr val="53677C"/>
                </a:solidFill>
                <a:latin typeface="Arial"/>
                <a:ea typeface="Arial"/>
                <a:cs typeface="Arial"/>
              </a:rPr>
              <a:t>Comparar la misma moneda, el mismo periodo y el mismo alcance.</a:t>
            </a:r>
          </a:p>
        </p:txBody>
      </p:sp>
    </p:spTree>
    <p:extLst>
      <p:ext uri="{BB962C8B-B14F-4D97-AF65-F5344CB8AC3E}">
        <p14:creationId xmlns:p14="http://schemas.microsoft.com/office/powerpoint/2010/main" val="1842013497"/>
      </p:ext>
    </p:extLst>
  </p:cSld>
</p:sld>
</file>

<file path=ppt/slides/slide1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9" name="COST MANAGEMENT">
            <a:extLst xmlns:a="http://schemas.openxmlformats.org/drawingml/2006/main">
              <a:ext uri="{FF2B5EF4-FFF2-40B4-BE49-F238E27FC236}">
                <a16:creationId xmlns:a16="http://schemas.microsoft.com/office/drawing/2014/main" id="{4F14D71D-695B-4C6F-A671-A9843DB244D8}"/>
              </a:ext>
            </a:extLst>
          </p:cNvPr>
          <p:cNvSpPr>
            <a:spLocks xmlns:a="http://schemas.openxmlformats.org/drawingml/2006/main" noGrp="1"/>
          </p:cNvSpPr>
          <p:nvPr/>
        </p:nvSpPr>
        <p:spPr>
          <a:xfrm xmlns:a="http://schemas.openxmlformats.org/drawingml/2006/main">
            <a:off x="914400" y="542925"/>
            <a:ext cx="1238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087F8C"/>
                </a:solidFill>
                <a:latin typeface="Arial"/>
                <a:ea typeface="Arial"/>
                <a:cs typeface="Arial"/>
              </a:defRPr>
            </a:defPPr>
          </a:lstStyle>
          <a:p xmlns:a="http://schemas.openxmlformats.org/drawingml/2006/main">
            <a:pPr>
              <a:defRPr sz="1575" b="1">
                <a:solidFill>
                  <a:srgbClr val="087F8C"/>
                </a:solidFill>
                <a:latin typeface="Arial"/>
                <a:ea typeface="Arial"/>
                <a:cs typeface="Arial"/>
              </a:defRPr>
            </a:pPr>
            <a:r>
              <a:rPr sz="1575" b="1">
                <a:solidFill>
                  <a:srgbClr val="087F8C"/>
                </a:solidFill>
                <a:latin typeface="Arial"/>
                <a:ea typeface="Arial"/>
                <a:cs typeface="Arial"/>
              </a:rPr>
              <a:t>COST MANAGEMENT</a:t>
            </a:r>
          </a:p>
        </p:txBody>
      </p:sp>
      <p:sp>
        <p:nvSpPr>
          <p:cNvPr id="2" name="14 / 34">
            <a:extLst xmlns:a="http://schemas.openxmlformats.org/drawingml/2006/main">
              <a:ext uri="{FF2B5EF4-FFF2-40B4-BE49-F238E27FC236}">
                <a16:creationId xmlns:a16="http://schemas.microsoft.com/office/drawing/2014/main" id="{131000E1-3246-49BA-8B59-229DE2079AAF}"/>
              </a:ext>
            </a:extLst>
          </p:cNvPr>
          <p:cNvSpPr>
            <a:spLocks xmlns:a="http://schemas.openxmlformats.org/drawingml/2006/main" noGrp="1"/>
          </p:cNvSpPr>
          <p:nvPr/>
        </p:nvSpPr>
        <p:spPr>
          <a:xfrm xmlns:a="http://schemas.openxmlformats.org/drawingml/2006/main">
            <a:off x="13192125" y="561975"/>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77C"/>
                </a:solidFill>
                <a:latin typeface="Arial"/>
                <a:ea typeface="Arial"/>
                <a:cs typeface="Arial"/>
              </a:defRPr>
            </a:defPPr>
          </a:lstStyle>
          <a:p xmlns:a="http://schemas.openxmlformats.org/drawingml/2006/main">
            <a:pPr>
              <a:defRPr sz="1500" b="0">
                <a:solidFill>
                  <a:srgbClr val="53677C"/>
                </a:solidFill>
                <a:latin typeface="Arial"/>
                <a:ea typeface="Arial"/>
                <a:cs typeface="Arial"/>
              </a:defRPr>
            </a:pPr>
            <a:r>
              <a:rPr sz="1500" b="0">
                <a:solidFill>
                  <a:srgbClr val="53677C"/>
                </a:solidFill>
                <a:latin typeface="Arial"/>
                <a:ea typeface="Arial"/>
                <a:cs typeface="Arial"/>
              </a:rPr>
              <a:t>14 / 34</a:t>
            </a:r>
          </a:p>
        </p:txBody>
      </p:sp>
      <p:sp>
        <p:nvSpPr>
          <p:cNvPr id="3" name="Presupuestos, alertas y limpieza">
            <a:extLst xmlns:a="http://schemas.openxmlformats.org/drawingml/2006/main">
              <a:ext uri="{FF2B5EF4-FFF2-40B4-BE49-F238E27FC236}">
                <a16:creationId xmlns:a16="http://schemas.microsoft.com/office/drawing/2014/main" id="{3CF9C25F-8410-4DFF-9598-50185E1C933F}"/>
              </a:ext>
            </a:extLst>
          </p:cNvPr>
          <p:cNvSpPr>
            <a:spLocks xmlns:a="http://schemas.openxmlformats.org/drawingml/2006/main" noGrp="1"/>
          </p:cNvSpPr>
          <p:nvPr/>
        </p:nvSpPr>
        <p:spPr>
          <a:xfrm xmlns:a="http://schemas.openxmlformats.org/drawingml/2006/main">
            <a:off x="914400" y="1143000"/>
            <a:ext cx="13411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132E50"/>
                </a:solidFill>
                <a:latin typeface="Arial"/>
                <a:ea typeface="Arial"/>
                <a:cs typeface="Arial"/>
              </a:defRPr>
            </a:defPPr>
          </a:lstStyle>
          <a:p xmlns:a="http://schemas.openxmlformats.org/drawingml/2006/main">
            <a:pPr>
              <a:defRPr sz="3825" b="1">
                <a:solidFill>
                  <a:srgbClr val="132E50"/>
                </a:solidFill>
                <a:latin typeface="Arial"/>
                <a:ea typeface="Arial"/>
                <a:cs typeface="Arial"/>
              </a:defRPr>
            </a:pPr>
            <a:r>
              <a:rPr sz="3825" b="1">
                <a:solidFill>
                  <a:srgbClr val="132E50"/>
                </a:solidFill>
                <a:latin typeface="Arial"/>
                <a:ea typeface="Arial"/>
                <a:cs typeface="Arial"/>
              </a:rPr>
              <a:t>Presupuestos, alertas y limpieza</a:t>
            </a:r>
          </a:p>
        </p:txBody>
      </p:sp>
      <p:sp>
        <p:nvSpPr>
          <p:cNvPr id="4" name="Un presupuesto avisa.&#10;No detiene el consumo por sí solo.">
            <a:extLst xmlns:a="http://schemas.openxmlformats.org/drawingml/2006/main">
              <a:ext uri="{FF2B5EF4-FFF2-40B4-BE49-F238E27FC236}">
                <a16:creationId xmlns:a16="http://schemas.microsoft.com/office/drawing/2014/main" id="{DCCDAC3D-529D-4DD4-AD43-026FEF9AEE37}"/>
              </a:ext>
            </a:extLst>
          </p:cNvPr>
          <p:cNvSpPr>
            <a:spLocks xmlns:a="http://schemas.openxmlformats.org/drawingml/2006/main" noGrp="1"/>
          </p:cNvSpPr>
          <p:nvPr/>
        </p:nvSpPr>
        <p:spPr>
          <a:xfrm xmlns:a="http://schemas.openxmlformats.org/drawingml/2006/main">
            <a:off x="952500" y="2286000"/>
            <a:ext cx="13239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132E50"/>
                </a:solidFill>
                <a:latin typeface="Arial"/>
                <a:ea typeface="Arial"/>
                <a:cs typeface="Arial"/>
              </a:defRPr>
            </a:defPPr>
          </a:lstStyle>
          <a:p xmlns:a="http://schemas.openxmlformats.org/drawingml/2006/main">
            <a:pPr>
              <a:defRPr sz="3675" b="1">
                <a:solidFill>
                  <a:srgbClr val="132E50"/>
                </a:solidFill>
                <a:latin typeface="Arial"/>
                <a:ea typeface="Arial"/>
                <a:cs typeface="Arial"/>
              </a:defRPr>
            </a:pPr>
            <a:r>
              <a:rPr sz="3675" b="1">
                <a:solidFill>
                  <a:srgbClr val="132E50"/>
                </a:solidFill>
                <a:latin typeface="Arial"/>
                <a:ea typeface="Arial"/>
                <a:cs typeface="Arial"/>
              </a:rPr>
              <a:t>Un presupuesto avisa.</a:t>
            </a:r>
          </a:p>
          <a:p xmlns:a="http://schemas.openxmlformats.org/drawingml/2006/main">
            <a:pPr>
              <a:defRPr sz="3675" b="1">
                <a:solidFill>
                  <a:srgbClr val="132E50"/>
                </a:solidFill>
                <a:latin typeface="Arial"/>
                <a:ea typeface="Arial"/>
                <a:cs typeface="Arial"/>
              </a:defRPr>
            </a:pPr>
            <a:r>
              <a:rPr sz="3675" b="1">
                <a:solidFill>
                  <a:srgbClr val="132E50"/>
                </a:solidFill>
                <a:latin typeface="Arial"/>
                <a:ea typeface="Arial"/>
                <a:cs typeface="Arial"/>
              </a:rPr>
              <a:t>No detiene el consumo por sí solo.</a:t>
            </a:r>
          </a:p>
        </p:txBody>
      </p:sp>
      <p:sp>
        <p:nvSpPr>
          <p:cNvPr id="5" name="Definir importe, periodo y destinatarios de las alertas.">
            <a:extLst xmlns:a="http://schemas.openxmlformats.org/drawingml/2006/main">
              <a:ext uri="{FF2B5EF4-FFF2-40B4-BE49-F238E27FC236}">
                <a16:creationId xmlns:a16="http://schemas.microsoft.com/office/drawing/2014/main" id="{98832019-9911-45CD-A64A-41927F3BCEAB}"/>
              </a:ext>
            </a:extLst>
          </p:cNvPr>
          <p:cNvSpPr>
            <a:spLocks xmlns:a="http://schemas.openxmlformats.org/drawingml/2006/main" noGrp="1"/>
          </p:cNvSpPr>
          <p:nvPr/>
        </p:nvSpPr>
        <p:spPr>
          <a:xfrm xmlns:a="http://schemas.openxmlformats.org/drawingml/2006/main">
            <a:off x="952500" y="4333875"/>
            <a:ext cx="1323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26384B"/>
                </a:solidFill>
                <a:latin typeface="Arial"/>
                <a:ea typeface="Arial"/>
                <a:cs typeface="Arial"/>
              </a:defRPr>
            </a:defPPr>
          </a:lstStyle>
          <a:p xmlns:a="http://schemas.openxmlformats.org/drawingml/2006/main">
            <a:pPr>
              <a:defRPr sz="2325" b="0">
                <a:solidFill>
                  <a:srgbClr val="26384B"/>
                </a:solidFill>
                <a:latin typeface="Arial"/>
                <a:ea typeface="Arial"/>
                <a:cs typeface="Arial"/>
              </a:defRPr>
            </a:pPr>
            <a:r>
              <a:rPr sz="2325" b="0">
                <a:solidFill>
                  <a:srgbClr val="26384B"/>
                </a:solidFill>
                <a:latin typeface="Arial"/>
                <a:ea typeface="Arial"/>
                <a:cs typeface="Arial"/>
              </a:rPr>
              <a:t>Definir importe, periodo y destinatarios de las alertas.</a:t>
            </a:r>
          </a:p>
        </p:txBody>
      </p:sp>
      <p:sp>
        <p:nvSpPr>
          <p:cNvPr id="6" name="Revisar recursos olvidados después de la práctica.">
            <a:extLst xmlns:a="http://schemas.openxmlformats.org/drawingml/2006/main">
              <a:ext uri="{FF2B5EF4-FFF2-40B4-BE49-F238E27FC236}">
                <a16:creationId xmlns:a16="http://schemas.microsoft.com/office/drawing/2014/main" id="{ADA802FF-93DD-4AC0-AE18-A9C1DE52F971}"/>
              </a:ext>
            </a:extLst>
          </p:cNvPr>
          <p:cNvSpPr>
            <a:spLocks xmlns:a="http://schemas.openxmlformats.org/drawingml/2006/main" noGrp="1"/>
          </p:cNvSpPr>
          <p:nvPr/>
        </p:nvSpPr>
        <p:spPr>
          <a:xfrm xmlns:a="http://schemas.openxmlformats.org/drawingml/2006/main">
            <a:off x="952500" y="5143500"/>
            <a:ext cx="1323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26384B"/>
                </a:solidFill>
                <a:latin typeface="Arial"/>
                <a:ea typeface="Arial"/>
                <a:cs typeface="Arial"/>
              </a:defRPr>
            </a:defPPr>
          </a:lstStyle>
          <a:p xmlns:a="http://schemas.openxmlformats.org/drawingml/2006/main">
            <a:pPr>
              <a:defRPr sz="2325" b="0">
                <a:solidFill>
                  <a:srgbClr val="26384B"/>
                </a:solidFill>
                <a:latin typeface="Arial"/>
                <a:ea typeface="Arial"/>
                <a:cs typeface="Arial"/>
              </a:defRPr>
            </a:pPr>
            <a:r>
              <a:rPr sz="2325" b="0">
                <a:solidFill>
                  <a:srgbClr val="26384B"/>
                </a:solidFill>
                <a:latin typeface="Arial"/>
                <a:ea typeface="Arial"/>
                <a:cs typeface="Arial"/>
              </a:rPr>
              <a:t>Revisar recursos olvidados después de la práctica.</a:t>
            </a:r>
          </a:p>
        </p:txBody>
      </p:sp>
      <p:sp>
        <p:nvSpPr>
          <p:cNvPr id="7" name="Confirmar la eliminación de lo que ya no se necesita.">
            <a:extLst xmlns:a="http://schemas.openxmlformats.org/drawingml/2006/main">
              <a:ext uri="{FF2B5EF4-FFF2-40B4-BE49-F238E27FC236}">
                <a16:creationId xmlns:a16="http://schemas.microsoft.com/office/drawing/2014/main" id="{A871040D-60B7-4219-867E-F677CFD6FAE1}"/>
              </a:ext>
            </a:extLst>
          </p:cNvPr>
          <p:cNvSpPr>
            <a:spLocks xmlns:a="http://schemas.openxmlformats.org/drawingml/2006/main" noGrp="1"/>
          </p:cNvSpPr>
          <p:nvPr/>
        </p:nvSpPr>
        <p:spPr>
          <a:xfrm xmlns:a="http://schemas.openxmlformats.org/drawingml/2006/main">
            <a:off x="952500" y="5953125"/>
            <a:ext cx="1323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26384B"/>
                </a:solidFill>
                <a:latin typeface="Arial"/>
                <a:ea typeface="Arial"/>
                <a:cs typeface="Arial"/>
              </a:defRPr>
            </a:defPPr>
          </a:lstStyle>
          <a:p xmlns:a="http://schemas.openxmlformats.org/drawingml/2006/main">
            <a:pPr>
              <a:defRPr sz="2325" b="0">
                <a:solidFill>
                  <a:srgbClr val="26384B"/>
                </a:solidFill>
                <a:latin typeface="Arial"/>
                <a:ea typeface="Arial"/>
                <a:cs typeface="Arial"/>
              </a:defRPr>
            </a:pPr>
            <a:r>
              <a:rPr sz="2325" b="0">
                <a:solidFill>
                  <a:srgbClr val="26384B"/>
                </a:solidFill>
                <a:latin typeface="Arial"/>
                <a:ea typeface="Arial"/>
                <a:cs typeface="Arial"/>
              </a:rPr>
              <a:t>Confirmar la eliminación de lo que ya no se necesita.</a:t>
            </a:r>
          </a:p>
        </p:txBody>
      </p:sp>
      <p:sp>
        <p:nvSpPr>
          <p:cNvPr id="8" name="Desasignar una VM no elimina todos sus posibles cargos asociados.">
            <a:extLst xmlns:a="http://schemas.openxmlformats.org/drawingml/2006/main">
              <a:ext uri="{FF2B5EF4-FFF2-40B4-BE49-F238E27FC236}">
                <a16:creationId xmlns:a16="http://schemas.microsoft.com/office/drawing/2014/main" id="{2754030B-0D2C-4A07-8D39-3F0CDC923AF0}"/>
              </a:ext>
            </a:extLst>
          </p:cNvPr>
          <p:cNvSpPr>
            <a:spLocks xmlns:a="http://schemas.openxmlformats.org/drawingml/2006/main" noGrp="1"/>
          </p:cNvSpPr>
          <p:nvPr/>
        </p:nvSpPr>
        <p:spPr>
          <a:xfrm xmlns:a="http://schemas.openxmlformats.org/drawingml/2006/main">
            <a:off x="952500" y="7629525"/>
            <a:ext cx="13335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3677C"/>
                </a:solidFill>
                <a:latin typeface="Arial"/>
                <a:ea typeface="Arial"/>
                <a:cs typeface="Arial"/>
              </a:defRPr>
            </a:defPPr>
          </a:lstStyle>
          <a:p xmlns:a="http://schemas.openxmlformats.org/drawingml/2006/main">
            <a:pPr>
              <a:defRPr sz="1800" b="0">
                <a:solidFill>
                  <a:srgbClr val="53677C"/>
                </a:solidFill>
                <a:latin typeface="Arial"/>
                <a:ea typeface="Arial"/>
                <a:cs typeface="Arial"/>
              </a:defRPr>
            </a:pPr>
            <a:r>
              <a:rPr sz="1800" b="0">
                <a:solidFill>
                  <a:srgbClr val="53677C"/>
                </a:solidFill>
                <a:latin typeface="Arial"/>
                <a:ea typeface="Arial"/>
                <a:cs typeface="Arial"/>
              </a:rPr>
              <a:t>Desasignar una VM no elimina todos sus posibles cargos asociados.</a:t>
            </a:r>
          </a:p>
        </p:txBody>
      </p:sp>
    </p:spTree>
    <p:extLst>
      <p:ext uri="{BB962C8B-B14F-4D97-AF65-F5344CB8AC3E}">
        <p14:creationId xmlns:p14="http://schemas.microsoft.com/office/powerpoint/2010/main" val="938689537"/>
      </p:ext>
    </p:extLst>
  </p:cSld>
</p:sld>
</file>

<file path=ppt/slides/slide1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0" name="TERRAFORM">
            <a:extLst xmlns:a="http://schemas.openxmlformats.org/drawingml/2006/main">
              <a:ext uri="{FF2B5EF4-FFF2-40B4-BE49-F238E27FC236}">
                <a16:creationId xmlns:a16="http://schemas.microsoft.com/office/drawing/2014/main" id="{1C003503-6992-4D83-818C-D484133892E6}"/>
              </a:ext>
            </a:extLst>
          </p:cNvPr>
          <p:cNvSpPr>
            <a:spLocks xmlns:a="http://schemas.openxmlformats.org/drawingml/2006/main" noGrp="1"/>
          </p:cNvSpPr>
          <p:nvPr/>
        </p:nvSpPr>
        <p:spPr>
          <a:xfrm xmlns:a="http://schemas.openxmlformats.org/drawingml/2006/main">
            <a:off x="914400" y="542925"/>
            <a:ext cx="1238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087F8C"/>
                </a:solidFill>
                <a:latin typeface="Arial"/>
                <a:ea typeface="Arial"/>
                <a:cs typeface="Arial"/>
              </a:defRPr>
            </a:defPPr>
          </a:lstStyle>
          <a:p xmlns:a="http://schemas.openxmlformats.org/drawingml/2006/main">
            <a:pPr>
              <a:defRPr sz="1575" b="1">
                <a:solidFill>
                  <a:srgbClr val="087F8C"/>
                </a:solidFill>
                <a:latin typeface="Arial"/>
                <a:ea typeface="Arial"/>
                <a:cs typeface="Arial"/>
              </a:defRPr>
            </a:pPr>
            <a:r>
              <a:rPr sz="1575" b="1">
                <a:solidFill>
                  <a:srgbClr val="087F8C"/>
                </a:solidFill>
                <a:latin typeface="Arial"/>
                <a:ea typeface="Arial"/>
                <a:cs typeface="Arial"/>
              </a:rPr>
              <a:t>TERRAFORM</a:t>
            </a:r>
          </a:p>
        </p:txBody>
      </p:sp>
      <p:sp>
        <p:nvSpPr>
          <p:cNvPr id="2" name="15 / 34">
            <a:extLst xmlns:a="http://schemas.openxmlformats.org/drawingml/2006/main">
              <a:ext uri="{FF2B5EF4-FFF2-40B4-BE49-F238E27FC236}">
                <a16:creationId xmlns:a16="http://schemas.microsoft.com/office/drawing/2014/main" id="{395F36CE-C675-4DBA-B5BF-F705B1C60C98}"/>
              </a:ext>
            </a:extLst>
          </p:cNvPr>
          <p:cNvSpPr>
            <a:spLocks xmlns:a="http://schemas.openxmlformats.org/drawingml/2006/main" noGrp="1"/>
          </p:cNvSpPr>
          <p:nvPr/>
        </p:nvSpPr>
        <p:spPr>
          <a:xfrm xmlns:a="http://schemas.openxmlformats.org/drawingml/2006/main">
            <a:off x="13192125" y="561975"/>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77C"/>
                </a:solidFill>
                <a:latin typeface="Arial"/>
                <a:ea typeface="Arial"/>
                <a:cs typeface="Arial"/>
              </a:defRPr>
            </a:defPPr>
          </a:lstStyle>
          <a:p xmlns:a="http://schemas.openxmlformats.org/drawingml/2006/main">
            <a:pPr>
              <a:defRPr sz="1500" b="0">
                <a:solidFill>
                  <a:srgbClr val="53677C"/>
                </a:solidFill>
                <a:latin typeface="Arial"/>
                <a:ea typeface="Arial"/>
                <a:cs typeface="Arial"/>
              </a:defRPr>
            </a:pPr>
            <a:r>
              <a:rPr sz="1500" b="0">
                <a:solidFill>
                  <a:srgbClr val="53677C"/>
                </a:solidFill>
                <a:latin typeface="Arial"/>
                <a:ea typeface="Arial"/>
                <a:cs typeface="Arial"/>
              </a:rPr>
              <a:t>15 / 34</a:t>
            </a:r>
          </a:p>
        </p:txBody>
      </p:sp>
      <p:sp>
        <p:nvSpPr>
          <p:cNvPr id="3" name="Terraform: provider y recurso">
            <a:extLst xmlns:a="http://schemas.openxmlformats.org/drawingml/2006/main">
              <a:ext uri="{FF2B5EF4-FFF2-40B4-BE49-F238E27FC236}">
                <a16:creationId xmlns:a16="http://schemas.microsoft.com/office/drawing/2014/main" id="{0D5E1D61-C53A-42C5-A0F6-AEC5F356853E}"/>
              </a:ext>
            </a:extLst>
          </p:cNvPr>
          <p:cNvSpPr>
            <a:spLocks xmlns:a="http://schemas.openxmlformats.org/drawingml/2006/main" noGrp="1"/>
          </p:cNvSpPr>
          <p:nvPr/>
        </p:nvSpPr>
        <p:spPr>
          <a:xfrm xmlns:a="http://schemas.openxmlformats.org/drawingml/2006/main">
            <a:off x="914400" y="1143000"/>
            <a:ext cx="13411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132E50"/>
                </a:solidFill>
                <a:latin typeface="Arial"/>
                <a:ea typeface="Arial"/>
                <a:cs typeface="Arial"/>
              </a:defRPr>
            </a:defPPr>
          </a:lstStyle>
          <a:p xmlns:a="http://schemas.openxmlformats.org/drawingml/2006/main">
            <a:pPr>
              <a:defRPr sz="3825" b="1">
                <a:solidFill>
                  <a:srgbClr val="132E50"/>
                </a:solidFill>
                <a:latin typeface="Arial"/>
                <a:ea typeface="Arial"/>
                <a:cs typeface="Arial"/>
              </a:defRPr>
            </a:pPr>
            <a:r>
              <a:rPr sz="3825" b="1">
                <a:solidFill>
                  <a:srgbClr val="132E50"/>
                </a:solidFill>
                <a:latin typeface="Arial"/>
                <a:ea typeface="Arial"/>
                <a:cs typeface="Arial"/>
              </a:rPr>
              <a:t>Terraform: provider y recurso</a:t>
            </a:r>
          </a:p>
        </p:txBody>
      </p:sp>
      <p:sp>
        <p:nvSpPr>
          <p:cNvPr id="4" name="Provider azurerm: conecta Terraform con la API de Azure">
            <a:extLst xmlns:a="http://schemas.openxmlformats.org/drawingml/2006/main">
              <a:ext uri="{FF2B5EF4-FFF2-40B4-BE49-F238E27FC236}">
                <a16:creationId xmlns:a16="http://schemas.microsoft.com/office/drawing/2014/main" id="{2138BB2E-D9B2-4CEA-8BAA-2B7EEB64E9CE}"/>
              </a:ext>
            </a:extLst>
          </p:cNvPr>
          <p:cNvSpPr>
            <a:spLocks xmlns:a="http://schemas.openxmlformats.org/drawingml/2006/main" noGrp="1"/>
          </p:cNvSpPr>
          <p:nvPr/>
        </p:nvSpPr>
        <p:spPr>
          <a:xfrm xmlns:a="http://schemas.openxmlformats.org/drawingml/2006/main">
            <a:off x="952500" y="2009775"/>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Provider azurerm: conecta Terraform con la API de Azure</a:t>
            </a:r>
          </a:p>
        </p:txBody>
      </p:sp>
      <p:sp>
        <p:nvSpPr>
          <p:cNvPr id="5" name="resource &quot;azurerm_resource_group&quot; &quot;this&quot; {&#10;  name     = &quot;rg-${loc">
            <a:extLst xmlns:a="http://schemas.openxmlformats.org/drawingml/2006/main">
              <a:ext uri="{FF2B5EF4-FFF2-40B4-BE49-F238E27FC236}">
                <a16:creationId xmlns:a16="http://schemas.microsoft.com/office/drawing/2014/main" id="{FC9CB81C-B3AC-46FE-869F-543367779441}"/>
              </a:ext>
            </a:extLst>
          </p:cNvPr>
          <p:cNvSpPr>
            <a:spLocks xmlns:a="http://schemas.openxmlformats.org/drawingml/2006/main" noGrp="1"/>
          </p:cNvSpPr>
          <p:nvPr/>
        </p:nvSpPr>
        <p:spPr>
          <a:xfrm xmlns:a="http://schemas.openxmlformats.org/drawingml/2006/main">
            <a:off x="952500" y="2381250"/>
            <a:ext cx="8858250" cy="457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32E50"/>
                </a:solidFill>
                <a:latin typeface="Courier New"/>
                <a:ea typeface="Courier New"/>
                <a:cs typeface="Courier New"/>
              </a:defRPr>
            </a:defPPr>
          </a:lstStyle>
          <a:p xmlns:a="http://schemas.openxmlformats.org/drawingml/2006/main">
            <a:pPr>
              <a:defRPr sz="2025" b="0">
                <a:solidFill>
                  <a:srgbClr val="132E50"/>
                </a:solidFill>
                <a:latin typeface="Courier New"/>
                <a:ea typeface="Courier New"/>
                <a:cs typeface="Courier New"/>
              </a:defRPr>
            </a:pPr>
            <a:r>
              <a:rPr sz="2025" b="0">
                <a:solidFill>
                  <a:srgbClr val="132E50"/>
                </a:solidFill>
                <a:latin typeface="Courier New"/>
                <a:ea typeface="Courier New"/>
                <a:cs typeface="Courier New"/>
              </a:rPr>
              <a:t>resource "azurerm_resource_group" "this" {</a:t>
            </a:r>
          </a:p>
          <a:p xmlns:a="http://schemas.openxmlformats.org/drawingml/2006/main">
            <a:pPr>
              <a:defRPr sz="2025" b="0">
                <a:solidFill>
                  <a:srgbClr val="132E50"/>
                </a:solidFill>
                <a:latin typeface="Courier New"/>
                <a:ea typeface="Courier New"/>
                <a:cs typeface="Courier New"/>
              </a:defRPr>
            </a:pPr>
            <a:r>
              <a:rPr sz="2025" b="0">
                <a:solidFill>
                  <a:srgbClr val="132E50"/>
                </a:solidFill>
                <a:latin typeface="Courier New"/>
                <a:ea typeface="Courier New"/>
                <a:cs typeface="Courier New"/>
              </a:rPr>
              <a:t>  name     = "rg-${local.prefix}"</a:t>
            </a:r>
          </a:p>
          <a:p xmlns:a="http://schemas.openxmlformats.org/drawingml/2006/main">
            <a:pPr>
              <a:defRPr sz="2025" b="0">
                <a:solidFill>
                  <a:srgbClr val="132E50"/>
                </a:solidFill>
                <a:latin typeface="Courier New"/>
                <a:ea typeface="Courier New"/>
                <a:cs typeface="Courier New"/>
              </a:defRPr>
            </a:pPr>
            <a:r>
              <a:rPr sz="2025" b="0">
                <a:solidFill>
                  <a:srgbClr val="132E50"/>
                </a:solidFill>
                <a:latin typeface="Courier New"/>
                <a:ea typeface="Courier New"/>
                <a:cs typeface="Courier New"/>
              </a:rPr>
              <a:t>  location = var.location</a:t>
            </a:r>
          </a:p>
          <a:p xmlns:a="http://schemas.openxmlformats.org/drawingml/2006/main">
            <a:pPr>
              <a:defRPr sz="2025" b="0">
                <a:solidFill>
                  <a:srgbClr val="132E50"/>
                </a:solidFill>
                <a:latin typeface="Courier New"/>
                <a:ea typeface="Courier New"/>
                <a:cs typeface="Courier New"/>
              </a:defRPr>
            </a:pPr>
            <a:r>
              <a:rPr sz="2025" b="0">
                <a:solidFill>
                  <a:srgbClr val="132E50"/>
                </a:solidFill>
                <a:latin typeface="Courier New"/>
                <a:ea typeface="Courier New"/>
                <a:cs typeface="Courier New"/>
              </a:rPr>
              <a:t>}</a:t>
            </a:r>
          </a:p>
        </p:txBody>
      </p:sp>
      <p:sp>
        <p:nvSpPr>
          <p:cNvPr id="6" name="Tipo: azurerm_resource_group">
            <a:extLst xmlns:a="http://schemas.openxmlformats.org/drawingml/2006/main">
              <a:ext uri="{FF2B5EF4-FFF2-40B4-BE49-F238E27FC236}">
                <a16:creationId xmlns:a16="http://schemas.microsoft.com/office/drawing/2014/main" id="{FADAB5DE-B32D-4A1F-AC98-14413AA09BB0}"/>
              </a:ext>
            </a:extLst>
          </p:cNvPr>
          <p:cNvSpPr>
            <a:spLocks xmlns:a="http://schemas.openxmlformats.org/drawingml/2006/main" noGrp="1"/>
          </p:cNvSpPr>
          <p:nvPr/>
        </p:nvSpPr>
        <p:spPr>
          <a:xfrm xmlns:a="http://schemas.openxmlformats.org/drawingml/2006/main">
            <a:off x="10287000" y="2571750"/>
            <a:ext cx="4000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26384B"/>
                </a:solidFill>
                <a:latin typeface="Arial"/>
                <a:ea typeface="Arial"/>
                <a:cs typeface="Arial"/>
              </a:defRPr>
            </a:defPPr>
          </a:lstStyle>
          <a:p xmlns:a="http://schemas.openxmlformats.org/drawingml/2006/main">
            <a:pPr>
              <a:defRPr sz="2325" b="0">
                <a:solidFill>
                  <a:srgbClr val="26384B"/>
                </a:solidFill>
                <a:latin typeface="Arial"/>
                <a:ea typeface="Arial"/>
                <a:cs typeface="Arial"/>
              </a:defRPr>
            </a:pPr>
            <a:r>
              <a:rPr sz="2325" b="0">
                <a:solidFill>
                  <a:srgbClr val="26384B"/>
                </a:solidFill>
                <a:latin typeface="Arial"/>
                <a:ea typeface="Arial"/>
                <a:cs typeface="Arial"/>
              </a:rPr>
              <a:t>Tipo: azurerm_resource_group</a:t>
            </a:r>
          </a:p>
        </p:txBody>
      </p:sp>
      <p:sp>
        <p:nvSpPr>
          <p:cNvPr id="7" name="Etiqueta local: this">
            <a:extLst xmlns:a="http://schemas.openxmlformats.org/drawingml/2006/main">
              <a:ext uri="{FF2B5EF4-FFF2-40B4-BE49-F238E27FC236}">
                <a16:creationId xmlns:a16="http://schemas.microsoft.com/office/drawing/2014/main" id="{213B7A2F-6689-4B92-B1B6-6028747DD2AB}"/>
              </a:ext>
            </a:extLst>
          </p:cNvPr>
          <p:cNvSpPr>
            <a:spLocks xmlns:a="http://schemas.openxmlformats.org/drawingml/2006/main" noGrp="1"/>
          </p:cNvSpPr>
          <p:nvPr/>
        </p:nvSpPr>
        <p:spPr>
          <a:xfrm xmlns:a="http://schemas.openxmlformats.org/drawingml/2006/main">
            <a:off x="10287000" y="4000500"/>
            <a:ext cx="4000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26384B"/>
                </a:solidFill>
                <a:latin typeface="Arial"/>
                <a:ea typeface="Arial"/>
                <a:cs typeface="Arial"/>
              </a:defRPr>
            </a:defPPr>
          </a:lstStyle>
          <a:p xmlns:a="http://schemas.openxmlformats.org/drawingml/2006/main">
            <a:pPr>
              <a:defRPr sz="2325" b="0">
                <a:solidFill>
                  <a:srgbClr val="26384B"/>
                </a:solidFill>
                <a:latin typeface="Arial"/>
                <a:ea typeface="Arial"/>
                <a:cs typeface="Arial"/>
              </a:defRPr>
            </a:pPr>
            <a:r>
              <a:rPr sz="2325" b="0">
                <a:solidFill>
                  <a:srgbClr val="26384B"/>
                </a:solidFill>
                <a:latin typeface="Arial"/>
                <a:ea typeface="Arial"/>
                <a:cs typeface="Arial"/>
              </a:rPr>
              <a:t>Etiqueta local: this</a:t>
            </a:r>
          </a:p>
        </p:txBody>
      </p:sp>
      <p:sp>
        <p:nvSpPr>
          <p:cNvPr id="8" name="Nombre en Azure: name">
            <a:extLst xmlns:a="http://schemas.openxmlformats.org/drawingml/2006/main">
              <a:ext uri="{FF2B5EF4-FFF2-40B4-BE49-F238E27FC236}">
                <a16:creationId xmlns:a16="http://schemas.microsoft.com/office/drawing/2014/main" id="{92D2C378-41F0-48C1-96F7-FF82EAEFA56F}"/>
              </a:ext>
            </a:extLst>
          </p:cNvPr>
          <p:cNvSpPr>
            <a:spLocks xmlns:a="http://schemas.openxmlformats.org/drawingml/2006/main" noGrp="1"/>
          </p:cNvSpPr>
          <p:nvPr/>
        </p:nvSpPr>
        <p:spPr>
          <a:xfrm xmlns:a="http://schemas.openxmlformats.org/drawingml/2006/main">
            <a:off x="10287000" y="5429250"/>
            <a:ext cx="4000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26384B"/>
                </a:solidFill>
                <a:latin typeface="Arial"/>
                <a:ea typeface="Arial"/>
                <a:cs typeface="Arial"/>
              </a:defRPr>
            </a:defPPr>
          </a:lstStyle>
          <a:p xmlns:a="http://schemas.openxmlformats.org/drawingml/2006/main">
            <a:pPr>
              <a:defRPr sz="2325" b="0">
                <a:solidFill>
                  <a:srgbClr val="26384B"/>
                </a:solidFill>
                <a:latin typeface="Arial"/>
                <a:ea typeface="Arial"/>
                <a:cs typeface="Arial"/>
              </a:defRPr>
            </a:pPr>
            <a:r>
              <a:rPr sz="2325" b="0">
                <a:solidFill>
                  <a:srgbClr val="26384B"/>
                </a:solidFill>
                <a:latin typeface="Arial"/>
                <a:ea typeface="Arial"/>
                <a:cs typeface="Arial"/>
              </a:rPr>
              <a:t>Nombre en Azure: name</a:t>
            </a:r>
          </a:p>
        </p:txBody>
      </p:sp>
      <p:sp>
        <p:nvSpPr>
          <p:cNvPr id="9" name="Extracto real del módulo. En esta demo Terraform administra Azure">
            <a:extLst xmlns:a="http://schemas.openxmlformats.org/drawingml/2006/main">
              <a:ext uri="{FF2B5EF4-FFF2-40B4-BE49-F238E27FC236}">
                <a16:creationId xmlns:a16="http://schemas.microsoft.com/office/drawing/2014/main" id="{03509E2A-B8E0-4545-B741-BCF79DB180CB}"/>
              </a:ext>
            </a:extLst>
          </p:cNvPr>
          <p:cNvSpPr>
            <a:spLocks xmlns:a="http://schemas.openxmlformats.org/drawingml/2006/main" noGrp="1"/>
          </p:cNvSpPr>
          <p:nvPr/>
        </p:nvSpPr>
        <p:spPr>
          <a:xfrm xmlns:a="http://schemas.openxmlformats.org/drawingml/2006/main">
            <a:off x="952500" y="7629525"/>
            <a:ext cx="13335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3677C"/>
                </a:solidFill>
                <a:latin typeface="Arial"/>
                <a:ea typeface="Arial"/>
                <a:cs typeface="Arial"/>
              </a:defRPr>
            </a:defPPr>
          </a:lstStyle>
          <a:p xmlns:a="http://schemas.openxmlformats.org/drawingml/2006/main">
            <a:pPr>
              <a:defRPr sz="1800" b="0">
                <a:solidFill>
                  <a:srgbClr val="53677C"/>
                </a:solidFill>
                <a:latin typeface="Arial"/>
                <a:ea typeface="Arial"/>
                <a:cs typeface="Arial"/>
              </a:defRPr>
            </a:pPr>
            <a:r>
              <a:rPr sz="1800" b="0">
                <a:solidFill>
                  <a:srgbClr val="53677C"/>
                </a:solidFill>
                <a:latin typeface="Arial"/>
                <a:ea typeface="Arial"/>
                <a:cs typeface="Arial"/>
              </a:rPr>
              <a:t>Extracto real del módulo. En esta demo Terraform administra Azure mediante su API.</a:t>
            </a:r>
          </a:p>
        </p:txBody>
      </p:sp>
    </p:spTree>
    <p:extLst>
      <p:ext uri="{BB962C8B-B14F-4D97-AF65-F5344CB8AC3E}">
        <p14:creationId xmlns:p14="http://schemas.microsoft.com/office/powerpoint/2010/main" val="1494788101"/>
      </p:ext>
    </p:extLst>
  </p:cSld>
</p:sld>
</file>

<file path=ppt/slides/slide1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3" name="TERRAFORM">
            <a:extLst xmlns:a="http://schemas.openxmlformats.org/drawingml/2006/main">
              <a:ext uri="{FF2B5EF4-FFF2-40B4-BE49-F238E27FC236}">
                <a16:creationId xmlns:a16="http://schemas.microsoft.com/office/drawing/2014/main" id="{22B34F58-31E0-4D98-8459-5C9413322DBA}"/>
              </a:ext>
            </a:extLst>
          </p:cNvPr>
          <p:cNvSpPr>
            <a:spLocks xmlns:a="http://schemas.openxmlformats.org/drawingml/2006/main" noGrp="1"/>
          </p:cNvSpPr>
          <p:nvPr/>
        </p:nvSpPr>
        <p:spPr>
          <a:xfrm xmlns:a="http://schemas.openxmlformats.org/drawingml/2006/main">
            <a:off x="914400" y="542925"/>
            <a:ext cx="1238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087F8C"/>
                </a:solidFill>
                <a:latin typeface="Arial"/>
                <a:ea typeface="Arial"/>
                <a:cs typeface="Arial"/>
              </a:defRPr>
            </a:defPPr>
          </a:lstStyle>
          <a:p xmlns:a="http://schemas.openxmlformats.org/drawingml/2006/main">
            <a:pPr>
              <a:defRPr sz="1575" b="1">
                <a:solidFill>
                  <a:srgbClr val="087F8C"/>
                </a:solidFill>
                <a:latin typeface="Arial"/>
                <a:ea typeface="Arial"/>
                <a:cs typeface="Arial"/>
              </a:defRPr>
            </a:pPr>
            <a:r>
              <a:rPr sz="1575" b="1">
                <a:solidFill>
                  <a:srgbClr val="087F8C"/>
                </a:solidFill>
                <a:latin typeface="Arial"/>
                <a:ea typeface="Arial"/>
                <a:cs typeface="Arial"/>
              </a:rPr>
              <a:t>TERRAFORM</a:t>
            </a:r>
          </a:p>
        </p:txBody>
      </p:sp>
      <p:sp>
        <p:nvSpPr>
          <p:cNvPr id="2" name="16 / 34">
            <a:extLst xmlns:a="http://schemas.openxmlformats.org/drawingml/2006/main">
              <a:ext uri="{FF2B5EF4-FFF2-40B4-BE49-F238E27FC236}">
                <a16:creationId xmlns:a16="http://schemas.microsoft.com/office/drawing/2014/main" id="{2F46C3FA-3490-4C89-A35B-754F780C8517}"/>
              </a:ext>
            </a:extLst>
          </p:cNvPr>
          <p:cNvSpPr>
            <a:spLocks xmlns:a="http://schemas.openxmlformats.org/drawingml/2006/main" noGrp="1"/>
          </p:cNvSpPr>
          <p:nvPr/>
        </p:nvSpPr>
        <p:spPr>
          <a:xfrm xmlns:a="http://schemas.openxmlformats.org/drawingml/2006/main">
            <a:off x="13192125" y="561975"/>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77C"/>
                </a:solidFill>
                <a:latin typeface="Arial"/>
                <a:ea typeface="Arial"/>
                <a:cs typeface="Arial"/>
              </a:defRPr>
            </a:defPPr>
          </a:lstStyle>
          <a:p xmlns:a="http://schemas.openxmlformats.org/drawingml/2006/main">
            <a:pPr>
              <a:defRPr sz="1500" b="0">
                <a:solidFill>
                  <a:srgbClr val="53677C"/>
                </a:solidFill>
                <a:latin typeface="Arial"/>
                <a:ea typeface="Arial"/>
                <a:cs typeface="Arial"/>
              </a:defRPr>
            </a:pPr>
            <a:r>
              <a:rPr sz="1500" b="0">
                <a:solidFill>
                  <a:srgbClr val="53677C"/>
                </a:solidFill>
                <a:latin typeface="Arial"/>
                <a:ea typeface="Arial"/>
                <a:cs typeface="Arial"/>
              </a:rPr>
              <a:t>16 / 34</a:t>
            </a:r>
          </a:p>
        </p:txBody>
      </p:sp>
      <p:sp>
        <p:nvSpPr>
          <p:cNvPr id="3" name="Dependencias y memoria del estado">
            <a:extLst xmlns:a="http://schemas.openxmlformats.org/drawingml/2006/main">
              <a:ext uri="{FF2B5EF4-FFF2-40B4-BE49-F238E27FC236}">
                <a16:creationId xmlns:a16="http://schemas.microsoft.com/office/drawing/2014/main" id="{93554D84-968F-4EA8-90B7-E265483E995E}"/>
              </a:ext>
            </a:extLst>
          </p:cNvPr>
          <p:cNvSpPr>
            <a:spLocks xmlns:a="http://schemas.openxmlformats.org/drawingml/2006/main" noGrp="1"/>
          </p:cNvSpPr>
          <p:nvPr/>
        </p:nvSpPr>
        <p:spPr>
          <a:xfrm xmlns:a="http://schemas.openxmlformats.org/drawingml/2006/main">
            <a:off x="914400" y="1143000"/>
            <a:ext cx="13411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132E50"/>
                </a:solidFill>
                <a:latin typeface="Arial"/>
                <a:ea typeface="Arial"/>
                <a:cs typeface="Arial"/>
              </a:defRPr>
            </a:defPPr>
          </a:lstStyle>
          <a:p xmlns:a="http://schemas.openxmlformats.org/drawingml/2006/main">
            <a:pPr>
              <a:defRPr sz="3825" b="1">
                <a:solidFill>
                  <a:srgbClr val="132E50"/>
                </a:solidFill>
                <a:latin typeface="Arial"/>
                <a:ea typeface="Arial"/>
                <a:cs typeface="Arial"/>
              </a:defRPr>
            </a:pPr>
            <a:r>
              <a:rPr sz="3825" b="1">
                <a:solidFill>
                  <a:srgbClr val="132E50"/>
                </a:solidFill>
                <a:latin typeface="Arial"/>
                <a:ea typeface="Arial"/>
                <a:cs typeface="Arial"/>
              </a:rPr>
              <a:t>Dependencias y memoria del estado</a:t>
            </a:r>
          </a:p>
        </p:txBody>
      </p:sp>
      <p:sp>
        <p:nvSpPr>
          <p:cNvPr id="4" name="Referencias">
            <a:extLst xmlns:a="http://schemas.openxmlformats.org/drawingml/2006/main">
              <a:ext uri="{FF2B5EF4-FFF2-40B4-BE49-F238E27FC236}">
                <a16:creationId xmlns:a16="http://schemas.microsoft.com/office/drawing/2014/main" id="{0FD89AF5-9F17-4121-9D4E-86530ACAE27D}"/>
              </a:ext>
            </a:extLst>
          </p:cNvPr>
          <p:cNvSpPr>
            <a:spLocks xmlns:a="http://schemas.openxmlformats.org/drawingml/2006/main" noGrp="1"/>
          </p:cNvSpPr>
          <p:nvPr/>
        </p:nvSpPr>
        <p:spPr>
          <a:xfrm xmlns:a="http://schemas.openxmlformats.org/drawingml/2006/main">
            <a:off x="952500" y="2333625"/>
            <a:ext cx="4381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87F8C"/>
                </a:solidFill>
                <a:latin typeface="Arial"/>
                <a:ea typeface="Arial"/>
                <a:cs typeface="Arial"/>
              </a:defRPr>
            </a:defPPr>
          </a:lstStyle>
          <a:p xmlns:a="http://schemas.openxmlformats.org/drawingml/2006/main">
            <a:pPr>
              <a:defRPr sz="2325" b="1">
                <a:solidFill>
                  <a:srgbClr val="087F8C"/>
                </a:solidFill>
                <a:latin typeface="Arial"/>
                <a:ea typeface="Arial"/>
                <a:cs typeface="Arial"/>
              </a:defRPr>
            </a:pPr>
            <a:r>
              <a:rPr sz="2325" b="1">
                <a:solidFill>
                  <a:srgbClr val="087F8C"/>
                </a:solidFill>
                <a:latin typeface="Arial"/>
                <a:ea typeface="Arial"/>
                <a:cs typeface="Arial"/>
              </a:rPr>
              <a:t>Referencias</a:t>
            </a:r>
          </a:p>
        </p:txBody>
      </p:sp>
      <p:sp>
        <p:nvSpPr>
          <p:cNvPr id="5" name="Terraform infiere qué depende de qué">
            <a:extLst xmlns:a="http://schemas.openxmlformats.org/drawingml/2006/main">
              <a:ext uri="{FF2B5EF4-FFF2-40B4-BE49-F238E27FC236}">
                <a16:creationId xmlns:a16="http://schemas.microsoft.com/office/drawing/2014/main" id="{9A0ADAB9-4512-4503-A838-7051E7413DB7}"/>
              </a:ext>
            </a:extLst>
          </p:cNvPr>
          <p:cNvSpPr>
            <a:spLocks xmlns:a="http://schemas.openxmlformats.org/drawingml/2006/main" noGrp="1"/>
          </p:cNvSpPr>
          <p:nvPr/>
        </p:nvSpPr>
        <p:spPr>
          <a:xfrm xmlns:a="http://schemas.openxmlformats.org/drawingml/2006/main">
            <a:off x="5810250" y="2333625"/>
            <a:ext cx="8429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0">
                <a:solidFill>
                  <a:srgbClr val="26384B"/>
                </a:solidFill>
                <a:latin typeface="Arial"/>
                <a:ea typeface="Arial"/>
                <a:cs typeface="Arial"/>
              </a:defRPr>
            </a:defPPr>
          </a:lstStyle>
          <a:p xmlns:a="http://schemas.openxmlformats.org/drawingml/2006/main">
            <a:pPr>
              <a:defRPr sz="2475" b="0">
                <a:solidFill>
                  <a:srgbClr val="26384B"/>
                </a:solidFill>
                <a:latin typeface="Arial"/>
                <a:ea typeface="Arial"/>
                <a:cs typeface="Arial"/>
              </a:defRPr>
            </a:pPr>
            <a:r>
              <a:rPr sz="2475" b="0">
                <a:solidFill>
                  <a:srgbClr val="26384B"/>
                </a:solidFill>
                <a:latin typeface="Arial"/>
                <a:ea typeface="Arial"/>
                <a:cs typeface="Arial"/>
              </a:rPr>
              <a:t>Terraform infiere qué depende de qué</a:t>
            </a:r>
          </a:p>
        </p:txBody>
      </p:sp>
      <p:sp>
        <p:nvSpPr>
          <p:cNvPr id="6" name="Estado">
            <a:extLst xmlns:a="http://schemas.openxmlformats.org/drawingml/2006/main">
              <a:ext uri="{FF2B5EF4-FFF2-40B4-BE49-F238E27FC236}">
                <a16:creationId xmlns:a16="http://schemas.microsoft.com/office/drawing/2014/main" id="{F9520222-DD4C-41CE-8D43-4497E5E0DCDD}"/>
              </a:ext>
            </a:extLst>
          </p:cNvPr>
          <p:cNvSpPr>
            <a:spLocks xmlns:a="http://schemas.openxmlformats.org/drawingml/2006/main" noGrp="1"/>
          </p:cNvSpPr>
          <p:nvPr/>
        </p:nvSpPr>
        <p:spPr>
          <a:xfrm xmlns:a="http://schemas.openxmlformats.org/drawingml/2006/main">
            <a:off x="952500" y="3438525"/>
            <a:ext cx="4381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87F8C"/>
                </a:solidFill>
                <a:latin typeface="Arial"/>
                <a:ea typeface="Arial"/>
                <a:cs typeface="Arial"/>
              </a:defRPr>
            </a:defPPr>
          </a:lstStyle>
          <a:p xmlns:a="http://schemas.openxmlformats.org/drawingml/2006/main">
            <a:pPr>
              <a:defRPr sz="2325" b="1">
                <a:solidFill>
                  <a:srgbClr val="087F8C"/>
                </a:solidFill>
                <a:latin typeface="Arial"/>
                <a:ea typeface="Arial"/>
                <a:cs typeface="Arial"/>
              </a:defRPr>
            </a:pPr>
            <a:r>
              <a:rPr sz="2325" b="1">
                <a:solidFill>
                  <a:srgbClr val="087F8C"/>
                </a:solidFill>
                <a:latin typeface="Arial"/>
                <a:ea typeface="Arial"/>
                <a:cs typeface="Arial"/>
              </a:rPr>
              <a:t>Estado</a:t>
            </a:r>
          </a:p>
        </p:txBody>
      </p:sp>
      <p:sp>
        <p:nvSpPr>
          <p:cNvPr id="7" name="Relaciona direcciones del código con IDs de Azure">
            <a:extLst xmlns:a="http://schemas.openxmlformats.org/drawingml/2006/main">
              <a:ext uri="{FF2B5EF4-FFF2-40B4-BE49-F238E27FC236}">
                <a16:creationId xmlns:a16="http://schemas.microsoft.com/office/drawing/2014/main" id="{550E3792-8CF7-4931-81DA-34AD9075A850}"/>
              </a:ext>
            </a:extLst>
          </p:cNvPr>
          <p:cNvSpPr>
            <a:spLocks xmlns:a="http://schemas.openxmlformats.org/drawingml/2006/main" noGrp="1"/>
          </p:cNvSpPr>
          <p:nvPr/>
        </p:nvSpPr>
        <p:spPr>
          <a:xfrm xmlns:a="http://schemas.openxmlformats.org/drawingml/2006/main">
            <a:off x="5810250" y="3438525"/>
            <a:ext cx="8429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0">
                <a:solidFill>
                  <a:srgbClr val="26384B"/>
                </a:solidFill>
                <a:latin typeface="Arial"/>
                <a:ea typeface="Arial"/>
                <a:cs typeface="Arial"/>
              </a:defRPr>
            </a:defPPr>
          </a:lstStyle>
          <a:p xmlns:a="http://schemas.openxmlformats.org/drawingml/2006/main">
            <a:pPr>
              <a:defRPr sz="2475" b="0">
                <a:solidFill>
                  <a:srgbClr val="26384B"/>
                </a:solidFill>
                <a:latin typeface="Arial"/>
                <a:ea typeface="Arial"/>
                <a:cs typeface="Arial"/>
              </a:defRPr>
            </a:pPr>
            <a:r>
              <a:rPr sz="2475" b="0">
                <a:solidFill>
                  <a:srgbClr val="26384B"/>
                </a:solidFill>
                <a:latin typeface="Arial"/>
                <a:ea typeface="Arial"/>
                <a:cs typeface="Arial"/>
              </a:rPr>
              <a:t>Relaciona direcciones del código con IDs de Azure</a:t>
            </a:r>
          </a:p>
        </p:txBody>
      </p:sp>
      <p:sp>
        <p:nvSpPr>
          <p:cNvPr id="8" name="Cambios externos">
            <a:extLst xmlns:a="http://schemas.openxmlformats.org/drawingml/2006/main">
              <a:ext uri="{FF2B5EF4-FFF2-40B4-BE49-F238E27FC236}">
                <a16:creationId xmlns:a16="http://schemas.microsoft.com/office/drawing/2014/main" id="{C6958140-FDA1-46AF-A0B7-4DDB60BEF31B}"/>
              </a:ext>
            </a:extLst>
          </p:cNvPr>
          <p:cNvSpPr>
            <a:spLocks xmlns:a="http://schemas.openxmlformats.org/drawingml/2006/main" noGrp="1"/>
          </p:cNvSpPr>
          <p:nvPr/>
        </p:nvSpPr>
        <p:spPr>
          <a:xfrm xmlns:a="http://schemas.openxmlformats.org/drawingml/2006/main">
            <a:off x="952500" y="4543425"/>
            <a:ext cx="4381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87F8C"/>
                </a:solidFill>
                <a:latin typeface="Arial"/>
                <a:ea typeface="Arial"/>
                <a:cs typeface="Arial"/>
              </a:defRPr>
            </a:defPPr>
          </a:lstStyle>
          <a:p xmlns:a="http://schemas.openxmlformats.org/drawingml/2006/main">
            <a:pPr>
              <a:defRPr sz="2325" b="1">
                <a:solidFill>
                  <a:srgbClr val="087F8C"/>
                </a:solidFill>
                <a:latin typeface="Arial"/>
                <a:ea typeface="Arial"/>
                <a:cs typeface="Arial"/>
              </a:defRPr>
            </a:pPr>
            <a:r>
              <a:rPr sz="2325" b="1">
                <a:solidFill>
                  <a:srgbClr val="087F8C"/>
                </a:solidFill>
                <a:latin typeface="Arial"/>
                <a:ea typeface="Arial"/>
                <a:cs typeface="Arial"/>
              </a:rPr>
              <a:t>Cambios externos</a:t>
            </a:r>
          </a:p>
        </p:txBody>
      </p:sp>
      <p:sp>
        <p:nvSpPr>
          <p:cNvPr id="9" name="El plan consulta y contrasta el estado observado">
            <a:extLst xmlns:a="http://schemas.openxmlformats.org/drawingml/2006/main">
              <a:ext uri="{FF2B5EF4-FFF2-40B4-BE49-F238E27FC236}">
                <a16:creationId xmlns:a16="http://schemas.microsoft.com/office/drawing/2014/main" id="{82E90BF1-1517-4B9D-A8B2-1DDF8F20B8AB}"/>
              </a:ext>
            </a:extLst>
          </p:cNvPr>
          <p:cNvSpPr>
            <a:spLocks xmlns:a="http://schemas.openxmlformats.org/drawingml/2006/main" noGrp="1"/>
          </p:cNvSpPr>
          <p:nvPr/>
        </p:nvSpPr>
        <p:spPr>
          <a:xfrm xmlns:a="http://schemas.openxmlformats.org/drawingml/2006/main">
            <a:off x="5810250" y="4543425"/>
            <a:ext cx="8429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0">
                <a:solidFill>
                  <a:srgbClr val="26384B"/>
                </a:solidFill>
                <a:latin typeface="Arial"/>
                <a:ea typeface="Arial"/>
                <a:cs typeface="Arial"/>
              </a:defRPr>
            </a:defPPr>
          </a:lstStyle>
          <a:p xmlns:a="http://schemas.openxmlformats.org/drawingml/2006/main">
            <a:pPr>
              <a:defRPr sz="2475" b="0">
                <a:solidFill>
                  <a:srgbClr val="26384B"/>
                </a:solidFill>
                <a:latin typeface="Arial"/>
                <a:ea typeface="Arial"/>
                <a:cs typeface="Arial"/>
              </a:defRPr>
            </a:pPr>
            <a:r>
              <a:rPr sz="2475" b="0">
                <a:solidFill>
                  <a:srgbClr val="26384B"/>
                </a:solidFill>
                <a:latin typeface="Arial"/>
                <a:ea typeface="Arial"/>
                <a:cs typeface="Arial"/>
              </a:rPr>
              <a:t>El plan consulta y contrasta el estado observado</a:t>
            </a:r>
          </a:p>
        </p:txBody>
      </p:sp>
      <p:sp>
        <p:nvSpPr>
          <p:cNvPr id="10" name="Protección">
            <a:extLst xmlns:a="http://schemas.openxmlformats.org/drawingml/2006/main">
              <a:ext uri="{FF2B5EF4-FFF2-40B4-BE49-F238E27FC236}">
                <a16:creationId xmlns:a16="http://schemas.microsoft.com/office/drawing/2014/main" id="{9CC39D60-44E5-49D3-9A96-13F40AD535BD}"/>
              </a:ext>
            </a:extLst>
          </p:cNvPr>
          <p:cNvSpPr>
            <a:spLocks xmlns:a="http://schemas.openxmlformats.org/drawingml/2006/main" noGrp="1"/>
          </p:cNvSpPr>
          <p:nvPr/>
        </p:nvSpPr>
        <p:spPr>
          <a:xfrm xmlns:a="http://schemas.openxmlformats.org/drawingml/2006/main">
            <a:off x="952500" y="5648325"/>
            <a:ext cx="4381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87F8C"/>
                </a:solidFill>
                <a:latin typeface="Arial"/>
                <a:ea typeface="Arial"/>
                <a:cs typeface="Arial"/>
              </a:defRPr>
            </a:defPPr>
          </a:lstStyle>
          <a:p xmlns:a="http://schemas.openxmlformats.org/drawingml/2006/main">
            <a:pPr>
              <a:defRPr sz="2325" b="1">
                <a:solidFill>
                  <a:srgbClr val="087F8C"/>
                </a:solidFill>
                <a:latin typeface="Arial"/>
                <a:ea typeface="Arial"/>
                <a:cs typeface="Arial"/>
              </a:defRPr>
            </a:pPr>
            <a:r>
              <a:rPr sz="2325" b="1">
                <a:solidFill>
                  <a:srgbClr val="087F8C"/>
                </a:solidFill>
                <a:latin typeface="Arial"/>
                <a:ea typeface="Arial"/>
                <a:cs typeface="Arial"/>
              </a:rPr>
              <a:t>Protección</a:t>
            </a:r>
          </a:p>
        </p:txBody>
      </p:sp>
      <p:sp>
        <p:nvSpPr>
          <p:cNvPr id="11" name="Conservar el estado; no editarlo a mano ni subirlo a Git">
            <a:extLst xmlns:a="http://schemas.openxmlformats.org/drawingml/2006/main">
              <a:ext uri="{FF2B5EF4-FFF2-40B4-BE49-F238E27FC236}">
                <a16:creationId xmlns:a16="http://schemas.microsoft.com/office/drawing/2014/main" id="{BA3C1A88-2788-473A-921B-D5BC347D0137}"/>
              </a:ext>
            </a:extLst>
          </p:cNvPr>
          <p:cNvSpPr>
            <a:spLocks xmlns:a="http://schemas.openxmlformats.org/drawingml/2006/main" noGrp="1"/>
          </p:cNvSpPr>
          <p:nvPr/>
        </p:nvSpPr>
        <p:spPr>
          <a:xfrm xmlns:a="http://schemas.openxmlformats.org/drawingml/2006/main">
            <a:off x="5810250" y="5648325"/>
            <a:ext cx="8429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0">
                <a:solidFill>
                  <a:srgbClr val="26384B"/>
                </a:solidFill>
                <a:latin typeface="Arial"/>
                <a:ea typeface="Arial"/>
                <a:cs typeface="Arial"/>
              </a:defRPr>
            </a:defPPr>
          </a:lstStyle>
          <a:p xmlns:a="http://schemas.openxmlformats.org/drawingml/2006/main">
            <a:pPr>
              <a:defRPr sz="2475" b="0">
                <a:solidFill>
                  <a:srgbClr val="26384B"/>
                </a:solidFill>
                <a:latin typeface="Arial"/>
                <a:ea typeface="Arial"/>
                <a:cs typeface="Arial"/>
              </a:defRPr>
            </a:pPr>
            <a:r>
              <a:rPr sz="2475" b="0">
                <a:solidFill>
                  <a:srgbClr val="26384B"/>
                </a:solidFill>
                <a:latin typeface="Arial"/>
                <a:ea typeface="Arial"/>
                <a:cs typeface="Arial"/>
              </a:rPr>
              <a:t>Conservar el estado; no editarlo a mano ni subirlo a Git</a:t>
            </a:r>
          </a:p>
        </p:txBody>
      </p:sp>
      <p:sp>
        <p:nvSpPr>
          <p:cNvPr id="12" name="El estado del ejemplo es compartido por staging y prod dentro de ">
            <a:extLst xmlns:a="http://schemas.openxmlformats.org/drawingml/2006/main">
              <a:ext uri="{FF2B5EF4-FFF2-40B4-BE49-F238E27FC236}">
                <a16:creationId xmlns:a16="http://schemas.microsoft.com/office/drawing/2014/main" id="{5CEB857C-7959-4DED-A3F0-9E1257CF4E0C}"/>
              </a:ext>
            </a:extLst>
          </p:cNvPr>
          <p:cNvSpPr>
            <a:spLocks xmlns:a="http://schemas.openxmlformats.org/drawingml/2006/main" noGrp="1"/>
          </p:cNvSpPr>
          <p:nvPr/>
        </p:nvSpPr>
        <p:spPr>
          <a:xfrm xmlns:a="http://schemas.openxmlformats.org/drawingml/2006/main">
            <a:off x="952500" y="7629525"/>
            <a:ext cx="13335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3677C"/>
                </a:solidFill>
                <a:latin typeface="Arial"/>
                <a:ea typeface="Arial"/>
                <a:cs typeface="Arial"/>
              </a:defRPr>
            </a:defPPr>
          </a:lstStyle>
          <a:p xmlns:a="http://schemas.openxmlformats.org/drawingml/2006/main">
            <a:pPr>
              <a:defRPr sz="1800" b="0">
                <a:solidFill>
                  <a:srgbClr val="53677C"/>
                </a:solidFill>
                <a:latin typeface="Arial"/>
                <a:ea typeface="Arial"/>
                <a:cs typeface="Arial"/>
              </a:defRPr>
            </a:pPr>
            <a:r>
              <a:rPr sz="1800" b="0">
                <a:solidFill>
                  <a:srgbClr val="53677C"/>
                </a:solidFill>
                <a:latin typeface="Arial"/>
                <a:ea typeface="Arial"/>
                <a:cs typeface="Arial"/>
              </a:rPr>
              <a:t>El estado del ejemplo es compartido por staging y prod dentro de la misma raíz.</a:t>
            </a:r>
          </a:p>
        </p:txBody>
      </p:sp>
    </p:spTree>
    <p:extLst>
      <p:ext uri="{BB962C8B-B14F-4D97-AF65-F5344CB8AC3E}">
        <p14:creationId xmlns:p14="http://schemas.microsoft.com/office/powerpoint/2010/main" val="610703123"/>
      </p:ext>
    </p:extLst>
  </p:cSld>
</p:sld>
</file>

<file path=ppt/slides/slide1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7" name="TERRAFORM">
            <a:extLst xmlns:a="http://schemas.openxmlformats.org/drawingml/2006/main">
              <a:ext uri="{FF2B5EF4-FFF2-40B4-BE49-F238E27FC236}">
                <a16:creationId xmlns:a16="http://schemas.microsoft.com/office/drawing/2014/main" id="{E99A4E4B-630D-42FA-B9FF-31DD42618E3E}"/>
              </a:ext>
            </a:extLst>
          </p:cNvPr>
          <p:cNvSpPr>
            <a:spLocks xmlns:a="http://schemas.openxmlformats.org/drawingml/2006/main" noGrp="1"/>
          </p:cNvSpPr>
          <p:nvPr/>
        </p:nvSpPr>
        <p:spPr>
          <a:xfrm xmlns:a="http://schemas.openxmlformats.org/drawingml/2006/main">
            <a:off x="914400" y="542925"/>
            <a:ext cx="1238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087F8C"/>
                </a:solidFill>
                <a:latin typeface="Arial"/>
                <a:ea typeface="Arial"/>
                <a:cs typeface="Arial"/>
              </a:defRPr>
            </a:defPPr>
          </a:lstStyle>
          <a:p xmlns:a="http://schemas.openxmlformats.org/drawingml/2006/main">
            <a:pPr>
              <a:defRPr sz="1575" b="1">
                <a:solidFill>
                  <a:srgbClr val="087F8C"/>
                </a:solidFill>
                <a:latin typeface="Arial"/>
                <a:ea typeface="Arial"/>
                <a:cs typeface="Arial"/>
              </a:defRPr>
            </a:pPr>
            <a:r>
              <a:rPr sz="1575" b="1">
                <a:solidFill>
                  <a:srgbClr val="087F8C"/>
                </a:solidFill>
                <a:latin typeface="Arial"/>
                <a:ea typeface="Arial"/>
                <a:cs typeface="Arial"/>
              </a:rPr>
              <a:t>TERRAFORM</a:t>
            </a:r>
          </a:p>
        </p:txBody>
      </p:sp>
      <p:sp>
        <p:nvSpPr>
          <p:cNvPr id="2" name="17 / 34">
            <a:extLst xmlns:a="http://schemas.openxmlformats.org/drawingml/2006/main">
              <a:ext uri="{FF2B5EF4-FFF2-40B4-BE49-F238E27FC236}">
                <a16:creationId xmlns:a16="http://schemas.microsoft.com/office/drawing/2014/main" id="{DFCEAFF8-FD70-4830-BC85-A752E4EF72B8}"/>
              </a:ext>
            </a:extLst>
          </p:cNvPr>
          <p:cNvSpPr>
            <a:spLocks xmlns:a="http://schemas.openxmlformats.org/drawingml/2006/main" noGrp="1"/>
          </p:cNvSpPr>
          <p:nvPr/>
        </p:nvSpPr>
        <p:spPr>
          <a:xfrm xmlns:a="http://schemas.openxmlformats.org/drawingml/2006/main">
            <a:off x="13192125" y="561975"/>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77C"/>
                </a:solidFill>
                <a:latin typeface="Arial"/>
                <a:ea typeface="Arial"/>
                <a:cs typeface="Arial"/>
              </a:defRPr>
            </a:defPPr>
          </a:lstStyle>
          <a:p xmlns:a="http://schemas.openxmlformats.org/drawingml/2006/main">
            <a:pPr>
              <a:defRPr sz="1500" b="0">
                <a:solidFill>
                  <a:srgbClr val="53677C"/>
                </a:solidFill>
                <a:latin typeface="Arial"/>
                <a:ea typeface="Arial"/>
                <a:cs typeface="Arial"/>
              </a:defRPr>
            </a:pPr>
            <a:r>
              <a:rPr sz="1500" b="0">
                <a:solidFill>
                  <a:srgbClr val="53677C"/>
                </a:solidFill>
                <a:latin typeface="Arial"/>
                <a:ea typeface="Arial"/>
                <a:cs typeface="Arial"/>
              </a:rPr>
              <a:t>17 / 34</a:t>
            </a:r>
          </a:p>
        </p:txBody>
      </p:sp>
      <p:sp>
        <p:nvSpPr>
          <p:cNvPr id="3" name="Comandos y lectura del plan">
            <a:extLst xmlns:a="http://schemas.openxmlformats.org/drawingml/2006/main">
              <a:ext uri="{FF2B5EF4-FFF2-40B4-BE49-F238E27FC236}">
                <a16:creationId xmlns:a16="http://schemas.microsoft.com/office/drawing/2014/main" id="{05F5AD41-BA28-45B9-AD67-300DBE0B71DA}"/>
              </a:ext>
            </a:extLst>
          </p:cNvPr>
          <p:cNvSpPr>
            <a:spLocks xmlns:a="http://schemas.openxmlformats.org/drawingml/2006/main" noGrp="1"/>
          </p:cNvSpPr>
          <p:nvPr/>
        </p:nvSpPr>
        <p:spPr>
          <a:xfrm xmlns:a="http://schemas.openxmlformats.org/drawingml/2006/main">
            <a:off x="914400" y="1143000"/>
            <a:ext cx="13411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132E50"/>
                </a:solidFill>
                <a:latin typeface="Arial"/>
                <a:ea typeface="Arial"/>
                <a:cs typeface="Arial"/>
              </a:defRPr>
            </a:defPPr>
          </a:lstStyle>
          <a:p xmlns:a="http://schemas.openxmlformats.org/drawingml/2006/main">
            <a:pPr>
              <a:defRPr sz="3825" b="1">
                <a:solidFill>
                  <a:srgbClr val="132E50"/>
                </a:solidFill>
                <a:latin typeface="Arial"/>
                <a:ea typeface="Arial"/>
                <a:cs typeface="Arial"/>
              </a:defRPr>
            </a:pPr>
            <a:r>
              <a:rPr sz="3825" b="1">
                <a:solidFill>
                  <a:srgbClr val="132E50"/>
                </a:solidFill>
                <a:latin typeface="Arial"/>
                <a:ea typeface="Arial"/>
                <a:cs typeface="Arial"/>
              </a:rPr>
              <a:t>Comandos y lectura del plan</a:t>
            </a:r>
          </a:p>
        </p:txBody>
      </p:sp>
      <p:sp>
        <p:nvSpPr>
          <p:cNvPr id="4" name="Crear (+) · Actualizar (~) · Destruir (−) · Reemplazar (−/+)">
            <a:extLst xmlns:a="http://schemas.openxmlformats.org/drawingml/2006/main">
              <a:ext uri="{FF2B5EF4-FFF2-40B4-BE49-F238E27FC236}">
                <a16:creationId xmlns:a16="http://schemas.microsoft.com/office/drawing/2014/main" id="{6969C43E-5932-43B5-9AC8-164538BF2433}"/>
              </a:ext>
            </a:extLst>
          </p:cNvPr>
          <p:cNvSpPr>
            <a:spLocks xmlns:a="http://schemas.openxmlformats.org/drawingml/2006/main" noGrp="1"/>
          </p:cNvSpPr>
          <p:nvPr/>
        </p:nvSpPr>
        <p:spPr>
          <a:xfrm xmlns:a="http://schemas.openxmlformats.org/drawingml/2006/main">
            <a:off x="952500" y="2238375"/>
            <a:ext cx="1333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Crear (+) · Actualizar (~) · Destruir (−) · Reemplazar (−/+)</a:t>
            </a:r>
          </a:p>
        </p:txBody>
      </p:sp>
      <p:graphicFrame>
        <p:nvGraphicFramePr>
          <p:cNvPr id="5" name="">
            <a:extLst xmlns:a="http://schemas.openxmlformats.org/drawingml/2006/main">
              <a:ext uri="{FF2B5EF4-FFF2-40B4-BE49-F238E27FC236}">
                <a16:creationId xmlns:a16="http://schemas.microsoft.com/office/drawing/2014/main" id="{505385D4-799D-49E1-85D1-AFC2534B2BD4}"/>
              </a:ext>
            </a:extLst>
          </p:cNvPr>
          <p:cNvGraphicFramePr/>
          <p:nvPr/>
        </p:nvGraphicFramePr>
        <p:xfrm>
          <a:off xmlns:a="http://schemas.openxmlformats.org/drawingml/2006/main" x="914400" y="3238500"/>
          <a:ext xmlns:a="http://schemas.openxmlformats.org/drawingml/2006/main" cx="13411200" cy="3238500"/>
        </p:xfrm>
        <a:graphic xmlns:a="http://schemas.openxmlformats.org/drawingml/2006/main">
          <a:graphicData uri="http://schemas.openxmlformats.org/drawingml/2006/table">
            <a:tbl>
              <a:tblPr/>
              <a:tblGrid>
                <a:gridCol w="4286250"/>
                <a:gridCol w="9124950"/>
              </a:tblGrid>
              <a:tr h="647700">
                <a:tc>
                  <a:txBody>
                    <a:bodyPr lIns="171450" tIns="171450" rIns="171450" bIns="171450"/>
                    <a:lstStyle/>
                    <a:p>
                      <a:r>
                        <a:rPr sz="2100" b="1">
                          <a:solidFill>
                            <a:srgbClr val="FFFFFF"/>
                          </a:solidFill>
                          <a:latin typeface="Arial"/>
                          <a:ea typeface="Arial"/>
                          <a:cs typeface="Arial"/>
                        </a:rPr>
                        <a:t>Comando</a:t>
                      </a:r>
                    </a:p>
                  </a:txBody>
                  <a:tcPr marL="91440" marR="91440" marT="45720" marB="45720">
                    <a:lnL w="9525">
                      <a:solidFill>
                        <a:srgbClr val="D4DFE7"/>
                      </a:solidFill>
                      <a:prstDash val="solid"/>
                    </a:lnL>
                    <a:lnR w="9525">
                      <a:solidFill>
                        <a:srgbClr val="D4DFE7"/>
                      </a:solidFill>
                      <a:prstDash val="solid"/>
                    </a:lnR>
                    <a:lnT w="9525">
                      <a:solidFill>
                        <a:srgbClr val="D4DFE7"/>
                      </a:solidFill>
                      <a:prstDash val="solid"/>
                    </a:lnT>
                    <a:lnB w="9525">
                      <a:solidFill>
                        <a:srgbClr val="D4DFE7"/>
                      </a:solidFill>
                      <a:prstDash val="solid"/>
                    </a:lnB>
                    <a:solidFill>
                      <a:srgbClr val="132E50"/>
                    </a:solidFill>
                  </a:tcPr>
                </a:tc>
                <a:tc>
                  <a:txBody>
                    <a:bodyPr lIns="171450" tIns="171450" rIns="171450" bIns="171450"/>
                    <a:lstStyle/>
                    <a:p>
                      <a:r>
                        <a:rPr sz="2100" b="1">
                          <a:solidFill>
                            <a:srgbClr val="FFFFFF"/>
                          </a:solidFill>
                          <a:latin typeface="Arial"/>
                          <a:ea typeface="Arial"/>
                          <a:cs typeface="Arial"/>
                        </a:rPr>
                        <a:t>Para qué se usa</a:t>
                      </a:r>
                    </a:p>
                  </a:txBody>
                  <a:tcPr marL="91440" marR="91440" marT="45720" marB="45720">
                    <a:lnR w="9525">
                      <a:solidFill>
                        <a:srgbClr val="D4DFE7"/>
                      </a:solidFill>
                      <a:prstDash val="solid"/>
                    </a:lnR>
                    <a:lnT w="9525">
                      <a:solidFill>
                        <a:srgbClr val="D4DFE7"/>
                      </a:solidFill>
                      <a:prstDash val="solid"/>
                    </a:lnT>
                    <a:lnB w="9525">
                      <a:solidFill>
                        <a:srgbClr val="D4DFE7"/>
                      </a:solidFill>
                      <a:prstDash val="solid"/>
                    </a:lnB>
                    <a:solidFill>
                      <a:srgbClr val="132E50"/>
                    </a:solidFill>
                  </a:tcPr>
                </a:tc>
              </a:tr>
              <a:tr h="647700">
                <a:tc>
                  <a:txBody>
                    <a:bodyPr lIns="171450" tIns="171450" rIns="171450" bIns="171450"/>
                    <a:lstStyle/>
                    <a:p>
                      <a:r>
                        <a:rPr sz="2100" b="0">
                          <a:solidFill>
                            <a:srgbClr val="26384B"/>
                          </a:solidFill>
                          <a:latin typeface="Arial"/>
                          <a:ea typeface="Arial"/>
                          <a:cs typeface="Arial"/>
                        </a:rPr>
                        <a:t>init / validate</a:t>
                      </a:r>
                    </a:p>
                  </a:txBody>
                  <a:tcPr marL="91440" marR="91440" marT="45720" marB="45720">
                    <a:lnL w="9525">
                      <a:solidFill>
                        <a:srgbClr val="D4DFE7"/>
                      </a:solidFill>
                      <a:prstDash val="solid"/>
                    </a:lnL>
                    <a:lnR w="9525">
                      <a:solidFill>
                        <a:srgbClr val="D4DFE7"/>
                      </a:solidFill>
                      <a:prstDash val="solid"/>
                    </a:lnR>
                    <a:lnB w="9525">
                      <a:solidFill>
                        <a:srgbClr val="D4DFE7"/>
                      </a:solidFill>
                      <a:prstDash val="solid"/>
                    </a:lnB>
                    <a:solidFill>
                      <a:srgbClr val="FFFFFF"/>
                    </a:solidFill>
                  </a:tcPr>
                </a:tc>
                <a:tc>
                  <a:txBody>
                    <a:bodyPr lIns="171450" tIns="171450" rIns="171450" bIns="171450"/>
                    <a:lstStyle/>
                    <a:p>
                      <a:r>
                        <a:rPr sz="2100" b="0">
                          <a:solidFill>
                            <a:srgbClr val="26384B"/>
                          </a:solidFill>
                          <a:latin typeface="Arial"/>
                          <a:ea typeface="Arial"/>
                          <a:cs typeface="Arial"/>
                        </a:rPr>
                        <a:t>Preparar dependencias / revisar configuración</a:t>
                      </a:r>
                    </a:p>
                  </a:txBody>
                  <a:tcPr marL="91440" marR="91440" marT="45720" marB="45720">
                    <a:lnR w="9525">
                      <a:solidFill>
                        <a:srgbClr val="D4DFE7"/>
                      </a:solidFill>
                      <a:prstDash val="solid"/>
                    </a:lnR>
                    <a:lnB w="9525">
                      <a:solidFill>
                        <a:srgbClr val="D4DFE7"/>
                      </a:solidFill>
                      <a:prstDash val="solid"/>
                    </a:lnB>
                    <a:solidFill>
                      <a:srgbClr val="FFFFFF"/>
                    </a:solidFill>
                  </a:tcPr>
                </a:tc>
              </a:tr>
              <a:tr h="647700">
                <a:tc>
                  <a:txBody>
                    <a:bodyPr lIns="171450" tIns="171450" rIns="171450" bIns="171450"/>
                    <a:lstStyle/>
                    <a:p>
                      <a:r>
                        <a:rPr sz="2100" b="0">
                          <a:solidFill>
                            <a:srgbClr val="26384B"/>
                          </a:solidFill>
                          <a:latin typeface="Arial"/>
                          <a:ea typeface="Arial"/>
                          <a:cs typeface="Arial"/>
                        </a:rPr>
                        <a:t>plan / apply</a:t>
                      </a:r>
                    </a:p>
                  </a:txBody>
                  <a:tcPr marL="91440" marR="91440" marT="45720" marB="45720">
                    <a:lnL w="9525">
                      <a:solidFill>
                        <a:srgbClr val="D4DFE7"/>
                      </a:solidFill>
                      <a:prstDash val="solid"/>
                    </a:lnL>
                    <a:lnR w="9525">
                      <a:solidFill>
                        <a:srgbClr val="D4DFE7"/>
                      </a:solidFill>
                      <a:prstDash val="solid"/>
                    </a:lnR>
                    <a:lnB w="9525">
                      <a:solidFill>
                        <a:srgbClr val="D4DFE7"/>
                      </a:solidFill>
                      <a:prstDash val="solid"/>
                    </a:lnB>
                    <a:solidFill>
                      <a:srgbClr val="E8F1F4"/>
                    </a:solidFill>
                  </a:tcPr>
                </a:tc>
                <a:tc>
                  <a:txBody>
                    <a:bodyPr lIns="171450" tIns="171450" rIns="171450" bIns="171450"/>
                    <a:lstStyle/>
                    <a:p>
                      <a:r>
                        <a:rPr sz="2100" b="0">
                          <a:solidFill>
                            <a:srgbClr val="26384B"/>
                          </a:solidFill>
                          <a:latin typeface="Arial"/>
                          <a:ea typeface="Arial"/>
                          <a:cs typeface="Arial"/>
                        </a:rPr>
                        <a:t>Revisar cambios / ejecutar operaciones</a:t>
                      </a:r>
                    </a:p>
                  </a:txBody>
                  <a:tcPr marL="91440" marR="91440" marT="45720" marB="45720">
                    <a:lnR w="9525">
                      <a:solidFill>
                        <a:srgbClr val="D4DFE7"/>
                      </a:solidFill>
                      <a:prstDash val="solid"/>
                    </a:lnR>
                    <a:lnB w="9525">
                      <a:solidFill>
                        <a:srgbClr val="D4DFE7"/>
                      </a:solidFill>
                      <a:prstDash val="solid"/>
                    </a:lnB>
                    <a:solidFill>
                      <a:srgbClr val="E8F1F4"/>
                    </a:solidFill>
                  </a:tcPr>
                </a:tc>
              </a:tr>
              <a:tr h="647700">
                <a:tc>
                  <a:txBody>
                    <a:bodyPr lIns="171450" tIns="171450" rIns="171450" bIns="171450"/>
                    <a:lstStyle/>
                    <a:p>
                      <a:r>
                        <a:rPr sz="2100" b="0">
                          <a:solidFill>
                            <a:srgbClr val="26384B"/>
                          </a:solidFill>
                          <a:latin typeface="Arial"/>
                          <a:ea typeface="Arial"/>
                          <a:cs typeface="Arial"/>
                        </a:rPr>
                        <a:t>output / state list</a:t>
                      </a:r>
                    </a:p>
                  </a:txBody>
                  <a:tcPr marL="91440" marR="91440" marT="45720" marB="45720">
                    <a:lnL w="9525">
                      <a:solidFill>
                        <a:srgbClr val="D4DFE7"/>
                      </a:solidFill>
                      <a:prstDash val="solid"/>
                    </a:lnL>
                    <a:lnR w="9525">
                      <a:solidFill>
                        <a:srgbClr val="D4DFE7"/>
                      </a:solidFill>
                      <a:prstDash val="solid"/>
                    </a:lnR>
                    <a:lnB w="9525">
                      <a:solidFill>
                        <a:srgbClr val="D4DFE7"/>
                      </a:solidFill>
                      <a:prstDash val="solid"/>
                    </a:lnB>
                    <a:solidFill>
                      <a:srgbClr val="FFFFFF"/>
                    </a:solidFill>
                  </a:tcPr>
                </a:tc>
                <a:tc>
                  <a:txBody>
                    <a:bodyPr lIns="171450" tIns="171450" rIns="171450" bIns="171450"/>
                    <a:lstStyle/>
                    <a:p>
                      <a:r>
                        <a:rPr sz="2100" b="0">
                          <a:solidFill>
                            <a:srgbClr val="26384B"/>
                          </a:solidFill>
                          <a:latin typeface="Arial"/>
                          <a:ea typeface="Arial"/>
                          <a:cs typeface="Arial"/>
                        </a:rPr>
                        <a:t>Consultar salidas / listar direcciones gestionadas</a:t>
                      </a:r>
                    </a:p>
                  </a:txBody>
                  <a:tcPr marL="91440" marR="91440" marT="45720" marB="45720">
                    <a:lnR w="9525">
                      <a:solidFill>
                        <a:srgbClr val="D4DFE7"/>
                      </a:solidFill>
                      <a:prstDash val="solid"/>
                    </a:lnR>
                    <a:lnB w="9525">
                      <a:solidFill>
                        <a:srgbClr val="D4DFE7"/>
                      </a:solidFill>
                      <a:prstDash val="solid"/>
                    </a:lnB>
                    <a:solidFill>
                      <a:srgbClr val="FFFFFF"/>
                    </a:solidFill>
                  </a:tcPr>
                </a:tc>
              </a:tr>
              <a:tr h="647700">
                <a:tc>
                  <a:txBody>
                    <a:bodyPr lIns="171450" tIns="171450" rIns="171450" bIns="171450"/>
                    <a:lstStyle/>
                    <a:p>
                      <a:r>
                        <a:rPr sz="2100" b="0">
                          <a:solidFill>
                            <a:srgbClr val="26384B"/>
                          </a:solidFill>
                          <a:latin typeface="Arial"/>
                          <a:ea typeface="Arial"/>
                          <a:cs typeface="Arial"/>
                        </a:rPr>
                        <a:t>destroy</a:t>
                      </a:r>
                    </a:p>
                  </a:txBody>
                  <a:tcPr marL="91440" marR="91440" marT="45720" marB="45720">
                    <a:lnL w="9525">
                      <a:solidFill>
                        <a:srgbClr val="D4DFE7"/>
                      </a:solidFill>
                      <a:prstDash val="solid"/>
                    </a:lnL>
                    <a:lnR w="9525">
                      <a:solidFill>
                        <a:srgbClr val="D4DFE7"/>
                      </a:solidFill>
                      <a:prstDash val="solid"/>
                    </a:lnR>
                    <a:lnB w="9525">
                      <a:solidFill>
                        <a:srgbClr val="D4DFE7"/>
                      </a:solidFill>
                      <a:prstDash val="solid"/>
                    </a:lnB>
                    <a:solidFill>
                      <a:srgbClr val="E8F1F4"/>
                    </a:solidFill>
                  </a:tcPr>
                </a:tc>
                <a:tc>
                  <a:txBody>
                    <a:bodyPr lIns="171450" tIns="171450" rIns="171450" bIns="171450"/>
                    <a:lstStyle/>
                    <a:p>
                      <a:r>
                        <a:rPr sz="2100" b="0">
                          <a:solidFill>
                            <a:srgbClr val="26384B"/>
                          </a:solidFill>
                          <a:latin typeface="Arial"/>
                          <a:ea typeface="Arial"/>
                          <a:cs typeface="Arial"/>
                        </a:rPr>
                        <a:t>Revisar y eliminar los recursos gestionados</a:t>
                      </a:r>
                    </a:p>
                  </a:txBody>
                  <a:tcPr marL="91440" marR="91440" marT="45720" marB="45720">
                    <a:lnR w="9525">
                      <a:solidFill>
                        <a:srgbClr val="D4DFE7"/>
                      </a:solidFill>
                      <a:prstDash val="solid"/>
                    </a:lnR>
                    <a:lnB w="9525">
                      <a:solidFill>
                        <a:srgbClr val="D4DFE7"/>
                      </a:solidFill>
                      <a:prstDash val="solid"/>
                    </a:lnB>
                    <a:solidFill>
                      <a:srgbClr val="E8F1F4"/>
                    </a:solidFill>
                  </a:tcPr>
                </a:tc>
              </a:tr>
            </a:tbl>
          </a:graphicData>
        </a:graphic>
      </p:graphicFrame>
      <p:sp>
        <p:nvSpPr>
          <p:cNvPr id="6" name="Se versiona .terraform.lock.hcl; no se publica terraform.tfstate.">
            <a:extLst xmlns:a="http://schemas.openxmlformats.org/drawingml/2006/main">
              <a:ext uri="{FF2B5EF4-FFF2-40B4-BE49-F238E27FC236}">
                <a16:creationId xmlns:a16="http://schemas.microsoft.com/office/drawing/2014/main" id="{1B22B230-F8FA-4A90-9321-762713B5B4B6}"/>
              </a:ext>
            </a:extLst>
          </p:cNvPr>
          <p:cNvSpPr>
            <a:spLocks xmlns:a="http://schemas.openxmlformats.org/drawingml/2006/main" noGrp="1"/>
          </p:cNvSpPr>
          <p:nvPr/>
        </p:nvSpPr>
        <p:spPr>
          <a:xfrm xmlns:a="http://schemas.openxmlformats.org/drawingml/2006/main">
            <a:off x="952500" y="7629525"/>
            <a:ext cx="13335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3677C"/>
                </a:solidFill>
                <a:latin typeface="Arial"/>
                <a:ea typeface="Arial"/>
                <a:cs typeface="Arial"/>
              </a:defRPr>
            </a:defPPr>
          </a:lstStyle>
          <a:p xmlns:a="http://schemas.openxmlformats.org/drawingml/2006/main">
            <a:pPr>
              <a:defRPr sz="1800" b="0">
                <a:solidFill>
                  <a:srgbClr val="53677C"/>
                </a:solidFill>
                <a:latin typeface="Arial"/>
                <a:ea typeface="Arial"/>
                <a:cs typeface="Arial"/>
              </a:defRPr>
            </a:pPr>
            <a:r>
              <a:rPr sz="1800" b="0">
                <a:solidFill>
                  <a:srgbClr val="53677C"/>
                </a:solidFill>
                <a:latin typeface="Arial"/>
                <a:ea typeface="Arial"/>
                <a:cs typeface="Arial"/>
              </a:rPr>
              <a:t>Se versiona .terraform.lock.hcl; no se publica terraform.tfstate.</a:t>
            </a:r>
          </a:p>
        </p:txBody>
      </p:sp>
    </p:spTree>
    <p:extLst>
      <p:ext uri="{BB962C8B-B14F-4D97-AF65-F5344CB8AC3E}">
        <p14:creationId xmlns:p14="http://schemas.microsoft.com/office/powerpoint/2010/main" val="417292328"/>
      </p:ext>
    </p:extLst>
  </p:cSld>
</p:sld>
</file>

<file path=ppt/slides/slide1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1" name="TERRAFORM">
            <a:extLst xmlns:a="http://schemas.openxmlformats.org/drawingml/2006/main">
              <a:ext uri="{FF2B5EF4-FFF2-40B4-BE49-F238E27FC236}">
                <a16:creationId xmlns:a16="http://schemas.microsoft.com/office/drawing/2014/main" id="{1FE9FF06-D0EB-45A9-9833-06507DD06001}"/>
              </a:ext>
            </a:extLst>
          </p:cNvPr>
          <p:cNvSpPr>
            <a:spLocks xmlns:a="http://schemas.openxmlformats.org/drawingml/2006/main" noGrp="1"/>
          </p:cNvSpPr>
          <p:nvPr/>
        </p:nvSpPr>
        <p:spPr>
          <a:xfrm xmlns:a="http://schemas.openxmlformats.org/drawingml/2006/main">
            <a:off x="914400" y="542925"/>
            <a:ext cx="1238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087F8C"/>
                </a:solidFill>
                <a:latin typeface="Arial"/>
                <a:ea typeface="Arial"/>
                <a:cs typeface="Arial"/>
              </a:defRPr>
            </a:defPPr>
          </a:lstStyle>
          <a:p xmlns:a="http://schemas.openxmlformats.org/drawingml/2006/main">
            <a:pPr>
              <a:defRPr sz="1575" b="1">
                <a:solidFill>
                  <a:srgbClr val="087F8C"/>
                </a:solidFill>
                <a:latin typeface="Arial"/>
                <a:ea typeface="Arial"/>
                <a:cs typeface="Arial"/>
              </a:defRPr>
            </a:pPr>
            <a:r>
              <a:rPr sz="1575" b="1">
                <a:solidFill>
                  <a:srgbClr val="087F8C"/>
                </a:solidFill>
                <a:latin typeface="Arial"/>
                <a:ea typeface="Arial"/>
                <a:cs typeface="Arial"/>
              </a:rPr>
              <a:t>TERRAFORM</a:t>
            </a:r>
          </a:p>
        </p:txBody>
      </p:sp>
      <p:sp>
        <p:nvSpPr>
          <p:cNvPr id="2" name="18 / 34">
            <a:extLst xmlns:a="http://schemas.openxmlformats.org/drawingml/2006/main">
              <a:ext uri="{FF2B5EF4-FFF2-40B4-BE49-F238E27FC236}">
                <a16:creationId xmlns:a16="http://schemas.microsoft.com/office/drawing/2014/main" id="{527ED033-2C06-4D7C-8B74-81CFAA510E2C}"/>
              </a:ext>
            </a:extLst>
          </p:cNvPr>
          <p:cNvSpPr>
            <a:spLocks xmlns:a="http://schemas.openxmlformats.org/drawingml/2006/main" noGrp="1"/>
          </p:cNvSpPr>
          <p:nvPr/>
        </p:nvSpPr>
        <p:spPr>
          <a:xfrm xmlns:a="http://schemas.openxmlformats.org/drawingml/2006/main">
            <a:off x="13192125" y="561975"/>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77C"/>
                </a:solidFill>
                <a:latin typeface="Arial"/>
                <a:ea typeface="Arial"/>
                <a:cs typeface="Arial"/>
              </a:defRPr>
            </a:defPPr>
          </a:lstStyle>
          <a:p xmlns:a="http://schemas.openxmlformats.org/drawingml/2006/main">
            <a:pPr>
              <a:defRPr sz="1500" b="0">
                <a:solidFill>
                  <a:srgbClr val="53677C"/>
                </a:solidFill>
                <a:latin typeface="Arial"/>
                <a:ea typeface="Arial"/>
                <a:cs typeface="Arial"/>
              </a:defRPr>
            </a:pPr>
            <a:r>
              <a:rPr sz="1500" b="0">
                <a:solidFill>
                  <a:srgbClr val="53677C"/>
                </a:solidFill>
                <a:latin typeface="Arial"/>
                <a:ea typeface="Arial"/>
                <a:cs typeface="Arial"/>
              </a:rPr>
              <a:t>18 / 34</a:t>
            </a:r>
          </a:p>
        </p:txBody>
      </p:sp>
      <p:sp>
        <p:nvSpPr>
          <p:cNvPr id="3" name="La duplicación complica los cambios">
            <a:extLst xmlns:a="http://schemas.openxmlformats.org/drawingml/2006/main">
              <a:ext uri="{FF2B5EF4-FFF2-40B4-BE49-F238E27FC236}">
                <a16:creationId xmlns:a16="http://schemas.microsoft.com/office/drawing/2014/main" id="{96BD1C94-403F-4AA7-9CDA-76367BCA61B7}"/>
              </a:ext>
            </a:extLst>
          </p:cNvPr>
          <p:cNvSpPr>
            <a:spLocks xmlns:a="http://schemas.openxmlformats.org/drawingml/2006/main" noGrp="1"/>
          </p:cNvSpPr>
          <p:nvPr/>
        </p:nvSpPr>
        <p:spPr>
          <a:xfrm xmlns:a="http://schemas.openxmlformats.org/drawingml/2006/main">
            <a:off x="914400" y="1143000"/>
            <a:ext cx="13411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132E50"/>
                </a:solidFill>
                <a:latin typeface="Arial"/>
                <a:ea typeface="Arial"/>
                <a:cs typeface="Arial"/>
              </a:defRPr>
            </a:defPPr>
          </a:lstStyle>
          <a:p xmlns:a="http://schemas.openxmlformats.org/drawingml/2006/main">
            <a:pPr>
              <a:defRPr sz="3825" b="1">
                <a:solidFill>
                  <a:srgbClr val="132E50"/>
                </a:solidFill>
                <a:latin typeface="Arial"/>
                <a:ea typeface="Arial"/>
                <a:cs typeface="Arial"/>
              </a:defRPr>
            </a:pPr>
            <a:r>
              <a:rPr sz="3825" b="1">
                <a:solidFill>
                  <a:srgbClr val="132E50"/>
                </a:solidFill>
                <a:latin typeface="Arial"/>
                <a:ea typeface="Arial"/>
                <a:cs typeface="Arial"/>
              </a:rPr>
              <a:t>La duplicación complica los cambios</a:t>
            </a:r>
          </a:p>
        </p:txBody>
      </p:sp>
      <p:sp>
        <p:nvSpPr>
          <p:cNvPr id="4" name="Punto de partida">
            <a:extLst xmlns:a="http://schemas.openxmlformats.org/drawingml/2006/main">
              <a:ext uri="{FF2B5EF4-FFF2-40B4-BE49-F238E27FC236}">
                <a16:creationId xmlns:a16="http://schemas.microsoft.com/office/drawing/2014/main" id="{6EDF4797-402C-4CF0-8B35-30CC96397FE2}"/>
              </a:ext>
            </a:extLst>
          </p:cNvPr>
          <p:cNvSpPr>
            <a:spLocks xmlns:a="http://schemas.openxmlformats.org/drawingml/2006/main" noGrp="1"/>
          </p:cNvSpPr>
          <p:nvPr/>
        </p:nvSpPr>
        <p:spPr>
          <a:xfrm xmlns:a="http://schemas.openxmlformats.org/drawingml/2006/main">
            <a:off x="952500" y="2333625"/>
            <a:ext cx="4381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87F8C"/>
                </a:solidFill>
                <a:latin typeface="Arial"/>
                <a:ea typeface="Arial"/>
                <a:cs typeface="Arial"/>
              </a:defRPr>
            </a:defPPr>
          </a:lstStyle>
          <a:p xmlns:a="http://schemas.openxmlformats.org/drawingml/2006/main">
            <a:pPr>
              <a:defRPr sz="2325" b="1">
                <a:solidFill>
                  <a:srgbClr val="087F8C"/>
                </a:solidFill>
                <a:latin typeface="Arial"/>
                <a:ea typeface="Arial"/>
                <a:cs typeface="Arial"/>
              </a:defRPr>
            </a:pPr>
            <a:r>
              <a:rPr sz="2325" b="1">
                <a:solidFill>
                  <a:srgbClr val="087F8C"/>
                </a:solidFill>
                <a:latin typeface="Arial"/>
                <a:ea typeface="Arial"/>
                <a:cs typeface="Arial"/>
              </a:rPr>
              <a:t>Punto de partida</a:t>
            </a:r>
          </a:p>
        </p:txBody>
      </p:sp>
      <p:sp>
        <p:nvSpPr>
          <p:cNvPr id="5" name="Dos configuraciones similares para staging y prod">
            <a:extLst xmlns:a="http://schemas.openxmlformats.org/drawingml/2006/main">
              <a:ext uri="{FF2B5EF4-FFF2-40B4-BE49-F238E27FC236}">
                <a16:creationId xmlns:a16="http://schemas.microsoft.com/office/drawing/2014/main" id="{37E524F9-6244-40E5-9D9C-687DB77FD61D}"/>
              </a:ext>
            </a:extLst>
          </p:cNvPr>
          <p:cNvSpPr>
            <a:spLocks xmlns:a="http://schemas.openxmlformats.org/drawingml/2006/main" noGrp="1"/>
          </p:cNvSpPr>
          <p:nvPr/>
        </p:nvSpPr>
        <p:spPr>
          <a:xfrm xmlns:a="http://schemas.openxmlformats.org/drawingml/2006/main">
            <a:off x="5810250" y="2333625"/>
            <a:ext cx="8429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0">
                <a:solidFill>
                  <a:srgbClr val="26384B"/>
                </a:solidFill>
                <a:latin typeface="Arial"/>
                <a:ea typeface="Arial"/>
                <a:cs typeface="Arial"/>
              </a:defRPr>
            </a:defPPr>
          </a:lstStyle>
          <a:p xmlns:a="http://schemas.openxmlformats.org/drawingml/2006/main">
            <a:pPr>
              <a:defRPr sz="2475" b="0">
                <a:solidFill>
                  <a:srgbClr val="26384B"/>
                </a:solidFill>
                <a:latin typeface="Arial"/>
                <a:ea typeface="Arial"/>
                <a:cs typeface="Arial"/>
              </a:defRPr>
            </a:pPr>
            <a:r>
              <a:rPr sz="2475" b="0">
                <a:solidFill>
                  <a:srgbClr val="26384B"/>
                </a:solidFill>
                <a:latin typeface="Arial"/>
                <a:ea typeface="Arial"/>
                <a:cs typeface="Arial"/>
              </a:rPr>
              <a:t>Dos configuraciones similares para staging y prod</a:t>
            </a:r>
          </a:p>
        </p:txBody>
      </p:sp>
      <p:sp>
        <p:nvSpPr>
          <p:cNvPr id="6" name="Problema visible">
            <a:extLst xmlns:a="http://schemas.openxmlformats.org/drawingml/2006/main">
              <a:ext uri="{FF2B5EF4-FFF2-40B4-BE49-F238E27FC236}">
                <a16:creationId xmlns:a16="http://schemas.microsoft.com/office/drawing/2014/main" id="{D87B9748-B3EE-4B8A-BC99-561DDB2B3D37}"/>
              </a:ext>
            </a:extLst>
          </p:cNvPr>
          <p:cNvSpPr>
            <a:spLocks xmlns:a="http://schemas.openxmlformats.org/drawingml/2006/main" noGrp="1"/>
          </p:cNvSpPr>
          <p:nvPr/>
        </p:nvSpPr>
        <p:spPr>
          <a:xfrm xmlns:a="http://schemas.openxmlformats.org/drawingml/2006/main">
            <a:off x="952500" y="3438525"/>
            <a:ext cx="4381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87F8C"/>
                </a:solidFill>
                <a:latin typeface="Arial"/>
                <a:ea typeface="Arial"/>
                <a:cs typeface="Arial"/>
              </a:defRPr>
            </a:defPPr>
          </a:lstStyle>
          <a:p xmlns:a="http://schemas.openxmlformats.org/drawingml/2006/main">
            <a:pPr>
              <a:defRPr sz="2325" b="1">
                <a:solidFill>
                  <a:srgbClr val="087F8C"/>
                </a:solidFill>
                <a:latin typeface="Arial"/>
                <a:ea typeface="Arial"/>
                <a:cs typeface="Arial"/>
              </a:defRPr>
            </a:pPr>
            <a:r>
              <a:rPr sz="2325" b="1">
                <a:solidFill>
                  <a:srgbClr val="087F8C"/>
                </a:solidFill>
                <a:latin typeface="Arial"/>
                <a:ea typeface="Arial"/>
                <a:cs typeface="Arial"/>
              </a:rPr>
              <a:t>Problema visible</a:t>
            </a:r>
          </a:p>
        </p:txBody>
      </p:sp>
      <p:sp>
        <p:nvSpPr>
          <p:cNvPr id="7" name="Una regla de SSH abierta en el ejemplo sin módulos">
            <a:extLst xmlns:a="http://schemas.openxmlformats.org/drawingml/2006/main">
              <a:ext uri="{FF2B5EF4-FFF2-40B4-BE49-F238E27FC236}">
                <a16:creationId xmlns:a16="http://schemas.microsoft.com/office/drawing/2014/main" id="{AAB6B1B4-5151-4E2E-B70C-3438B43BF45B}"/>
              </a:ext>
            </a:extLst>
          </p:cNvPr>
          <p:cNvSpPr>
            <a:spLocks xmlns:a="http://schemas.openxmlformats.org/drawingml/2006/main" noGrp="1"/>
          </p:cNvSpPr>
          <p:nvPr/>
        </p:nvSpPr>
        <p:spPr>
          <a:xfrm xmlns:a="http://schemas.openxmlformats.org/drawingml/2006/main">
            <a:off x="5810250" y="3438525"/>
            <a:ext cx="8429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0">
                <a:solidFill>
                  <a:srgbClr val="26384B"/>
                </a:solidFill>
                <a:latin typeface="Arial"/>
                <a:ea typeface="Arial"/>
                <a:cs typeface="Arial"/>
              </a:defRPr>
            </a:defPPr>
          </a:lstStyle>
          <a:p xmlns:a="http://schemas.openxmlformats.org/drawingml/2006/main">
            <a:pPr>
              <a:defRPr sz="2475" b="0">
                <a:solidFill>
                  <a:srgbClr val="26384B"/>
                </a:solidFill>
                <a:latin typeface="Arial"/>
                <a:ea typeface="Arial"/>
                <a:cs typeface="Arial"/>
              </a:defRPr>
            </a:pPr>
            <a:r>
              <a:rPr sz="2475" b="0">
                <a:solidFill>
                  <a:srgbClr val="26384B"/>
                </a:solidFill>
                <a:latin typeface="Arial"/>
                <a:ea typeface="Arial"/>
                <a:cs typeface="Arial"/>
              </a:rPr>
              <a:t>Una regla de SSH abierta en el ejemplo sin módulos</a:t>
            </a:r>
          </a:p>
        </p:txBody>
      </p:sp>
      <p:sp>
        <p:nvSpPr>
          <p:cNvPr id="8" name="Cambio compartido">
            <a:extLst xmlns:a="http://schemas.openxmlformats.org/drawingml/2006/main">
              <a:ext uri="{FF2B5EF4-FFF2-40B4-BE49-F238E27FC236}">
                <a16:creationId xmlns:a16="http://schemas.microsoft.com/office/drawing/2014/main" id="{E4D38236-857D-492E-B891-E1487023EF1B}"/>
              </a:ext>
            </a:extLst>
          </p:cNvPr>
          <p:cNvSpPr>
            <a:spLocks xmlns:a="http://schemas.openxmlformats.org/drawingml/2006/main" noGrp="1"/>
          </p:cNvSpPr>
          <p:nvPr/>
        </p:nvSpPr>
        <p:spPr>
          <a:xfrm xmlns:a="http://schemas.openxmlformats.org/drawingml/2006/main">
            <a:off x="952500" y="4543425"/>
            <a:ext cx="4381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87F8C"/>
                </a:solidFill>
                <a:latin typeface="Arial"/>
                <a:ea typeface="Arial"/>
                <a:cs typeface="Arial"/>
              </a:defRPr>
            </a:defPPr>
          </a:lstStyle>
          <a:p xmlns:a="http://schemas.openxmlformats.org/drawingml/2006/main">
            <a:pPr>
              <a:defRPr sz="2325" b="1">
                <a:solidFill>
                  <a:srgbClr val="087F8C"/>
                </a:solidFill>
                <a:latin typeface="Arial"/>
                <a:ea typeface="Arial"/>
                <a:cs typeface="Arial"/>
              </a:defRPr>
            </a:pPr>
            <a:r>
              <a:rPr sz="2325" b="1">
                <a:solidFill>
                  <a:srgbClr val="087F8C"/>
                </a:solidFill>
                <a:latin typeface="Arial"/>
                <a:ea typeface="Arial"/>
                <a:cs typeface="Arial"/>
              </a:rPr>
              <a:t>Cambio compartido</a:t>
            </a:r>
          </a:p>
        </p:txBody>
      </p:sp>
      <p:sp>
        <p:nvSpPr>
          <p:cNvPr id="9" name="Una definición reutilizable para ambos ambientes">
            <a:extLst xmlns:a="http://schemas.openxmlformats.org/drawingml/2006/main">
              <a:ext uri="{FF2B5EF4-FFF2-40B4-BE49-F238E27FC236}">
                <a16:creationId xmlns:a16="http://schemas.microsoft.com/office/drawing/2014/main" id="{7E95667C-9104-483C-8C71-684F6FD41BD0}"/>
              </a:ext>
            </a:extLst>
          </p:cNvPr>
          <p:cNvSpPr>
            <a:spLocks xmlns:a="http://schemas.openxmlformats.org/drawingml/2006/main" noGrp="1"/>
          </p:cNvSpPr>
          <p:nvPr/>
        </p:nvSpPr>
        <p:spPr>
          <a:xfrm xmlns:a="http://schemas.openxmlformats.org/drawingml/2006/main">
            <a:off x="5810250" y="4543425"/>
            <a:ext cx="8429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0">
                <a:solidFill>
                  <a:srgbClr val="26384B"/>
                </a:solidFill>
                <a:latin typeface="Arial"/>
                <a:ea typeface="Arial"/>
                <a:cs typeface="Arial"/>
              </a:defRPr>
            </a:defPPr>
          </a:lstStyle>
          <a:p xmlns:a="http://schemas.openxmlformats.org/drawingml/2006/main">
            <a:pPr>
              <a:defRPr sz="2475" b="0">
                <a:solidFill>
                  <a:srgbClr val="26384B"/>
                </a:solidFill>
                <a:latin typeface="Arial"/>
                <a:ea typeface="Arial"/>
                <a:cs typeface="Arial"/>
              </a:defRPr>
            </a:pPr>
            <a:r>
              <a:rPr sz="2475" b="0">
                <a:solidFill>
                  <a:srgbClr val="26384B"/>
                </a:solidFill>
                <a:latin typeface="Arial"/>
                <a:ea typeface="Arial"/>
                <a:cs typeface="Arial"/>
              </a:rPr>
              <a:t>Una definición reutilizable para ambos ambientes</a:t>
            </a:r>
          </a:p>
        </p:txBody>
      </p:sp>
      <p:sp>
        <p:nvSpPr>
          <p:cNvPr id="10" name="Centralizar una regla facilita corregirla; no sustituye su revisi">
            <a:extLst xmlns:a="http://schemas.openxmlformats.org/drawingml/2006/main">
              <a:ext uri="{FF2B5EF4-FFF2-40B4-BE49-F238E27FC236}">
                <a16:creationId xmlns:a16="http://schemas.microsoft.com/office/drawing/2014/main" id="{49E03346-5914-4442-BD3E-89778FE2D4B0}"/>
              </a:ext>
            </a:extLst>
          </p:cNvPr>
          <p:cNvSpPr>
            <a:spLocks xmlns:a="http://schemas.openxmlformats.org/drawingml/2006/main" noGrp="1"/>
          </p:cNvSpPr>
          <p:nvPr/>
        </p:nvSpPr>
        <p:spPr>
          <a:xfrm xmlns:a="http://schemas.openxmlformats.org/drawingml/2006/main">
            <a:off x="952500" y="7629525"/>
            <a:ext cx="13335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3677C"/>
                </a:solidFill>
                <a:latin typeface="Arial"/>
                <a:ea typeface="Arial"/>
                <a:cs typeface="Arial"/>
              </a:defRPr>
            </a:defPPr>
          </a:lstStyle>
          <a:p xmlns:a="http://schemas.openxmlformats.org/drawingml/2006/main">
            <a:pPr>
              <a:defRPr sz="1800" b="0">
                <a:solidFill>
                  <a:srgbClr val="53677C"/>
                </a:solidFill>
                <a:latin typeface="Arial"/>
                <a:ea typeface="Arial"/>
                <a:cs typeface="Arial"/>
              </a:defRPr>
            </a:pPr>
            <a:r>
              <a:rPr sz="1800" b="0">
                <a:solidFill>
                  <a:srgbClr val="53677C"/>
                </a:solidFill>
                <a:latin typeface="Arial"/>
                <a:ea typeface="Arial"/>
                <a:cs typeface="Arial"/>
              </a:rPr>
              <a:t>Centralizar una regla facilita corregirla; no sustituye su revisión.</a:t>
            </a:r>
          </a:p>
        </p:txBody>
      </p:sp>
    </p:spTree>
    <p:extLst>
      <p:ext uri="{BB962C8B-B14F-4D97-AF65-F5344CB8AC3E}">
        <p14:creationId xmlns:p14="http://schemas.microsoft.com/office/powerpoint/2010/main" val="630248242"/>
      </p:ext>
    </p:extLst>
  </p:cSld>
</p:sld>
</file>

<file path=ppt/slides/slide19.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1" name="TERRAFORM">
            <a:extLst xmlns:a="http://schemas.openxmlformats.org/drawingml/2006/main">
              <a:ext uri="{FF2B5EF4-FFF2-40B4-BE49-F238E27FC236}">
                <a16:creationId xmlns:a16="http://schemas.microsoft.com/office/drawing/2014/main" id="{4836AB4A-41CF-4544-9067-597436848562}"/>
              </a:ext>
            </a:extLst>
          </p:cNvPr>
          <p:cNvSpPr>
            <a:spLocks xmlns:a="http://schemas.openxmlformats.org/drawingml/2006/main" noGrp="1"/>
          </p:cNvSpPr>
          <p:nvPr/>
        </p:nvSpPr>
        <p:spPr>
          <a:xfrm xmlns:a="http://schemas.openxmlformats.org/drawingml/2006/main">
            <a:off x="914400" y="542925"/>
            <a:ext cx="1238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087F8C"/>
                </a:solidFill>
                <a:latin typeface="Arial"/>
                <a:ea typeface="Arial"/>
                <a:cs typeface="Arial"/>
              </a:defRPr>
            </a:defPPr>
          </a:lstStyle>
          <a:p xmlns:a="http://schemas.openxmlformats.org/drawingml/2006/main">
            <a:pPr>
              <a:defRPr sz="1575" b="1">
                <a:solidFill>
                  <a:srgbClr val="087F8C"/>
                </a:solidFill>
                <a:latin typeface="Arial"/>
                <a:ea typeface="Arial"/>
                <a:cs typeface="Arial"/>
              </a:defRPr>
            </a:pPr>
            <a:r>
              <a:rPr sz="1575" b="1">
                <a:solidFill>
                  <a:srgbClr val="087F8C"/>
                </a:solidFill>
                <a:latin typeface="Arial"/>
                <a:ea typeface="Arial"/>
                <a:cs typeface="Arial"/>
              </a:rPr>
              <a:t>TERRAFORM</a:t>
            </a:r>
          </a:p>
        </p:txBody>
      </p:sp>
      <p:sp>
        <p:nvSpPr>
          <p:cNvPr id="2" name="19 / 34">
            <a:extLst xmlns:a="http://schemas.openxmlformats.org/drawingml/2006/main">
              <a:ext uri="{FF2B5EF4-FFF2-40B4-BE49-F238E27FC236}">
                <a16:creationId xmlns:a16="http://schemas.microsoft.com/office/drawing/2014/main" id="{2D0D3E89-5A9B-46D2-BA55-4193D8A7EF24}"/>
              </a:ext>
            </a:extLst>
          </p:cNvPr>
          <p:cNvSpPr>
            <a:spLocks xmlns:a="http://schemas.openxmlformats.org/drawingml/2006/main" noGrp="1"/>
          </p:cNvSpPr>
          <p:nvPr/>
        </p:nvSpPr>
        <p:spPr>
          <a:xfrm xmlns:a="http://schemas.openxmlformats.org/drawingml/2006/main">
            <a:off x="13192125" y="561975"/>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77C"/>
                </a:solidFill>
                <a:latin typeface="Arial"/>
                <a:ea typeface="Arial"/>
                <a:cs typeface="Arial"/>
              </a:defRPr>
            </a:defPPr>
          </a:lstStyle>
          <a:p xmlns:a="http://schemas.openxmlformats.org/drawingml/2006/main">
            <a:pPr>
              <a:defRPr sz="1500" b="0">
                <a:solidFill>
                  <a:srgbClr val="53677C"/>
                </a:solidFill>
                <a:latin typeface="Arial"/>
                <a:ea typeface="Arial"/>
                <a:cs typeface="Arial"/>
              </a:defRPr>
            </a:pPr>
            <a:r>
              <a:rPr sz="1500" b="0">
                <a:solidFill>
                  <a:srgbClr val="53677C"/>
                </a:solidFill>
                <a:latin typeface="Arial"/>
                <a:ea typeface="Arial"/>
                <a:cs typeface="Arial"/>
              </a:rPr>
              <a:t>19 / 34</a:t>
            </a:r>
          </a:p>
        </p:txBody>
      </p:sp>
      <p:sp>
        <p:nvSpPr>
          <p:cNvPr id="3" name="El contrato de un módulo">
            <a:extLst xmlns:a="http://schemas.openxmlformats.org/drawingml/2006/main">
              <a:ext uri="{FF2B5EF4-FFF2-40B4-BE49-F238E27FC236}">
                <a16:creationId xmlns:a16="http://schemas.microsoft.com/office/drawing/2014/main" id="{6EA2E4C6-B3CC-449E-BFCD-65DAD842D82B}"/>
              </a:ext>
            </a:extLst>
          </p:cNvPr>
          <p:cNvSpPr>
            <a:spLocks xmlns:a="http://schemas.openxmlformats.org/drawingml/2006/main" noGrp="1"/>
          </p:cNvSpPr>
          <p:nvPr/>
        </p:nvSpPr>
        <p:spPr>
          <a:xfrm xmlns:a="http://schemas.openxmlformats.org/drawingml/2006/main">
            <a:off x="914400" y="1143000"/>
            <a:ext cx="13411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132E50"/>
                </a:solidFill>
                <a:latin typeface="Arial"/>
                <a:ea typeface="Arial"/>
                <a:cs typeface="Arial"/>
              </a:defRPr>
            </a:defPPr>
          </a:lstStyle>
          <a:p xmlns:a="http://schemas.openxmlformats.org/drawingml/2006/main">
            <a:pPr>
              <a:defRPr sz="3825" b="1">
                <a:solidFill>
                  <a:srgbClr val="132E50"/>
                </a:solidFill>
                <a:latin typeface="Arial"/>
                <a:ea typeface="Arial"/>
                <a:cs typeface="Arial"/>
              </a:defRPr>
            </a:pPr>
            <a:r>
              <a:rPr sz="3825" b="1">
                <a:solidFill>
                  <a:srgbClr val="132E50"/>
                </a:solidFill>
                <a:latin typeface="Arial"/>
                <a:ea typeface="Arial"/>
                <a:cs typeface="Arial"/>
              </a:rPr>
              <a:t>El contrato de un módulo</a:t>
            </a:r>
          </a:p>
        </p:txBody>
      </p:sp>
      <p:sp>
        <p:nvSpPr>
          <p:cNvPr id="4" name="variables.tf">
            <a:extLst xmlns:a="http://schemas.openxmlformats.org/drawingml/2006/main">
              <a:ext uri="{FF2B5EF4-FFF2-40B4-BE49-F238E27FC236}">
                <a16:creationId xmlns:a16="http://schemas.microsoft.com/office/drawing/2014/main" id="{3E77971A-10EB-4FF2-908F-0D7F890DE55D}"/>
              </a:ext>
            </a:extLst>
          </p:cNvPr>
          <p:cNvSpPr>
            <a:spLocks xmlns:a="http://schemas.openxmlformats.org/drawingml/2006/main" noGrp="1"/>
          </p:cNvSpPr>
          <p:nvPr/>
        </p:nvSpPr>
        <p:spPr>
          <a:xfrm xmlns:a="http://schemas.openxmlformats.org/drawingml/2006/main">
            <a:off x="952500" y="2333625"/>
            <a:ext cx="4381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87F8C"/>
                </a:solidFill>
                <a:latin typeface="Arial"/>
                <a:ea typeface="Arial"/>
                <a:cs typeface="Arial"/>
              </a:defRPr>
            </a:defPPr>
          </a:lstStyle>
          <a:p xmlns:a="http://schemas.openxmlformats.org/drawingml/2006/main">
            <a:pPr>
              <a:defRPr sz="2325" b="1">
                <a:solidFill>
                  <a:srgbClr val="087F8C"/>
                </a:solidFill>
                <a:latin typeface="Arial"/>
                <a:ea typeface="Arial"/>
                <a:cs typeface="Arial"/>
              </a:defRPr>
            </a:pPr>
            <a:r>
              <a:rPr sz="2325" b="1">
                <a:solidFill>
                  <a:srgbClr val="087F8C"/>
                </a:solidFill>
                <a:latin typeface="Arial"/>
                <a:ea typeface="Arial"/>
                <a:cs typeface="Arial"/>
              </a:rPr>
              <a:t>variables.tf</a:t>
            </a:r>
          </a:p>
        </p:txBody>
      </p:sp>
      <p:sp>
        <p:nvSpPr>
          <p:cNvPr id="5" name="Entradas: ambiente, región, cantidad e IP de administración">
            <a:extLst xmlns:a="http://schemas.openxmlformats.org/drawingml/2006/main">
              <a:ext uri="{FF2B5EF4-FFF2-40B4-BE49-F238E27FC236}">
                <a16:creationId xmlns:a16="http://schemas.microsoft.com/office/drawing/2014/main" id="{1CBB2332-96D2-4E12-8D60-A33F94C79AC7}"/>
              </a:ext>
            </a:extLst>
          </p:cNvPr>
          <p:cNvSpPr>
            <a:spLocks xmlns:a="http://schemas.openxmlformats.org/drawingml/2006/main" noGrp="1"/>
          </p:cNvSpPr>
          <p:nvPr/>
        </p:nvSpPr>
        <p:spPr>
          <a:xfrm xmlns:a="http://schemas.openxmlformats.org/drawingml/2006/main">
            <a:off x="5810250" y="2333625"/>
            <a:ext cx="8429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0">
                <a:solidFill>
                  <a:srgbClr val="26384B"/>
                </a:solidFill>
                <a:latin typeface="Arial"/>
                <a:ea typeface="Arial"/>
                <a:cs typeface="Arial"/>
              </a:defRPr>
            </a:defPPr>
          </a:lstStyle>
          <a:p xmlns:a="http://schemas.openxmlformats.org/drawingml/2006/main">
            <a:pPr>
              <a:defRPr sz="2475" b="0">
                <a:solidFill>
                  <a:srgbClr val="26384B"/>
                </a:solidFill>
                <a:latin typeface="Arial"/>
                <a:ea typeface="Arial"/>
                <a:cs typeface="Arial"/>
              </a:defRPr>
            </a:pPr>
            <a:r>
              <a:rPr sz="2475" b="0">
                <a:solidFill>
                  <a:srgbClr val="26384B"/>
                </a:solidFill>
                <a:latin typeface="Arial"/>
                <a:ea typeface="Arial"/>
                <a:cs typeface="Arial"/>
              </a:rPr>
              <a:t>Entradas: ambiente, región, cantidad e IP de administración</a:t>
            </a:r>
          </a:p>
        </p:txBody>
      </p:sp>
      <p:sp>
        <p:nvSpPr>
          <p:cNvPr id="6" name="main.tf">
            <a:extLst xmlns:a="http://schemas.openxmlformats.org/drawingml/2006/main">
              <a:ext uri="{FF2B5EF4-FFF2-40B4-BE49-F238E27FC236}">
                <a16:creationId xmlns:a16="http://schemas.microsoft.com/office/drawing/2014/main" id="{C7E5A839-B972-468F-A29C-A685FFBA18C6}"/>
              </a:ext>
            </a:extLst>
          </p:cNvPr>
          <p:cNvSpPr>
            <a:spLocks xmlns:a="http://schemas.openxmlformats.org/drawingml/2006/main" noGrp="1"/>
          </p:cNvSpPr>
          <p:nvPr/>
        </p:nvSpPr>
        <p:spPr>
          <a:xfrm xmlns:a="http://schemas.openxmlformats.org/drawingml/2006/main">
            <a:off x="952500" y="3438525"/>
            <a:ext cx="4381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87F8C"/>
                </a:solidFill>
                <a:latin typeface="Arial"/>
                <a:ea typeface="Arial"/>
                <a:cs typeface="Arial"/>
              </a:defRPr>
            </a:defPPr>
          </a:lstStyle>
          <a:p xmlns:a="http://schemas.openxmlformats.org/drawingml/2006/main">
            <a:pPr>
              <a:defRPr sz="2325" b="1">
                <a:solidFill>
                  <a:srgbClr val="087F8C"/>
                </a:solidFill>
                <a:latin typeface="Arial"/>
                <a:ea typeface="Arial"/>
                <a:cs typeface="Arial"/>
              </a:defRPr>
            </a:pPr>
            <a:r>
              <a:rPr sz="2325" b="1">
                <a:solidFill>
                  <a:srgbClr val="087F8C"/>
                </a:solidFill>
                <a:latin typeface="Arial"/>
                <a:ea typeface="Arial"/>
                <a:cs typeface="Arial"/>
              </a:rPr>
              <a:t>main.tf</a:t>
            </a:r>
          </a:p>
        </p:txBody>
      </p:sp>
      <p:sp>
        <p:nvSpPr>
          <p:cNvPr id="7" name="Recursos: red, reglas, IPs y máquinas virtuales">
            <a:extLst xmlns:a="http://schemas.openxmlformats.org/drawingml/2006/main">
              <a:ext uri="{FF2B5EF4-FFF2-40B4-BE49-F238E27FC236}">
                <a16:creationId xmlns:a16="http://schemas.microsoft.com/office/drawing/2014/main" id="{C6C7E1BA-B2C5-45AB-B566-9433AB4D678A}"/>
              </a:ext>
            </a:extLst>
          </p:cNvPr>
          <p:cNvSpPr>
            <a:spLocks xmlns:a="http://schemas.openxmlformats.org/drawingml/2006/main" noGrp="1"/>
          </p:cNvSpPr>
          <p:nvPr/>
        </p:nvSpPr>
        <p:spPr>
          <a:xfrm xmlns:a="http://schemas.openxmlformats.org/drawingml/2006/main">
            <a:off x="5810250" y="3438525"/>
            <a:ext cx="8429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0">
                <a:solidFill>
                  <a:srgbClr val="26384B"/>
                </a:solidFill>
                <a:latin typeface="Arial"/>
                <a:ea typeface="Arial"/>
                <a:cs typeface="Arial"/>
              </a:defRPr>
            </a:defPPr>
          </a:lstStyle>
          <a:p xmlns:a="http://schemas.openxmlformats.org/drawingml/2006/main">
            <a:pPr>
              <a:defRPr sz="2475" b="0">
                <a:solidFill>
                  <a:srgbClr val="26384B"/>
                </a:solidFill>
                <a:latin typeface="Arial"/>
                <a:ea typeface="Arial"/>
                <a:cs typeface="Arial"/>
              </a:defRPr>
            </a:pPr>
            <a:r>
              <a:rPr sz="2475" b="0">
                <a:solidFill>
                  <a:srgbClr val="26384B"/>
                </a:solidFill>
                <a:latin typeface="Arial"/>
                <a:ea typeface="Arial"/>
                <a:cs typeface="Arial"/>
              </a:rPr>
              <a:t>Recursos: red, reglas, IPs y máquinas virtuales</a:t>
            </a:r>
          </a:p>
        </p:txBody>
      </p:sp>
      <p:sp>
        <p:nvSpPr>
          <p:cNvPr id="8" name="outputs.tf">
            <a:extLst xmlns:a="http://schemas.openxmlformats.org/drawingml/2006/main">
              <a:ext uri="{FF2B5EF4-FFF2-40B4-BE49-F238E27FC236}">
                <a16:creationId xmlns:a16="http://schemas.microsoft.com/office/drawing/2014/main" id="{C3B81DE7-CA23-4DE6-9934-7266C42899E4}"/>
              </a:ext>
            </a:extLst>
          </p:cNvPr>
          <p:cNvSpPr>
            <a:spLocks xmlns:a="http://schemas.openxmlformats.org/drawingml/2006/main" noGrp="1"/>
          </p:cNvSpPr>
          <p:nvPr/>
        </p:nvSpPr>
        <p:spPr>
          <a:xfrm xmlns:a="http://schemas.openxmlformats.org/drawingml/2006/main">
            <a:off x="952500" y="4543425"/>
            <a:ext cx="4381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87F8C"/>
                </a:solidFill>
                <a:latin typeface="Arial"/>
                <a:ea typeface="Arial"/>
                <a:cs typeface="Arial"/>
              </a:defRPr>
            </a:defPPr>
          </a:lstStyle>
          <a:p xmlns:a="http://schemas.openxmlformats.org/drawingml/2006/main">
            <a:pPr>
              <a:defRPr sz="2325" b="1">
                <a:solidFill>
                  <a:srgbClr val="087F8C"/>
                </a:solidFill>
                <a:latin typeface="Arial"/>
                <a:ea typeface="Arial"/>
                <a:cs typeface="Arial"/>
              </a:defRPr>
            </a:pPr>
            <a:r>
              <a:rPr sz="2325" b="1">
                <a:solidFill>
                  <a:srgbClr val="087F8C"/>
                </a:solidFill>
                <a:latin typeface="Arial"/>
                <a:ea typeface="Arial"/>
                <a:cs typeface="Arial"/>
              </a:rPr>
              <a:t>outputs.tf</a:t>
            </a:r>
          </a:p>
        </p:txBody>
      </p:sp>
      <p:sp>
        <p:nvSpPr>
          <p:cNvPr id="9" name="Salida: lista de IPs públicas">
            <a:extLst xmlns:a="http://schemas.openxmlformats.org/drawingml/2006/main">
              <a:ext uri="{FF2B5EF4-FFF2-40B4-BE49-F238E27FC236}">
                <a16:creationId xmlns:a16="http://schemas.microsoft.com/office/drawing/2014/main" id="{3D4D75A9-4DC5-44A7-A35E-3C2A46D8E44B}"/>
              </a:ext>
            </a:extLst>
          </p:cNvPr>
          <p:cNvSpPr>
            <a:spLocks xmlns:a="http://schemas.openxmlformats.org/drawingml/2006/main" noGrp="1"/>
          </p:cNvSpPr>
          <p:nvPr/>
        </p:nvSpPr>
        <p:spPr>
          <a:xfrm xmlns:a="http://schemas.openxmlformats.org/drawingml/2006/main">
            <a:off x="5810250" y="4543425"/>
            <a:ext cx="8429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0">
                <a:solidFill>
                  <a:srgbClr val="26384B"/>
                </a:solidFill>
                <a:latin typeface="Arial"/>
                <a:ea typeface="Arial"/>
                <a:cs typeface="Arial"/>
              </a:defRPr>
            </a:defPPr>
          </a:lstStyle>
          <a:p xmlns:a="http://schemas.openxmlformats.org/drawingml/2006/main">
            <a:pPr>
              <a:defRPr sz="2475" b="0">
                <a:solidFill>
                  <a:srgbClr val="26384B"/>
                </a:solidFill>
                <a:latin typeface="Arial"/>
                <a:ea typeface="Arial"/>
                <a:cs typeface="Arial"/>
              </a:defRPr>
            </a:pPr>
            <a:r>
              <a:rPr sz="2475" b="0">
                <a:solidFill>
                  <a:srgbClr val="26384B"/>
                </a:solidFill>
                <a:latin typeface="Arial"/>
                <a:ea typeface="Arial"/>
                <a:cs typeface="Arial"/>
              </a:rPr>
              <a:t>Salida: lista de IPs públicas</a:t>
            </a:r>
          </a:p>
        </p:txBody>
      </p:sp>
      <p:sp>
        <p:nvSpPr>
          <p:cNvPr id="10" name="Los nombres de archivo organizan la lectura; Terraform carga los ">
            <a:extLst xmlns:a="http://schemas.openxmlformats.org/drawingml/2006/main">
              <a:ext uri="{FF2B5EF4-FFF2-40B4-BE49-F238E27FC236}">
                <a16:creationId xmlns:a16="http://schemas.microsoft.com/office/drawing/2014/main" id="{1D9A59FF-2281-4A32-AF4A-027F768E34FA}"/>
              </a:ext>
            </a:extLst>
          </p:cNvPr>
          <p:cNvSpPr>
            <a:spLocks xmlns:a="http://schemas.openxmlformats.org/drawingml/2006/main" noGrp="1"/>
          </p:cNvSpPr>
          <p:nvPr/>
        </p:nvSpPr>
        <p:spPr>
          <a:xfrm xmlns:a="http://schemas.openxmlformats.org/drawingml/2006/main">
            <a:off x="952500" y="7629525"/>
            <a:ext cx="13335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3677C"/>
                </a:solidFill>
                <a:latin typeface="Arial"/>
                <a:ea typeface="Arial"/>
                <a:cs typeface="Arial"/>
              </a:defRPr>
            </a:defPPr>
          </a:lstStyle>
          <a:p xmlns:a="http://schemas.openxmlformats.org/drawingml/2006/main">
            <a:pPr>
              <a:defRPr sz="1800" b="0">
                <a:solidFill>
                  <a:srgbClr val="53677C"/>
                </a:solidFill>
                <a:latin typeface="Arial"/>
                <a:ea typeface="Arial"/>
                <a:cs typeface="Arial"/>
              </a:defRPr>
            </a:pPr>
            <a:r>
              <a:rPr sz="1800" b="0">
                <a:solidFill>
                  <a:srgbClr val="53677C"/>
                </a:solidFill>
                <a:latin typeface="Arial"/>
                <a:ea typeface="Arial"/>
                <a:cs typeface="Arial"/>
              </a:rPr>
              <a:t>Los nombres de archivo organizan la lectura; Terraform carga los .tf del directorio.</a:t>
            </a:r>
          </a:p>
        </p:txBody>
      </p:sp>
    </p:spTree>
    <p:extLst>
      <p:ext uri="{BB962C8B-B14F-4D97-AF65-F5344CB8AC3E}">
        <p14:creationId xmlns:p14="http://schemas.microsoft.com/office/powerpoint/2010/main" val="1161743856"/>
      </p:ext>
    </p:extLst>
  </p:cSld>
</p:sld>
</file>

<file path=ppt/slides/slide20.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9" name="TERRAFORM">
            <a:extLst xmlns:a="http://schemas.openxmlformats.org/drawingml/2006/main">
              <a:ext uri="{FF2B5EF4-FFF2-40B4-BE49-F238E27FC236}">
                <a16:creationId xmlns:a16="http://schemas.microsoft.com/office/drawing/2014/main" id="{D3C9AC9C-381B-451B-9A6A-B774B6F10046}"/>
              </a:ext>
            </a:extLst>
          </p:cNvPr>
          <p:cNvSpPr>
            <a:spLocks xmlns:a="http://schemas.openxmlformats.org/drawingml/2006/main" noGrp="1"/>
          </p:cNvSpPr>
          <p:nvPr/>
        </p:nvSpPr>
        <p:spPr>
          <a:xfrm xmlns:a="http://schemas.openxmlformats.org/drawingml/2006/main">
            <a:off x="914400" y="542925"/>
            <a:ext cx="1238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087F8C"/>
                </a:solidFill>
                <a:latin typeface="Arial"/>
                <a:ea typeface="Arial"/>
                <a:cs typeface="Arial"/>
              </a:defRPr>
            </a:defPPr>
          </a:lstStyle>
          <a:p xmlns:a="http://schemas.openxmlformats.org/drawingml/2006/main">
            <a:pPr>
              <a:defRPr sz="1575" b="1">
                <a:solidFill>
                  <a:srgbClr val="087F8C"/>
                </a:solidFill>
                <a:latin typeface="Arial"/>
                <a:ea typeface="Arial"/>
                <a:cs typeface="Arial"/>
              </a:defRPr>
            </a:pPr>
            <a:r>
              <a:rPr sz="1575" b="1">
                <a:solidFill>
                  <a:srgbClr val="087F8C"/>
                </a:solidFill>
                <a:latin typeface="Arial"/>
                <a:ea typeface="Arial"/>
                <a:cs typeface="Arial"/>
              </a:rPr>
              <a:t>TERRAFORM</a:t>
            </a:r>
          </a:p>
        </p:txBody>
      </p:sp>
      <p:sp>
        <p:nvSpPr>
          <p:cNvPr id="2" name="20 / 34">
            <a:extLst xmlns:a="http://schemas.openxmlformats.org/drawingml/2006/main">
              <a:ext uri="{FF2B5EF4-FFF2-40B4-BE49-F238E27FC236}">
                <a16:creationId xmlns:a16="http://schemas.microsoft.com/office/drawing/2014/main" id="{3DBBF598-3576-4BD2-8982-76ACA0B90BEC}"/>
              </a:ext>
            </a:extLst>
          </p:cNvPr>
          <p:cNvSpPr>
            <a:spLocks xmlns:a="http://schemas.openxmlformats.org/drawingml/2006/main" noGrp="1"/>
          </p:cNvSpPr>
          <p:nvPr/>
        </p:nvSpPr>
        <p:spPr>
          <a:xfrm xmlns:a="http://schemas.openxmlformats.org/drawingml/2006/main">
            <a:off x="13192125" y="561975"/>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77C"/>
                </a:solidFill>
                <a:latin typeface="Arial"/>
                <a:ea typeface="Arial"/>
                <a:cs typeface="Arial"/>
              </a:defRPr>
            </a:defPPr>
          </a:lstStyle>
          <a:p xmlns:a="http://schemas.openxmlformats.org/drawingml/2006/main">
            <a:pPr>
              <a:defRPr sz="1500" b="0">
                <a:solidFill>
                  <a:srgbClr val="53677C"/>
                </a:solidFill>
                <a:latin typeface="Arial"/>
                <a:ea typeface="Arial"/>
                <a:cs typeface="Arial"/>
              </a:defRPr>
            </a:pPr>
            <a:r>
              <a:rPr sz="1500" b="0">
                <a:solidFill>
                  <a:srgbClr val="53677C"/>
                </a:solidFill>
                <a:latin typeface="Arial"/>
                <a:ea typeface="Arial"/>
                <a:cs typeface="Arial"/>
              </a:rPr>
              <a:t>20 / 34</a:t>
            </a:r>
          </a:p>
        </p:txBody>
      </p:sp>
      <p:sp>
        <p:nvSpPr>
          <p:cNvPr id="3" name="Una definición, dos ambientes">
            <a:extLst xmlns:a="http://schemas.openxmlformats.org/drawingml/2006/main">
              <a:ext uri="{FF2B5EF4-FFF2-40B4-BE49-F238E27FC236}">
                <a16:creationId xmlns:a16="http://schemas.microsoft.com/office/drawing/2014/main" id="{9B91B391-612F-4B92-86AF-63340D60728B}"/>
              </a:ext>
            </a:extLst>
          </p:cNvPr>
          <p:cNvSpPr>
            <a:spLocks xmlns:a="http://schemas.openxmlformats.org/drawingml/2006/main" noGrp="1"/>
          </p:cNvSpPr>
          <p:nvPr/>
        </p:nvSpPr>
        <p:spPr>
          <a:xfrm xmlns:a="http://schemas.openxmlformats.org/drawingml/2006/main">
            <a:off x="914400" y="1143000"/>
            <a:ext cx="13411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132E50"/>
                </a:solidFill>
                <a:latin typeface="Arial"/>
                <a:ea typeface="Arial"/>
                <a:cs typeface="Arial"/>
              </a:defRPr>
            </a:defPPr>
          </a:lstStyle>
          <a:p xmlns:a="http://schemas.openxmlformats.org/drawingml/2006/main">
            <a:pPr>
              <a:defRPr sz="3825" b="1">
                <a:solidFill>
                  <a:srgbClr val="132E50"/>
                </a:solidFill>
                <a:latin typeface="Arial"/>
                <a:ea typeface="Arial"/>
                <a:cs typeface="Arial"/>
              </a:defRPr>
            </a:pPr>
            <a:r>
              <a:rPr sz="3825" b="1">
                <a:solidFill>
                  <a:srgbClr val="132E50"/>
                </a:solidFill>
                <a:latin typeface="Arial"/>
                <a:ea typeface="Arial"/>
                <a:cs typeface="Arial"/>
              </a:rPr>
              <a:t>Una definición, dos ambientes</a:t>
            </a:r>
          </a:p>
        </p:txBody>
      </p:sp>
      <p:sp>
        <p:nvSpPr>
          <p:cNvPr id="4" name="module &quot;staging&quot; {&#10;  source         = &quot;./modules/web_server&quot;&#10;  en">
            <a:extLst xmlns:a="http://schemas.openxmlformats.org/drawingml/2006/main">
              <a:ext uri="{FF2B5EF4-FFF2-40B4-BE49-F238E27FC236}">
                <a16:creationId xmlns:a16="http://schemas.microsoft.com/office/drawing/2014/main" id="{D3D64079-C954-44D7-869C-608448C4F62B}"/>
              </a:ext>
            </a:extLst>
          </p:cNvPr>
          <p:cNvSpPr>
            <a:spLocks xmlns:a="http://schemas.openxmlformats.org/drawingml/2006/main" noGrp="1"/>
          </p:cNvSpPr>
          <p:nvPr/>
        </p:nvSpPr>
        <p:spPr>
          <a:xfrm xmlns:a="http://schemas.openxmlformats.org/drawingml/2006/main">
            <a:off x="952500" y="2381250"/>
            <a:ext cx="8858250" cy="457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32E50"/>
                </a:solidFill>
                <a:latin typeface="Courier New"/>
                <a:ea typeface="Courier New"/>
                <a:cs typeface="Courier New"/>
              </a:defRPr>
            </a:defPPr>
          </a:lstStyle>
          <a:p xmlns:a="http://schemas.openxmlformats.org/drawingml/2006/main">
            <a:pPr>
              <a:defRPr sz="2025" b="0">
                <a:solidFill>
                  <a:srgbClr val="132E50"/>
                </a:solidFill>
                <a:latin typeface="Courier New"/>
                <a:ea typeface="Courier New"/>
                <a:cs typeface="Courier New"/>
              </a:defRPr>
            </a:pPr>
            <a:r>
              <a:rPr sz="2025" b="0">
                <a:solidFill>
                  <a:srgbClr val="132E50"/>
                </a:solidFill>
                <a:latin typeface="Courier New"/>
                <a:ea typeface="Courier New"/>
                <a:cs typeface="Courier New"/>
              </a:rPr>
              <a:t>module "staging" {</a:t>
            </a:r>
          </a:p>
          <a:p xmlns:a="http://schemas.openxmlformats.org/drawingml/2006/main">
            <a:pPr>
              <a:defRPr sz="2025" b="0">
                <a:solidFill>
                  <a:srgbClr val="132E50"/>
                </a:solidFill>
                <a:latin typeface="Courier New"/>
                <a:ea typeface="Courier New"/>
                <a:cs typeface="Courier New"/>
              </a:defRPr>
            </a:pPr>
            <a:r>
              <a:rPr sz="2025" b="0">
                <a:solidFill>
                  <a:srgbClr val="132E50"/>
                </a:solidFill>
                <a:latin typeface="Courier New"/>
                <a:ea typeface="Courier New"/>
                <a:cs typeface="Courier New"/>
              </a:rPr>
              <a:t>  source         = "./modules/web_server"</a:t>
            </a:r>
          </a:p>
          <a:p xmlns:a="http://schemas.openxmlformats.org/drawingml/2006/main">
            <a:pPr>
              <a:defRPr sz="2025" b="0">
                <a:solidFill>
                  <a:srgbClr val="132E50"/>
                </a:solidFill>
                <a:latin typeface="Courier New"/>
                <a:ea typeface="Courier New"/>
                <a:cs typeface="Courier New"/>
              </a:defRPr>
            </a:pPr>
            <a:r>
              <a:rPr sz="2025" b="0">
                <a:solidFill>
                  <a:srgbClr val="132E50"/>
                </a:solidFill>
                <a:latin typeface="Courier New"/>
                <a:ea typeface="Courier New"/>
                <a:cs typeface="Courier New"/>
              </a:rPr>
              <a:t>  environment    = "staging"</a:t>
            </a:r>
          </a:p>
          <a:p xmlns:a="http://schemas.openxmlformats.org/drawingml/2006/main">
            <a:pPr>
              <a:defRPr sz="2025" b="0">
                <a:solidFill>
                  <a:srgbClr val="132E50"/>
                </a:solidFill>
                <a:latin typeface="Courier New"/>
                <a:ea typeface="Courier New"/>
                <a:cs typeface="Courier New"/>
              </a:defRPr>
            </a:pPr>
            <a:r>
              <a:rPr sz="2025" b="0">
                <a:solidFill>
                  <a:srgbClr val="132E50"/>
                </a:solidFill>
                <a:latin typeface="Courier New"/>
                <a:ea typeface="Courier New"/>
                <a:cs typeface="Courier New"/>
              </a:rPr>
              <a:t>  instance_count = 1</a:t>
            </a:r>
          </a:p>
          <a:p xmlns:a="http://schemas.openxmlformats.org/drawingml/2006/main">
            <a:pPr>
              <a:defRPr sz="2025" b="0">
                <a:solidFill>
                  <a:srgbClr val="132E50"/>
                </a:solidFill>
                <a:latin typeface="Courier New"/>
                <a:ea typeface="Courier New"/>
                <a:cs typeface="Courier New"/>
              </a:defRPr>
            </a:pPr>
            <a:r>
              <a:rPr sz="2025" b="0">
                <a:solidFill>
                  <a:srgbClr val="132E50"/>
                </a:solidFill>
                <a:latin typeface="Courier New"/>
                <a:ea typeface="Courier New"/>
                <a:cs typeface="Courier New"/>
              </a:rPr>
              <a:t>  # otras entradas en el archivo</a:t>
            </a:r>
          </a:p>
          <a:p xmlns:a="http://schemas.openxmlformats.org/drawingml/2006/main">
            <a:pPr>
              <a:defRPr sz="2025" b="0">
                <a:solidFill>
                  <a:srgbClr val="132E50"/>
                </a:solidFill>
                <a:latin typeface="Courier New"/>
                <a:ea typeface="Courier New"/>
                <a:cs typeface="Courier New"/>
              </a:defRPr>
            </a:pPr>
            <a:r>
              <a:rPr sz="2025" b="0">
                <a:solidFill>
                  <a:srgbClr val="132E50"/>
                </a:solidFill>
                <a:latin typeface="Courier New"/>
                <a:ea typeface="Courier New"/>
                <a:cs typeface="Courier New"/>
              </a:rPr>
              <a:t>}</a:t>
            </a:r>
          </a:p>
          <a:p xmlns:a="http://schemas.openxmlformats.org/drawingml/2006/main">
            <a:r>
              <a:t/>
            </a:r>
          </a:p>
          <a:p xmlns:a="http://schemas.openxmlformats.org/drawingml/2006/main">
            <a:pPr>
              <a:defRPr sz="2025" b="0">
                <a:solidFill>
                  <a:srgbClr val="132E50"/>
                </a:solidFill>
                <a:latin typeface="Courier New"/>
                <a:ea typeface="Courier New"/>
                <a:cs typeface="Courier New"/>
              </a:defRPr>
            </a:pPr>
            <a:r>
              <a:rPr sz="2025" b="0">
                <a:solidFill>
                  <a:srgbClr val="132E50"/>
                </a:solidFill>
                <a:latin typeface="Courier New"/>
                <a:ea typeface="Courier New"/>
                <a:cs typeface="Courier New"/>
              </a:rPr>
              <a:t>module "prod" {</a:t>
            </a:r>
          </a:p>
          <a:p xmlns:a="http://schemas.openxmlformats.org/drawingml/2006/main">
            <a:pPr>
              <a:defRPr sz="2025" b="0">
                <a:solidFill>
                  <a:srgbClr val="132E50"/>
                </a:solidFill>
                <a:latin typeface="Courier New"/>
                <a:ea typeface="Courier New"/>
                <a:cs typeface="Courier New"/>
              </a:defRPr>
            </a:pPr>
            <a:r>
              <a:rPr sz="2025" b="0">
                <a:solidFill>
                  <a:srgbClr val="132E50"/>
                </a:solidFill>
                <a:latin typeface="Courier New"/>
                <a:ea typeface="Courier New"/>
                <a:cs typeface="Courier New"/>
              </a:rPr>
              <a:t>  source         = "./modules/web_server"</a:t>
            </a:r>
          </a:p>
          <a:p xmlns:a="http://schemas.openxmlformats.org/drawingml/2006/main">
            <a:pPr>
              <a:defRPr sz="2025" b="0">
                <a:solidFill>
                  <a:srgbClr val="132E50"/>
                </a:solidFill>
                <a:latin typeface="Courier New"/>
                <a:ea typeface="Courier New"/>
                <a:cs typeface="Courier New"/>
              </a:defRPr>
            </a:pPr>
            <a:r>
              <a:rPr sz="2025" b="0">
                <a:solidFill>
                  <a:srgbClr val="132E50"/>
                </a:solidFill>
                <a:latin typeface="Courier New"/>
                <a:ea typeface="Courier New"/>
                <a:cs typeface="Courier New"/>
              </a:rPr>
              <a:t>  environment    = "prod"</a:t>
            </a:r>
          </a:p>
          <a:p xmlns:a="http://schemas.openxmlformats.org/drawingml/2006/main">
            <a:pPr>
              <a:defRPr sz="2025" b="0">
                <a:solidFill>
                  <a:srgbClr val="132E50"/>
                </a:solidFill>
                <a:latin typeface="Courier New"/>
                <a:ea typeface="Courier New"/>
                <a:cs typeface="Courier New"/>
              </a:defRPr>
            </a:pPr>
            <a:r>
              <a:rPr sz="2025" b="0">
                <a:solidFill>
                  <a:srgbClr val="132E50"/>
                </a:solidFill>
                <a:latin typeface="Courier New"/>
                <a:ea typeface="Courier New"/>
                <a:cs typeface="Courier New"/>
              </a:rPr>
              <a:t>  instance_count = 2</a:t>
            </a:r>
          </a:p>
          <a:p xmlns:a="http://schemas.openxmlformats.org/drawingml/2006/main">
            <a:pPr>
              <a:defRPr sz="2025" b="0">
                <a:solidFill>
                  <a:srgbClr val="132E50"/>
                </a:solidFill>
                <a:latin typeface="Courier New"/>
                <a:ea typeface="Courier New"/>
                <a:cs typeface="Courier New"/>
              </a:defRPr>
            </a:pPr>
            <a:r>
              <a:rPr sz="2025" b="0">
                <a:solidFill>
                  <a:srgbClr val="132E50"/>
                </a:solidFill>
                <a:latin typeface="Courier New"/>
                <a:ea typeface="Courier New"/>
                <a:cs typeface="Courier New"/>
              </a:rPr>
              <a:t>  # otras entradas en el archivo</a:t>
            </a:r>
          </a:p>
          <a:p xmlns:a="http://schemas.openxmlformats.org/drawingml/2006/main">
            <a:pPr>
              <a:defRPr sz="2025" b="0">
                <a:solidFill>
                  <a:srgbClr val="132E50"/>
                </a:solidFill>
                <a:latin typeface="Courier New"/>
                <a:ea typeface="Courier New"/>
                <a:cs typeface="Courier New"/>
              </a:defRPr>
            </a:pPr>
            <a:r>
              <a:rPr sz="2025" b="0">
                <a:solidFill>
                  <a:srgbClr val="132E50"/>
                </a:solidFill>
                <a:latin typeface="Courier New"/>
                <a:ea typeface="Courier New"/>
                <a:cs typeface="Courier New"/>
              </a:rPr>
              <a:t>}</a:t>
            </a:r>
          </a:p>
        </p:txBody>
      </p:sp>
      <p:sp>
        <p:nvSpPr>
          <p:cNvPr id="5" name="Staging: 1 VM">
            <a:extLst xmlns:a="http://schemas.openxmlformats.org/drawingml/2006/main">
              <a:ext uri="{FF2B5EF4-FFF2-40B4-BE49-F238E27FC236}">
                <a16:creationId xmlns:a16="http://schemas.microsoft.com/office/drawing/2014/main" id="{B97094FC-4AE9-47DE-83C3-EA407F45ACD5}"/>
              </a:ext>
            </a:extLst>
          </p:cNvPr>
          <p:cNvSpPr>
            <a:spLocks xmlns:a="http://schemas.openxmlformats.org/drawingml/2006/main" noGrp="1"/>
          </p:cNvSpPr>
          <p:nvPr/>
        </p:nvSpPr>
        <p:spPr>
          <a:xfrm xmlns:a="http://schemas.openxmlformats.org/drawingml/2006/main">
            <a:off x="10287000" y="2571750"/>
            <a:ext cx="4000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26384B"/>
                </a:solidFill>
                <a:latin typeface="Arial"/>
                <a:ea typeface="Arial"/>
                <a:cs typeface="Arial"/>
              </a:defRPr>
            </a:defPPr>
          </a:lstStyle>
          <a:p xmlns:a="http://schemas.openxmlformats.org/drawingml/2006/main">
            <a:pPr>
              <a:defRPr sz="2325" b="0">
                <a:solidFill>
                  <a:srgbClr val="26384B"/>
                </a:solidFill>
                <a:latin typeface="Arial"/>
                <a:ea typeface="Arial"/>
                <a:cs typeface="Arial"/>
              </a:defRPr>
            </a:pPr>
            <a:r>
              <a:rPr sz="2325" b="0">
                <a:solidFill>
                  <a:srgbClr val="26384B"/>
                </a:solidFill>
                <a:latin typeface="Arial"/>
                <a:ea typeface="Arial"/>
                <a:cs typeface="Arial"/>
              </a:rPr>
              <a:t>Staging: 1 VM</a:t>
            </a:r>
          </a:p>
        </p:txBody>
      </p:sp>
      <p:sp>
        <p:nvSpPr>
          <p:cNvPr id="6" name="Producción: 2 VMs">
            <a:extLst xmlns:a="http://schemas.openxmlformats.org/drawingml/2006/main">
              <a:ext uri="{FF2B5EF4-FFF2-40B4-BE49-F238E27FC236}">
                <a16:creationId xmlns:a16="http://schemas.microsoft.com/office/drawing/2014/main" id="{F17DAD5F-12E4-426B-86C6-003125B25688}"/>
              </a:ext>
            </a:extLst>
          </p:cNvPr>
          <p:cNvSpPr>
            <a:spLocks xmlns:a="http://schemas.openxmlformats.org/drawingml/2006/main" noGrp="1"/>
          </p:cNvSpPr>
          <p:nvPr/>
        </p:nvSpPr>
        <p:spPr>
          <a:xfrm xmlns:a="http://schemas.openxmlformats.org/drawingml/2006/main">
            <a:off x="10287000" y="4000500"/>
            <a:ext cx="4000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26384B"/>
                </a:solidFill>
                <a:latin typeface="Arial"/>
                <a:ea typeface="Arial"/>
                <a:cs typeface="Arial"/>
              </a:defRPr>
            </a:defPPr>
          </a:lstStyle>
          <a:p xmlns:a="http://schemas.openxmlformats.org/drawingml/2006/main">
            <a:pPr>
              <a:defRPr sz="2325" b="0">
                <a:solidFill>
                  <a:srgbClr val="26384B"/>
                </a:solidFill>
                <a:latin typeface="Arial"/>
                <a:ea typeface="Arial"/>
                <a:cs typeface="Arial"/>
              </a:defRPr>
            </a:pPr>
            <a:r>
              <a:rPr sz="2325" b="0">
                <a:solidFill>
                  <a:srgbClr val="26384B"/>
                </a:solidFill>
                <a:latin typeface="Arial"/>
                <a:ea typeface="Arial"/>
                <a:cs typeface="Arial"/>
              </a:rPr>
              <a:t>Producción: 2 VMs</a:t>
            </a:r>
          </a:p>
        </p:txBody>
      </p:sp>
      <p:sp>
        <p:nvSpPr>
          <p:cNvPr id="7" name="Cada llamada tiene sus propios recursos.">
            <a:extLst xmlns:a="http://schemas.openxmlformats.org/drawingml/2006/main">
              <a:ext uri="{FF2B5EF4-FFF2-40B4-BE49-F238E27FC236}">
                <a16:creationId xmlns:a16="http://schemas.microsoft.com/office/drawing/2014/main" id="{90200D6B-BED8-4B3D-BC6F-785572DB1E92}"/>
              </a:ext>
            </a:extLst>
          </p:cNvPr>
          <p:cNvSpPr>
            <a:spLocks xmlns:a="http://schemas.openxmlformats.org/drawingml/2006/main" noGrp="1"/>
          </p:cNvSpPr>
          <p:nvPr/>
        </p:nvSpPr>
        <p:spPr>
          <a:xfrm xmlns:a="http://schemas.openxmlformats.org/drawingml/2006/main">
            <a:off x="10287000" y="5429250"/>
            <a:ext cx="4000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26384B"/>
                </a:solidFill>
                <a:latin typeface="Arial"/>
                <a:ea typeface="Arial"/>
                <a:cs typeface="Arial"/>
              </a:defRPr>
            </a:defPPr>
          </a:lstStyle>
          <a:p xmlns:a="http://schemas.openxmlformats.org/drawingml/2006/main">
            <a:pPr>
              <a:defRPr sz="2325" b="0">
                <a:solidFill>
                  <a:srgbClr val="26384B"/>
                </a:solidFill>
                <a:latin typeface="Arial"/>
                <a:ea typeface="Arial"/>
                <a:cs typeface="Arial"/>
              </a:defRPr>
            </a:pPr>
            <a:r>
              <a:rPr sz="2325" b="0">
                <a:solidFill>
                  <a:srgbClr val="26384B"/>
                </a:solidFill>
                <a:latin typeface="Arial"/>
                <a:ea typeface="Arial"/>
                <a:cs typeface="Arial"/>
              </a:rPr>
              <a:t>Cada llamada tiene sus propios recursos.</a:t>
            </a:r>
          </a:p>
        </p:txBody>
      </p:sp>
      <p:sp>
        <p:nvSpPr>
          <p:cNvPr id="8" name="Extracto de terraform/main.tf; no es una configuración completa.">
            <a:extLst xmlns:a="http://schemas.openxmlformats.org/drawingml/2006/main">
              <a:ext uri="{FF2B5EF4-FFF2-40B4-BE49-F238E27FC236}">
                <a16:creationId xmlns:a16="http://schemas.microsoft.com/office/drawing/2014/main" id="{4CD6BA23-F1E1-421C-89AD-F1848F878E71}"/>
              </a:ext>
            </a:extLst>
          </p:cNvPr>
          <p:cNvSpPr>
            <a:spLocks xmlns:a="http://schemas.openxmlformats.org/drawingml/2006/main" noGrp="1"/>
          </p:cNvSpPr>
          <p:nvPr/>
        </p:nvSpPr>
        <p:spPr>
          <a:xfrm xmlns:a="http://schemas.openxmlformats.org/drawingml/2006/main">
            <a:off x="952500" y="7629525"/>
            <a:ext cx="13335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3677C"/>
                </a:solidFill>
                <a:latin typeface="Arial"/>
                <a:ea typeface="Arial"/>
                <a:cs typeface="Arial"/>
              </a:defRPr>
            </a:defPPr>
          </a:lstStyle>
          <a:p xmlns:a="http://schemas.openxmlformats.org/drawingml/2006/main">
            <a:pPr>
              <a:defRPr sz="1800" b="0">
                <a:solidFill>
                  <a:srgbClr val="53677C"/>
                </a:solidFill>
                <a:latin typeface="Arial"/>
                <a:ea typeface="Arial"/>
                <a:cs typeface="Arial"/>
              </a:defRPr>
            </a:pPr>
            <a:r>
              <a:rPr sz="1800" b="0">
                <a:solidFill>
                  <a:srgbClr val="53677C"/>
                </a:solidFill>
                <a:latin typeface="Arial"/>
                <a:ea typeface="Arial"/>
                <a:cs typeface="Arial"/>
              </a:rPr>
              <a:t>Extracto de terraform/main.tf; no es una configuración completa.</a:t>
            </a:r>
          </a:p>
        </p:txBody>
      </p:sp>
    </p:spTree>
    <p:extLst>
      <p:ext uri="{BB962C8B-B14F-4D97-AF65-F5344CB8AC3E}">
        <p14:creationId xmlns:p14="http://schemas.microsoft.com/office/powerpoint/2010/main" val="1799867414"/>
      </p:ext>
    </p:extLst>
  </p:cSld>
</p:sld>
</file>

<file path=ppt/slides/slide2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9" name="TERRAFORM">
            <a:extLst xmlns:a="http://schemas.openxmlformats.org/drawingml/2006/main">
              <a:ext uri="{FF2B5EF4-FFF2-40B4-BE49-F238E27FC236}">
                <a16:creationId xmlns:a16="http://schemas.microsoft.com/office/drawing/2014/main" id="{FB1CD011-0C45-47E0-8F28-9602E10EF0BE}"/>
              </a:ext>
            </a:extLst>
          </p:cNvPr>
          <p:cNvSpPr>
            <a:spLocks xmlns:a="http://schemas.openxmlformats.org/drawingml/2006/main" noGrp="1"/>
          </p:cNvSpPr>
          <p:nvPr/>
        </p:nvSpPr>
        <p:spPr>
          <a:xfrm xmlns:a="http://schemas.openxmlformats.org/drawingml/2006/main">
            <a:off x="914400" y="542925"/>
            <a:ext cx="1238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087F8C"/>
                </a:solidFill>
                <a:latin typeface="Arial"/>
                <a:ea typeface="Arial"/>
                <a:cs typeface="Arial"/>
              </a:defRPr>
            </a:defPPr>
          </a:lstStyle>
          <a:p xmlns:a="http://schemas.openxmlformats.org/drawingml/2006/main">
            <a:pPr>
              <a:defRPr sz="1575" b="1">
                <a:solidFill>
                  <a:srgbClr val="087F8C"/>
                </a:solidFill>
                <a:latin typeface="Arial"/>
                <a:ea typeface="Arial"/>
                <a:cs typeface="Arial"/>
              </a:defRPr>
            </a:pPr>
            <a:r>
              <a:rPr sz="1575" b="1">
                <a:solidFill>
                  <a:srgbClr val="087F8C"/>
                </a:solidFill>
                <a:latin typeface="Arial"/>
                <a:ea typeface="Arial"/>
                <a:cs typeface="Arial"/>
              </a:rPr>
              <a:t>TERRAFORM</a:t>
            </a:r>
          </a:p>
        </p:txBody>
      </p:sp>
      <p:sp>
        <p:nvSpPr>
          <p:cNvPr id="2" name="21 / 34">
            <a:extLst xmlns:a="http://schemas.openxmlformats.org/drawingml/2006/main">
              <a:ext uri="{FF2B5EF4-FFF2-40B4-BE49-F238E27FC236}">
                <a16:creationId xmlns:a16="http://schemas.microsoft.com/office/drawing/2014/main" id="{3685E9D1-DF36-42F7-BE7C-2A7E34667074}"/>
              </a:ext>
            </a:extLst>
          </p:cNvPr>
          <p:cNvSpPr>
            <a:spLocks xmlns:a="http://schemas.openxmlformats.org/drawingml/2006/main" noGrp="1"/>
          </p:cNvSpPr>
          <p:nvPr/>
        </p:nvSpPr>
        <p:spPr>
          <a:xfrm xmlns:a="http://schemas.openxmlformats.org/drawingml/2006/main">
            <a:off x="13192125" y="561975"/>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77C"/>
                </a:solidFill>
                <a:latin typeface="Arial"/>
                <a:ea typeface="Arial"/>
                <a:cs typeface="Arial"/>
              </a:defRPr>
            </a:defPPr>
          </a:lstStyle>
          <a:p xmlns:a="http://schemas.openxmlformats.org/drawingml/2006/main">
            <a:pPr>
              <a:defRPr sz="1500" b="0">
                <a:solidFill>
                  <a:srgbClr val="53677C"/>
                </a:solidFill>
                <a:latin typeface="Arial"/>
                <a:ea typeface="Arial"/>
                <a:cs typeface="Arial"/>
              </a:defRPr>
            </a:pPr>
            <a:r>
              <a:rPr sz="1500" b="0">
                <a:solidFill>
                  <a:srgbClr val="53677C"/>
                </a:solidFill>
                <a:latin typeface="Arial"/>
                <a:ea typeface="Arial"/>
                <a:cs typeface="Arial"/>
              </a:rPr>
              <a:t>21 / 34</a:t>
            </a:r>
          </a:p>
        </p:txBody>
      </p:sp>
      <p:sp>
        <p:nvSpPr>
          <p:cNvPr id="3" name="count: varias VMs sin copiar bloques">
            <a:extLst xmlns:a="http://schemas.openxmlformats.org/drawingml/2006/main">
              <a:ext uri="{FF2B5EF4-FFF2-40B4-BE49-F238E27FC236}">
                <a16:creationId xmlns:a16="http://schemas.microsoft.com/office/drawing/2014/main" id="{85E63FFE-6396-4377-AB4B-88B485ED7793}"/>
              </a:ext>
            </a:extLst>
          </p:cNvPr>
          <p:cNvSpPr>
            <a:spLocks xmlns:a="http://schemas.openxmlformats.org/drawingml/2006/main" noGrp="1"/>
          </p:cNvSpPr>
          <p:nvPr/>
        </p:nvSpPr>
        <p:spPr>
          <a:xfrm xmlns:a="http://schemas.openxmlformats.org/drawingml/2006/main">
            <a:off x="914400" y="1143000"/>
            <a:ext cx="13411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132E50"/>
                </a:solidFill>
                <a:latin typeface="Arial"/>
                <a:ea typeface="Arial"/>
                <a:cs typeface="Arial"/>
              </a:defRPr>
            </a:defPPr>
          </a:lstStyle>
          <a:p xmlns:a="http://schemas.openxmlformats.org/drawingml/2006/main">
            <a:pPr>
              <a:defRPr sz="3825" b="1">
                <a:solidFill>
                  <a:srgbClr val="132E50"/>
                </a:solidFill>
                <a:latin typeface="Arial"/>
                <a:ea typeface="Arial"/>
                <a:cs typeface="Arial"/>
              </a:defRPr>
            </a:pPr>
            <a:r>
              <a:rPr sz="3825" b="1">
                <a:solidFill>
                  <a:srgbClr val="132E50"/>
                </a:solidFill>
                <a:latin typeface="Arial"/>
                <a:ea typeface="Arial"/>
                <a:cs typeface="Arial"/>
              </a:rPr>
              <a:t>count: varias VMs sin copiar bloques</a:t>
            </a:r>
          </a:p>
        </p:txBody>
      </p:sp>
      <p:sp>
        <p:nvSpPr>
          <p:cNvPr id="4" name="count = var.instance_count&#10;&#10;# Referencia a la interfaz de cada VM">
            <a:extLst xmlns:a="http://schemas.openxmlformats.org/drawingml/2006/main">
              <a:ext uri="{FF2B5EF4-FFF2-40B4-BE49-F238E27FC236}">
                <a16:creationId xmlns:a16="http://schemas.microsoft.com/office/drawing/2014/main" id="{291CD9A4-F1DD-453D-BD48-969C0E051B88}"/>
              </a:ext>
            </a:extLst>
          </p:cNvPr>
          <p:cNvSpPr>
            <a:spLocks xmlns:a="http://schemas.openxmlformats.org/drawingml/2006/main" noGrp="1"/>
          </p:cNvSpPr>
          <p:nvPr/>
        </p:nvSpPr>
        <p:spPr>
          <a:xfrm xmlns:a="http://schemas.openxmlformats.org/drawingml/2006/main">
            <a:off x="952500" y="2381250"/>
            <a:ext cx="8858250" cy="457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32E50"/>
                </a:solidFill>
                <a:latin typeface="Courier New"/>
                <a:ea typeface="Courier New"/>
                <a:cs typeface="Courier New"/>
              </a:defRPr>
            </a:defPPr>
          </a:lstStyle>
          <a:p xmlns:a="http://schemas.openxmlformats.org/drawingml/2006/main">
            <a:pPr>
              <a:defRPr sz="2025" b="0">
                <a:solidFill>
                  <a:srgbClr val="132E50"/>
                </a:solidFill>
                <a:latin typeface="Courier New"/>
                <a:ea typeface="Courier New"/>
                <a:cs typeface="Courier New"/>
              </a:defRPr>
            </a:pPr>
            <a:r>
              <a:rPr sz="2025" b="0">
                <a:solidFill>
                  <a:srgbClr val="132E50"/>
                </a:solidFill>
                <a:latin typeface="Courier New"/>
                <a:ea typeface="Courier New"/>
                <a:cs typeface="Courier New"/>
              </a:rPr>
              <a:t>count = var.instance_count</a:t>
            </a:r>
          </a:p>
          <a:p xmlns:a="http://schemas.openxmlformats.org/drawingml/2006/main">
            <a:r>
              <a:t/>
            </a:r>
          </a:p>
          <a:p xmlns:a="http://schemas.openxmlformats.org/drawingml/2006/main">
            <a:pPr>
              <a:defRPr sz="2025" b="0">
                <a:solidFill>
                  <a:srgbClr val="132E50"/>
                </a:solidFill>
                <a:latin typeface="Courier New"/>
                <a:ea typeface="Courier New"/>
                <a:cs typeface="Courier New"/>
              </a:defRPr>
            </a:pPr>
            <a:r>
              <a:rPr sz="2025" b="0">
                <a:solidFill>
                  <a:srgbClr val="132E50"/>
                </a:solidFill>
                <a:latin typeface="Courier New"/>
                <a:ea typeface="Courier New"/>
                <a:cs typeface="Courier New"/>
              </a:rPr>
              <a:t># Referencia a la interfaz de cada VM:</a:t>
            </a:r>
          </a:p>
          <a:p xmlns:a="http://schemas.openxmlformats.org/drawingml/2006/main">
            <a:pPr>
              <a:defRPr sz="2025" b="0">
                <a:solidFill>
                  <a:srgbClr val="132E50"/>
                </a:solidFill>
                <a:latin typeface="Courier New"/>
                <a:ea typeface="Courier New"/>
                <a:cs typeface="Courier New"/>
              </a:defRPr>
            </a:pPr>
            <a:r>
              <a:rPr sz="2025" b="0">
                <a:solidFill>
                  <a:srgbClr val="132E50"/>
                </a:solidFill>
                <a:latin typeface="Courier New"/>
                <a:ea typeface="Courier New"/>
                <a:cs typeface="Courier New"/>
              </a:rPr>
              <a:t>azurerm_network_interface.web[count.index].id</a:t>
            </a:r>
          </a:p>
          <a:p xmlns:a="http://schemas.openxmlformats.org/drawingml/2006/main">
            <a:r>
              <a:t/>
            </a:r>
          </a:p>
          <a:p xmlns:a="http://schemas.openxmlformats.org/drawingml/2006/main">
            <a:pPr>
              <a:defRPr sz="2025" b="0">
                <a:solidFill>
                  <a:srgbClr val="132E50"/>
                </a:solidFill>
                <a:latin typeface="Courier New"/>
                <a:ea typeface="Courier New"/>
                <a:cs typeface="Courier New"/>
              </a:defRPr>
            </a:pPr>
            <a:r>
              <a:rPr sz="2025" b="0">
                <a:solidFill>
                  <a:srgbClr val="132E50"/>
                </a:solidFill>
                <a:latin typeface="Courier New"/>
                <a:ea typeface="Courier New"/>
                <a:cs typeface="Courier New"/>
              </a:rPr>
              <a:t># IP de todas las copias:</a:t>
            </a:r>
          </a:p>
          <a:p xmlns:a="http://schemas.openxmlformats.org/drawingml/2006/main">
            <a:pPr>
              <a:defRPr sz="2025" b="0">
                <a:solidFill>
                  <a:srgbClr val="132E50"/>
                </a:solidFill>
                <a:latin typeface="Courier New"/>
                <a:ea typeface="Courier New"/>
                <a:cs typeface="Courier New"/>
              </a:defRPr>
            </a:pPr>
            <a:r>
              <a:rPr sz="2025" b="0">
                <a:solidFill>
                  <a:srgbClr val="132E50"/>
                </a:solidFill>
                <a:latin typeface="Courier New"/>
                <a:ea typeface="Courier New"/>
                <a:cs typeface="Courier New"/>
              </a:rPr>
              <a:t>azurerm_public_ip.web[*].ip_address</a:t>
            </a:r>
          </a:p>
        </p:txBody>
      </p:sp>
      <p:sp>
        <p:nvSpPr>
          <p:cNvPr id="5" name="Staging: índice 0">
            <a:extLst xmlns:a="http://schemas.openxmlformats.org/drawingml/2006/main">
              <a:ext uri="{FF2B5EF4-FFF2-40B4-BE49-F238E27FC236}">
                <a16:creationId xmlns:a16="http://schemas.microsoft.com/office/drawing/2014/main" id="{5BD5DB8D-BD9A-44E5-BE93-51B0B0F48BAB}"/>
              </a:ext>
            </a:extLst>
          </p:cNvPr>
          <p:cNvSpPr>
            <a:spLocks xmlns:a="http://schemas.openxmlformats.org/drawingml/2006/main" noGrp="1"/>
          </p:cNvSpPr>
          <p:nvPr/>
        </p:nvSpPr>
        <p:spPr>
          <a:xfrm xmlns:a="http://schemas.openxmlformats.org/drawingml/2006/main">
            <a:off x="10287000" y="2571750"/>
            <a:ext cx="4000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26384B"/>
                </a:solidFill>
                <a:latin typeface="Arial"/>
                <a:ea typeface="Arial"/>
                <a:cs typeface="Arial"/>
              </a:defRPr>
            </a:defPPr>
          </a:lstStyle>
          <a:p xmlns:a="http://schemas.openxmlformats.org/drawingml/2006/main">
            <a:pPr>
              <a:defRPr sz="2325" b="0">
                <a:solidFill>
                  <a:srgbClr val="26384B"/>
                </a:solidFill>
                <a:latin typeface="Arial"/>
                <a:ea typeface="Arial"/>
                <a:cs typeface="Arial"/>
              </a:defRPr>
            </a:pPr>
            <a:r>
              <a:rPr sz="2325" b="0">
                <a:solidFill>
                  <a:srgbClr val="26384B"/>
                </a:solidFill>
                <a:latin typeface="Arial"/>
                <a:ea typeface="Arial"/>
                <a:cs typeface="Arial"/>
              </a:rPr>
              <a:t>Staging: índice 0</a:t>
            </a:r>
          </a:p>
        </p:txBody>
      </p:sp>
      <p:sp>
        <p:nvSpPr>
          <p:cNvPr id="6" name="Prod: índices 0 y 1">
            <a:extLst xmlns:a="http://schemas.openxmlformats.org/drawingml/2006/main">
              <a:ext uri="{FF2B5EF4-FFF2-40B4-BE49-F238E27FC236}">
                <a16:creationId xmlns:a16="http://schemas.microsoft.com/office/drawing/2014/main" id="{5AC5BCBC-477E-4981-8C8A-2523E8A76928}"/>
              </a:ext>
            </a:extLst>
          </p:cNvPr>
          <p:cNvSpPr>
            <a:spLocks xmlns:a="http://schemas.openxmlformats.org/drawingml/2006/main" noGrp="1"/>
          </p:cNvSpPr>
          <p:nvPr/>
        </p:nvSpPr>
        <p:spPr>
          <a:xfrm xmlns:a="http://schemas.openxmlformats.org/drawingml/2006/main">
            <a:off x="10287000" y="4000500"/>
            <a:ext cx="4000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26384B"/>
                </a:solidFill>
                <a:latin typeface="Arial"/>
                <a:ea typeface="Arial"/>
                <a:cs typeface="Arial"/>
              </a:defRPr>
            </a:defPPr>
          </a:lstStyle>
          <a:p xmlns:a="http://schemas.openxmlformats.org/drawingml/2006/main">
            <a:pPr>
              <a:defRPr sz="2325" b="0">
                <a:solidFill>
                  <a:srgbClr val="26384B"/>
                </a:solidFill>
                <a:latin typeface="Arial"/>
                <a:ea typeface="Arial"/>
                <a:cs typeface="Arial"/>
              </a:defRPr>
            </a:pPr>
            <a:r>
              <a:rPr sz="2325" b="0">
                <a:solidFill>
                  <a:srgbClr val="26384B"/>
                </a:solidFill>
                <a:latin typeface="Arial"/>
                <a:ea typeface="Arial"/>
                <a:cs typeface="Arial"/>
              </a:rPr>
              <a:t>Prod: índices 0 y 1</a:t>
            </a:r>
          </a:p>
        </p:txBody>
      </p:sp>
      <p:sp>
        <p:nvSpPr>
          <p:cNvPr id="7" name="El plan muestra altas y bajas.">
            <a:extLst xmlns:a="http://schemas.openxmlformats.org/drawingml/2006/main">
              <a:ext uri="{FF2B5EF4-FFF2-40B4-BE49-F238E27FC236}">
                <a16:creationId xmlns:a16="http://schemas.microsoft.com/office/drawing/2014/main" id="{20C75E13-A75D-4037-9911-94EC73260DEA}"/>
              </a:ext>
            </a:extLst>
          </p:cNvPr>
          <p:cNvSpPr>
            <a:spLocks xmlns:a="http://schemas.openxmlformats.org/drawingml/2006/main" noGrp="1"/>
          </p:cNvSpPr>
          <p:nvPr/>
        </p:nvSpPr>
        <p:spPr>
          <a:xfrm xmlns:a="http://schemas.openxmlformats.org/drawingml/2006/main">
            <a:off x="10287000" y="5429250"/>
            <a:ext cx="4000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26384B"/>
                </a:solidFill>
                <a:latin typeface="Arial"/>
                <a:ea typeface="Arial"/>
                <a:cs typeface="Arial"/>
              </a:defRPr>
            </a:defPPr>
          </a:lstStyle>
          <a:p xmlns:a="http://schemas.openxmlformats.org/drawingml/2006/main">
            <a:pPr>
              <a:defRPr sz="2325" b="0">
                <a:solidFill>
                  <a:srgbClr val="26384B"/>
                </a:solidFill>
                <a:latin typeface="Arial"/>
                <a:ea typeface="Arial"/>
                <a:cs typeface="Arial"/>
              </a:defRPr>
            </a:pPr>
            <a:r>
              <a:rPr sz="2325" b="0">
                <a:solidFill>
                  <a:srgbClr val="26384B"/>
                </a:solidFill>
                <a:latin typeface="Arial"/>
                <a:ea typeface="Arial"/>
                <a:cs typeface="Arial"/>
              </a:rPr>
              <a:t>El plan muestra altas y bajas.</a:t>
            </a:r>
          </a:p>
        </p:txBody>
      </p:sp>
      <p:sp>
        <p:nvSpPr>
          <p:cNvPr id="8" name="Extractos del módulo web_server; el índice identifica una instanc">
            <a:extLst xmlns:a="http://schemas.openxmlformats.org/drawingml/2006/main">
              <a:ext uri="{FF2B5EF4-FFF2-40B4-BE49-F238E27FC236}">
                <a16:creationId xmlns:a16="http://schemas.microsoft.com/office/drawing/2014/main" id="{326BD657-842A-4366-93ED-8C3C1FB585C0}"/>
              </a:ext>
            </a:extLst>
          </p:cNvPr>
          <p:cNvSpPr>
            <a:spLocks xmlns:a="http://schemas.openxmlformats.org/drawingml/2006/main" noGrp="1"/>
          </p:cNvSpPr>
          <p:nvPr/>
        </p:nvSpPr>
        <p:spPr>
          <a:xfrm xmlns:a="http://schemas.openxmlformats.org/drawingml/2006/main">
            <a:off x="952500" y="7629525"/>
            <a:ext cx="13335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3677C"/>
                </a:solidFill>
                <a:latin typeface="Arial"/>
                <a:ea typeface="Arial"/>
                <a:cs typeface="Arial"/>
              </a:defRPr>
            </a:defPPr>
          </a:lstStyle>
          <a:p xmlns:a="http://schemas.openxmlformats.org/drawingml/2006/main">
            <a:pPr>
              <a:defRPr sz="1800" b="0">
                <a:solidFill>
                  <a:srgbClr val="53677C"/>
                </a:solidFill>
                <a:latin typeface="Arial"/>
                <a:ea typeface="Arial"/>
                <a:cs typeface="Arial"/>
              </a:defRPr>
            </a:pPr>
            <a:r>
              <a:rPr sz="1800" b="0">
                <a:solidFill>
                  <a:srgbClr val="53677C"/>
                </a:solidFill>
                <a:latin typeface="Arial"/>
                <a:ea typeface="Arial"/>
                <a:cs typeface="Arial"/>
              </a:rPr>
              <a:t>Extractos del módulo web_server; el índice identifica una instancia del recurso.</a:t>
            </a:r>
          </a:p>
        </p:txBody>
      </p:sp>
    </p:spTree>
    <p:extLst>
      <p:ext uri="{BB962C8B-B14F-4D97-AF65-F5344CB8AC3E}">
        <p14:creationId xmlns:p14="http://schemas.microsoft.com/office/powerpoint/2010/main" val="1239031246"/>
      </p:ext>
    </p:extLst>
  </p:cSld>
</p:sld>
</file>

<file path=ppt/slides/slide2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9" name="TERRAFORM">
            <a:extLst xmlns:a="http://schemas.openxmlformats.org/drawingml/2006/main">
              <a:ext uri="{FF2B5EF4-FFF2-40B4-BE49-F238E27FC236}">
                <a16:creationId xmlns:a16="http://schemas.microsoft.com/office/drawing/2014/main" id="{34D73C37-601A-41F6-A315-9615947B91FF}"/>
              </a:ext>
            </a:extLst>
          </p:cNvPr>
          <p:cNvSpPr>
            <a:spLocks xmlns:a="http://schemas.openxmlformats.org/drawingml/2006/main" noGrp="1"/>
          </p:cNvSpPr>
          <p:nvPr/>
        </p:nvSpPr>
        <p:spPr>
          <a:xfrm xmlns:a="http://schemas.openxmlformats.org/drawingml/2006/main">
            <a:off x="914400" y="542925"/>
            <a:ext cx="1238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087F8C"/>
                </a:solidFill>
                <a:latin typeface="Arial"/>
                <a:ea typeface="Arial"/>
                <a:cs typeface="Arial"/>
              </a:defRPr>
            </a:defPPr>
          </a:lstStyle>
          <a:p xmlns:a="http://schemas.openxmlformats.org/drawingml/2006/main">
            <a:pPr>
              <a:defRPr sz="1575" b="1">
                <a:solidFill>
                  <a:srgbClr val="087F8C"/>
                </a:solidFill>
                <a:latin typeface="Arial"/>
                <a:ea typeface="Arial"/>
                <a:cs typeface="Arial"/>
              </a:defRPr>
            </a:pPr>
            <a:r>
              <a:rPr sz="1575" b="1">
                <a:solidFill>
                  <a:srgbClr val="087F8C"/>
                </a:solidFill>
                <a:latin typeface="Arial"/>
                <a:ea typeface="Arial"/>
                <a:cs typeface="Arial"/>
              </a:rPr>
              <a:t>TERRAFORM</a:t>
            </a:r>
          </a:p>
        </p:txBody>
      </p:sp>
      <p:sp>
        <p:nvSpPr>
          <p:cNvPr id="2" name="22 / 34">
            <a:extLst xmlns:a="http://schemas.openxmlformats.org/drawingml/2006/main">
              <a:ext uri="{FF2B5EF4-FFF2-40B4-BE49-F238E27FC236}">
                <a16:creationId xmlns:a16="http://schemas.microsoft.com/office/drawing/2014/main" id="{8B3D6BC0-A213-4DBD-A580-F0D7DD1AACCB}"/>
              </a:ext>
            </a:extLst>
          </p:cNvPr>
          <p:cNvSpPr>
            <a:spLocks xmlns:a="http://schemas.openxmlformats.org/drawingml/2006/main" noGrp="1"/>
          </p:cNvSpPr>
          <p:nvPr/>
        </p:nvSpPr>
        <p:spPr>
          <a:xfrm xmlns:a="http://schemas.openxmlformats.org/drawingml/2006/main">
            <a:off x="13192125" y="561975"/>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77C"/>
                </a:solidFill>
                <a:latin typeface="Arial"/>
                <a:ea typeface="Arial"/>
                <a:cs typeface="Arial"/>
              </a:defRPr>
            </a:defPPr>
          </a:lstStyle>
          <a:p xmlns:a="http://schemas.openxmlformats.org/drawingml/2006/main">
            <a:pPr>
              <a:defRPr sz="1500" b="0">
                <a:solidFill>
                  <a:srgbClr val="53677C"/>
                </a:solidFill>
                <a:latin typeface="Arial"/>
                <a:ea typeface="Arial"/>
                <a:cs typeface="Arial"/>
              </a:defRPr>
            </a:pPr>
            <a:r>
              <a:rPr sz="1500" b="0">
                <a:solidFill>
                  <a:srgbClr val="53677C"/>
                </a:solidFill>
                <a:latin typeface="Arial"/>
                <a:ea typeface="Arial"/>
                <a:cs typeface="Arial"/>
              </a:rPr>
              <a:t>22 / 34</a:t>
            </a:r>
          </a:p>
        </p:txBody>
      </p:sp>
      <p:sp>
        <p:nvSpPr>
          <p:cNvPr id="3" name="Salidas e inventario de Ansible">
            <a:extLst xmlns:a="http://schemas.openxmlformats.org/drawingml/2006/main">
              <a:ext uri="{FF2B5EF4-FFF2-40B4-BE49-F238E27FC236}">
                <a16:creationId xmlns:a16="http://schemas.microsoft.com/office/drawing/2014/main" id="{6F073D7B-73F9-4C73-80B0-4B6F4973B5FA}"/>
              </a:ext>
            </a:extLst>
          </p:cNvPr>
          <p:cNvSpPr>
            <a:spLocks xmlns:a="http://schemas.openxmlformats.org/drawingml/2006/main" noGrp="1"/>
          </p:cNvSpPr>
          <p:nvPr/>
        </p:nvSpPr>
        <p:spPr>
          <a:xfrm xmlns:a="http://schemas.openxmlformats.org/drawingml/2006/main">
            <a:off x="914400" y="1143000"/>
            <a:ext cx="13411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132E50"/>
                </a:solidFill>
                <a:latin typeface="Arial"/>
                <a:ea typeface="Arial"/>
                <a:cs typeface="Arial"/>
              </a:defRPr>
            </a:defPPr>
          </a:lstStyle>
          <a:p xmlns:a="http://schemas.openxmlformats.org/drawingml/2006/main">
            <a:pPr>
              <a:defRPr sz="3825" b="1">
                <a:solidFill>
                  <a:srgbClr val="132E50"/>
                </a:solidFill>
                <a:latin typeface="Arial"/>
                <a:ea typeface="Arial"/>
                <a:cs typeface="Arial"/>
              </a:defRPr>
            </a:pPr>
            <a:r>
              <a:rPr sz="3825" b="1">
                <a:solidFill>
                  <a:srgbClr val="132E50"/>
                </a:solidFill>
                <a:latin typeface="Arial"/>
                <a:ea typeface="Arial"/>
                <a:cs typeface="Arial"/>
              </a:rPr>
              <a:t>Salidas e inventario de Ansible</a:t>
            </a:r>
          </a:p>
        </p:txBody>
      </p:sp>
      <p:sp>
        <p:nvSpPr>
          <p:cNvPr id="4" name="output &quot;public_ips&quot; {&#10;  value = azurerm_public_ip.web[*].ip_addre">
            <a:extLst xmlns:a="http://schemas.openxmlformats.org/drawingml/2006/main">
              <a:ext uri="{FF2B5EF4-FFF2-40B4-BE49-F238E27FC236}">
                <a16:creationId xmlns:a16="http://schemas.microsoft.com/office/drawing/2014/main" id="{E746A3E1-74B0-443D-A642-3E227954B579}"/>
              </a:ext>
            </a:extLst>
          </p:cNvPr>
          <p:cNvSpPr>
            <a:spLocks xmlns:a="http://schemas.openxmlformats.org/drawingml/2006/main" noGrp="1"/>
          </p:cNvSpPr>
          <p:nvPr/>
        </p:nvSpPr>
        <p:spPr>
          <a:xfrm xmlns:a="http://schemas.openxmlformats.org/drawingml/2006/main">
            <a:off x="952500" y="2381250"/>
            <a:ext cx="8858250" cy="457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32E50"/>
                </a:solidFill>
                <a:latin typeface="Courier New"/>
                <a:ea typeface="Courier New"/>
                <a:cs typeface="Courier New"/>
              </a:defRPr>
            </a:defPPr>
          </a:lstStyle>
          <a:p xmlns:a="http://schemas.openxmlformats.org/drawingml/2006/main">
            <a:pPr>
              <a:defRPr sz="2025" b="0">
                <a:solidFill>
                  <a:srgbClr val="132E50"/>
                </a:solidFill>
                <a:latin typeface="Courier New"/>
                <a:ea typeface="Courier New"/>
                <a:cs typeface="Courier New"/>
              </a:defRPr>
            </a:pPr>
            <a:r>
              <a:rPr sz="2025" b="0">
                <a:solidFill>
                  <a:srgbClr val="132E50"/>
                </a:solidFill>
                <a:latin typeface="Courier New"/>
                <a:ea typeface="Courier New"/>
                <a:cs typeface="Courier New"/>
              </a:rPr>
              <a:t>output "public_ips" {</a:t>
            </a:r>
          </a:p>
          <a:p xmlns:a="http://schemas.openxmlformats.org/drawingml/2006/main">
            <a:pPr>
              <a:defRPr sz="2025" b="0">
                <a:solidFill>
                  <a:srgbClr val="132E50"/>
                </a:solidFill>
                <a:latin typeface="Courier New"/>
                <a:ea typeface="Courier New"/>
                <a:cs typeface="Courier New"/>
              </a:defRPr>
            </a:pPr>
            <a:r>
              <a:rPr sz="2025" b="0">
                <a:solidFill>
                  <a:srgbClr val="132E50"/>
                </a:solidFill>
                <a:latin typeface="Courier New"/>
                <a:ea typeface="Courier New"/>
                <a:cs typeface="Courier New"/>
              </a:rPr>
              <a:t>  value = azurerm_public_ip.web[*].ip_address</a:t>
            </a:r>
          </a:p>
          <a:p xmlns:a="http://schemas.openxmlformats.org/drawingml/2006/main">
            <a:pPr>
              <a:defRPr sz="2025" b="0">
                <a:solidFill>
                  <a:srgbClr val="132E50"/>
                </a:solidFill>
                <a:latin typeface="Courier New"/>
                <a:ea typeface="Courier New"/>
                <a:cs typeface="Courier New"/>
              </a:defRPr>
            </a:pPr>
            <a:r>
              <a:rPr sz="2025" b="0">
                <a:solidFill>
                  <a:srgbClr val="132E50"/>
                </a:solidFill>
                <a:latin typeface="Courier New"/>
                <a:ea typeface="Courier New"/>
                <a:cs typeface="Courier New"/>
              </a:rPr>
              <a:t>}</a:t>
            </a:r>
          </a:p>
          <a:p xmlns:a="http://schemas.openxmlformats.org/drawingml/2006/main">
            <a:r>
              <a:t/>
            </a:r>
          </a:p>
          <a:p xmlns:a="http://schemas.openxmlformats.org/drawingml/2006/main">
            <a:pPr>
              <a:defRPr sz="2025" b="0">
                <a:solidFill>
                  <a:srgbClr val="132E50"/>
                </a:solidFill>
                <a:latin typeface="Courier New"/>
                <a:ea typeface="Courier New"/>
                <a:cs typeface="Courier New"/>
              </a:defRPr>
            </a:pPr>
            <a:r>
              <a:rPr sz="2025" b="0">
                <a:solidFill>
                  <a:srgbClr val="132E50"/>
                </a:solidFill>
                <a:latin typeface="Courier New"/>
                <a:ea typeface="Courier New"/>
                <a:cs typeface="Courier New"/>
              </a:rPr>
              <a:t># La raíz usa las IPs de ambas llamadas:</a:t>
            </a:r>
          </a:p>
          <a:p xmlns:a="http://schemas.openxmlformats.org/drawingml/2006/main">
            <a:pPr>
              <a:defRPr sz="2025" b="0">
                <a:solidFill>
                  <a:srgbClr val="132E50"/>
                </a:solidFill>
                <a:latin typeface="Courier New"/>
                <a:ea typeface="Courier New"/>
                <a:cs typeface="Courier New"/>
              </a:defRPr>
            </a:pPr>
            <a:r>
              <a:rPr sz="2025" b="0">
                <a:solidFill>
                  <a:srgbClr val="132E50"/>
                </a:solidFill>
                <a:latin typeface="Courier New"/>
                <a:ea typeface="Courier New"/>
                <a:cs typeface="Courier New"/>
              </a:rPr>
              <a:t>staging = module.staging.public_ips</a:t>
            </a:r>
          </a:p>
          <a:p xmlns:a="http://schemas.openxmlformats.org/drawingml/2006/main">
            <a:pPr>
              <a:defRPr sz="2025" b="0">
                <a:solidFill>
                  <a:srgbClr val="132E50"/>
                </a:solidFill>
                <a:latin typeface="Courier New"/>
                <a:ea typeface="Courier New"/>
                <a:cs typeface="Courier New"/>
              </a:defRPr>
            </a:pPr>
            <a:r>
              <a:rPr sz="2025" b="0">
                <a:solidFill>
                  <a:srgbClr val="132E50"/>
                </a:solidFill>
                <a:latin typeface="Courier New"/>
                <a:ea typeface="Courier New"/>
                <a:cs typeface="Courier New"/>
              </a:rPr>
              <a:t>prod    = module.prod.public_ips</a:t>
            </a:r>
          </a:p>
        </p:txBody>
      </p:sp>
      <p:sp>
        <p:nvSpPr>
          <p:cNvPr id="5" name="Terraform obtiene las IPs.">
            <a:extLst xmlns:a="http://schemas.openxmlformats.org/drawingml/2006/main">
              <a:ext uri="{FF2B5EF4-FFF2-40B4-BE49-F238E27FC236}">
                <a16:creationId xmlns:a16="http://schemas.microsoft.com/office/drawing/2014/main" id="{5C0BF8DB-6FF4-46A4-B8AA-0CA165757032}"/>
              </a:ext>
            </a:extLst>
          </p:cNvPr>
          <p:cNvSpPr>
            <a:spLocks xmlns:a="http://schemas.openxmlformats.org/drawingml/2006/main" noGrp="1"/>
          </p:cNvSpPr>
          <p:nvPr/>
        </p:nvSpPr>
        <p:spPr>
          <a:xfrm xmlns:a="http://schemas.openxmlformats.org/drawingml/2006/main">
            <a:off x="10287000" y="2571750"/>
            <a:ext cx="4000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26384B"/>
                </a:solidFill>
                <a:latin typeface="Arial"/>
                <a:ea typeface="Arial"/>
                <a:cs typeface="Arial"/>
              </a:defRPr>
            </a:defPPr>
          </a:lstStyle>
          <a:p xmlns:a="http://schemas.openxmlformats.org/drawingml/2006/main">
            <a:pPr>
              <a:defRPr sz="2325" b="0">
                <a:solidFill>
                  <a:srgbClr val="26384B"/>
                </a:solidFill>
                <a:latin typeface="Arial"/>
                <a:ea typeface="Arial"/>
                <a:cs typeface="Arial"/>
              </a:defRPr>
            </a:pPr>
            <a:r>
              <a:rPr sz="2325" b="0">
                <a:solidFill>
                  <a:srgbClr val="26384B"/>
                </a:solidFill>
                <a:latin typeface="Arial"/>
                <a:ea typeface="Arial"/>
                <a:cs typeface="Arial"/>
              </a:rPr>
              <a:t>Terraform obtiene las IPs.</a:t>
            </a:r>
          </a:p>
        </p:txBody>
      </p:sp>
      <p:sp>
        <p:nvSpPr>
          <p:cNvPr id="6" name="inventory.tftpl organiza los grupos.">
            <a:extLst xmlns:a="http://schemas.openxmlformats.org/drawingml/2006/main">
              <a:ext uri="{FF2B5EF4-FFF2-40B4-BE49-F238E27FC236}">
                <a16:creationId xmlns:a16="http://schemas.microsoft.com/office/drawing/2014/main" id="{5E605EB6-BD10-4B78-A95A-AD192B6CB023}"/>
              </a:ext>
            </a:extLst>
          </p:cNvPr>
          <p:cNvSpPr>
            <a:spLocks xmlns:a="http://schemas.openxmlformats.org/drawingml/2006/main" noGrp="1"/>
          </p:cNvSpPr>
          <p:nvPr/>
        </p:nvSpPr>
        <p:spPr>
          <a:xfrm xmlns:a="http://schemas.openxmlformats.org/drawingml/2006/main">
            <a:off x="10287000" y="4000500"/>
            <a:ext cx="4000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26384B"/>
                </a:solidFill>
                <a:latin typeface="Arial"/>
                <a:ea typeface="Arial"/>
                <a:cs typeface="Arial"/>
              </a:defRPr>
            </a:defPPr>
          </a:lstStyle>
          <a:p xmlns:a="http://schemas.openxmlformats.org/drawingml/2006/main">
            <a:pPr>
              <a:defRPr sz="2325" b="0">
                <a:solidFill>
                  <a:srgbClr val="26384B"/>
                </a:solidFill>
                <a:latin typeface="Arial"/>
                <a:ea typeface="Arial"/>
                <a:cs typeface="Arial"/>
              </a:defRPr>
            </a:pPr>
            <a:r>
              <a:rPr sz="2325" b="0">
                <a:solidFill>
                  <a:srgbClr val="26384B"/>
                </a:solidFill>
                <a:latin typeface="Arial"/>
                <a:ea typeface="Arial"/>
                <a:cs typeface="Arial"/>
              </a:rPr>
              <a:t>inventory.tftpl organiza los grupos.</a:t>
            </a:r>
          </a:p>
        </p:txBody>
      </p:sp>
      <p:sp>
        <p:nvSpPr>
          <p:cNvPr id="7" name="local_file escribe inventory.ini.">
            <a:extLst xmlns:a="http://schemas.openxmlformats.org/drawingml/2006/main">
              <a:ext uri="{FF2B5EF4-FFF2-40B4-BE49-F238E27FC236}">
                <a16:creationId xmlns:a16="http://schemas.microsoft.com/office/drawing/2014/main" id="{54CF105A-EB32-45CF-9B07-E0250D98AEB0}"/>
              </a:ext>
            </a:extLst>
          </p:cNvPr>
          <p:cNvSpPr>
            <a:spLocks xmlns:a="http://schemas.openxmlformats.org/drawingml/2006/main" noGrp="1"/>
          </p:cNvSpPr>
          <p:nvPr/>
        </p:nvSpPr>
        <p:spPr>
          <a:xfrm xmlns:a="http://schemas.openxmlformats.org/drawingml/2006/main">
            <a:off x="10287000" y="5429250"/>
            <a:ext cx="4000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26384B"/>
                </a:solidFill>
                <a:latin typeface="Arial"/>
                <a:ea typeface="Arial"/>
                <a:cs typeface="Arial"/>
              </a:defRPr>
            </a:defPPr>
          </a:lstStyle>
          <a:p xmlns:a="http://schemas.openxmlformats.org/drawingml/2006/main">
            <a:pPr>
              <a:defRPr sz="2325" b="0">
                <a:solidFill>
                  <a:srgbClr val="26384B"/>
                </a:solidFill>
                <a:latin typeface="Arial"/>
                <a:ea typeface="Arial"/>
                <a:cs typeface="Arial"/>
              </a:defRPr>
            </a:pPr>
            <a:r>
              <a:rPr sz="2325" b="0">
                <a:solidFill>
                  <a:srgbClr val="26384B"/>
                </a:solidFill>
                <a:latin typeface="Arial"/>
                <a:ea typeface="Arial"/>
                <a:cs typeface="Arial"/>
              </a:rPr>
              <a:t>local_file escribe inventory.ini.</a:t>
            </a:r>
          </a:p>
        </p:txBody>
      </p:sp>
      <p:sp>
        <p:nvSpPr>
          <p:cNvPr id="8" name="Extractos de outputs.tf y de los argumentos de templatefile en ma">
            <a:extLst xmlns:a="http://schemas.openxmlformats.org/drawingml/2006/main">
              <a:ext uri="{FF2B5EF4-FFF2-40B4-BE49-F238E27FC236}">
                <a16:creationId xmlns:a16="http://schemas.microsoft.com/office/drawing/2014/main" id="{4730ADFF-DB8C-411C-8276-4BE9D424DD2E}"/>
              </a:ext>
            </a:extLst>
          </p:cNvPr>
          <p:cNvSpPr>
            <a:spLocks xmlns:a="http://schemas.openxmlformats.org/drawingml/2006/main" noGrp="1"/>
          </p:cNvSpPr>
          <p:nvPr/>
        </p:nvSpPr>
        <p:spPr>
          <a:xfrm xmlns:a="http://schemas.openxmlformats.org/drawingml/2006/main">
            <a:off x="952500" y="7629525"/>
            <a:ext cx="13335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3677C"/>
                </a:solidFill>
                <a:latin typeface="Arial"/>
                <a:ea typeface="Arial"/>
                <a:cs typeface="Arial"/>
              </a:defRPr>
            </a:defPPr>
          </a:lstStyle>
          <a:p xmlns:a="http://schemas.openxmlformats.org/drawingml/2006/main">
            <a:pPr>
              <a:defRPr sz="1800" b="0">
                <a:solidFill>
                  <a:srgbClr val="53677C"/>
                </a:solidFill>
                <a:latin typeface="Arial"/>
                <a:ea typeface="Arial"/>
                <a:cs typeface="Arial"/>
              </a:defRPr>
            </a:pPr>
            <a:r>
              <a:rPr sz="1800" b="0">
                <a:solidFill>
                  <a:srgbClr val="53677C"/>
                </a:solidFill>
                <a:latin typeface="Arial"/>
                <a:ea typeface="Arial"/>
                <a:cs typeface="Arial"/>
              </a:rPr>
              <a:t>Extractos de outputs.tf y de los argumentos de templatefile en main.tf.</a:t>
            </a:r>
          </a:p>
        </p:txBody>
      </p:sp>
    </p:spTree>
    <p:extLst>
      <p:ext uri="{BB962C8B-B14F-4D97-AF65-F5344CB8AC3E}">
        <p14:creationId xmlns:p14="http://schemas.microsoft.com/office/powerpoint/2010/main" val="1921117087"/>
      </p:ext>
    </p:extLst>
  </p:cSld>
</p:sld>
</file>

<file path=ppt/slides/slide2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9" name="ANSIBLE">
            <a:extLst xmlns:a="http://schemas.openxmlformats.org/drawingml/2006/main">
              <a:ext uri="{FF2B5EF4-FFF2-40B4-BE49-F238E27FC236}">
                <a16:creationId xmlns:a16="http://schemas.microsoft.com/office/drawing/2014/main" id="{AD390BA8-F208-4CDB-B721-3BB929E9F9FE}"/>
              </a:ext>
            </a:extLst>
          </p:cNvPr>
          <p:cNvSpPr>
            <a:spLocks xmlns:a="http://schemas.openxmlformats.org/drawingml/2006/main" noGrp="1"/>
          </p:cNvSpPr>
          <p:nvPr/>
        </p:nvSpPr>
        <p:spPr>
          <a:xfrm xmlns:a="http://schemas.openxmlformats.org/drawingml/2006/main">
            <a:off x="914400" y="542925"/>
            <a:ext cx="1238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087F8C"/>
                </a:solidFill>
                <a:latin typeface="Arial"/>
                <a:ea typeface="Arial"/>
                <a:cs typeface="Arial"/>
              </a:defRPr>
            </a:defPPr>
          </a:lstStyle>
          <a:p xmlns:a="http://schemas.openxmlformats.org/drawingml/2006/main">
            <a:pPr>
              <a:defRPr sz="1575" b="1">
                <a:solidFill>
                  <a:srgbClr val="087F8C"/>
                </a:solidFill>
                <a:latin typeface="Arial"/>
                <a:ea typeface="Arial"/>
                <a:cs typeface="Arial"/>
              </a:defRPr>
            </a:pPr>
            <a:r>
              <a:rPr sz="1575" b="1">
                <a:solidFill>
                  <a:srgbClr val="087F8C"/>
                </a:solidFill>
                <a:latin typeface="Arial"/>
                <a:ea typeface="Arial"/>
                <a:cs typeface="Arial"/>
              </a:rPr>
              <a:t>ANSIBLE</a:t>
            </a:r>
          </a:p>
        </p:txBody>
      </p:sp>
      <p:sp>
        <p:nvSpPr>
          <p:cNvPr id="2" name="23 / 34">
            <a:extLst xmlns:a="http://schemas.openxmlformats.org/drawingml/2006/main">
              <a:ext uri="{FF2B5EF4-FFF2-40B4-BE49-F238E27FC236}">
                <a16:creationId xmlns:a16="http://schemas.microsoft.com/office/drawing/2014/main" id="{E48EDCCE-F9DD-4ECA-995A-DB641CD210E0}"/>
              </a:ext>
            </a:extLst>
          </p:cNvPr>
          <p:cNvSpPr>
            <a:spLocks xmlns:a="http://schemas.openxmlformats.org/drawingml/2006/main" noGrp="1"/>
          </p:cNvSpPr>
          <p:nvPr/>
        </p:nvSpPr>
        <p:spPr>
          <a:xfrm xmlns:a="http://schemas.openxmlformats.org/drawingml/2006/main">
            <a:off x="13192125" y="561975"/>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77C"/>
                </a:solidFill>
                <a:latin typeface="Arial"/>
                <a:ea typeface="Arial"/>
                <a:cs typeface="Arial"/>
              </a:defRPr>
            </a:defPPr>
          </a:lstStyle>
          <a:p xmlns:a="http://schemas.openxmlformats.org/drawingml/2006/main">
            <a:pPr>
              <a:defRPr sz="1500" b="0">
                <a:solidFill>
                  <a:srgbClr val="53677C"/>
                </a:solidFill>
                <a:latin typeface="Arial"/>
                <a:ea typeface="Arial"/>
                <a:cs typeface="Arial"/>
              </a:defRPr>
            </a:pPr>
            <a:r>
              <a:rPr sz="1500" b="0">
                <a:solidFill>
                  <a:srgbClr val="53677C"/>
                </a:solidFill>
                <a:latin typeface="Arial"/>
                <a:ea typeface="Arial"/>
                <a:cs typeface="Arial"/>
              </a:rPr>
              <a:t>23 / 34</a:t>
            </a:r>
          </a:p>
        </p:txBody>
      </p:sp>
      <p:sp>
        <p:nvSpPr>
          <p:cNvPr id="3" name="Ansible: conexión e inventario">
            <a:extLst xmlns:a="http://schemas.openxmlformats.org/drawingml/2006/main">
              <a:ext uri="{FF2B5EF4-FFF2-40B4-BE49-F238E27FC236}">
                <a16:creationId xmlns:a16="http://schemas.microsoft.com/office/drawing/2014/main" id="{D9286589-9927-4EFF-B786-2028888D841C}"/>
              </a:ext>
            </a:extLst>
          </p:cNvPr>
          <p:cNvSpPr>
            <a:spLocks xmlns:a="http://schemas.openxmlformats.org/drawingml/2006/main" noGrp="1"/>
          </p:cNvSpPr>
          <p:nvPr/>
        </p:nvSpPr>
        <p:spPr>
          <a:xfrm xmlns:a="http://schemas.openxmlformats.org/drawingml/2006/main">
            <a:off x="914400" y="1143000"/>
            <a:ext cx="13411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132E50"/>
                </a:solidFill>
                <a:latin typeface="Arial"/>
                <a:ea typeface="Arial"/>
                <a:cs typeface="Arial"/>
              </a:defRPr>
            </a:defPPr>
          </a:lstStyle>
          <a:p xmlns:a="http://schemas.openxmlformats.org/drawingml/2006/main">
            <a:pPr>
              <a:defRPr sz="3825" b="1">
                <a:solidFill>
                  <a:srgbClr val="132E50"/>
                </a:solidFill>
                <a:latin typeface="Arial"/>
                <a:ea typeface="Arial"/>
                <a:cs typeface="Arial"/>
              </a:defRPr>
            </a:pPr>
            <a:r>
              <a:rPr sz="3825" b="1">
                <a:solidFill>
                  <a:srgbClr val="132E50"/>
                </a:solidFill>
                <a:latin typeface="Arial"/>
                <a:ea typeface="Arial"/>
                <a:cs typeface="Arial"/>
              </a:rPr>
              <a:t>Ansible: conexión e inventario</a:t>
            </a:r>
          </a:p>
        </p:txBody>
      </p:sp>
      <p:sp>
        <p:nvSpPr>
          <p:cNvPr id="4" name="[staging]&#10;&lt;IP de staging&gt;&#10;&#10;[prod]&#10;&lt;IP de prod 0&gt;&#10;&lt;IP de prod 1&gt;&#10;&#10;">
            <a:extLst xmlns:a="http://schemas.openxmlformats.org/drawingml/2006/main">
              <a:ext uri="{FF2B5EF4-FFF2-40B4-BE49-F238E27FC236}">
                <a16:creationId xmlns:a16="http://schemas.microsoft.com/office/drawing/2014/main" id="{F808B583-C868-4E88-8E57-CF3D9CCA7347}"/>
              </a:ext>
            </a:extLst>
          </p:cNvPr>
          <p:cNvSpPr>
            <a:spLocks xmlns:a="http://schemas.openxmlformats.org/drawingml/2006/main" noGrp="1"/>
          </p:cNvSpPr>
          <p:nvPr/>
        </p:nvSpPr>
        <p:spPr>
          <a:xfrm xmlns:a="http://schemas.openxmlformats.org/drawingml/2006/main">
            <a:off x="952500" y="2381250"/>
            <a:ext cx="8858250" cy="457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32E50"/>
                </a:solidFill>
                <a:latin typeface="Courier New"/>
                <a:ea typeface="Courier New"/>
                <a:cs typeface="Courier New"/>
              </a:defRPr>
            </a:defPPr>
          </a:lstStyle>
          <a:p xmlns:a="http://schemas.openxmlformats.org/drawingml/2006/main">
            <a:pPr>
              <a:defRPr sz="2025" b="0">
                <a:solidFill>
                  <a:srgbClr val="132E50"/>
                </a:solidFill>
                <a:latin typeface="Courier New"/>
                <a:ea typeface="Courier New"/>
                <a:cs typeface="Courier New"/>
              </a:defRPr>
            </a:pPr>
            <a:r>
              <a:rPr sz="2025" b="0">
                <a:solidFill>
                  <a:srgbClr val="132E50"/>
                </a:solidFill>
                <a:latin typeface="Courier New"/>
                <a:ea typeface="Courier New"/>
                <a:cs typeface="Courier New"/>
              </a:rPr>
              <a:t>[staging]</a:t>
            </a:r>
          </a:p>
          <a:p xmlns:a="http://schemas.openxmlformats.org/drawingml/2006/main">
            <a:pPr>
              <a:defRPr sz="2025" b="0">
                <a:solidFill>
                  <a:srgbClr val="132E50"/>
                </a:solidFill>
                <a:latin typeface="Courier New"/>
                <a:ea typeface="Courier New"/>
                <a:cs typeface="Courier New"/>
              </a:defRPr>
            </a:pPr>
            <a:r>
              <a:rPr sz="2025" b="0">
                <a:solidFill>
                  <a:srgbClr val="132E50"/>
                </a:solidFill>
                <a:latin typeface="Courier New"/>
                <a:ea typeface="Courier New"/>
                <a:cs typeface="Courier New"/>
              </a:rPr>
              <a:t>&lt;IP de staging&gt;</a:t>
            </a:r>
          </a:p>
          <a:p xmlns:a="http://schemas.openxmlformats.org/drawingml/2006/main">
            <a:r>
              <a:t/>
            </a:r>
          </a:p>
          <a:p xmlns:a="http://schemas.openxmlformats.org/drawingml/2006/main">
            <a:pPr>
              <a:defRPr sz="2025" b="0">
                <a:solidFill>
                  <a:srgbClr val="132E50"/>
                </a:solidFill>
                <a:latin typeface="Courier New"/>
                <a:ea typeface="Courier New"/>
                <a:cs typeface="Courier New"/>
              </a:defRPr>
            </a:pPr>
            <a:r>
              <a:rPr sz="2025" b="0">
                <a:solidFill>
                  <a:srgbClr val="132E50"/>
                </a:solidFill>
                <a:latin typeface="Courier New"/>
                <a:ea typeface="Courier New"/>
                <a:cs typeface="Courier New"/>
              </a:rPr>
              <a:t>[prod]</a:t>
            </a:r>
          </a:p>
          <a:p xmlns:a="http://schemas.openxmlformats.org/drawingml/2006/main">
            <a:pPr>
              <a:defRPr sz="2025" b="0">
                <a:solidFill>
                  <a:srgbClr val="132E50"/>
                </a:solidFill>
                <a:latin typeface="Courier New"/>
                <a:ea typeface="Courier New"/>
                <a:cs typeface="Courier New"/>
              </a:defRPr>
            </a:pPr>
            <a:r>
              <a:rPr sz="2025" b="0">
                <a:solidFill>
                  <a:srgbClr val="132E50"/>
                </a:solidFill>
                <a:latin typeface="Courier New"/>
                <a:ea typeface="Courier New"/>
                <a:cs typeface="Courier New"/>
              </a:rPr>
              <a:t>&lt;IP de prod 0&gt;</a:t>
            </a:r>
          </a:p>
          <a:p xmlns:a="http://schemas.openxmlformats.org/drawingml/2006/main">
            <a:pPr>
              <a:defRPr sz="2025" b="0">
                <a:solidFill>
                  <a:srgbClr val="132E50"/>
                </a:solidFill>
                <a:latin typeface="Courier New"/>
                <a:ea typeface="Courier New"/>
                <a:cs typeface="Courier New"/>
              </a:defRPr>
            </a:pPr>
            <a:r>
              <a:rPr sz="2025" b="0">
                <a:solidFill>
                  <a:srgbClr val="132E50"/>
                </a:solidFill>
                <a:latin typeface="Courier New"/>
                <a:ea typeface="Courier New"/>
                <a:cs typeface="Courier New"/>
              </a:rPr>
              <a:t>&lt;IP de prod 1&gt;</a:t>
            </a:r>
          </a:p>
          <a:p xmlns:a="http://schemas.openxmlformats.org/drawingml/2006/main">
            <a:r>
              <a:t/>
            </a:r>
          </a:p>
          <a:p xmlns:a="http://schemas.openxmlformats.org/drawingml/2006/main">
            <a:pPr>
              <a:defRPr sz="2025" b="0">
                <a:solidFill>
                  <a:srgbClr val="132E50"/>
                </a:solidFill>
                <a:latin typeface="Courier New"/>
                <a:ea typeface="Courier New"/>
                <a:cs typeface="Courier New"/>
              </a:defRPr>
            </a:pPr>
            <a:r>
              <a:rPr sz="2025" b="0">
                <a:solidFill>
                  <a:srgbClr val="132E50"/>
                </a:solidFill>
                <a:latin typeface="Courier New"/>
                <a:ea typeface="Courier New"/>
                <a:cs typeface="Courier New"/>
              </a:rPr>
              <a:t>[web:children]</a:t>
            </a:r>
          </a:p>
          <a:p xmlns:a="http://schemas.openxmlformats.org/drawingml/2006/main">
            <a:pPr>
              <a:defRPr sz="2025" b="0">
                <a:solidFill>
                  <a:srgbClr val="132E50"/>
                </a:solidFill>
                <a:latin typeface="Courier New"/>
                <a:ea typeface="Courier New"/>
                <a:cs typeface="Courier New"/>
              </a:defRPr>
            </a:pPr>
            <a:r>
              <a:rPr sz="2025" b="0">
                <a:solidFill>
                  <a:srgbClr val="132E50"/>
                </a:solidFill>
                <a:latin typeface="Courier New"/>
                <a:ea typeface="Courier New"/>
                <a:cs typeface="Courier New"/>
              </a:rPr>
              <a:t>staging</a:t>
            </a:r>
          </a:p>
          <a:p xmlns:a="http://schemas.openxmlformats.org/drawingml/2006/main">
            <a:pPr>
              <a:defRPr sz="2025" b="0">
                <a:solidFill>
                  <a:srgbClr val="132E50"/>
                </a:solidFill>
                <a:latin typeface="Courier New"/>
                <a:ea typeface="Courier New"/>
                <a:cs typeface="Courier New"/>
              </a:defRPr>
            </a:pPr>
            <a:r>
              <a:rPr sz="2025" b="0">
                <a:solidFill>
                  <a:srgbClr val="132E50"/>
                </a:solidFill>
                <a:latin typeface="Courier New"/>
                <a:ea typeface="Courier New"/>
                <a:cs typeface="Courier New"/>
              </a:rPr>
              <a:t>prod</a:t>
            </a:r>
          </a:p>
        </p:txBody>
      </p:sp>
      <p:sp>
        <p:nvSpPr>
          <p:cNvPr id="5" name="Controlador → SSH → VM">
            <a:extLst xmlns:a="http://schemas.openxmlformats.org/drawingml/2006/main">
              <a:ext uri="{FF2B5EF4-FFF2-40B4-BE49-F238E27FC236}">
                <a16:creationId xmlns:a16="http://schemas.microsoft.com/office/drawing/2014/main" id="{06F1A8BE-B8FD-4384-A214-676D7640B8AA}"/>
              </a:ext>
            </a:extLst>
          </p:cNvPr>
          <p:cNvSpPr>
            <a:spLocks xmlns:a="http://schemas.openxmlformats.org/drawingml/2006/main" noGrp="1"/>
          </p:cNvSpPr>
          <p:nvPr/>
        </p:nvSpPr>
        <p:spPr>
          <a:xfrm xmlns:a="http://schemas.openxmlformats.org/drawingml/2006/main">
            <a:off x="10287000" y="2571750"/>
            <a:ext cx="4000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26384B"/>
                </a:solidFill>
                <a:latin typeface="Arial"/>
                <a:ea typeface="Arial"/>
                <a:cs typeface="Arial"/>
              </a:defRPr>
            </a:defPPr>
          </a:lstStyle>
          <a:p xmlns:a="http://schemas.openxmlformats.org/drawingml/2006/main">
            <a:pPr>
              <a:defRPr sz="2325" b="0">
                <a:solidFill>
                  <a:srgbClr val="26384B"/>
                </a:solidFill>
                <a:latin typeface="Arial"/>
                <a:ea typeface="Arial"/>
                <a:cs typeface="Arial"/>
              </a:defRPr>
            </a:pPr>
            <a:r>
              <a:rPr sz="2325" b="0">
                <a:solidFill>
                  <a:srgbClr val="26384B"/>
                </a:solidFill>
                <a:latin typeface="Arial"/>
                <a:ea typeface="Arial"/>
                <a:cs typeface="Arial"/>
              </a:rPr>
              <a:t>Controlador → SSH → VM</a:t>
            </a:r>
          </a:p>
        </p:txBody>
      </p:sp>
      <p:sp>
        <p:nvSpPr>
          <p:cNvPr id="6" name="Usuario: azureuser">
            <a:extLst xmlns:a="http://schemas.openxmlformats.org/drawingml/2006/main">
              <a:ext uri="{FF2B5EF4-FFF2-40B4-BE49-F238E27FC236}">
                <a16:creationId xmlns:a16="http://schemas.microsoft.com/office/drawing/2014/main" id="{D69AB733-530C-4FFD-A035-16F537FAA90C}"/>
              </a:ext>
            </a:extLst>
          </p:cNvPr>
          <p:cNvSpPr>
            <a:spLocks xmlns:a="http://schemas.openxmlformats.org/drawingml/2006/main" noGrp="1"/>
          </p:cNvSpPr>
          <p:nvPr/>
        </p:nvSpPr>
        <p:spPr>
          <a:xfrm xmlns:a="http://schemas.openxmlformats.org/drawingml/2006/main">
            <a:off x="10287000" y="4000500"/>
            <a:ext cx="4000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26384B"/>
                </a:solidFill>
                <a:latin typeface="Arial"/>
                <a:ea typeface="Arial"/>
                <a:cs typeface="Arial"/>
              </a:defRPr>
            </a:defPPr>
          </a:lstStyle>
          <a:p xmlns:a="http://schemas.openxmlformats.org/drawingml/2006/main">
            <a:pPr>
              <a:defRPr sz="2325" b="0">
                <a:solidFill>
                  <a:srgbClr val="26384B"/>
                </a:solidFill>
                <a:latin typeface="Arial"/>
                <a:ea typeface="Arial"/>
                <a:cs typeface="Arial"/>
              </a:defRPr>
            </a:pPr>
            <a:r>
              <a:rPr sz="2325" b="0">
                <a:solidFill>
                  <a:srgbClr val="26384B"/>
                </a:solidFill>
                <a:latin typeface="Arial"/>
                <a:ea typeface="Arial"/>
                <a:cs typeface="Arial"/>
              </a:rPr>
              <a:t>Usuario: azureuser</a:t>
            </a:r>
          </a:p>
        </p:txBody>
      </p:sp>
      <p:sp>
        <p:nvSpPr>
          <p:cNvPr id="7" name="Un grupo puede incluir grupos.">
            <a:extLst xmlns:a="http://schemas.openxmlformats.org/drawingml/2006/main">
              <a:ext uri="{FF2B5EF4-FFF2-40B4-BE49-F238E27FC236}">
                <a16:creationId xmlns:a16="http://schemas.microsoft.com/office/drawing/2014/main" id="{93FFDE5C-DE7B-4131-A6EA-7F402A97B45A}"/>
              </a:ext>
            </a:extLst>
          </p:cNvPr>
          <p:cNvSpPr>
            <a:spLocks xmlns:a="http://schemas.openxmlformats.org/drawingml/2006/main" noGrp="1"/>
          </p:cNvSpPr>
          <p:nvPr/>
        </p:nvSpPr>
        <p:spPr>
          <a:xfrm xmlns:a="http://schemas.openxmlformats.org/drawingml/2006/main">
            <a:off x="10287000" y="5429250"/>
            <a:ext cx="4000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26384B"/>
                </a:solidFill>
                <a:latin typeface="Arial"/>
                <a:ea typeface="Arial"/>
                <a:cs typeface="Arial"/>
              </a:defRPr>
            </a:defPPr>
          </a:lstStyle>
          <a:p xmlns:a="http://schemas.openxmlformats.org/drawingml/2006/main">
            <a:pPr>
              <a:defRPr sz="2325" b="0">
                <a:solidFill>
                  <a:srgbClr val="26384B"/>
                </a:solidFill>
                <a:latin typeface="Arial"/>
                <a:ea typeface="Arial"/>
                <a:cs typeface="Arial"/>
              </a:defRPr>
            </a:pPr>
            <a:r>
              <a:rPr sz="2325" b="0">
                <a:solidFill>
                  <a:srgbClr val="26384B"/>
                </a:solidFill>
                <a:latin typeface="Arial"/>
                <a:ea typeface="Arial"/>
                <a:cs typeface="Arial"/>
              </a:rPr>
              <a:t>Un grupo puede incluir grupos.</a:t>
            </a:r>
          </a:p>
        </p:txBody>
      </p:sp>
      <p:sp>
        <p:nvSpPr>
          <p:cNvPr id="8" name="Esquema del inventario; Terraform sustituye los destinos por IPs ">
            <a:extLst xmlns:a="http://schemas.openxmlformats.org/drawingml/2006/main">
              <a:ext uri="{FF2B5EF4-FFF2-40B4-BE49-F238E27FC236}">
                <a16:creationId xmlns:a16="http://schemas.microsoft.com/office/drawing/2014/main" id="{3B42E454-644F-48D8-82EE-8E23387175C8}"/>
              </a:ext>
            </a:extLst>
          </p:cNvPr>
          <p:cNvSpPr>
            <a:spLocks xmlns:a="http://schemas.openxmlformats.org/drawingml/2006/main" noGrp="1"/>
          </p:cNvSpPr>
          <p:nvPr/>
        </p:nvSpPr>
        <p:spPr>
          <a:xfrm xmlns:a="http://schemas.openxmlformats.org/drawingml/2006/main">
            <a:off x="952500" y="7629525"/>
            <a:ext cx="13335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3677C"/>
                </a:solidFill>
                <a:latin typeface="Arial"/>
                <a:ea typeface="Arial"/>
                <a:cs typeface="Arial"/>
              </a:defRPr>
            </a:defPPr>
          </a:lstStyle>
          <a:p xmlns:a="http://schemas.openxmlformats.org/drawingml/2006/main">
            <a:pPr>
              <a:defRPr sz="1800" b="0">
                <a:solidFill>
                  <a:srgbClr val="53677C"/>
                </a:solidFill>
                <a:latin typeface="Arial"/>
                <a:ea typeface="Arial"/>
                <a:cs typeface="Arial"/>
              </a:defRPr>
            </a:pPr>
            <a:r>
              <a:rPr sz="1800" b="0">
                <a:solidFill>
                  <a:srgbClr val="53677C"/>
                </a:solidFill>
                <a:latin typeface="Arial"/>
                <a:ea typeface="Arial"/>
                <a:cs typeface="Arial"/>
              </a:rPr>
              <a:t>Esquema del inventario; Terraform sustituye los destinos por IPs reales.</a:t>
            </a:r>
          </a:p>
        </p:txBody>
      </p:sp>
    </p:spTree>
    <p:extLst>
      <p:ext uri="{BB962C8B-B14F-4D97-AF65-F5344CB8AC3E}">
        <p14:creationId xmlns:p14="http://schemas.microsoft.com/office/powerpoint/2010/main" val="1044136202"/>
      </p:ext>
    </p:extLst>
  </p:cSld>
</p:sld>
</file>

<file path=ppt/slides/slide2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9" name="ANSIBLE">
            <a:extLst xmlns:a="http://schemas.openxmlformats.org/drawingml/2006/main">
              <a:ext uri="{FF2B5EF4-FFF2-40B4-BE49-F238E27FC236}">
                <a16:creationId xmlns:a16="http://schemas.microsoft.com/office/drawing/2014/main" id="{FC781DA8-8126-43F9-8CF4-022B8B966A07}"/>
              </a:ext>
            </a:extLst>
          </p:cNvPr>
          <p:cNvSpPr>
            <a:spLocks xmlns:a="http://schemas.openxmlformats.org/drawingml/2006/main" noGrp="1"/>
          </p:cNvSpPr>
          <p:nvPr/>
        </p:nvSpPr>
        <p:spPr>
          <a:xfrm xmlns:a="http://schemas.openxmlformats.org/drawingml/2006/main">
            <a:off x="914400" y="542925"/>
            <a:ext cx="1238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087F8C"/>
                </a:solidFill>
                <a:latin typeface="Arial"/>
                <a:ea typeface="Arial"/>
                <a:cs typeface="Arial"/>
              </a:defRPr>
            </a:defPPr>
          </a:lstStyle>
          <a:p xmlns:a="http://schemas.openxmlformats.org/drawingml/2006/main">
            <a:pPr>
              <a:defRPr sz="1575" b="1">
                <a:solidFill>
                  <a:srgbClr val="087F8C"/>
                </a:solidFill>
                <a:latin typeface="Arial"/>
                <a:ea typeface="Arial"/>
                <a:cs typeface="Arial"/>
              </a:defRPr>
            </a:pPr>
            <a:r>
              <a:rPr sz="1575" b="1">
                <a:solidFill>
                  <a:srgbClr val="087F8C"/>
                </a:solidFill>
                <a:latin typeface="Arial"/>
                <a:ea typeface="Arial"/>
                <a:cs typeface="Arial"/>
              </a:rPr>
              <a:t>ANSIBLE</a:t>
            </a:r>
          </a:p>
        </p:txBody>
      </p:sp>
      <p:sp>
        <p:nvSpPr>
          <p:cNvPr id="2" name="24 / 34">
            <a:extLst xmlns:a="http://schemas.openxmlformats.org/drawingml/2006/main">
              <a:ext uri="{FF2B5EF4-FFF2-40B4-BE49-F238E27FC236}">
                <a16:creationId xmlns:a16="http://schemas.microsoft.com/office/drawing/2014/main" id="{394FB4F5-04A1-4013-A015-8BBD4A188DA8}"/>
              </a:ext>
            </a:extLst>
          </p:cNvPr>
          <p:cNvSpPr>
            <a:spLocks xmlns:a="http://schemas.openxmlformats.org/drawingml/2006/main" noGrp="1"/>
          </p:cNvSpPr>
          <p:nvPr/>
        </p:nvSpPr>
        <p:spPr>
          <a:xfrm xmlns:a="http://schemas.openxmlformats.org/drawingml/2006/main">
            <a:off x="13192125" y="561975"/>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77C"/>
                </a:solidFill>
                <a:latin typeface="Arial"/>
                <a:ea typeface="Arial"/>
                <a:cs typeface="Arial"/>
              </a:defRPr>
            </a:defPPr>
          </a:lstStyle>
          <a:p xmlns:a="http://schemas.openxmlformats.org/drawingml/2006/main">
            <a:pPr>
              <a:defRPr sz="1500" b="0">
                <a:solidFill>
                  <a:srgbClr val="53677C"/>
                </a:solidFill>
                <a:latin typeface="Arial"/>
                <a:ea typeface="Arial"/>
                <a:cs typeface="Arial"/>
              </a:defRPr>
            </a:pPr>
            <a:r>
              <a:rPr sz="1500" b="0">
                <a:solidFill>
                  <a:srgbClr val="53677C"/>
                </a:solidFill>
                <a:latin typeface="Arial"/>
                <a:ea typeface="Arial"/>
                <a:cs typeface="Arial"/>
              </a:rPr>
              <a:t>24 / 34</a:t>
            </a:r>
          </a:p>
        </p:txBody>
      </p:sp>
      <p:sp>
        <p:nvSpPr>
          <p:cNvPr id="3" name="Módulo y tarea en Ansible">
            <a:extLst xmlns:a="http://schemas.openxmlformats.org/drawingml/2006/main">
              <a:ext uri="{FF2B5EF4-FFF2-40B4-BE49-F238E27FC236}">
                <a16:creationId xmlns:a16="http://schemas.microsoft.com/office/drawing/2014/main" id="{140C0158-83C4-462A-AAFD-7DBAC136F197}"/>
              </a:ext>
            </a:extLst>
          </p:cNvPr>
          <p:cNvSpPr>
            <a:spLocks xmlns:a="http://schemas.openxmlformats.org/drawingml/2006/main" noGrp="1"/>
          </p:cNvSpPr>
          <p:nvPr/>
        </p:nvSpPr>
        <p:spPr>
          <a:xfrm xmlns:a="http://schemas.openxmlformats.org/drawingml/2006/main">
            <a:off x="914400" y="1143000"/>
            <a:ext cx="13411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132E50"/>
                </a:solidFill>
                <a:latin typeface="Arial"/>
                <a:ea typeface="Arial"/>
                <a:cs typeface="Arial"/>
              </a:defRPr>
            </a:defPPr>
          </a:lstStyle>
          <a:p xmlns:a="http://schemas.openxmlformats.org/drawingml/2006/main">
            <a:pPr>
              <a:defRPr sz="3825" b="1">
                <a:solidFill>
                  <a:srgbClr val="132E50"/>
                </a:solidFill>
                <a:latin typeface="Arial"/>
                <a:ea typeface="Arial"/>
                <a:cs typeface="Arial"/>
              </a:defRPr>
            </a:pPr>
            <a:r>
              <a:rPr sz="3825" b="1">
                <a:solidFill>
                  <a:srgbClr val="132E50"/>
                </a:solidFill>
                <a:latin typeface="Arial"/>
                <a:ea typeface="Arial"/>
                <a:cs typeface="Arial"/>
              </a:rPr>
              <a:t>Módulo y tarea en Ansible</a:t>
            </a:r>
          </a:p>
        </p:txBody>
      </p:sp>
      <p:sp>
        <p:nvSpPr>
          <p:cNvPr id="4" name="- name: Instalar nginx&#10;  ansible.builtin.apt:&#10;    name: nginx&#10;   ">
            <a:extLst xmlns:a="http://schemas.openxmlformats.org/drawingml/2006/main">
              <a:ext uri="{FF2B5EF4-FFF2-40B4-BE49-F238E27FC236}">
                <a16:creationId xmlns:a16="http://schemas.microsoft.com/office/drawing/2014/main" id="{0766222C-7FD6-411D-8327-F87448518324}"/>
              </a:ext>
            </a:extLst>
          </p:cNvPr>
          <p:cNvSpPr>
            <a:spLocks xmlns:a="http://schemas.openxmlformats.org/drawingml/2006/main" noGrp="1"/>
          </p:cNvSpPr>
          <p:nvPr/>
        </p:nvSpPr>
        <p:spPr>
          <a:xfrm xmlns:a="http://schemas.openxmlformats.org/drawingml/2006/main">
            <a:off x="952500" y="2381250"/>
            <a:ext cx="8858250" cy="457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32E50"/>
                </a:solidFill>
                <a:latin typeface="Courier New"/>
                <a:ea typeface="Courier New"/>
                <a:cs typeface="Courier New"/>
              </a:defRPr>
            </a:defPPr>
          </a:lstStyle>
          <a:p xmlns:a="http://schemas.openxmlformats.org/drawingml/2006/main">
            <a:pPr>
              <a:defRPr sz="2025" b="0">
                <a:solidFill>
                  <a:srgbClr val="132E50"/>
                </a:solidFill>
                <a:latin typeface="Courier New"/>
                <a:ea typeface="Courier New"/>
                <a:cs typeface="Courier New"/>
              </a:defRPr>
            </a:pPr>
            <a:r>
              <a:rPr sz="2025" b="0">
                <a:solidFill>
                  <a:srgbClr val="132E50"/>
                </a:solidFill>
                <a:latin typeface="Courier New"/>
                <a:ea typeface="Courier New"/>
                <a:cs typeface="Courier New"/>
              </a:rPr>
              <a:t>- name: Instalar nginx</a:t>
            </a:r>
          </a:p>
          <a:p xmlns:a="http://schemas.openxmlformats.org/drawingml/2006/main">
            <a:pPr>
              <a:defRPr sz="2025" b="0">
                <a:solidFill>
                  <a:srgbClr val="132E50"/>
                </a:solidFill>
                <a:latin typeface="Courier New"/>
                <a:ea typeface="Courier New"/>
                <a:cs typeface="Courier New"/>
              </a:defRPr>
            </a:pPr>
            <a:r>
              <a:rPr sz="2025" b="0">
                <a:solidFill>
                  <a:srgbClr val="132E50"/>
                </a:solidFill>
                <a:latin typeface="Courier New"/>
                <a:ea typeface="Courier New"/>
                <a:cs typeface="Courier New"/>
              </a:rPr>
              <a:t>  ansible.builtin.apt:</a:t>
            </a:r>
          </a:p>
          <a:p xmlns:a="http://schemas.openxmlformats.org/drawingml/2006/main">
            <a:pPr>
              <a:defRPr sz="2025" b="0">
                <a:solidFill>
                  <a:srgbClr val="132E50"/>
                </a:solidFill>
                <a:latin typeface="Courier New"/>
                <a:ea typeface="Courier New"/>
                <a:cs typeface="Courier New"/>
              </a:defRPr>
            </a:pPr>
            <a:r>
              <a:rPr sz="2025" b="0">
                <a:solidFill>
                  <a:srgbClr val="132E50"/>
                </a:solidFill>
                <a:latin typeface="Courier New"/>
                <a:ea typeface="Courier New"/>
                <a:cs typeface="Courier New"/>
              </a:rPr>
              <a:t>    name: nginx</a:t>
            </a:r>
          </a:p>
          <a:p xmlns:a="http://schemas.openxmlformats.org/drawingml/2006/main">
            <a:pPr>
              <a:defRPr sz="2025" b="0">
                <a:solidFill>
                  <a:srgbClr val="132E50"/>
                </a:solidFill>
                <a:latin typeface="Courier New"/>
                <a:ea typeface="Courier New"/>
                <a:cs typeface="Courier New"/>
              </a:defRPr>
            </a:pPr>
            <a:r>
              <a:rPr sz="2025" b="0">
                <a:solidFill>
                  <a:srgbClr val="132E50"/>
                </a:solidFill>
                <a:latin typeface="Courier New"/>
                <a:ea typeface="Courier New"/>
                <a:cs typeface="Courier New"/>
              </a:rPr>
              <a:t>    state: present</a:t>
            </a:r>
          </a:p>
        </p:txBody>
      </p:sp>
      <p:sp>
        <p:nvSpPr>
          <p:cNvPr id="5" name="Task: invocación con parámetros">
            <a:extLst xmlns:a="http://schemas.openxmlformats.org/drawingml/2006/main">
              <a:ext uri="{FF2B5EF4-FFF2-40B4-BE49-F238E27FC236}">
                <a16:creationId xmlns:a16="http://schemas.microsoft.com/office/drawing/2014/main" id="{9CEA036B-D4F6-4CE5-B209-A591AFE931E5}"/>
              </a:ext>
            </a:extLst>
          </p:cNvPr>
          <p:cNvSpPr>
            <a:spLocks xmlns:a="http://schemas.openxmlformats.org/drawingml/2006/main" noGrp="1"/>
          </p:cNvSpPr>
          <p:nvPr/>
        </p:nvSpPr>
        <p:spPr>
          <a:xfrm xmlns:a="http://schemas.openxmlformats.org/drawingml/2006/main">
            <a:off x="10287000" y="2571750"/>
            <a:ext cx="4000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26384B"/>
                </a:solidFill>
                <a:latin typeface="Arial"/>
                <a:ea typeface="Arial"/>
                <a:cs typeface="Arial"/>
              </a:defRPr>
            </a:defPPr>
          </a:lstStyle>
          <a:p xmlns:a="http://schemas.openxmlformats.org/drawingml/2006/main">
            <a:pPr>
              <a:defRPr sz="2325" b="0">
                <a:solidFill>
                  <a:srgbClr val="26384B"/>
                </a:solidFill>
                <a:latin typeface="Arial"/>
                <a:ea typeface="Arial"/>
                <a:cs typeface="Arial"/>
              </a:defRPr>
            </a:pPr>
            <a:r>
              <a:rPr sz="2325" b="0">
                <a:solidFill>
                  <a:srgbClr val="26384B"/>
                </a:solidFill>
                <a:latin typeface="Arial"/>
                <a:ea typeface="Arial"/>
                <a:cs typeface="Arial"/>
              </a:rPr>
              <a:t>Task: invocación con parámetros</a:t>
            </a:r>
          </a:p>
        </p:txBody>
      </p:sp>
      <p:sp>
        <p:nvSpPr>
          <p:cNvPr id="6" name="Módulo: apt">
            <a:extLst xmlns:a="http://schemas.openxmlformats.org/drawingml/2006/main">
              <a:ext uri="{FF2B5EF4-FFF2-40B4-BE49-F238E27FC236}">
                <a16:creationId xmlns:a16="http://schemas.microsoft.com/office/drawing/2014/main" id="{C6A1B86C-BF6C-4650-B04B-F07538DC60E5}"/>
              </a:ext>
            </a:extLst>
          </p:cNvPr>
          <p:cNvSpPr>
            <a:spLocks xmlns:a="http://schemas.openxmlformats.org/drawingml/2006/main" noGrp="1"/>
          </p:cNvSpPr>
          <p:nvPr/>
        </p:nvSpPr>
        <p:spPr>
          <a:xfrm xmlns:a="http://schemas.openxmlformats.org/drawingml/2006/main">
            <a:off x="10287000" y="4000500"/>
            <a:ext cx="4000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26384B"/>
                </a:solidFill>
                <a:latin typeface="Arial"/>
                <a:ea typeface="Arial"/>
                <a:cs typeface="Arial"/>
              </a:defRPr>
            </a:defPPr>
          </a:lstStyle>
          <a:p xmlns:a="http://schemas.openxmlformats.org/drawingml/2006/main">
            <a:pPr>
              <a:defRPr sz="2325" b="0">
                <a:solidFill>
                  <a:srgbClr val="26384B"/>
                </a:solidFill>
                <a:latin typeface="Arial"/>
                <a:ea typeface="Arial"/>
                <a:cs typeface="Arial"/>
              </a:defRPr>
            </a:pPr>
            <a:r>
              <a:rPr sz="2325" b="0">
                <a:solidFill>
                  <a:srgbClr val="26384B"/>
                </a:solidFill>
                <a:latin typeface="Arial"/>
                <a:ea typeface="Arial"/>
                <a:cs typeface="Arial"/>
              </a:rPr>
              <a:t>Módulo: apt</a:t>
            </a:r>
          </a:p>
        </p:txBody>
      </p:sp>
      <p:sp>
        <p:nvSpPr>
          <p:cNvPr id="7" name="Estado deseado: paquete presente">
            <a:extLst xmlns:a="http://schemas.openxmlformats.org/drawingml/2006/main">
              <a:ext uri="{FF2B5EF4-FFF2-40B4-BE49-F238E27FC236}">
                <a16:creationId xmlns:a16="http://schemas.microsoft.com/office/drawing/2014/main" id="{C65D7AF1-CFDC-46F9-9EBE-0BDFD9323C7D}"/>
              </a:ext>
            </a:extLst>
          </p:cNvPr>
          <p:cNvSpPr>
            <a:spLocks xmlns:a="http://schemas.openxmlformats.org/drawingml/2006/main" noGrp="1"/>
          </p:cNvSpPr>
          <p:nvPr/>
        </p:nvSpPr>
        <p:spPr>
          <a:xfrm xmlns:a="http://schemas.openxmlformats.org/drawingml/2006/main">
            <a:off x="10287000" y="5429250"/>
            <a:ext cx="4000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26384B"/>
                </a:solidFill>
                <a:latin typeface="Arial"/>
                <a:ea typeface="Arial"/>
                <a:cs typeface="Arial"/>
              </a:defRPr>
            </a:defPPr>
          </a:lstStyle>
          <a:p xmlns:a="http://schemas.openxmlformats.org/drawingml/2006/main">
            <a:pPr>
              <a:defRPr sz="2325" b="0">
                <a:solidFill>
                  <a:srgbClr val="26384B"/>
                </a:solidFill>
                <a:latin typeface="Arial"/>
                <a:ea typeface="Arial"/>
                <a:cs typeface="Arial"/>
              </a:defRPr>
            </a:pPr>
            <a:r>
              <a:rPr sz="2325" b="0">
                <a:solidFill>
                  <a:srgbClr val="26384B"/>
                </a:solidFill>
                <a:latin typeface="Arial"/>
                <a:ea typeface="Arial"/>
                <a:cs typeface="Arial"/>
              </a:rPr>
              <a:t>Estado deseado: paquete presente</a:t>
            </a:r>
          </a:p>
        </p:txBody>
      </p:sp>
      <p:sp>
        <p:nvSpPr>
          <p:cNvPr id="8" name="La reutilización de tareas relacionadas se organiza mediante role">
            <a:extLst xmlns:a="http://schemas.openxmlformats.org/drawingml/2006/main">
              <a:ext uri="{FF2B5EF4-FFF2-40B4-BE49-F238E27FC236}">
                <a16:creationId xmlns:a16="http://schemas.microsoft.com/office/drawing/2014/main" id="{1813383C-2BE3-4828-8E75-AC899B82A265}"/>
              </a:ext>
            </a:extLst>
          </p:cNvPr>
          <p:cNvSpPr>
            <a:spLocks xmlns:a="http://schemas.openxmlformats.org/drawingml/2006/main" noGrp="1"/>
          </p:cNvSpPr>
          <p:nvPr/>
        </p:nvSpPr>
        <p:spPr>
          <a:xfrm xmlns:a="http://schemas.openxmlformats.org/drawingml/2006/main">
            <a:off x="952500" y="7629525"/>
            <a:ext cx="13335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3677C"/>
                </a:solidFill>
                <a:latin typeface="Arial"/>
                <a:ea typeface="Arial"/>
                <a:cs typeface="Arial"/>
              </a:defRPr>
            </a:defPPr>
          </a:lstStyle>
          <a:p xmlns:a="http://schemas.openxmlformats.org/drawingml/2006/main">
            <a:pPr>
              <a:defRPr sz="1800" b="0">
                <a:solidFill>
                  <a:srgbClr val="53677C"/>
                </a:solidFill>
                <a:latin typeface="Arial"/>
                <a:ea typeface="Arial"/>
                <a:cs typeface="Arial"/>
              </a:defRPr>
            </a:pPr>
            <a:r>
              <a:rPr sz="1800" b="0">
                <a:solidFill>
                  <a:srgbClr val="53677C"/>
                </a:solidFill>
                <a:latin typeface="Arial"/>
                <a:ea typeface="Arial"/>
                <a:cs typeface="Arial"/>
              </a:rPr>
              <a:t>La reutilización de tareas relacionadas se organiza mediante roles.</a:t>
            </a:r>
          </a:p>
        </p:txBody>
      </p:sp>
    </p:spTree>
    <p:extLst>
      <p:ext uri="{BB962C8B-B14F-4D97-AF65-F5344CB8AC3E}">
        <p14:creationId xmlns:p14="http://schemas.microsoft.com/office/powerpoint/2010/main" val="778861509"/>
      </p:ext>
    </p:extLst>
  </p:cSld>
</p:sld>
</file>

<file path=ppt/slides/slide2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9" name="ANSIBLE">
            <a:extLst xmlns:a="http://schemas.openxmlformats.org/drawingml/2006/main">
              <a:ext uri="{FF2B5EF4-FFF2-40B4-BE49-F238E27FC236}">
                <a16:creationId xmlns:a16="http://schemas.microsoft.com/office/drawing/2014/main" id="{525E36AB-6728-48A6-8C2F-3F16D1714330}"/>
              </a:ext>
            </a:extLst>
          </p:cNvPr>
          <p:cNvSpPr>
            <a:spLocks xmlns:a="http://schemas.openxmlformats.org/drawingml/2006/main" noGrp="1"/>
          </p:cNvSpPr>
          <p:nvPr/>
        </p:nvSpPr>
        <p:spPr>
          <a:xfrm xmlns:a="http://schemas.openxmlformats.org/drawingml/2006/main">
            <a:off x="914400" y="542925"/>
            <a:ext cx="1238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087F8C"/>
                </a:solidFill>
                <a:latin typeface="Arial"/>
                <a:ea typeface="Arial"/>
                <a:cs typeface="Arial"/>
              </a:defRPr>
            </a:defPPr>
          </a:lstStyle>
          <a:p xmlns:a="http://schemas.openxmlformats.org/drawingml/2006/main">
            <a:pPr>
              <a:defRPr sz="1575" b="1">
                <a:solidFill>
                  <a:srgbClr val="087F8C"/>
                </a:solidFill>
                <a:latin typeface="Arial"/>
                <a:ea typeface="Arial"/>
                <a:cs typeface="Arial"/>
              </a:defRPr>
            </a:pPr>
            <a:r>
              <a:rPr sz="1575" b="1">
                <a:solidFill>
                  <a:srgbClr val="087F8C"/>
                </a:solidFill>
                <a:latin typeface="Arial"/>
                <a:ea typeface="Arial"/>
                <a:cs typeface="Arial"/>
              </a:rPr>
              <a:t>ANSIBLE</a:t>
            </a:r>
          </a:p>
        </p:txBody>
      </p:sp>
      <p:sp>
        <p:nvSpPr>
          <p:cNvPr id="2" name="25 / 34">
            <a:extLst xmlns:a="http://schemas.openxmlformats.org/drawingml/2006/main">
              <a:ext uri="{FF2B5EF4-FFF2-40B4-BE49-F238E27FC236}">
                <a16:creationId xmlns:a16="http://schemas.microsoft.com/office/drawing/2014/main" id="{1800FCA6-C138-441E-8699-547AF20C0BE7}"/>
              </a:ext>
            </a:extLst>
          </p:cNvPr>
          <p:cNvSpPr>
            <a:spLocks xmlns:a="http://schemas.openxmlformats.org/drawingml/2006/main" noGrp="1"/>
          </p:cNvSpPr>
          <p:nvPr/>
        </p:nvSpPr>
        <p:spPr>
          <a:xfrm xmlns:a="http://schemas.openxmlformats.org/drawingml/2006/main">
            <a:off x="13192125" y="561975"/>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77C"/>
                </a:solidFill>
                <a:latin typeface="Arial"/>
                <a:ea typeface="Arial"/>
                <a:cs typeface="Arial"/>
              </a:defRPr>
            </a:defPPr>
          </a:lstStyle>
          <a:p xmlns:a="http://schemas.openxmlformats.org/drawingml/2006/main">
            <a:pPr>
              <a:defRPr sz="1500" b="0">
                <a:solidFill>
                  <a:srgbClr val="53677C"/>
                </a:solidFill>
                <a:latin typeface="Arial"/>
                <a:ea typeface="Arial"/>
                <a:cs typeface="Arial"/>
              </a:defRPr>
            </a:pPr>
            <a:r>
              <a:rPr sz="1500" b="0">
                <a:solidFill>
                  <a:srgbClr val="53677C"/>
                </a:solidFill>
                <a:latin typeface="Arial"/>
                <a:ea typeface="Arial"/>
                <a:cs typeface="Arial"/>
              </a:rPr>
              <a:t>25 / 34</a:t>
            </a:r>
          </a:p>
        </p:txBody>
      </p:sp>
      <p:sp>
        <p:nvSpPr>
          <p:cNvPr id="3" name="Playbooks: tareas sobre un inventario">
            <a:extLst xmlns:a="http://schemas.openxmlformats.org/drawingml/2006/main">
              <a:ext uri="{FF2B5EF4-FFF2-40B4-BE49-F238E27FC236}">
                <a16:creationId xmlns:a16="http://schemas.microsoft.com/office/drawing/2014/main" id="{BA643958-85A1-4A39-B106-BEACC163FE4A}"/>
              </a:ext>
            </a:extLst>
          </p:cNvPr>
          <p:cNvSpPr>
            <a:spLocks xmlns:a="http://schemas.openxmlformats.org/drawingml/2006/main" noGrp="1"/>
          </p:cNvSpPr>
          <p:nvPr/>
        </p:nvSpPr>
        <p:spPr>
          <a:xfrm xmlns:a="http://schemas.openxmlformats.org/drawingml/2006/main">
            <a:off x="914400" y="1143000"/>
            <a:ext cx="13411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132E50"/>
                </a:solidFill>
                <a:latin typeface="Arial"/>
                <a:ea typeface="Arial"/>
                <a:cs typeface="Arial"/>
              </a:defRPr>
            </a:defPPr>
          </a:lstStyle>
          <a:p xmlns:a="http://schemas.openxmlformats.org/drawingml/2006/main">
            <a:pPr>
              <a:defRPr sz="3825" b="1">
                <a:solidFill>
                  <a:srgbClr val="132E50"/>
                </a:solidFill>
                <a:latin typeface="Arial"/>
                <a:ea typeface="Arial"/>
                <a:cs typeface="Arial"/>
              </a:defRPr>
            </a:pPr>
            <a:r>
              <a:rPr sz="3825" b="1">
                <a:solidFill>
                  <a:srgbClr val="132E50"/>
                </a:solidFill>
                <a:latin typeface="Arial"/>
                <a:ea typeface="Arial"/>
                <a:cs typeface="Arial"/>
              </a:rPr>
              <a:t>Playbooks: tareas sobre un inventario</a:t>
            </a:r>
          </a:p>
        </p:txBody>
      </p:sp>
      <p:sp>
        <p:nvSpPr>
          <p:cNvPr id="4" name="- hosts: web&#10;  become: true&#10;  roles:&#10;    - common&#10;    - webserver">
            <a:extLst xmlns:a="http://schemas.openxmlformats.org/drawingml/2006/main">
              <a:ext uri="{FF2B5EF4-FFF2-40B4-BE49-F238E27FC236}">
                <a16:creationId xmlns:a16="http://schemas.microsoft.com/office/drawing/2014/main" id="{3F67EB61-2486-4C10-BBC3-68D8F86A7691}"/>
              </a:ext>
            </a:extLst>
          </p:cNvPr>
          <p:cNvSpPr>
            <a:spLocks xmlns:a="http://schemas.openxmlformats.org/drawingml/2006/main" noGrp="1"/>
          </p:cNvSpPr>
          <p:nvPr/>
        </p:nvSpPr>
        <p:spPr>
          <a:xfrm xmlns:a="http://schemas.openxmlformats.org/drawingml/2006/main">
            <a:off x="952500" y="2381250"/>
            <a:ext cx="8858250" cy="457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32E50"/>
                </a:solidFill>
                <a:latin typeface="Courier New"/>
                <a:ea typeface="Courier New"/>
                <a:cs typeface="Courier New"/>
              </a:defRPr>
            </a:defPPr>
          </a:lstStyle>
          <a:p xmlns:a="http://schemas.openxmlformats.org/drawingml/2006/main">
            <a:pPr>
              <a:defRPr sz="2025" b="0">
                <a:solidFill>
                  <a:srgbClr val="132E50"/>
                </a:solidFill>
                <a:latin typeface="Courier New"/>
                <a:ea typeface="Courier New"/>
                <a:cs typeface="Courier New"/>
              </a:defRPr>
            </a:pPr>
            <a:r>
              <a:rPr sz="2025" b="0">
                <a:solidFill>
                  <a:srgbClr val="132E50"/>
                </a:solidFill>
                <a:latin typeface="Courier New"/>
                <a:ea typeface="Courier New"/>
                <a:cs typeface="Courier New"/>
              </a:rPr>
              <a:t>- hosts: web</a:t>
            </a:r>
          </a:p>
          <a:p xmlns:a="http://schemas.openxmlformats.org/drawingml/2006/main">
            <a:pPr>
              <a:defRPr sz="2025" b="0">
                <a:solidFill>
                  <a:srgbClr val="132E50"/>
                </a:solidFill>
                <a:latin typeface="Courier New"/>
                <a:ea typeface="Courier New"/>
                <a:cs typeface="Courier New"/>
              </a:defRPr>
            </a:pPr>
            <a:r>
              <a:rPr sz="2025" b="0">
                <a:solidFill>
                  <a:srgbClr val="132E50"/>
                </a:solidFill>
                <a:latin typeface="Courier New"/>
                <a:ea typeface="Courier New"/>
                <a:cs typeface="Courier New"/>
              </a:rPr>
              <a:t>  become: true</a:t>
            </a:r>
          </a:p>
          <a:p xmlns:a="http://schemas.openxmlformats.org/drawingml/2006/main">
            <a:pPr>
              <a:defRPr sz="2025" b="0">
                <a:solidFill>
                  <a:srgbClr val="132E50"/>
                </a:solidFill>
                <a:latin typeface="Courier New"/>
                <a:ea typeface="Courier New"/>
                <a:cs typeface="Courier New"/>
              </a:defRPr>
            </a:pPr>
            <a:r>
              <a:rPr sz="2025" b="0">
                <a:solidFill>
                  <a:srgbClr val="132E50"/>
                </a:solidFill>
                <a:latin typeface="Courier New"/>
                <a:ea typeface="Courier New"/>
                <a:cs typeface="Courier New"/>
              </a:rPr>
              <a:t>  roles:</a:t>
            </a:r>
          </a:p>
          <a:p xmlns:a="http://schemas.openxmlformats.org/drawingml/2006/main">
            <a:pPr>
              <a:defRPr sz="2025" b="0">
                <a:solidFill>
                  <a:srgbClr val="132E50"/>
                </a:solidFill>
                <a:latin typeface="Courier New"/>
                <a:ea typeface="Courier New"/>
                <a:cs typeface="Courier New"/>
              </a:defRPr>
            </a:pPr>
            <a:r>
              <a:rPr sz="2025" b="0">
                <a:solidFill>
                  <a:srgbClr val="132E50"/>
                </a:solidFill>
                <a:latin typeface="Courier New"/>
                <a:ea typeface="Courier New"/>
                <a:cs typeface="Courier New"/>
              </a:rPr>
              <a:t>    - common</a:t>
            </a:r>
          </a:p>
          <a:p xmlns:a="http://schemas.openxmlformats.org/drawingml/2006/main">
            <a:pPr>
              <a:defRPr sz="2025" b="0">
                <a:solidFill>
                  <a:srgbClr val="132E50"/>
                </a:solidFill>
                <a:latin typeface="Courier New"/>
                <a:ea typeface="Courier New"/>
                <a:cs typeface="Courier New"/>
              </a:defRPr>
            </a:pPr>
            <a:r>
              <a:rPr sz="2025" b="0">
                <a:solidFill>
                  <a:srgbClr val="132E50"/>
                </a:solidFill>
                <a:latin typeface="Courier New"/>
                <a:ea typeface="Courier New"/>
                <a:cs typeface="Courier New"/>
              </a:rPr>
              <a:t>    - webserver</a:t>
            </a:r>
          </a:p>
        </p:txBody>
      </p:sp>
      <p:sp>
        <p:nvSpPr>
          <p:cNvPr id="5" name="hosts selecciona los destinos.">
            <a:extLst xmlns:a="http://schemas.openxmlformats.org/drawingml/2006/main">
              <a:ext uri="{FF2B5EF4-FFF2-40B4-BE49-F238E27FC236}">
                <a16:creationId xmlns:a16="http://schemas.microsoft.com/office/drawing/2014/main" id="{64AF498F-70A1-4929-B037-CA1BCC042035}"/>
              </a:ext>
            </a:extLst>
          </p:cNvPr>
          <p:cNvSpPr>
            <a:spLocks xmlns:a="http://schemas.openxmlformats.org/drawingml/2006/main" noGrp="1"/>
          </p:cNvSpPr>
          <p:nvPr/>
        </p:nvSpPr>
        <p:spPr>
          <a:xfrm xmlns:a="http://schemas.openxmlformats.org/drawingml/2006/main">
            <a:off x="10287000" y="2571750"/>
            <a:ext cx="4000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26384B"/>
                </a:solidFill>
                <a:latin typeface="Arial"/>
                <a:ea typeface="Arial"/>
                <a:cs typeface="Arial"/>
              </a:defRPr>
            </a:defPPr>
          </a:lstStyle>
          <a:p xmlns:a="http://schemas.openxmlformats.org/drawingml/2006/main">
            <a:pPr>
              <a:defRPr sz="2325" b="0">
                <a:solidFill>
                  <a:srgbClr val="26384B"/>
                </a:solidFill>
                <a:latin typeface="Arial"/>
                <a:ea typeface="Arial"/>
                <a:cs typeface="Arial"/>
              </a:defRPr>
            </a:pPr>
            <a:r>
              <a:rPr sz="2325" b="0">
                <a:solidFill>
                  <a:srgbClr val="26384B"/>
                </a:solidFill>
                <a:latin typeface="Arial"/>
                <a:ea typeface="Arial"/>
                <a:cs typeface="Arial"/>
              </a:rPr>
              <a:t>hosts selecciona los destinos.</a:t>
            </a:r>
          </a:p>
        </p:txBody>
      </p:sp>
      <p:sp>
        <p:nvSpPr>
          <p:cNvPr id="6" name="become permite tareas privilegiadas.">
            <a:extLst xmlns:a="http://schemas.openxmlformats.org/drawingml/2006/main">
              <a:ext uri="{FF2B5EF4-FFF2-40B4-BE49-F238E27FC236}">
                <a16:creationId xmlns:a16="http://schemas.microsoft.com/office/drawing/2014/main" id="{9095A2F2-D382-4DEB-95AF-11F10F8F3D98}"/>
              </a:ext>
            </a:extLst>
          </p:cNvPr>
          <p:cNvSpPr>
            <a:spLocks xmlns:a="http://schemas.openxmlformats.org/drawingml/2006/main" noGrp="1"/>
          </p:cNvSpPr>
          <p:nvPr/>
        </p:nvSpPr>
        <p:spPr>
          <a:xfrm xmlns:a="http://schemas.openxmlformats.org/drawingml/2006/main">
            <a:off x="10287000" y="4000500"/>
            <a:ext cx="4000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26384B"/>
                </a:solidFill>
                <a:latin typeface="Arial"/>
                <a:ea typeface="Arial"/>
                <a:cs typeface="Arial"/>
              </a:defRPr>
            </a:defPPr>
          </a:lstStyle>
          <a:p xmlns:a="http://schemas.openxmlformats.org/drawingml/2006/main">
            <a:pPr>
              <a:defRPr sz="2325" b="0">
                <a:solidFill>
                  <a:srgbClr val="26384B"/>
                </a:solidFill>
                <a:latin typeface="Arial"/>
                <a:ea typeface="Arial"/>
                <a:cs typeface="Arial"/>
              </a:defRPr>
            </a:pPr>
            <a:r>
              <a:rPr sz="2325" b="0">
                <a:solidFill>
                  <a:srgbClr val="26384B"/>
                </a:solidFill>
                <a:latin typeface="Arial"/>
                <a:ea typeface="Arial"/>
                <a:cs typeface="Arial"/>
              </a:rPr>
              <a:t>become permite tareas privilegiadas.</a:t>
            </a:r>
          </a:p>
        </p:txBody>
      </p:sp>
      <p:sp>
        <p:nvSpPr>
          <p:cNvPr id="7" name="roles organiza el trabajo reutilizable.">
            <a:extLst xmlns:a="http://schemas.openxmlformats.org/drawingml/2006/main">
              <a:ext uri="{FF2B5EF4-FFF2-40B4-BE49-F238E27FC236}">
                <a16:creationId xmlns:a16="http://schemas.microsoft.com/office/drawing/2014/main" id="{49C2C990-943D-4953-9FEA-5749483B2E8D}"/>
              </a:ext>
            </a:extLst>
          </p:cNvPr>
          <p:cNvSpPr>
            <a:spLocks xmlns:a="http://schemas.openxmlformats.org/drawingml/2006/main" noGrp="1"/>
          </p:cNvSpPr>
          <p:nvPr/>
        </p:nvSpPr>
        <p:spPr>
          <a:xfrm xmlns:a="http://schemas.openxmlformats.org/drawingml/2006/main">
            <a:off x="10287000" y="5429250"/>
            <a:ext cx="4000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26384B"/>
                </a:solidFill>
                <a:latin typeface="Arial"/>
                <a:ea typeface="Arial"/>
                <a:cs typeface="Arial"/>
              </a:defRPr>
            </a:defPPr>
          </a:lstStyle>
          <a:p xmlns:a="http://schemas.openxmlformats.org/drawingml/2006/main">
            <a:pPr>
              <a:defRPr sz="2325" b="0">
                <a:solidFill>
                  <a:srgbClr val="26384B"/>
                </a:solidFill>
                <a:latin typeface="Arial"/>
                <a:ea typeface="Arial"/>
                <a:cs typeface="Arial"/>
              </a:defRPr>
            </a:pPr>
            <a:r>
              <a:rPr sz="2325" b="0">
                <a:solidFill>
                  <a:srgbClr val="26384B"/>
                </a:solidFill>
                <a:latin typeface="Arial"/>
                <a:ea typeface="Arial"/>
                <a:cs typeface="Arial"/>
              </a:rPr>
              <a:t>roles organiza el trabajo reutilizable.</a:t>
            </a:r>
          </a:p>
        </p:txBody>
      </p:sp>
      <p:sp>
        <p:nvSpPr>
          <p:cNvPr id="8" name="site.yml del ejemplo: el playbook compone los dos roles.">
            <a:extLst xmlns:a="http://schemas.openxmlformats.org/drawingml/2006/main">
              <a:ext uri="{FF2B5EF4-FFF2-40B4-BE49-F238E27FC236}">
                <a16:creationId xmlns:a16="http://schemas.microsoft.com/office/drawing/2014/main" id="{881D8245-B716-4DF5-BCC9-41807F239FAB}"/>
              </a:ext>
            </a:extLst>
          </p:cNvPr>
          <p:cNvSpPr>
            <a:spLocks xmlns:a="http://schemas.openxmlformats.org/drawingml/2006/main" noGrp="1"/>
          </p:cNvSpPr>
          <p:nvPr/>
        </p:nvSpPr>
        <p:spPr>
          <a:xfrm xmlns:a="http://schemas.openxmlformats.org/drawingml/2006/main">
            <a:off x="952500" y="7629525"/>
            <a:ext cx="13335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3677C"/>
                </a:solidFill>
                <a:latin typeface="Arial"/>
                <a:ea typeface="Arial"/>
                <a:cs typeface="Arial"/>
              </a:defRPr>
            </a:defPPr>
          </a:lstStyle>
          <a:p xmlns:a="http://schemas.openxmlformats.org/drawingml/2006/main">
            <a:pPr>
              <a:defRPr sz="1800" b="0">
                <a:solidFill>
                  <a:srgbClr val="53677C"/>
                </a:solidFill>
                <a:latin typeface="Arial"/>
                <a:ea typeface="Arial"/>
                <a:cs typeface="Arial"/>
              </a:defRPr>
            </a:pPr>
            <a:r>
              <a:rPr sz="1800" b="0">
                <a:solidFill>
                  <a:srgbClr val="53677C"/>
                </a:solidFill>
                <a:latin typeface="Arial"/>
                <a:ea typeface="Arial"/>
                <a:cs typeface="Arial"/>
              </a:rPr>
              <a:t>site.yml del ejemplo: el playbook compone los dos roles.</a:t>
            </a:r>
          </a:p>
        </p:txBody>
      </p:sp>
    </p:spTree>
    <p:extLst>
      <p:ext uri="{BB962C8B-B14F-4D97-AF65-F5344CB8AC3E}">
        <p14:creationId xmlns:p14="http://schemas.microsoft.com/office/powerpoint/2010/main" val="853252932"/>
      </p:ext>
    </p:extLst>
  </p:cSld>
</p:sld>
</file>

<file path=ppt/slides/slide2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3" name="ANSIBLE">
            <a:extLst xmlns:a="http://schemas.openxmlformats.org/drawingml/2006/main">
              <a:ext uri="{FF2B5EF4-FFF2-40B4-BE49-F238E27FC236}">
                <a16:creationId xmlns:a16="http://schemas.microsoft.com/office/drawing/2014/main" id="{86BC864B-E89C-426E-8AFC-7832AAA1E34C}"/>
              </a:ext>
            </a:extLst>
          </p:cNvPr>
          <p:cNvSpPr>
            <a:spLocks xmlns:a="http://schemas.openxmlformats.org/drawingml/2006/main" noGrp="1"/>
          </p:cNvSpPr>
          <p:nvPr/>
        </p:nvSpPr>
        <p:spPr>
          <a:xfrm xmlns:a="http://schemas.openxmlformats.org/drawingml/2006/main">
            <a:off x="914400" y="542925"/>
            <a:ext cx="1238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087F8C"/>
                </a:solidFill>
                <a:latin typeface="Arial"/>
                <a:ea typeface="Arial"/>
                <a:cs typeface="Arial"/>
              </a:defRPr>
            </a:defPPr>
          </a:lstStyle>
          <a:p xmlns:a="http://schemas.openxmlformats.org/drawingml/2006/main">
            <a:pPr>
              <a:defRPr sz="1575" b="1">
                <a:solidFill>
                  <a:srgbClr val="087F8C"/>
                </a:solidFill>
                <a:latin typeface="Arial"/>
                <a:ea typeface="Arial"/>
                <a:cs typeface="Arial"/>
              </a:defRPr>
            </a:pPr>
            <a:r>
              <a:rPr sz="1575" b="1">
                <a:solidFill>
                  <a:srgbClr val="087F8C"/>
                </a:solidFill>
                <a:latin typeface="Arial"/>
                <a:ea typeface="Arial"/>
                <a:cs typeface="Arial"/>
              </a:rPr>
              <a:t>ANSIBLE</a:t>
            </a:r>
          </a:p>
        </p:txBody>
      </p:sp>
      <p:sp>
        <p:nvSpPr>
          <p:cNvPr id="2" name="26 / 34">
            <a:extLst xmlns:a="http://schemas.openxmlformats.org/drawingml/2006/main">
              <a:ext uri="{FF2B5EF4-FFF2-40B4-BE49-F238E27FC236}">
                <a16:creationId xmlns:a16="http://schemas.microsoft.com/office/drawing/2014/main" id="{B9C0139A-DB83-4044-B5CD-350473008A1A}"/>
              </a:ext>
            </a:extLst>
          </p:cNvPr>
          <p:cNvSpPr>
            <a:spLocks xmlns:a="http://schemas.openxmlformats.org/drawingml/2006/main" noGrp="1"/>
          </p:cNvSpPr>
          <p:nvPr/>
        </p:nvSpPr>
        <p:spPr>
          <a:xfrm xmlns:a="http://schemas.openxmlformats.org/drawingml/2006/main">
            <a:off x="13192125" y="561975"/>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77C"/>
                </a:solidFill>
                <a:latin typeface="Arial"/>
                <a:ea typeface="Arial"/>
                <a:cs typeface="Arial"/>
              </a:defRPr>
            </a:defPPr>
          </a:lstStyle>
          <a:p xmlns:a="http://schemas.openxmlformats.org/drawingml/2006/main">
            <a:pPr>
              <a:defRPr sz="1500" b="0">
                <a:solidFill>
                  <a:srgbClr val="53677C"/>
                </a:solidFill>
                <a:latin typeface="Arial"/>
                <a:ea typeface="Arial"/>
                <a:cs typeface="Arial"/>
              </a:defRPr>
            </a:pPr>
            <a:r>
              <a:rPr sz="1500" b="0">
                <a:solidFill>
                  <a:srgbClr val="53677C"/>
                </a:solidFill>
                <a:latin typeface="Arial"/>
                <a:ea typeface="Arial"/>
                <a:cs typeface="Arial"/>
              </a:rPr>
              <a:t>26 / 34</a:t>
            </a:r>
          </a:p>
        </p:txBody>
      </p:sp>
      <p:sp>
        <p:nvSpPr>
          <p:cNvPr id="3" name="Organización del rol webserver">
            <a:extLst xmlns:a="http://schemas.openxmlformats.org/drawingml/2006/main">
              <a:ext uri="{FF2B5EF4-FFF2-40B4-BE49-F238E27FC236}">
                <a16:creationId xmlns:a16="http://schemas.microsoft.com/office/drawing/2014/main" id="{33E3676B-B3CF-4A67-919D-CE592E2ED2B0}"/>
              </a:ext>
            </a:extLst>
          </p:cNvPr>
          <p:cNvSpPr>
            <a:spLocks xmlns:a="http://schemas.openxmlformats.org/drawingml/2006/main" noGrp="1"/>
          </p:cNvSpPr>
          <p:nvPr/>
        </p:nvSpPr>
        <p:spPr>
          <a:xfrm xmlns:a="http://schemas.openxmlformats.org/drawingml/2006/main">
            <a:off x="914400" y="1143000"/>
            <a:ext cx="13411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132E50"/>
                </a:solidFill>
                <a:latin typeface="Arial"/>
                <a:ea typeface="Arial"/>
                <a:cs typeface="Arial"/>
              </a:defRPr>
            </a:defPPr>
          </a:lstStyle>
          <a:p xmlns:a="http://schemas.openxmlformats.org/drawingml/2006/main">
            <a:pPr>
              <a:defRPr sz="3825" b="1">
                <a:solidFill>
                  <a:srgbClr val="132E50"/>
                </a:solidFill>
                <a:latin typeface="Arial"/>
                <a:ea typeface="Arial"/>
                <a:cs typeface="Arial"/>
              </a:defRPr>
            </a:pPr>
            <a:r>
              <a:rPr sz="3825" b="1">
                <a:solidFill>
                  <a:srgbClr val="132E50"/>
                </a:solidFill>
                <a:latin typeface="Arial"/>
                <a:ea typeface="Arial"/>
                <a:cs typeface="Arial"/>
              </a:rPr>
              <a:t>Organización del rol webserver</a:t>
            </a:r>
          </a:p>
        </p:txBody>
      </p:sp>
      <p:sp>
        <p:nvSpPr>
          <p:cNvPr id="4" name="defaults/main.yml">
            <a:extLst xmlns:a="http://schemas.openxmlformats.org/drawingml/2006/main">
              <a:ext uri="{FF2B5EF4-FFF2-40B4-BE49-F238E27FC236}">
                <a16:creationId xmlns:a16="http://schemas.microsoft.com/office/drawing/2014/main" id="{DAEA1CE8-B89B-4114-ADE7-74F85E090BD4}"/>
              </a:ext>
            </a:extLst>
          </p:cNvPr>
          <p:cNvSpPr>
            <a:spLocks xmlns:a="http://schemas.openxmlformats.org/drawingml/2006/main" noGrp="1"/>
          </p:cNvSpPr>
          <p:nvPr/>
        </p:nvSpPr>
        <p:spPr>
          <a:xfrm xmlns:a="http://schemas.openxmlformats.org/drawingml/2006/main">
            <a:off x="952500" y="2333625"/>
            <a:ext cx="4381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87F8C"/>
                </a:solidFill>
                <a:latin typeface="Arial"/>
                <a:ea typeface="Arial"/>
                <a:cs typeface="Arial"/>
              </a:defRPr>
            </a:defPPr>
          </a:lstStyle>
          <a:p xmlns:a="http://schemas.openxmlformats.org/drawingml/2006/main">
            <a:pPr>
              <a:defRPr sz="2325" b="1">
                <a:solidFill>
                  <a:srgbClr val="087F8C"/>
                </a:solidFill>
                <a:latin typeface="Arial"/>
                <a:ea typeface="Arial"/>
                <a:cs typeface="Arial"/>
              </a:defRPr>
            </a:pPr>
            <a:r>
              <a:rPr sz="2325" b="1">
                <a:solidFill>
                  <a:srgbClr val="087F8C"/>
                </a:solidFill>
                <a:latin typeface="Arial"/>
                <a:ea typeface="Arial"/>
                <a:cs typeface="Arial"/>
              </a:rPr>
              <a:t>defaults/main.yml</a:t>
            </a:r>
          </a:p>
        </p:txBody>
      </p:sp>
      <p:sp>
        <p:nvSpPr>
          <p:cNvPr id="5" name="Valores predeterminados del rol">
            <a:extLst xmlns:a="http://schemas.openxmlformats.org/drawingml/2006/main">
              <a:ext uri="{FF2B5EF4-FFF2-40B4-BE49-F238E27FC236}">
                <a16:creationId xmlns:a16="http://schemas.microsoft.com/office/drawing/2014/main" id="{413E98D3-F0F6-4398-9DFF-7727D4DE0D48}"/>
              </a:ext>
            </a:extLst>
          </p:cNvPr>
          <p:cNvSpPr>
            <a:spLocks xmlns:a="http://schemas.openxmlformats.org/drawingml/2006/main" noGrp="1"/>
          </p:cNvSpPr>
          <p:nvPr/>
        </p:nvSpPr>
        <p:spPr>
          <a:xfrm xmlns:a="http://schemas.openxmlformats.org/drawingml/2006/main">
            <a:off x="5810250" y="2333625"/>
            <a:ext cx="8429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0">
                <a:solidFill>
                  <a:srgbClr val="26384B"/>
                </a:solidFill>
                <a:latin typeface="Arial"/>
                <a:ea typeface="Arial"/>
                <a:cs typeface="Arial"/>
              </a:defRPr>
            </a:defPPr>
          </a:lstStyle>
          <a:p xmlns:a="http://schemas.openxmlformats.org/drawingml/2006/main">
            <a:pPr>
              <a:defRPr sz="2475" b="0">
                <a:solidFill>
                  <a:srgbClr val="26384B"/>
                </a:solidFill>
                <a:latin typeface="Arial"/>
                <a:ea typeface="Arial"/>
                <a:cs typeface="Arial"/>
              </a:defRPr>
            </a:pPr>
            <a:r>
              <a:rPr sz="2475" b="0">
                <a:solidFill>
                  <a:srgbClr val="26384B"/>
                </a:solidFill>
                <a:latin typeface="Arial"/>
                <a:ea typeface="Arial"/>
                <a:cs typeface="Arial"/>
              </a:rPr>
              <a:t>Valores predeterminados del rol</a:t>
            </a:r>
          </a:p>
        </p:txBody>
      </p:sp>
      <p:sp>
        <p:nvSpPr>
          <p:cNvPr id="6" name="tasks/main.yml">
            <a:extLst xmlns:a="http://schemas.openxmlformats.org/drawingml/2006/main">
              <a:ext uri="{FF2B5EF4-FFF2-40B4-BE49-F238E27FC236}">
                <a16:creationId xmlns:a16="http://schemas.microsoft.com/office/drawing/2014/main" id="{BAC12356-05FC-4A3D-A170-A01AC887446C}"/>
              </a:ext>
            </a:extLst>
          </p:cNvPr>
          <p:cNvSpPr>
            <a:spLocks xmlns:a="http://schemas.openxmlformats.org/drawingml/2006/main" noGrp="1"/>
          </p:cNvSpPr>
          <p:nvPr/>
        </p:nvSpPr>
        <p:spPr>
          <a:xfrm xmlns:a="http://schemas.openxmlformats.org/drawingml/2006/main">
            <a:off x="952500" y="3438525"/>
            <a:ext cx="4381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87F8C"/>
                </a:solidFill>
                <a:latin typeface="Arial"/>
                <a:ea typeface="Arial"/>
                <a:cs typeface="Arial"/>
              </a:defRPr>
            </a:defPPr>
          </a:lstStyle>
          <a:p xmlns:a="http://schemas.openxmlformats.org/drawingml/2006/main">
            <a:pPr>
              <a:defRPr sz="2325" b="1">
                <a:solidFill>
                  <a:srgbClr val="087F8C"/>
                </a:solidFill>
                <a:latin typeface="Arial"/>
                <a:ea typeface="Arial"/>
                <a:cs typeface="Arial"/>
              </a:defRPr>
            </a:pPr>
            <a:r>
              <a:rPr sz="2325" b="1">
                <a:solidFill>
                  <a:srgbClr val="087F8C"/>
                </a:solidFill>
                <a:latin typeface="Arial"/>
                <a:ea typeface="Arial"/>
                <a:cs typeface="Arial"/>
              </a:rPr>
              <a:t>tasks/main.yml</a:t>
            </a:r>
          </a:p>
        </p:txBody>
      </p:sp>
      <p:sp>
        <p:nvSpPr>
          <p:cNvPr id="7" name="Instalación y publicación del sitio">
            <a:extLst xmlns:a="http://schemas.openxmlformats.org/drawingml/2006/main">
              <a:ext uri="{FF2B5EF4-FFF2-40B4-BE49-F238E27FC236}">
                <a16:creationId xmlns:a16="http://schemas.microsoft.com/office/drawing/2014/main" id="{03FC463D-B1B9-45A7-9D37-6F17FF8C23B5}"/>
              </a:ext>
            </a:extLst>
          </p:cNvPr>
          <p:cNvSpPr>
            <a:spLocks xmlns:a="http://schemas.openxmlformats.org/drawingml/2006/main" noGrp="1"/>
          </p:cNvSpPr>
          <p:nvPr/>
        </p:nvSpPr>
        <p:spPr>
          <a:xfrm xmlns:a="http://schemas.openxmlformats.org/drawingml/2006/main">
            <a:off x="5810250" y="3438525"/>
            <a:ext cx="8429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0">
                <a:solidFill>
                  <a:srgbClr val="26384B"/>
                </a:solidFill>
                <a:latin typeface="Arial"/>
                <a:ea typeface="Arial"/>
                <a:cs typeface="Arial"/>
              </a:defRPr>
            </a:defPPr>
          </a:lstStyle>
          <a:p xmlns:a="http://schemas.openxmlformats.org/drawingml/2006/main">
            <a:pPr>
              <a:defRPr sz="2475" b="0">
                <a:solidFill>
                  <a:srgbClr val="26384B"/>
                </a:solidFill>
                <a:latin typeface="Arial"/>
                <a:ea typeface="Arial"/>
                <a:cs typeface="Arial"/>
              </a:defRPr>
            </a:pPr>
            <a:r>
              <a:rPr sz="2475" b="0">
                <a:solidFill>
                  <a:srgbClr val="26384B"/>
                </a:solidFill>
                <a:latin typeface="Arial"/>
                <a:ea typeface="Arial"/>
                <a:cs typeface="Arial"/>
              </a:rPr>
              <a:t>Instalación y publicación del sitio</a:t>
            </a:r>
          </a:p>
        </p:txBody>
      </p:sp>
      <p:sp>
        <p:nvSpPr>
          <p:cNvPr id="8" name="templates/site.conf.j2">
            <a:extLst xmlns:a="http://schemas.openxmlformats.org/drawingml/2006/main">
              <a:ext uri="{FF2B5EF4-FFF2-40B4-BE49-F238E27FC236}">
                <a16:creationId xmlns:a16="http://schemas.microsoft.com/office/drawing/2014/main" id="{7D3FABC0-668B-448D-94C1-20BE60712C0F}"/>
              </a:ext>
            </a:extLst>
          </p:cNvPr>
          <p:cNvSpPr>
            <a:spLocks xmlns:a="http://schemas.openxmlformats.org/drawingml/2006/main" noGrp="1"/>
          </p:cNvSpPr>
          <p:nvPr/>
        </p:nvSpPr>
        <p:spPr>
          <a:xfrm xmlns:a="http://schemas.openxmlformats.org/drawingml/2006/main">
            <a:off x="952500" y="4543425"/>
            <a:ext cx="4381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87F8C"/>
                </a:solidFill>
                <a:latin typeface="Arial"/>
                <a:ea typeface="Arial"/>
                <a:cs typeface="Arial"/>
              </a:defRPr>
            </a:defPPr>
          </a:lstStyle>
          <a:p xmlns:a="http://schemas.openxmlformats.org/drawingml/2006/main">
            <a:pPr>
              <a:defRPr sz="2325" b="1">
                <a:solidFill>
                  <a:srgbClr val="087F8C"/>
                </a:solidFill>
                <a:latin typeface="Arial"/>
                <a:ea typeface="Arial"/>
                <a:cs typeface="Arial"/>
              </a:defRPr>
            </a:pPr>
            <a:r>
              <a:rPr sz="2325" b="1">
                <a:solidFill>
                  <a:srgbClr val="087F8C"/>
                </a:solidFill>
                <a:latin typeface="Arial"/>
                <a:ea typeface="Arial"/>
                <a:cs typeface="Arial"/>
              </a:rPr>
              <a:t>templates/site.conf.j2</a:t>
            </a:r>
          </a:p>
        </p:txBody>
      </p:sp>
      <p:sp>
        <p:nvSpPr>
          <p:cNvPr id="9" name="Configuración de Nginx con variables">
            <a:extLst xmlns:a="http://schemas.openxmlformats.org/drawingml/2006/main">
              <a:ext uri="{FF2B5EF4-FFF2-40B4-BE49-F238E27FC236}">
                <a16:creationId xmlns:a16="http://schemas.microsoft.com/office/drawing/2014/main" id="{F172D204-D3DC-46BB-B5F4-9CBA976ED198}"/>
              </a:ext>
            </a:extLst>
          </p:cNvPr>
          <p:cNvSpPr>
            <a:spLocks xmlns:a="http://schemas.openxmlformats.org/drawingml/2006/main" noGrp="1"/>
          </p:cNvSpPr>
          <p:nvPr/>
        </p:nvSpPr>
        <p:spPr>
          <a:xfrm xmlns:a="http://schemas.openxmlformats.org/drawingml/2006/main">
            <a:off x="5810250" y="4543425"/>
            <a:ext cx="8429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0">
                <a:solidFill>
                  <a:srgbClr val="26384B"/>
                </a:solidFill>
                <a:latin typeface="Arial"/>
                <a:ea typeface="Arial"/>
                <a:cs typeface="Arial"/>
              </a:defRPr>
            </a:defPPr>
          </a:lstStyle>
          <a:p xmlns:a="http://schemas.openxmlformats.org/drawingml/2006/main">
            <a:pPr>
              <a:defRPr sz="2475" b="0">
                <a:solidFill>
                  <a:srgbClr val="26384B"/>
                </a:solidFill>
                <a:latin typeface="Arial"/>
                <a:ea typeface="Arial"/>
                <a:cs typeface="Arial"/>
              </a:defRPr>
            </a:pPr>
            <a:r>
              <a:rPr sz="2475" b="0">
                <a:solidFill>
                  <a:srgbClr val="26384B"/>
                </a:solidFill>
                <a:latin typeface="Arial"/>
                <a:ea typeface="Arial"/>
                <a:cs typeface="Arial"/>
              </a:rPr>
              <a:t>Configuración de Nginx con variables</a:t>
            </a:r>
          </a:p>
        </p:txBody>
      </p:sp>
      <p:sp>
        <p:nvSpPr>
          <p:cNvPr id="10" name="handlers/main.yml">
            <a:extLst xmlns:a="http://schemas.openxmlformats.org/drawingml/2006/main">
              <a:ext uri="{FF2B5EF4-FFF2-40B4-BE49-F238E27FC236}">
                <a16:creationId xmlns:a16="http://schemas.microsoft.com/office/drawing/2014/main" id="{79584BC1-2627-49BE-B14E-03CE65AE3301}"/>
              </a:ext>
            </a:extLst>
          </p:cNvPr>
          <p:cNvSpPr>
            <a:spLocks xmlns:a="http://schemas.openxmlformats.org/drawingml/2006/main" noGrp="1"/>
          </p:cNvSpPr>
          <p:nvPr/>
        </p:nvSpPr>
        <p:spPr>
          <a:xfrm xmlns:a="http://schemas.openxmlformats.org/drawingml/2006/main">
            <a:off x="952500" y="5648325"/>
            <a:ext cx="4381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87F8C"/>
                </a:solidFill>
                <a:latin typeface="Arial"/>
                <a:ea typeface="Arial"/>
                <a:cs typeface="Arial"/>
              </a:defRPr>
            </a:defPPr>
          </a:lstStyle>
          <a:p xmlns:a="http://schemas.openxmlformats.org/drawingml/2006/main">
            <a:pPr>
              <a:defRPr sz="2325" b="1">
                <a:solidFill>
                  <a:srgbClr val="087F8C"/>
                </a:solidFill>
                <a:latin typeface="Arial"/>
                <a:ea typeface="Arial"/>
                <a:cs typeface="Arial"/>
              </a:defRPr>
            </a:pPr>
            <a:r>
              <a:rPr sz="2325" b="1">
                <a:solidFill>
                  <a:srgbClr val="087F8C"/>
                </a:solidFill>
                <a:latin typeface="Arial"/>
                <a:ea typeface="Arial"/>
                <a:cs typeface="Arial"/>
              </a:rPr>
              <a:t>handlers/main.yml</a:t>
            </a:r>
          </a:p>
        </p:txBody>
      </p:sp>
      <p:sp>
        <p:nvSpPr>
          <p:cNvPr id="11" name="Recarga de Nginx cuando se notifica">
            <a:extLst xmlns:a="http://schemas.openxmlformats.org/drawingml/2006/main">
              <a:ext uri="{FF2B5EF4-FFF2-40B4-BE49-F238E27FC236}">
                <a16:creationId xmlns:a16="http://schemas.microsoft.com/office/drawing/2014/main" id="{10793AE5-428B-4BA1-8BCE-03FEDEA737CF}"/>
              </a:ext>
            </a:extLst>
          </p:cNvPr>
          <p:cNvSpPr>
            <a:spLocks xmlns:a="http://schemas.openxmlformats.org/drawingml/2006/main" noGrp="1"/>
          </p:cNvSpPr>
          <p:nvPr/>
        </p:nvSpPr>
        <p:spPr>
          <a:xfrm xmlns:a="http://schemas.openxmlformats.org/drawingml/2006/main">
            <a:off x="5810250" y="5648325"/>
            <a:ext cx="8429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0">
                <a:solidFill>
                  <a:srgbClr val="26384B"/>
                </a:solidFill>
                <a:latin typeface="Arial"/>
                <a:ea typeface="Arial"/>
                <a:cs typeface="Arial"/>
              </a:defRPr>
            </a:defPPr>
          </a:lstStyle>
          <a:p xmlns:a="http://schemas.openxmlformats.org/drawingml/2006/main">
            <a:pPr>
              <a:defRPr sz="2475" b="0">
                <a:solidFill>
                  <a:srgbClr val="26384B"/>
                </a:solidFill>
                <a:latin typeface="Arial"/>
                <a:ea typeface="Arial"/>
                <a:cs typeface="Arial"/>
              </a:defRPr>
            </a:pPr>
            <a:r>
              <a:rPr sz="2475" b="0">
                <a:solidFill>
                  <a:srgbClr val="26384B"/>
                </a:solidFill>
                <a:latin typeface="Arial"/>
                <a:ea typeface="Arial"/>
                <a:cs typeface="Arial"/>
              </a:rPr>
              <a:t>Recarga de Nginx cuando se notifica</a:t>
            </a:r>
          </a:p>
        </p:txBody>
      </p:sp>
      <p:sp>
        <p:nvSpPr>
          <p:cNvPr id="12" name="El playbook plano sirve como contraste: funciona, pero mezcla las">
            <a:extLst xmlns:a="http://schemas.openxmlformats.org/drawingml/2006/main">
              <a:ext uri="{FF2B5EF4-FFF2-40B4-BE49-F238E27FC236}">
                <a16:creationId xmlns:a16="http://schemas.microsoft.com/office/drawing/2014/main" id="{432FEE55-3331-4CC7-97D5-450931D70ACE}"/>
              </a:ext>
            </a:extLst>
          </p:cNvPr>
          <p:cNvSpPr>
            <a:spLocks xmlns:a="http://schemas.openxmlformats.org/drawingml/2006/main" noGrp="1"/>
          </p:cNvSpPr>
          <p:nvPr/>
        </p:nvSpPr>
        <p:spPr>
          <a:xfrm xmlns:a="http://schemas.openxmlformats.org/drawingml/2006/main">
            <a:off x="952500" y="7629525"/>
            <a:ext cx="13335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3677C"/>
                </a:solidFill>
                <a:latin typeface="Arial"/>
                <a:ea typeface="Arial"/>
                <a:cs typeface="Arial"/>
              </a:defRPr>
            </a:defPPr>
          </a:lstStyle>
          <a:p xmlns:a="http://schemas.openxmlformats.org/drawingml/2006/main">
            <a:pPr>
              <a:defRPr sz="1800" b="0">
                <a:solidFill>
                  <a:srgbClr val="53677C"/>
                </a:solidFill>
                <a:latin typeface="Arial"/>
                <a:ea typeface="Arial"/>
                <a:cs typeface="Arial"/>
              </a:defRPr>
            </a:pPr>
            <a:r>
              <a:rPr sz="1800" b="0">
                <a:solidFill>
                  <a:srgbClr val="53677C"/>
                </a:solidFill>
                <a:latin typeface="Arial"/>
                <a:ea typeface="Arial"/>
                <a:cs typeface="Arial"/>
              </a:rPr>
              <a:t>El playbook plano sirve como contraste: funciona, pero mezcla las tareas.</a:t>
            </a:r>
          </a:p>
        </p:txBody>
      </p:sp>
    </p:spTree>
    <p:extLst>
      <p:ext uri="{BB962C8B-B14F-4D97-AF65-F5344CB8AC3E}">
        <p14:creationId xmlns:p14="http://schemas.microsoft.com/office/powerpoint/2010/main" val="1984435925"/>
      </p:ext>
    </p:extLst>
  </p:cSld>
</p:sld>
</file>

<file path=ppt/slides/slide2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9" name="ANSIBLE">
            <a:extLst xmlns:a="http://schemas.openxmlformats.org/drawingml/2006/main">
              <a:ext uri="{FF2B5EF4-FFF2-40B4-BE49-F238E27FC236}">
                <a16:creationId xmlns:a16="http://schemas.microsoft.com/office/drawing/2014/main" id="{800229FF-778D-40CF-B83B-34B00758A673}"/>
              </a:ext>
            </a:extLst>
          </p:cNvPr>
          <p:cNvSpPr>
            <a:spLocks xmlns:a="http://schemas.openxmlformats.org/drawingml/2006/main" noGrp="1"/>
          </p:cNvSpPr>
          <p:nvPr/>
        </p:nvSpPr>
        <p:spPr>
          <a:xfrm xmlns:a="http://schemas.openxmlformats.org/drawingml/2006/main">
            <a:off x="914400" y="542925"/>
            <a:ext cx="1238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087F8C"/>
                </a:solidFill>
                <a:latin typeface="Arial"/>
                <a:ea typeface="Arial"/>
                <a:cs typeface="Arial"/>
              </a:defRPr>
            </a:defPPr>
          </a:lstStyle>
          <a:p xmlns:a="http://schemas.openxmlformats.org/drawingml/2006/main">
            <a:pPr>
              <a:defRPr sz="1575" b="1">
                <a:solidFill>
                  <a:srgbClr val="087F8C"/>
                </a:solidFill>
                <a:latin typeface="Arial"/>
                <a:ea typeface="Arial"/>
                <a:cs typeface="Arial"/>
              </a:defRPr>
            </a:pPr>
            <a:r>
              <a:rPr sz="1575" b="1">
                <a:solidFill>
                  <a:srgbClr val="087F8C"/>
                </a:solidFill>
                <a:latin typeface="Arial"/>
                <a:ea typeface="Arial"/>
                <a:cs typeface="Arial"/>
              </a:rPr>
              <a:t>ANSIBLE</a:t>
            </a:r>
          </a:p>
        </p:txBody>
      </p:sp>
      <p:sp>
        <p:nvSpPr>
          <p:cNvPr id="2" name="27 / 34">
            <a:extLst xmlns:a="http://schemas.openxmlformats.org/drawingml/2006/main">
              <a:ext uri="{FF2B5EF4-FFF2-40B4-BE49-F238E27FC236}">
                <a16:creationId xmlns:a16="http://schemas.microsoft.com/office/drawing/2014/main" id="{50D24257-D0EF-4804-AEF8-32C0DF52E2E6}"/>
              </a:ext>
            </a:extLst>
          </p:cNvPr>
          <p:cNvSpPr>
            <a:spLocks xmlns:a="http://schemas.openxmlformats.org/drawingml/2006/main" noGrp="1"/>
          </p:cNvSpPr>
          <p:nvPr/>
        </p:nvSpPr>
        <p:spPr>
          <a:xfrm xmlns:a="http://schemas.openxmlformats.org/drawingml/2006/main">
            <a:off x="13192125" y="561975"/>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77C"/>
                </a:solidFill>
                <a:latin typeface="Arial"/>
                <a:ea typeface="Arial"/>
                <a:cs typeface="Arial"/>
              </a:defRPr>
            </a:defPPr>
          </a:lstStyle>
          <a:p xmlns:a="http://schemas.openxmlformats.org/drawingml/2006/main">
            <a:pPr>
              <a:defRPr sz="1500" b="0">
                <a:solidFill>
                  <a:srgbClr val="53677C"/>
                </a:solidFill>
                <a:latin typeface="Arial"/>
                <a:ea typeface="Arial"/>
                <a:cs typeface="Arial"/>
              </a:defRPr>
            </a:pPr>
            <a:r>
              <a:rPr sz="1500" b="0">
                <a:solidFill>
                  <a:srgbClr val="53677C"/>
                </a:solidFill>
                <a:latin typeface="Arial"/>
                <a:ea typeface="Arial"/>
                <a:cs typeface="Arial"/>
              </a:rPr>
              <a:t>27 / 34</a:t>
            </a:r>
          </a:p>
        </p:txBody>
      </p:sp>
      <p:sp>
        <p:nvSpPr>
          <p:cNvPr id="3" name="Variables y plantillas por ambiente">
            <a:extLst xmlns:a="http://schemas.openxmlformats.org/drawingml/2006/main">
              <a:ext uri="{FF2B5EF4-FFF2-40B4-BE49-F238E27FC236}">
                <a16:creationId xmlns:a16="http://schemas.microsoft.com/office/drawing/2014/main" id="{2FE68AB2-972C-44E3-8979-D70DBF2A53CD}"/>
              </a:ext>
            </a:extLst>
          </p:cNvPr>
          <p:cNvSpPr>
            <a:spLocks xmlns:a="http://schemas.openxmlformats.org/drawingml/2006/main" noGrp="1"/>
          </p:cNvSpPr>
          <p:nvPr/>
        </p:nvSpPr>
        <p:spPr>
          <a:xfrm xmlns:a="http://schemas.openxmlformats.org/drawingml/2006/main">
            <a:off x="914400" y="1143000"/>
            <a:ext cx="13411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132E50"/>
                </a:solidFill>
                <a:latin typeface="Arial"/>
                <a:ea typeface="Arial"/>
                <a:cs typeface="Arial"/>
              </a:defRPr>
            </a:defPPr>
          </a:lstStyle>
          <a:p xmlns:a="http://schemas.openxmlformats.org/drawingml/2006/main">
            <a:pPr>
              <a:defRPr sz="3825" b="1">
                <a:solidFill>
                  <a:srgbClr val="132E50"/>
                </a:solidFill>
                <a:latin typeface="Arial"/>
                <a:ea typeface="Arial"/>
                <a:cs typeface="Arial"/>
              </a:defRPr>
            </a:pPr>
            <a:r>
              <a:rPr sz="3825" b="1">
                <a:solidFill>
                  <a:srgbClr val="132E50"/>
                </a:solidFill>
                <a:latin typeface="Arial"/>
                <a:ea typeface="Arial"/>
                <a:cs typeface="Arial"/>
              </a:rPr>
              <a:t>Variables y plantillas por ambiente</a:t>
            </a:r>
          </a:p>
        </p:txBody>
      </p:sp>
      <p:sp>
        <p:nvSpPr>
          <p:cNvPr id="4" name="group_vars/staging.yml">
            <a:extLst xmlns:a="http://schemas.openxmlformats.org/drawingml/2006/main">
              <a:ext uri="{FF2B5EF4-FFF2-40B4-BE49-F238E27FC236}">
                <a16:creationId xmlns:a16="http://schemas.microsoft.com/office/drawing/2014/main" id="{54AA446D-13AC-49A4-ADAC-A8C5311326F0}"/>
              </a:ext>
            </a:extLst>
          </p:cNvPr>
          <p:cNvSpPr>
            <a:spLocks xmlns:a="http://schemas.openxmlformats.org/drawingml/2006/main" noGrp="1"/>
          </p:cNvSpPr>
          <p:nvPr/>
        </p:nvSpPr>
        <p:spPr>
          <a:xfrm xmlns:a="http://schemas.openxmlformats.org/drawingml/2006/main">
            <a:off x="952500" y="2524125"/>
            <a:ext cx="628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87F8C"/>
                </a:solidFill>
                <a:latin typeface="Arial"/>
                <a:ea typeface="Arial"/>
                <a:cs typeface="Arial"/>
              </a:defRPr>
            </a:defPPr>
          </a:lstStyle>
          <a:p xmlns:a="http://schemas.openxmlformats.org/drawingml/2006/main">
            <a:pPr>
              <a:defRPr sz="2250" b="1">
                <a:solidFill>
                  <a:srgbClr val="087F8C"/>
                </a:solidFill>
                <a:latin typeface="Arial"/>
                <a:ea typeface="Arial"/>
                <a:cs typeface="Arial"/>
              </a:defRPr>
            </a:pPr>
            <a:r>
              <a:rPr sz="2250" b="1">
                <a:solidFill>
                  <a:srgbClr val="087F8C"/>
                </a:solidFill>
                <a:latin typeface="Arial"/>
                <a:ea typeface="Arial"/>
                <a:cs typeface="Arial"/>
              </a:rPr>
              <a:t>group_vars/staging.yml</a:t>
            </a:r>
          </a:p>
        </p:txBody>
      </p:sp>
      <p:sp>
        <p:nvSpPr>
          <p:cNvPr id="5" name="ambiente: staging&#10;web_version: v2">
            <a:extLst xmlns:a="http://schemas.openxmlformats.org/drawingml/2006/main">
              <a:ext uri="{FF2B5EF4-FFF2-40B4-BE49-F238E27FC236}">
                <a16:creationId xmlns:a16="http://schemas.microsoft.com/office/drawing/2014/main" id="{88289691-0B22-4C2D-BC67-94A8F9B7D8EB}"/>
              </a:ext>
            </a:extLst>
          </p:cNvPr>
          <p:cNvSpPr>
            <a:spLocks xmlns:a="http://schemas.openxmlformats.org/drawingml/2006/main" noGrp="1"/>
          </p:cNvSpPr>
          <p:nvPr/>
        </p:nvSpPr>
        <p:spPr>
          <a:xfrm xmlns:a="http://schemas.openxmlformats.org/drawingml/2006/main">
            <a:off x="952500" y="3571875"/>
            <a:ext cx="62865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0">
                <a:solidFill>
                  <a:srgbClr val="26384B"/>
                </a:solidFill>
                <a:latin typeface="Courier New"/>
                <a:ea typeface="Courier New"/>
                <a:cs typeface="Courier New"/>
              </a:defRPr>
            </a:defPPr>
          </a:lstStyle>
          <a:p xmlns:a="http://schemas.openxmlformats.org/drawingml/2006/main">
            <a:pPr>
              <a:defRPr sz="2700" b="0">
                <a:solidFill>
                  <a:srgbClr val="26384B"/>
                </a:solidFill>
                <a:latin typeface="Courier New"/>
                <a:ea typeface="Courier New"/>
                <a:cs typeface="Courier New"/>
              </a:defRPr>
            </a:pPr>
            <a:r>
              <a:rPr sz="2700" b="0">
                <a:solidFill>
                  <a:srgbClr val="26384B"/>
                </a:solidFill>
                <a:latin typeface="Courier New"/>
                <a:ea typeface="Courier New"/>
                <a:cs typeface="Courier New"/>
              </a:rPr>
              <a:t>ambiente: staging</a:t>
            </a:r>
          </a:p>
          <a:p xmlns:a="http://schemas.openxmlformats.org/drawingml/2006/main">
            <a:pPr>
              <a:defRPr sz="2700" b="0">
                <a:solidFill>
                  <a:srgbClr val="26384B"/>
                </a:solidFill>
                <a:latin typeface="Courier New"/>
                <a:ea typeface="Courier New"/>
                <a:cs typeface="Courier New"/>
              </a:defRPr>
            </a:pPr>
            <a:r>
              <a:rPr sz="2700" b="0">
                <a:solidFill>
                  <a:srgbClr val="26384B"/>
                </a:solidFill>
                <a:latin typeface="Courier New"/>
                <a:ea typeface="Courier New"/>
                <a:cs typeface="Courier New"/>
              </a:rPr>
              <a:t>web_version: v2</a:t>
            </a:r>
          </a:p>
        </p:txBody>
      </p:sp>
      <p:sp>
        <p:nvSpPr>
          <p:cNvPr id="6" name="group_vars/prod.yml">
            <a:extLst xmlns:a="http://schemas.openxmlformats.org/drawingml/2006/main">
              <a:ext uri="{FF2B5EF4-FFF2-40B4-BE49-F238E27FC236}">
                <a16:creationId xmlns:a16="http://schemas.microsoft.com/office/drawing/2014/main" id="{1ADD1F44-592E-46E9-9855-A2088F4BF524}"/>
              </a:ext>
            </a:extLst>
          </p:cNvPr>
          <p:cNvSpPr>
            <a:spLocks xmlns:a="http://schemas.openxmlformats.org/drawingml/2006/main" noGrp="1"/>
          </p:cNvSpPr>
          <p:nvPr/>
        </p:nvSpPr>
        <p:spPr>
          <a:xfrm xmlns:a="http://schemas.openxmlformats.org/drawingml/2006/main">
            <a:off x="8001000" y="2524125"/>
            <a:ext cx="628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87F8C"/>
                </a:solidFill>
                <a:latin typeface="Arial"/>
                <a:ea typeface="Arial"/>
                <a:cs typeface="Arial"/>
              </a:defRPr>
            </a:defPPr>
          </a:lstStyle>
          <a:p xmlns:a="http://schemas.openxmlformats.org/drawingml/2006/main">
            <a:pPr>
              <a:defRPr sz="2250" b="1">
                <a:solidFill>
                  <a:srgbClr val="087F8C"/>
                </a:solidFill>
                <a:latin typeface="Arial"/>
                <a:ea typeface="Arial"/>
                <a:cs typeface="Arial"/>
              </a:defRPr>
            </a:pPr>
            <a:r>
              <a:rPr sz="2250" b="1">
                <a:solidFill>
                  <a:srgbClr val="087F8C"/>
                </a:solidFill>
                <a:latin typeface="Arial"/>
                <a:ea typeface="Arial"/>
                <a:cs typeface="Arial"/>
              </a:rPr>
              <a:t>group_vars/prod.yml</a:t>
            </a:r>
          </a:p>
        </p:txBody>
      </p:sp>
      <p:sp>
        <p:nvSpPr>
          <p:cNvPr id="7" name="ambiente: prod&#10;web_version: v1">
            <a:extLst xmlns:a="http://schemas.openxmlformats.org/drawingml/2006/main">
              <a:ext uri="{FF2B5EF4-FFF2-40B4-BE49-F238E27FC236}">
                <a16:creationId xmlns:a16="http://schemas.microsoft.com/office/drawing/2014/main" id="{F66B5A56-F24E-4F0A-AECA-982BFF0FE395}"/>
              </a:ext>
            </a:extLst>
          </p:cNvPr>
          <p:cNvSpPr>
            <a:spLocks xmlns:a="http://schemas.openxmlformats.org/drawingml/2006/main" noGrp="1"/>
          </p:cNvSpPr>
          <p:nvPr/>
        </p:nvSpPr>
        <p:spPr>
          <a:xfrm xmlns:a="http://schemas.openxmlformats.org/drawingml/2006/main">
            <a:off x="8001000" y="3571875"/>
            <a:ext cx="62865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0">
                <a:solidFill>
                  <a:srgbClr val="26384B"/>
                </a:solidFill>
                <a:latin typeface="Courier New"/>
                <a:ea typeface="Courier New"/>
                <a:cs typeface="Courier New"/>
              </a:defRPr>
            </a:defPPr>
          </a:lstStyle>
          <a:p xmlns:a="http://schemas.openxmlformats.org/drawingml/2006/main">
            <a:pPr>
              <a:defRPr sz="2700" b="0">
                <a:solidFill>
                  <a:srgbClr val="26384B"/>
                </a:solidFill>
                <a:latin typeface="Courier New"/>
                <a:ea typeface="Courier New"/>
                <a:cs typeface="Courier New"/>
              </a:defRPr>
            </a:pPr>
            <a:r>
              <a:rPr sz="2700" b="0">
                <a:solidFill>
                  <a:srgbClr val="26384B"/>
                </a:solidFill>
                <a:latin typeface="Courier New"/>
                <a:ea typeface="Courier New"/>
                <a:cs typeface="Courier New"/>
              </a:rPr>
              <a:t>ambiente: prod</a:t>
            </a:r>
          </a:p>
          <a:p xmlns:a="http://schemas.openxmlformats.org/drawingml/2006/main">
            <a:pPr>
              <a:defRPr sz="2700" b="0">
                <a:solidFill>
                  <a:srgbClr val="26384B"/>
                </a:solidFill>
                <a:latin typeface="Courier New"/>
                <a:ea typeface="Courier New"/>
                <a:cs typeface="Courier New"/>
              </a:defRPr>
            </a:pPr>
            <a:r>
              <a:rPr sz="2700" b="0">
                <a:solidFill>
                  <a:srgbClr val="26384B"/>
                </a:solidFill>
                <a:latin typeface="Courier New"/>
                <a:ea typeface="Courier New"/>
                <a:cs typeface="Courier New"/>
              </a:rPr>
              <a:t>web_version: v1</a:t>
            </a:r>
          </a:p>
        </p:txBody>
      </p:sp>
      <p:sp>
        <p:nvSpPr>
          <p:cNvPr id="8" name="La plantilla usa ambiente y web_version en los encabezados de Ngi">
            <a:extLst xmlns:a="http://schemas.openxmlformats.org/drawingml/2006/main">
              <a:ext uri="{FF2B5EF4-FFF2-40B4-BE49-F238E27FC236}">
                <a16:creationId xmlns:a16="http://schemas.microsoft.com/office/drawing/2014/main" id="{71ED14BE-EDB3-4AF9-B032-B058C393C896}"/>
              </a:ext>
            </a:extLst>
          </p:cNvPr>
          <p:cNvSpPr>
            <a:spLocks xmlns:a="http://schemas.openxmlformats.org/drawingml/2006/main" noGrp="1"/>
          </p:cNvSpPr>
          <p:nvPr/>
        </p:nvSpPr>
        <p:spPr>
          <a:xfrm xmlns:a="http://schemas.openxmlformats.org/drawingml/2006/main">
            <a:off x="952500" y="7629525"/>
            <a:ext cx="13335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3677C"/>
                </a:solidFill>
                <a:latin typeface="Arial"/>
                <a:ea typeface="Arial"/>
                <a:cs typeface="Arial"/>
              </a:defRPr>
            </a:defPPr>
          </a:lstStyle>
          <a:p xmlns:a="http://schemas.openxmlformats.org/drawingml/2006/main">
            <a:pPr>
              <a:defRPr sz="1800" b="0">
                <a:solidFill>
                  <a:srgbClr val="53677C"/>
                </a:solidFill>
                <a:latin typeface="Arial"/>
                <a:ea typeface="Arial"/>
                <a:cs typeface="Arial"/>
              </a:defRPr>
            </a:pPr>
            <a:r>
              <a:rPr sz="1800" b="0">
                <a:solidFill>
                  <a:srgbClr val="53677C"/>
                </a:solidFill>
                <a:latin typeface="Arial"/>
                <a:ea typeface="Arial"/>
                <a:cs typeface="Arial"/>
              </a:rPr>
              <a:t>La plantilla usa ambiente y web_version en los encabezados de Nginx.</a:t>
            </a:r>
          </a:p>
        </p:txBody>
      </p:sp>
    </p:spTree>
    <p:extLst>
      <p:ext uri="{BB962C8B-B14F-4D97-AF65-F5344CB8AC3E}">
        <p14:creationId xmlns:p14="http://schemas.microsoft.com/office/powerpoint/2010/main" val="197905822"/>
      </p:ext>
    </p:extLst>
  </p:cSld>
</p:sld>
</file>

<file path=ppt/slides/slide2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9" name="ANSIBLE">
            <a:extLst xmlns:a="http://schemas.openxmlformats.org/drawingml/2006/main">
              <a:ext uri="{FF2B5EF4-FFF2-40B4-BE49-F238E27FC236}">
                <a16:creationId xmlns:a16="http://schemas.microsoft.com/office/drawing/2014/main" id="{3F4FE7CA-1123-4BD7-AA98-A687F71B1147}"/>
              </a:ext>
            </a:extLst>
          </p:cNvPr>
          <p:cNvSpPr>
            <a:spLocks xmlns:a="http://schemas.openxmlformats.org/drawingml/2006/main" noGrp="1"/>
          </p:cNvSpPr>
          <p:nvPr/>
        </p:nvSpPr>
        <p:spPr>
          <a:xfrm xmlns:a="http://schemas.openxmlformats.org/drawingml/2006/main">
            <a:off x="914400" y="542925"/>
            <a:ext cx="1238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087F8C"/>
                </a:solidFill>
                <a:latin typeface="Arial"/>
                <a:ea typeface="Arial"/>
                <a:cs typeface="Arial"/>
              </a:defRPr>
            </a:defPPr>
          </a:lstStyle>
          <a:p xmlns:a="http://schemas.openxmlformats.org/drawingml/2006/main">
            <a:pPr>
              <a:defRPr sz="1575" b="1">
                <a:solidFill>
                  <a:srgbClr val="087F8C"/>
                </a:solidFill>
                <a:latin typeface="Arial"/>
                <a:ea typeface="Arial"/>
                <a:cs typeface="Arial"/>
              </a:defRPr>
            </a:pPr>
            <a:r>
              <a:rPr sz="1575" b="1">
                <a:solidFill>
                  <a:srgbClr val="087F8C"/>
                </a:solidFill>
                <a:latin typeface="Arial"/>
                <a:ea typeface="Arial"/>
                <a:cs typeface="Arial"/>
              </a:rPr>
              <a:t>ANSIBLE</a:t>
            </a:r>
          </a:p>
        </p:txBody>
      </p:sp>
      <p:sp>
        <p:nvSpPr>
          <p:cNvPr id="2" name="28 / 34">
            <a:extLst xmlns:a="http://schemas.openxmlformats.org/drawingml/2006/main">
              <a:ext uri="{FF2B5EF4-FFF2-40B4-BE49-F238E27FC236}">
                <a16:creationId xmlns:a16="http://schemas.microsoft.com/office/drawing/2014/main" id="{FD56BEA3-A55D-4743-8687-7895DB446924}"/>
              </a:ext>
            </a:extLst>
          </p:cNvPr>
          <p:cNvSpPr>
            <a:spLocks xmlns:a="http://schemas.openxmlformats.org/drawingml/2006/main" noGrp="1"/>
          </p:cNvSpPr>
          <p:nvPr/>
        </p:nvSpPr>
        <p:spPr>
          <a:xfrm xmlns:a="http://schemas.openxmlformats.org/drawingml/2006/main">
            <a:off x="13192125" y="561975"/>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77C"/>
                </a:solidFill>
                <a:latin typeface="Arial"/>
                <a:ea typeface="Arial"/>
                <a:cs typeface="Arial"/>
              </a:defRPr>
            </a:defPPr>
          </a:lstStyle>
          <a:p xmlns:a="http://schemas.openxmlformats.org/drawingml/2006/main">
            <a:pPr>
              <a:defRPr sz="1500" b="0">
                <a:solidFill>
                  <a:srgbClr val="53677C"/>
                </a:solidFill>
                <a:latin typeface="Arial"/>
                <a:ea typeface="Arial"/>
                <a:cs typeface="Arial"/>
              </a:defRPr>
            </a:pPr>
            <a:r>
              <a:rPr sz="1500" b="0">
                <a:solidFill>
                  <a:srgbClr val="53677C"/>
                </a:solidFill>
                <a:latin typeface="Arial"/>
                <a:ea typeface="Arial"/>
                <a:cs typeface="Arial"/>
              </a:rPr>
              <a:t>28 / 34</a:t>
            </a:r>
          </a:p>
        </p:txBody>
      </p:sp>
      <p:sp>
        <p:nvSpPr>
          <p:cNvPr id="3" name="La plantilla activa el handler">
            <a:extLst xmlns:a="http://schemas.openxmlformats.org/drawingml/2006/main">
              <a:ext uri="{FF2B5EF4-FFF2-40B4-BE49-F238E27FC236}">
                <a16:creationId xmlns:a16="http://schemas.microsoft.com/office/drawing/2014/main" id="{D4819FB7-92D7-4DD6-BCE8-E143D15C7CC5}"/>
              </a:ext>
            </a:extLst>
          </p:cNvPr>
          <p:cNvSpPr>
            <a:spLocks xmlns:a="http://schemas.openxmlformats.org/drawingml/2006/main" noGrp="1"/>
          </p:cNvSpPr>
          <p:nvPr/>
        </p:nvSpPr>
        <p:spPr>
          <a:xfrm xmlns:a="http://schemas.openxmlformats.org/drawingml/2006/main">
            <a:off x="914400" y="1143000"/>
            <a:ext cx="13411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132E50"/>
                </a:solidFill>
                <a:latin typeface="Arial"/>
                <a:ea typeface="Arial"/>
                <a:cs typeface="Arial"/>
              </a:defRPr>
            </a:defPPr>
          </a:lstStyle>
          <a:p xmlns:a="http://schemas.openxmlformats.org/drawingml/2006/main">
            <a:pPr>
              <a:defRPr sz="3825" b="1">
                <a:solidFill>
                  <a:srgbClr val="132E50"/>
                </a:solidFill>
                <a:latin typeface="Arial"/>
                <a:ea typeface="Arial"/>
                <a:cs typeface="Arial"/>
              </a:defRPr>
            </a:pPr>
            <a:r>
              <a:rPr sz="3825" b="1">
                <a:solidFill>
                  <a:srgbClr val="132E50"/>
                </a:solidFill>
                <a:latin typeface="Arial"/>
                <a:ea typeface="Arial"/>
                <a:cs typeface="Arial"/>
              </a:rPr>
              <a:t>La plantilla activa el handler</a:t>
            </a:r>
          </a:p>
        </p:txBody>
      </p:sp>
      <p:sp>
        <p:nvSpPr>
          <p:cNvPr id="4" name="- name: Configurar sitio de nginx&#10;  ansible.builtin.template:&#10;   ">
            <a:extLst xmlns:a="http://schemas.openxmlformats.org/drawingml/2006/main">
              <a:ext uri="{FF2B5EF4-FFF2-40B4-BE49-F238E27FC236}">
                <a16:creationId xmlns:a16="http://schemas.microsoft.com/office/drawing/2014/main" id="{293A3643-A2B7-4627-BDF6-18A0BF736171}"/>
              </a:ext>
            </a:extLst>
          </p:cNvPr>
          <p:cNvSpPr>
            <a:spLocks xmlns:a="http://schemas.openxmlformats.org/drawingml/2006/main" noGrp="1"/>
          </p:cNvSpPr>
          <p:nvPr/>
        </p:nvSpPr>
        <p:spPr>
          <a:xfrm xmlns:a="http://schemas.openxmlformats.org/drawingml/2006/main">
            <a:off x="952500" y="2381250"/>
            <a:ext cx="8858250" cy="457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32E50"/>
                </a:solidFill>
                <a:latin typeface="Courier New"/>
                <a:ea typeface="Courier New"/>
                <a:cs typeface="Courier New"/>
              </a:defRPr>
            </a:defPPr>
          </a:lstStyle>
          <a:p xmlns:a="http://schemas.openxmlformats.org/drawingml/2006/main">
            <a:pPr>
              <a:defRPr sz="2025" b="0">
                <a:solidFill>
                  <a:srgbClr val="132E50"/>
                </a:solidFill>
                <a:latin typeface="Courier New"/>
                <a:ea typeface="Courier New"/>
                <a:cs typeface="Courier New"/>
              </a:defRPr>
            </a:pPr>
            <a:r>
              <a:rPr sz="2025" b="0">
                <a:solidFill>
                  <a:srgbClr val="132E50"/>
                </a:solidFill>
                <a:latin typeface="Courier New"/>
                <a:ea typeface="Courier New"/>
                <a:cs typeface="Courier New"/>
              </a:rPr>
              <a:t>- name: Configurar sitio de nginx</a:t>
            </a:r>
          </a:p>
          <a:p xmlns:a="http://schemas.openxmlformats.org/drawingml/2006/main">
            <a:pPr>
              <a:defRPr sz="2025" b="0">
                <a:solidFill>
                  <a:srgbClr val="132E50"/>
                </a:solidFill>
                <a:latin typeface="Courier New"/>
                <a:ea typeface="Courier New"/>
                <a:cs typeface="Courier New"/>
              </a:defRPr>
            </a:pPr>
            <a:r>
              <a:rPr sz="2025" b="0">
                <a:solidFill>
                  <a:srgbClr val="132E50"/>
                </a:solidFill>
                <a:latin typeface="Courier New"/>
                <a:ea typeface="Courier New"/>
                <a:cs typeface="Courier New"/>
              </a:rPr>
              <a:t>  ansible.builtin.template:</a:t>
            </a:r>
          </a:p>
          <a:p xmlns:a="http://schemas.openxmlformats.org/drawingml/2006/main">
            <a:pPr>
              <a:defRPr sz="2025" b="0">
                <a:solidFill>
                  <a:srgbClr val="132E50"/>
                </a:solidFill>
                <a:latin typeface="Courier New"/>
                <a:ea typeface="Courier New"/>
                <a:cs typeface="Courier New"/>
              </a:defRPr>
            </a:pPr>
            <a:r>
              <a:rPr sz="2025" b="0">
                <a:solidFill>
                  <a:srgbClr val="132E50"/>
                </a:solidFill>
                <a:latin typeface="Courier New"/>
                <a:ea typeface="Courier New"/>
                <a:cs typeface="Courier New"/>
              </a:rPr>
              <a:t>    src: site.conf.j2</a:t>
            </a:r>
          </a:p>
          <a:p xmlns:a="http://schemas.openxmlformats.org/drawingml/2006/main">
            <a:pPr>
              <a:defRPr sz="2025" b="0">
                <a:solidFill>
                  <a:srgbClr val="132E50"/>
                </a:solidFill>
                <a:latin typeface="Courier New"/>
                <a:ea typeface="Courier New"/>
                <a:cs typeface="Courier New"/>
              </a:defRPr>
            </a:pPr>
            <a:r>
              <a:rPr sz="2025" b="0">
                <a:solidFill>
                  <a:srgbClr val="132E50"/>
                </a:solidFill>
                <a:latin typeface="Courier New"/>
                <a:ea typeface="Courier New"/>
                <a:cs typeface="Courier New"/>
              </a:rPr>
              <a:t>    dest: /etc/nginx/sites-available/default</a:t>
            </a:r>
          </a:p>
          <a:p xmlns:a="http://schemas.openxmlformats.org/drawingml/2006/main">
            <a:pPr>
              <a:defRPr sz="2025" b="0">
                <a:solidFill>
                  <a:srgbClr val="132E50"/>
                </a:solidFill>
                <a:latin typeface="Courier New"/>
                <a:ea typeface="Courier New"/>
                <a:cs typeface="Courier New"/>
              </a:defRPr>
            </a:pPr>
            <a:r>
              <a:rPr sz="2025" b="0">
                <a:solidFill>
                  <a:srgbClr val="132E50"/>
                </a:solidFill>
                <a:latin typeface="Courier New"/>
                <a:ea typeface="Courier New"/>
                <a:cs typeface="Courier New"/>
              </a:rPr>
              <a:t>    mode: "0644"</a:t>
            </a:r>
          </a:p>
          <a:p xmlns:a="http://schemas.openxmlformats.org/drawingml/2006/main">
            <a:pPr>
              <a:defRPr sz="2025" b="0">
                <a:solidFill>
                  <a:srgbClr val="132E50"/>
                </a:solidFill>
                <a:latin typeface="Courier New"/>
                <a:ea typeface="Courier New"/>
                <a:cs typeface="Courier New"/>
              </a:defRPr>
            </a:pPr>
            <a:r>
              <a:rPr sz="2025" b="0">
                <a:solidFill>
                  <a:srgbClr val="132E50"/>
                </a:solidFill>
                <a:latin typeface="Courier New"/>
                <a:ea typeface="Courier New"/>
                <a:cs typeface="Courier New"/>
              </a:rPr>
              <a:t>  notify: Recargar nginx</a:t>
            </a:r>
          </a:p>
        </p:txBody>
      </p:sp>
      <p:sp>
        <p:nvSpPr>
          <p:cNvPr id="5" name="Plantilla distinta → changed">
            <a:extLst xmlns:a="http://schemas.openxmlformats.org/drawingml/2006/main">
              <a:ext uri="{FF2B5EF4-FFF2-40B4-BE49-F238E27FC236}">
                <a16:creationId xmlns:a16="http://schemas.microsoft.com/office/drawing/2014/main" id="{EEE11919-7F96-4155-8933-155ED146AFB5}"/>
              </a:ext>
            </a:extLst>
          </p:cNvPr>
          <p:cNvSpPr>
            <a:spLocks xmlns:a="http://schemas.openxmlformats.org/drawingml/2006/main" noGrp="1"/>
          </p:cNvSpPr>
          <p:nvPr/>
        </p:nvSpPr>
        <p:spPr>
          <a:xfrm xmlns:a="http://schemas.openxmlformats.org/drawingml/2006/main">
            <a:off x="10287000" y="2571750"/>
            <a:ext cx="4000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26384B"/>
                </a:solidFill>
                <a:latin typeface="Arial"/>
                <a:ea typeface="Arial"/>
                <a:cs typeface="Arial"/>
              </a:defRPr>
            </a:defPPr>
          </a:lstStyle>
          <a:p xmlns:a="http://schemas.openxmlformats.org/drawingml/2006/main">
            <a:pPr>
              <a:defRPr sz="2325" b="0">
                <a:solidFill>
                  <a:srgbClr val="26384B"/>
                </a:solidFill>
                <a:latin typeface="Arial"/>
                <a:ea typeface="Arial"/>
                <a:cs typeface="Arial"/>
              </a:defRPr>
            </a:pPr>
            <a:r>
              <a:rPr sz="2325" b="0">
                <a:solidFill>
                  <a:srgbClr val="26384B"/>
                </a:solidFill>
                <a:latin typeface="Arial"/>
                <a:ea typeface="Arial"/>
                <a:cs typeface="Arial"/>
              </a:rPr>
              <a:t>Plantilla distinta → changed</a:t>
            </a:r>
          </a:p>
        </p:txBody>
      </p:sp>
      <p:sp>
        <p:nvSpPr>
          <p:cNvPr id="6" name="changed + notify → handler">
            <a:extLst xmlns:a="http://schemas.openxmlformats.org/drawingml/2006/main">
              <a:ext uri="{FF2B5EF4-FFF2-40B4-BE49-F238E27FC236}">
                <a16:creationId xmlns:a16="http://schemas.microsoft.com/office/drawing/2014/main" id="{251FD66E-141D-45B1-81FF-6B897D4280F9}"/>
              </a:ext>
            </a:extLst>
          </p:cNvPr>
          <p:cNvSpPr>
            <a:spLocks xmlns:a="http://schemas.openxmlformats.org/drawingml/2006/main" noGrp="1"/>
          </p:cNvSpPr>
          <p:nvPr/>
        </p:nvSpPr>
        <p:spPr>
          <a:xfrm xmlns:a="http://schemas.openxmlformats.org/drawingml/2006/main">
            <a:off x="10287000" y="4000500"/>
            <a:ext cx="4000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26384B"/>
                </a:solidFill>
                <a:latin typeface="Arial"/>
                <a:ea typeface="Arial"/>
                <a:cs typeface="Arial"/>
              </a:defRPr>
            </a:defPPr>
          </a:lstStyle>
          <a:p xmlns:a="http://schemas.openxmlformats.org/drawingml/2006/main">
            <a:pPr>
              <a:defRPr sz="2325" b="0">
                <a:solidFill>
                  <a:srgbClr val="26384B"/>
                </a:solidFill>
                <a:latin typeface="Arial"/>
                <a:ea typeface="Arial"/>
                <a:cs typeface="Arial"/>
              </a:defRPr>
            </a:pPr>
            <a:r>
              <a:rPr sz="2325" b="0">
                <a:solidFill>
                  <a:srgbClr val="26384B"/>
                </a:solidFill>
                <a:latin typeface="Arial"/>
                <a:ea typeface="Arial"/>
                <a:cs typeface="Arial"/>
              </a:rPr>
              <a:t>changed + notify → handler</a:t>
            </a:r>
          </a:p>
        </p:txBody>
      </p:sp>
      <p:sp>
        <p:nvSpPr>
          <p:cNvPr id="7" name="El nombre enlaza ambas tareas.">
            <a:extLst xmlns:a="http://schemas.openxmlformats.org/drawingml/2006/main">
              <a:ext uri="{FF2B5EF4-FFF2-40B4-BE49-F238E27FC236}">
                <a16:creationId xmlns:a16="http://schemas.microsoft.com/office/drawing/2014/main" id="{7D3B5F63-29D0-4405-B587-4DEBB861EB0D}"/>
              </a:ext>
            </a:extLst>
          </p:cNvPr>
          <p:cNvSpPr>
            <a:spLocks xmlns:a="http://schemas.openxmlformats.org/drawingml/2006/main" noGrp="1"/>
          </p:cNvSpPr>
          <p:nvPr/>
        </p:nvSpPr>
        <p:spPr>
          <a:xfrm xmlns:a="http://schemas.openxmlformats.org/drawingml/2006/main">
            <a:off x="10287000" y="5429250"/>
            <a:ext cx="4000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26384B"/>
                </a:solidFill>
                <a:latin typeface="Arial"/>
                <a:ea typeface="Arial"/>
                <a:cs typeface="Arial"/>
              </a:defRPr>
            </a:defPPr>
          </a:lstStyle>
          <a:p xmlns:a="http://schemas.openxmlformats.org/drawingml/2006/main">
            <a:pPr>
              <a:defRPr sz="2325" b="0">
                <a:solidFill>
                  <a:srgbClr val="26384B"/>
                </a:solidFill>
                <a:latin typeface="Arial"/>
                <a:ea typeface="Arial"/>
                <a:cs typeface="Arial"/>
              </a:defRPr>
            </a:pPr>
            <a:r>
              <a:rPr sz="2325" b="0">
                <a:solidFill>
                  <a:srgbClr val="26384B"/>
                </a:solidFill>
                <a:latin typeface="Arial"/>
                <a:ea typeface="Arial"/>
                <a:cs typeface="Arial"/>
              </a:rPr>
              <a:t>El nombre enlaza ambas tareas.</a:t>
            </a:r>
          </a:p>
        </p:txBody>
      </p:sp>
      <p:sp>
        <p:nvSpPr>
          <p:cNvPr id="8" name="El handler recarga el servicio nginx; varias notificaciones se ag">
            <a:extLst xmlns:a="http://schemas.openxmlformats.org/drawingml/2006/main">
              <a:ext uri="{FF2B5EF4-FFF2-40B4-BE49-F238E27FC236}">
                <a16:creationId xmlns:a16="http://schemas.microsoft.com/office/drawing/2014/main" id="{B8373751-9757-4809-BD0F-0F9854FB5D40}"/>
              </a:ext>
            </a:extLst>
          </p:cNvPr>
          <p:cNvSpPr>
            <a:spLocks xmlns:a="http://schemas.openxmlformats.org/drawingml/2006/main" noGrp="1"/>
          </p:cNvSpPr>
          <p:nvPr/>
        </p:nvSpPr>
        <p:spPr>
          <a:xfrm xmlns:a="http://schemas.openxmlformats.org/drawingml/2006/main">
            <a:off x="952500" y="7629525"/>
            <a:ext cx="13335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3677C"/>
                </a:solidFill>
                <a:latin typeface="Arial"/>
                <a:ea typeface="Arial"/>
                <a:cs typeface="Arial"/>
              </a:defRPr>
            </a:defPPr>
          </a:lstStyle>
          <a:p xmlns:a="http://schemas.openxmlformats.org/drawingml/2006/main">
            <a:pPr>
              <a:defRPr sz="1800" b="0">
                <a:solidFill>
                  <a:srgbClr val="53677C"/>
                </a:solidFill>
                <a:latin typeface="Arial"/>
                <a:ea typeface="Arial"/>
                <a:cs typeface="Arial"/>
              </a:defRPr>
            </a:pPr>
            <a:r>
              <a:rPr sz="1800" b="0">
                <a:solidFill>
                  <a:srgbClr val="53677C"/>
                </a:solidFill>
                <a:latin typeface="Arial"/>
                <a:ea typeface="Arial"/>
                <a:cs typeface="Arial"/>
              </a:rPr>
              <a:t>El handler recarga el servicio nginx; varias notificaciones se agrupan.</a:t>
            </a:r>
          </a:p>
        </p:txBody>
      </p:sp>
    </p:spTree>
    <p:extLst>
      <p:ext uri="{BB962C8B-B14F-4D97-AF65-F5344CB8AC3E}">
        <p14:creationId xmlns:p14="http://schemas.microsoft.com/office/powerpoint/2010/main" val="1168417903"/>
      </p:ext>
    </p:extLst>
  </p:cSld>
</p:sld>
</file>

<file path=ppt/slides/slide29.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9" name="ANSIBLE">
            <a:extLst xmlns:a="http://schemas.openxmlformats.org/drawingml/2006/main">
              <a:ext uri="{FF2B5EF4-FFF2-40B4-BE49-F238E27FC236}">
                <a16:creationId xmlns:a16="http://schemas.microsoft.com/office/drawing/2014/main" id="{CC2D7987-17E6-4FD8-AAB1-0522E5FC4377}"/>
              </a:ext>
            </a:extLst>
          </p:cNvPr>
          <p:cNvSpPr>
            <a:spLocks xmlns:a="http://schemas.openxmlformats.org/drawingml/2006/main" noGrp="1"/>
          </p:cNvSpPr>
          <p:nvPr/>
        </p:nvSpPr>
        <p:spPr>
          <a:xfrm xmlns:a="http://schemas.openxmlformats.org/drawingml/2006/main">
            <a:off x="914400" y="542925"/>
            <a:ext cx="1238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087F8C"/>
                </a:solidFill>
                <a:latin typeface="Arial"/>
                <a:ea typeface="Arial"/>
                <a:cs typeface="Arial"/>
              </a:defRPr>
            </a:defPPr>
          </a:lstStyle>
          <a:p xmlns:a="http://schemas.openxmlformats.org/drawingml/2006/main">
            <a:pPr>
              <a:defRPr sz="1575" b="1">
                <a:solidFill>
                  <a:srgbClr val="087F8C"/>
                </a:solidFill>
                <a:latin typeface="Arial"/>
                <a:ea typeface="Arial"/>
                <a:cs typeface="Arial"/>
              </a:defRPr>
            </a:pPr>
            <a:r>
              <a:rPr sz="1575" b="1">
                <a:solidFill>
                  <a:srgbClr val="087F8C"/>
                </a:solidFill>
                <a:latin typeface="Arial"/>
                <a:ea typeface="Arial"/>
                <a:cs typeface="Arial"/>
              </a:rPr>
              <a:t>ANSIBLE</a:t>
            </a:r>
          </a:p>
        </p:txBody>
      </p:sp>
      <p:sp>
        <p:nvSpPr>
          <p:cNvPr id="2" name="29 / 34">
            <a:extLst xmlns:a="http://schemas.openxmlformats.org/drawingml/2006/main">
              <a:ext uri="{FF2B5EF4-FFF2-40B4-BE49-F238E27FC236}">
                <a16:creationId xmlns:a16="http://schemas.microsoft.com/office/drawing/2014/main" id="{166403AA-623A-46E8-A99F-A52516DB8C3C}"/>
              </a:ext>
            </a:extLst>
          </p:cNvPr>
          <p:cNvSpPr>
            <a:spLocks xmlns:a="http://schemas.openxmlformats.org/drawingml/2006/main" noGrp="1"/>
          </p:cNvSpPr>
          <p:nvPr/>
        </p:nvSpPr>
        <p:spPr>
          <a:xfrm xmlns:a="http://schemas.openxmlformats.org/drawingml/2006/main">
            <a:off x="13192125" y="561975"/>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77C"/>
                </a:solidFill>
                <a:latin typeface="Arial"/>
                <a:ea typeface="Arial"/>
                <a:cs typeface="Arial"/>
              </a:defRPr>
            </a:defPPr>
          </a:lstStyle>
          <a:p xmlns:a="http://schemas.openxmlformats.org/drawingml/2006/main">
            <a:pPr>
              <a:defRPr sz="1500" b="0">
                <a:solidFill>
                  <a:srgbClr val="53677C"/>
                </a:solidFill>
                <a:latin typeface="Arial"/>
                <a:ea typeface="Arial"/>
                <a:cs typeface="Arial"/>
              </a:defRPr>
            </a:pPr>
            <a:r>
              <a:rPr sz="1500" b="0">
                <a:solidFill>
                  <a:srgbClr val="53677C"/>
                </a:solidFill>
                <a:latin typeface="Arial"/>
                <a:ea typeface="Arial"/>
                <a:cs typeface="Arial"/>
              </a:rPr>
              <a:t>29 / 34</a:t>
            </a:r>
          </a:p>
        </p:txBody>
      </p:sp>
      <p:sp>
        <p:nvSpPr>
          <p:cNvPr id="3" name="Idempotencia y resultados">
            <a:extLst xmlns:a="http://schemas.openxmlformats.org/drawingml/2006/main">
              <a:ext uri="{FF2B5EF4-FFF2-40B4-BE49-F238E27FC236}">
                <a16:creationId xmlns:a16="http://schemas.microsoft.com/office/drawing/2014/main" id="{996BD3D5-A484-41AD-90A1-3CFEEF987E30}"/>
              </a:ext>
            </a:extLst>
          </p:cNvPr>
          <p:cNvSpPr>
            <a:spLocks xmlns:a="http://schemas.openxmlformats.org/drawingml/2006/main" noGrp="1"/>
          </p:cNvSpPr>
          <p:nvPr/>
        </p:nvSpPr>
        <p:spPr>
          <a:xfrm xmlns:a="http://schemas.openxmlformats.org/drawingml/2006/main">
            <a:off x="914400" y="1143000"/>
            <a:ext cx="13411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132E50"/>
                </a:solidFill>
                <a:latin typeface="Arial"/>
                <a:ea typeface="Arial"/>
                <a:cs typeface="Arial"/>
              </a:defRPr>
            </a:defPPr>
          </a:lstStyle>
          <a:p xmlns:a="http://schemas.openxmlformats.org/drawingml/2006/main">
            <a:pPr>
              <a:defRPr sz="3825" b="1">
                <a:solidFill>
                  <a:srgbClr val="132E50"/>
                </a:solidFill>
                <a:latin typeface="Arial"/>
                <a:ea typeface="Arial"/>
                <a:cs typeface="Arial"/>
              </a:defRPr>
            </a:pPr>
            <a:r>
              <a:rPr sz="3825" b="1">
                <a:solidFill>
                  <a:srgbClr val="132E50"/>
                </a:solidFill>
                <a:latin typeface="Arial"/>
                <a:ea typeface="Arial"/>
                <a:cs typeface="Arial"/>
              </a:rPr>
              <a:t>Idempotencia y resultados</a:t>
            </a:r>
          </a:p>
        </p:txBody>
      </p:sp>
      <p:sp>
        <p:nvSpPr>
          <p:cNvPr id="4" name="Repetir la ejecución debe&#10;conservar el estado deseado.">
            <a:extLst xmlns:a="http://schemas.openxmlformats.org/drawingml/2006/main">
              <a:ext uri="{FF2B5EF4-FFF2-40B4-BE49-F238E27FC236}">
                <a16:creationId xmlns:a16="http://schemas.microsoft.com/office/drawing/2014/main" id="{5A36FE85-66B4-447A-9033-11801E724DA6}"/>
              </a:ext>
            </a:extLst>
          </p:cNvPr>
          <p:cNvSpPr>
            <a:spLocks xmlns:a="http://schemas.openxmlformats.org/drawingml/2006/main" noGrp="1"/>
          </p:cNvSpPr>
          <p:nvPr/>
        </p:nvSpPr>
        <p:spPr>
          <a:xfrm xmlns:a="http://schemas.openxmlformats.org/drawingml/2006/main">
            <a:off x="952500" y="2286000"/>
            <a:ext cx="13239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132E50"/>
                </a:solidFill>
                <a:latin typeface="Arial"/>
                <a:ea typeface="Arial"/>
                <a:cs typeface="Arial"/>
              </a:defRPr>
            </a:defPPr>
          </a:lstStyle>
          <a:p xmlns:a="http://schemas.openxmlformats.org/drawingml/2006/main">
            <a:pPr>
              <a:defRPr sz="3675" b="1">
                <a:solidFill>
                  <a:srgbClr val="132E50"/>
                </a:solidFill>
                <a:latin typeface="Arial"/>
                <a:ea typeface="Arial"/>
                <a:cs typeface="Arial"/>
              </a:defRPr>
            </a:pPr>
            <a:r>
              <a:rPr sz="3675" b="1">
                <a:solidFill>
                  <a:srgbClr val="132E50"/>
                </a:solidFill>
                <a:latin typeface="Arial"/>
                <a:ea typeface="Arial"/>
                <a:cs typeface="Arial"/>
              </a:rPr>
              <a:t>Repetir la ejecución debe</a:t>
            </a:r>
          </a:p>
          <a:p xmlns:a="http://schemas.openxmlformats.org/drawingml/2006/main">
            <a:pPr>
              <a:defRPr sz="3675" b="1">
                <a:solidFill>
                  <a:srgbClr val="132E50"/>
                </a:solidFill>
                <a:latin typeface="Arial"/>
                <a:ea typeface="Arial"/>
                <a:cs typeface="Arial"/>
              </a:defRPr>
            </a:pPr>
            <a:r>
              <a:rPr sz="3675" b="1">
                <a:solidFill>
                  <a:srgbClr val="132E50"/>
                </a:solidFill>
                <a:latin typeface="Arial"/>
                <a:ea typeface="Arial"/>
                <a:cs typeface="Arial"/>
              </a:rPr>
              <a:t>conservar el estado deseado.</a:t>
            </a:r>
          </a:p>
        </p:txBody>
      </p:sp>
      <p:sp>
        <p:nvSpPr>
          <p:cNvPr id="5" name="ok: tareas correctas; changed cuenta las que reportaron cambios.">
            <a:extLst xmlns:a="http://schemas.openxmlformats.org/drawingml/2006/main">
              <a:ext uri="{FF2B5EF4-FFF2-40B4-BE49-F238E27FC236}">
                <a16:creationId xmlns:a16="http://schemas.microsoft.com/office/drawing/2014/main" id="{EFCCC71D-688A-4F3B-ABB4-A91038E13DC8}"/>
              </a:ext>
            </a:extLst>
          </p:cNvPr>
          <p:cNvSpPr>
            <a:spLocks xmlns:a="http://schemas.openxmlformats.org/drawingml/2006/main" noGrp="1"/>
          </p:cNvSpPr>
          <p:nvPr/>
        </p:nvSpPr>
        <p:spPr>
          <a:xfrm xmlns:a="http://schemas.openxmlformats.org/drawingml/2006/main">
            <a:off x="952500" y="4333875"/>
            <a:ext cx="1323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26384B"/>
                </a:solidFill>
                <a:latin typeface="Arial"/>
                <a:ea typeface="Arial"/>
                <a:cs typeface="Arial"/>
              </a:defRPr>
            </a:defPPr>
          </a:lstStyle>
          <a:p xmlns:a="http://schemas.openxmlformats.org/drawingml/2006/main">
            <a:pPr>
              <a:defRPr sz="2325" b="0">
                <a:solidFill>
                  <a:srgbClr val="26384B"/>
                </a:solidFill>
                <a:latin typeface="Arial"/>
                <a:ea typeface="Arial"/>
                <a:cs typeface="Arial"/>
              </a:defRPr>
            </a:pPr>
            <a:r>
              <a:rPr sz="2325" b="0">
                <a:solidFill>
                  <a:srgbClr val="26384B"/>
                </a:solidFill>
                <a:latin typeface="Arial"/>
                <a:ea typeface="Arial"/>
                <a:cs typeface="Arial"/>
              </a:rPr>
              <a:t>ok: tareas correctas; changed cuenta las que reportaron cambios.</a:t>
            </a:r>
          </a:p>
        </p:txBody>
      </p:sp>
      <p:sp>
        <p:nvSpPr>
          <p:cNvPr id="6" name="failed: error de tarea; unreachable: no se pudo ejecutar en el ho">
            <a:extLst xmlns:a="http://schemas.openxmlformats.org/drawingml/2006/main">
              <a:ext uri="{FF2B5EF4-FFF2-40B4-BE49-F238E27FC236}">
                <a16:creationId xmlns:a16="http://schemas.microsoft.com/office/drawing/2014/main" id="{1FCE4A0F-077F-447A-8034-EC788A9E6B3C}"/>
              </a:ext>
            </a:extLst>
          </p:cNvPr>
          <p:cNvSpPr>
            <a:spLocks xmlns:a="http://schemas.openxmlformats.org/drawingml/2006/main" noGrp="1"/>
          </p:cNvSpPr>
          <p:nvPr/>
        </p:nvSpPr>
        <p:spPr>
          <a:xfrm xmlns:a="http://schemas.openxmlformats.org/drawingml/2006/main">
            <a:off x="952500" y="5143500"/>
            <a:ext cx="1323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26384B"/>
                </a:solidFill>
                <a:latin typeface="Arial"/>
                <a:ea typeface="Arial"/>
                <a:cs typeface="Arial"/>
              </a:defRPr>
            </a:defPPr>
          </a:lstStyle>
          <a:p xmlns:a="http://schemas.openxmlformats.org/drawingml/2006/main">
            <a:pPr>
              <a:defRPr sz="2325" b="0">
                <a:solidFill>
                  <a:srgbClr val="26384B"/>
                </a:solidFill>
                <a:latin typeface="Arial"/>
                <a:ea typeface="Arial"/>
                <a:cs typeface="Arial"/>
              </a:defRPr>
            </a:pPr>
            <a:r>
              <a:rPr sz="2325" b="0">
                <a:solidFill>
                  <a:srgbClr val="26384B"/>
                </a:solidFill>
                <a:latin typeface="Arial"/>
                <a:ea typeface="Arial"/>
                <a:cs typeface="Arial"/>
              </a:rPr>
              <a:t>failed: error de tarea; unreachable: no se pudo ejecutar en el host.</a:t>
            </a:r>
          </a:p>
        </p:txBody>
      </p:sp>
      <p:sp>
        <p:nvSpPr>
          <p:cNvPr id="7" name="Revisar la tarea que cambia antes de diagnosticar un problema.">
            <a:extLst xmlns:a="http://schemas.openxmlformats.org/drawingml/2006/main">
              <a:ext uri="{FF2B5EF4-FFF2-40B4-BE49-F238E27FC236}">
                <a16:creationId xmlns:a16="http://schemas.microsoft.com/office/drawing/2014/main" id="{66FD7554-A801-4835-91BA-35A20B3F75AE}"/>
              </a:ext>
            </a:extLst>
          </p:cNvPr>
          <p:cNvSpPr>
            <a:spLocks xmlns:a="http://schemas.openxmlformats.org/drawingml/2006/main" noGrp="1"/>
          </p:cNvSpPr>
          <p:nvPr/>
        </p:nvSpPr>
        <p:spPr>
          <a:xfrm xmlns:a="http://schemas.openxmlformats.org/drawingml/2006/main">
            <a:off x="952500" y="5953125"/>
            <a:ext cx="1323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26384B"/>
                </a:solidFill>
                <a:latin typeface="Arial"/>
                <a:ea typeface="Arial"/>
                <a:cs typeface="Arial"/>
              </a:defRPr>
            </a:defPPr>
          </a:lstStyle>
          <a:p xmlns:a="http://schemas.openxmlformats.org/drawingml/2006/main">
            <a:pPr>
              <a:defRPr sz="2325" b="0">
                <a:solidFill>
                  <a:srgbClr val="26384B"/>
                </a:solidFill>
                <a:latin typeface="Arial"/>
                <a:ea typeface="Arial"/>
                <a:cs typeface="Arial"/>
              </a:defRPr>
            </a:pPr>
            <a:r>
              <a:rPr sz="2325" b="0">
                <a:solidFill>
                  <a:srgbClr val="26384B"/>
                </a:solidFill>
                <a:latin typeface="Arial"/>
                <a:ea typeface="Arial"/>
                <a:cs typeface="Arial"/>
              </a:rPr>
              <a:t>Revisar la tarea que cambia antes de diagnosticar un problema.</a:t>
            </a:r>
          </a:p>
        </p:txBody>
      </p:sp>
      <p:sp>
        <p:nvSpPr>
          <p:cNvPr id="8" name="changed=0 es esperable en una repetición inmediata y estable; hay">
            <a:extLst xmlns:a="http://schemas.openxmlformats.org/drawingml/2006/main">
              <a:ext uri="{FF2B5EF4-FFF2-40B4-BE49-F238E27FC236}">
                <a16:creationId xmlns:a16="http://schemas.microsoft.com/office/drawing/2014/main" id="{B0DCEF52-C53A-4889-92FD-284D34498E19}"/>
              </a:ext>
            </a:extLst>
          </p:cNvPr>
          <p:cNvSpPr>
            <a:spLocks xmlns:a="http://schemas.openxmlformats.org/drawingml/2006/main" noGrp="1"/>
          </p:cNvSpPr>
          <p:nvPr/>
        </p:nvSpPr>
        <p:spPr>
          <a:xfrm xmlns:a="http://schemas.openxmlformats.org/drawingml/2006/main">
            <a:off x="952500" y="7629525"/>
            <a:ext cx="13335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3677C"/>
                </a:solidFill>
                <a:latin typeface="Arial"/>
                <a:ea typeface="Arial"/>
                <a:cs typeface="Arial"/>
              </a:defRPr>
            </a:defPPr>
          </a:lstStyle>
          <a:p xmlns:a="http://schemas.openxmlformats.org/drawingml/2006/main">
            <a:pPr>
              <a:defRPr sz="1800" b="0">
                <a:solidFill>
                  <a:srgbClr val="53677C"/>
                </a:solidFill>
                <a:latin typeface="Arial"/>
                <a:ea typeface="Arial"/>
                <a:cs typeface="Arial"/>
              </a:defRPr>
            </a:pPr>
            <a:r>
              <a:rPr sz="1800" b="0">
                <a:solidFill>
                  <a:srgbClr val="53677C"/>
                </a:solidFill>
                <a:latin typeface="Arial"/>
                <a:ea typeface="Arial"/>
                <a:cs typeface="Arial"/>
              </a:rPr>
              <a:t>changed=0 es esperable en una repetición inmediata y estable; hay excepciones.</a:t>
            </a:r>
          </a:p>
        </p:txBody>
      </p:sp>
    </p:spTree>
    <p:extLst>
      <p:ext uri="{BB962C8B-B14F-4D97-AF65-F5344CB8AC3E}">
        <p14:creationId xmlns:p14="http://schemas.microsoft.com/office/powerpoint/2010/main" val="981265383"/>
      </p:ext>
    </p:extLst>
  </p:cSld>
</p:sld>
</file>

<file path=ppt/slides/slide30.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7" name="ANSIBLE">
            <a:extLst xmlns:a="http://schemas.openxmlformats.org/drawingml/2006/main">
              <a:ext uri="{FF2B5EF4-FFF2-40B4-BE49-F238E27FC236}">
                <a16:creationId xmlns:a16="http://schemas.microsoft.com/office/drawing/2014/main" id="{9E711146-A620-4F12-B8C2-CACADCDD842F}"/>
              </a:ext>
            </a:extLst>
          </p:cNvPr>
          <p:cNvSpPr>
            <a:spLocks xmlns:a="http://schemas.openxmlformats.org/drawingml/2006/main" noGrp="1"/>
          </p:cNvSpPr>
          <p:nvPr/>
        </p:nvSpPr>
        <p:spPr>
          <a:xfrm xmlns:a="http://schemas.openxmlformats.org/drawingml/2006/main">
            <a:off x="914400" y="542925"/>
            <a:ext cx="1238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087F8C"/>
                </a:solidFill>
                <a:latin typeface="Arial"/>
                <a:ea typeface="Arial"/>
                <a:cs typeface="Arial"/>
              </a:defRPr>
            </a:defPPr>
          </a:lstStyle>
          <a:p xmlns:a="http://schemas.openxmlformats.org/drawingml/2006/main">
            <a:pPr>
              <a:defRPr sz="1575" b="1">
                <a:solidFill>
                  <a:srgbClr val="087F8C"/>
                </a:solidFill>
                <a:latin typeface="Arial"/>
                <a:ea typeface="Arial"/>
                <a:cs typeface="Arial"/>
              </a:defRPr>
            </a:pPr>
            <a:r>
              <a:rPr sz="1575" b="1">
                <a:solidFill>
                  <a:srgbClr val="087F8C"/>
                </a:solidFill>
                <a:latin typeface="Arial"/>
                <a:ea typeface="Arial"/>
                <a:cs typeface="Arial"/>
              </a:rPr>
              <a:t>ANSIBLE</a:t>
            </a:r>
          </a:p>
        </p:txBody>
      </p:sp>
      <p:sp>
        <p:nvSpPr>
          <p:cNvPr id="2" name="30 / 34">
            <a:extLst xmlns:a="http://schemas.openxmlformats.org/drawingml/2006/main">
              <a:ext uri="{FF2B5EF4-FFF2-40B4-BE49-F238E27FC236}">
                <a16:creationId xmlns:a16="http://schemas.microsoft.com/office/drawing/2014/main" id="{ACD5D46E-E3FB-48CD-BF80-C474E02FD0E1}"/>
              </a:ext>
            </a:extLst>
          </p:cNvPr>
          <p:cNvSpPr>
            <a:spLocks xmlns:a="http://schemas.openxmlformats.org/drawingml/2006/main" noGrp="1"/>
          </p:cNvSpPr>
          <p:nvPr/>
        </p:nvSpPr>
        <p:spPr>
          <a:xfrm xmlns:a="http://schemas.openxmlformats.org/drawingml/2006/main">
            <a:off x="13192125" y="561975"/>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77C"/>
                </a:solidFill>
                <a:latin typeface="Arial"/>
                <a:ea typeface="Arial"/>
                <a:cs typeface="Arial"/>
              </a:defRPr>
            </a:defPPr>
          </a:lstStyle>
          <a:p xmlns:a="http://schemas.openxmlformats.org/drawingml/2006/main">
            <a:pPr>
              <a:defRPr sz="1500" b="0">
                <a:solidFill>
                  <a:srgbClr val="53677C"/>
                </a:solidFill>
                <a:latin typeface="Arial"/>
                <a:ea typeface="Arial"/>
                <a:cs typeface="Arial"/>
              </a:defRPr>
            </a:pPr>
            <a:r>
              <a:rPr sz="1500" b="0">
                <a:solidFill>
                  <a:srgbClr val="53677C"/>
                </a:solidFill>
                <a:latin typeface="Arial"/>
                <a:ea typeface="Arial"/>
                <a:cs typeface="Arial"/>
              </a:rPr>
              <a:t>30 / 34</a:t>
            </a:r>
          </a:p>
        </p:txBody>
      </p:sp>
      <p:sp>
        <p:nvSpPr>
          <p:cNvPr id="3" name="Comandos para revisar y limitar cambios">
            <a:extLst xmlns:a="http://schemas.openxmlformats.org/drawingml/2006/main">
              <a:ext uri="{FF2B5EF4-FFF2-40B4-BE49-F238E27FC236}">
                <a16:creationId xmlns:a16="http://schemas.microsoft.com/office/drawing/2014/main" id="{0C8888B4-9B66-43F4-8996-905754EE1683}"/>
              </a:ext>
            </a:extLst>
          </p:cNvPr>
          <p:cNvSpPr>
            <a:spLocks xmlns:a="http://schemas.openxmlformats.org/drawingml/2006/main" noGrp="1"/>
          </p:cNvSpPr>
          <p:nvPr/>
        </p:nvSpPr>
        <p:spPr>
          <a:xfrm xmlns:a="http://schemas.openxmlformats.org/drawingml/2006/main">
            <a:off x="914400" y="1143000"/>
            <a:ext cx="13411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132E50"/>
                </a:solidFill>
                <a:latin typeface="Arial"/>
                <a:ea typeface="Arial"/>
                <a:cs typeface="Arial"/>
              </a:defRPr>
            </a:defPPr>
          </a:lstStyle>
          <a:p xmlns:a="http://schemas.openxmlformats.org/drawingml/2006/main">
            <a:pPr>
              <a:defRPr sz="3825" b="1">
                <a:solidFill>
                  <a:srgbClr val="132E50"/>
                </a:solidFill>
                <a:latin typeface="Arial"/>
                <a:ea typeface="Arial"/>
                <a:cs typeface="Arial"/>
              </a:defRPr>
            </a:pPr>
            <a:r>
              <a:rPr sz="3825" b="1">
                <a:solidFill>
                  <a:srgbClr val="132E50"/>
                </a:solidFill>
                <a:latin typeface="Arial"/>
                <a:ea typeface="Arial"/>
                <a:cs typeface="Arial"/>
              </a:rPr>
              <a:t>Comandos para revisar y limitar cambios</a:t>
            </a:r>
          </a:p>
        </p:txBody>
      </p:sp>
      <p:sp>
        <p:nvSpPr>
          <p:cNvPr id="4" name="Las filas site.yml se ejecutan con el prefijo ansible-playbook">
            <a:extLst xmlns:a="http://schemas.openxmlformats.org/drawingml/2006/main">
              <a:ext uri="{FF2B5EF4-FFF2-40B4-BE49-F238E27FC236}">
                <a16:creationId xmlns:a16="http://schemas.microsoft.com/office/drawing/2014/main" id="{9B1DAD8B-46E0-4B56-B1BC-50751320323E}"/>
              </a:ext>
            </a:extLst>
          </p:cNvPr>
          <p:cNvSpPr>
            <a:spLocks xmlns:a="http://schemas.openxmlformats.org/drawingml/2006/main" noGrp="1"/>
          </p:cNvSpPr>
          <p:nvPr/>
        </p:nvSpPr>
        <p:spPr>
          <a:xfrm xmlns:a="http://schemas.openxmlformats.org/drawingml/2006/main">
            <a:off x="952500" y="2238375"/>
            <a:ext cx="1333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Las filas site.yml se ejecutan con el prefijo ansible-playbook</a:t>
            </a:r>
          </a:p>
        </p:txBody>
      </p:sp>
      <p:graphicFrame>
        <p:nvGraphicFramePr>
          <p:cNvPr id="5" name="">
            <a:extLst xmlns:a="http://schemas.openxmlformats.org/drawingml/2006/main">
              <a:ext uri="{FF2B5EF4-FFF2-40B4-BE49-F238E27FC236}">
                <a16:creationId xmlns:a16="http://schemas.microsoft.com/office/drawing/2014/main" id="{B8D04A6B-2477-4716-8D41-A7D1A585D86D}"/>
              </a:ext>
            </a:extLst>
          </p:cNvPr>
          <p:cNvGraphicFramePr/>
          <p:nvPr/>
        </p:nvGraphicFramePr>
        <p:xfrm>
          <a:off xmlns:a="http://schemas.openxmlformats.org/drawingml/2006/main" x="914400" y="3238500"/>
          <a:ext xmlns:a="http://schemas.openxmlformats.org/drawingml/2006/main" cx="13411200" cy="3238500"/>
        </p:xfrm>
        <a:graphic xmlns:a="http://schemas.openxmlformats.org/drawingml/2006/main">
          <a:graphicData uri="http://schemas.openxmlformats.org/drawingml/2006/table">
            <a:tbl>
              <a:tblPr/>
              <a:tblGrid>
                <a:gridCol w="7429500"/>
                <a:gridCol w="5981700"/>
              </a:tblGrid>
              <a:tr h="647700">
                <a:tc>
                  <a:txBody>
                    <a:bodyPr lIns="171450" tIns="171450" rIns="171450" bIns="171450"/>
                    <a:lstStyle/>
                    <a:p>
                      <a:r>
                        <a:rPr sz="2100" b="1">
                          <a:solidFill>
                            <a:srgbClr val="FFFFFF"/>
                          </a:solidFill>
                          <a:latin typeface="Arial"/>
                          <a:ea typeface="Arial"/>
                          <a:cs typeface="Arial"/>
                        </a:rPr>
                        <a:t>Comando u opción</a:t>
                      </a:r>
                    </a:p>
                  </a:txBody>
                  <a:tcPr marL="91440" marR="91440" marT="45720" marB="45720">
                    <a:lnL w="9525">
                      <a:solidFill>
                        <a:srgbClr val="D4DFE7"/>
                      </a:solidFill>
                      <a:prstDash val="solid"/>
                    </a:lnL>
                    <a:lnR w="9525">
                      <a:solidFill>
                        <a:srgbClr val="D4DFE7"/>
                      </a:solidFill>
                      <a:prstDash val="solid"/>
                    </a:lnR>
                    <a:lnT w="9525">
                      <a:solidFill>
                        <a:srgbClr val="D4DFE7"/>
                      </a:solidFill>
                      <a:prstDash val="solid"/>
                    </a:lnT>
                    <a:lnB w="9525">
                      <a:solidFill>
                        <a:srgbClr val="D4DFE7"/>
                      </a:solidFill>
                      <a:prstDash val="solid"/>
                    </a:lnB>
                    <a:solidFill>
                      <a:srgbClr val="132E50"/>
                    </a:solidFill>
                  </a:tcPr>
                </a:tc>
                <a:tc>
                  <a:txBody>
                    <a:bodyPr lIns="171450" tIns="171450" rIns="171450" bIns="171450"/>
                    <a:lstStyle/>
                    <a:p>
                      <a:r>
                        <a:rPr sz="2100" b="1">
                          <a:solidFill>
                            <a:srgbClr val="FFFFFF"/>
                          </a:solidFill>
                          <a:latin typeface="Arial"/>
                          <a:ea typeface="Arial"/>
                          <a:cs typeface="Arial"/>
                        </a:rPr>
                        <a:t>Qué permite revisar</a:t>
                      </a:r>
                    </a:p>
                  </a:txBody>
                  <a:tcPr marL="91440" marR="91440" marT="45720" marB="45720">
                    <a:lnR w="9525">
                      <a:solidFill>
                        <a:srgbClr val="D4DFE7"/>
                      </a:solidFill>
                      <a:prstDash val="solid"/>
                    </a:lnR>
                    <a:lnT w="9525">
                      <a:solidFill>
                        <a:srgbClr val="D4DFE7"/>
                      </a:solidFill>
                      <a:prstDash val="solid"/>
                    </a:lnT>
                    <a:lnB w="9525">
                      <a:solidFill>
                        <a:srgbClr val="D4DFE7"/>
                      </a:solidFill>
                      <a:prstDash val="solid"/>
                    </a:lnB>
                    <a:solidFill>
                      <a:srgbClr val="132E50"/>
                    </a:solidFill>
                  </a:tcPr>
                </a:tc>
              </a:tr>
              <a:tr h="647700">
                <a:tc>
                  <a:txBody>
                    <a:bodyPr lIns="171450" tIns="171450" rIns="171450" bIns="171450"/>
                    <a:lstStyle/>
                    <a:p>
                      <a:r>
                        <a:rPr sz="2100" b="0">
                          <a:solidFill>
                            <a:srgbClr val="26384B"/>
                          </a:solidFill>
                          <a:latin typeface="Arial"/>
                          <a:ea typeface="Arial"/>
                          <a:cs typeface="Arial"/>
                        </a:rPr>
                        <a:t>ansible-inventory --graph</a:t>
                      </a:r>
                    </a:p>
                  </a:txBody>
                  <a:tcPr marL="91440" marR="91440" marT="45720" marB="45720">
                    <a:lnL w="9525">
                      <a:solidFill>
                        <a:srgbClr val="D4DFE7"/>
                      </a:solidFill>
                      <a:prstDash val="solid"/>
                    </a:lnL>
                    <a:lnR w="9525">
                      <a:solidFill>
                        <a:srgbClr val="D4DFE7"/>
                      </a:solidFill>
                      <a:prstDash val="solid"/>
                    </a:lnR>
                    <a:lnB w="9525">
                      <a:solidFill>
                        <a:srgbClr val="D4DFE7"/>
                      </a:solidFill>
                      <a:prstDash val="solid"/>
                    </a:lnB>
                    <a:solidFill>
                      <a:srgbClr val="FFFFFF"/>
                    </a:solidFill>
                  </a:tcPr>
                </a:tc>
                <a:tc>
                  <a:txBody>
                    <a:bodyPr lIns="171450" tIns="171450" rIns="171450" bIns="171450"/>
                    <a:lstStyle/>
                    <a:p>
                      <a:r>
                        <a:rPr sz="2100" b="0">
                          <a:solidFill>
                            <a:srgbClr val="26384B"/>
                          </a:solidFill>
                          <a:latin typeface="Arial"/>
                          <a:ea typeface="Arial"/>
                          <a:cs typeface="Arial"/>
                        </a:rPr>
                        <a:t>Grupos y destinos del inventario</a:t>
                      </a:r>
                    </a:p>
                  </a:txBody>
                  <a:tcPr marL="91440" marR="91440" marT="45720" marB="45720">
                    <a:lnR w="9525">
                      <a:solidFill>
                        <a:srgbClr val="D4DFE7"/>
                      </a:solidFill>
                      <a:prstDash val="solid"/>
                    </a:lnR>
                    <a:lnB w="9525">
                      <a:solidFill>
                        <a:srgbClr val="D4DFE7"/>
                      </a:solidFill>
                      <a:prstDash val="solid"/>
                    </a:lnB>
                    <a:solidFill>
                      <a:srgbClr val="FFFFFF"/>
                    </a:solidFill>
                  </a:tcPr>
                </a:tc>
              </a:tr>
              <a:tr h="647700">
                <a:tc>
                  <a:txBody>
                    <a:bodyPr lIns="171450" tIns="171450" rIns="171450" bIns="171450"/>
                    <a:lstStyle/>
                    <a:p>
                      <a:r>
                        <a:rPr sz="2100" b="0">
                          <a:solidFill>
                            <a:srgbClr val="26384B"/>
                          </a:solidFill>
                          <a:latin typeface="Arial"/>
                          <a:ea typeface="Arial"/>
                          <a:cs typeface="Arial"/>
                        </a:rPr>
                        <a:t>site.yml --syntax-check</a:t>
                      </a:r>
                    </a:p>
                  </a:txBody>
                  <a:tcPr marL="91440" marR="91440" marT="45720" marB="45720">
                    <a:lnL w="9525">
                      <a:solidFill>
                        <a:srgbClr val="D4DFE7"/>
                      </a:solidFill>
                      <a:prstDash val="solid"/>
                    </a:lnL>
                    <a:lnR w="9525">
                      <a:solidFill>
                        <a:srgbClr val="D4DFE7"/>
                      </a:solidFill>
                      <a:prstDash val="solid"/>
                    </a:lnR>
                    <a:lnB w="9525">
                      <a:solidFill>
                        <a:srgbClr val="D4DFE7"/>
                      </a:solidFill>
                      <a:prstDash val="solid"/>
                    </a:lnB>
                    <a:solidFill>
                      <a:srgbClr val="E8F1F4"/>
                    </a:solidFill>
                  </a:tcPr>
                </a:tc>
                <a:tc>
                  <a:txBody>
                    <a:bodyPr lIns="171450" tIns="171450" rIns="171450" bIns="171450"/>
                    <a:lstStyle/>
                    <a:p>
                      <a:r>
                        <a:rPr sz="2100" b="0">
                          <a:solidFill>
                            <a:srgbClr val="26384B"/>
                          </a:solidFill>
                          <a:latin typeface="Arial"/>
                          <a:ea typeface="Arial"/>
                          <a:cs typeface="Arial"/>
                        </a:rPr>
                        <a:t>Sintaxis del playbook</a:t>
                      </a:r>
                    </a:p>
                  </a:txBody>
                  <a:tcPr marL="91440" marR="91440" marT="45720" marB="45720">
                    <a:lnR w="9525">
                      <a:solidFill>
                        <a:srgbClr val="D4DFE7"/>
                      </a:solidFill>
                      <a:prstDash val="solid"/>
                    </a:lnR>
                    <a:lnB w="9525">
                      <a:solidFill>
                        <a:srgbClr val="D4DFE7"/>
                      </a:solidFill>
                      <a:prstDash val="solid"/>
                    </a:lnB>
                    <a:solidFill>
                      <a:srgbClr val="E8F1F4"/>
                    </a:solidFill>
                  </a:tcPr>
                </a:tc>
              </a:tr>
              <a:tr h="647700">
                <a:tc>
                  <a:txBody>
                    <a:bodyPr lIns="171450" tIns="171450" rIns="171450" bIns="171450"/>
                    <a:lstStyle/>
                    <a:p>
                      <a:r>
                        <a:rPr sz="2100" b="0">
                          <a:solidFill>
                            <a:srgbClr val="26384B"/>
                          </a:solidFill>
                          <a:latin typeface="Arial"/>
                          <a:ea typeface="Arial"/>
                          <a:cs typeface="Arial"/>
                        </a:rPr>
                        <a:t>site.yml --check --diff</a:t>
                      </a:r>
                    </a:p>
                  </a:txBody>
                  <a:tcPr marL="91440" marR="91440" marT="45720" marB="45720">
                    <a:lnL w="9525">
                      <a:solidFill>
                        <a:srgbClr val="D4DFE7"/>
                      </a:solidFill>
                      <a:prstDash val="solid"/>
                    </a:lnL>
                    <a:lnR w="9525">
                      <a:solidFill>
                        <a:srgbClr val="D4DFE7"/>
                      </a:solidFill>
                      <a:prstDash val="solid"/>
                    </a:lnR>
                    <a:lnB w="9525">
                      <a:solidFill>
                        <a:srgbClr val="D4DFE7"/>
                      </a:solidFill>
                      <a:prstDash val="solid"/>
                    </a:lnB>
                    <a:solidFill>
                      <a:srgbClr val="FFFFFF"/>
                    </a:solidFill>
                  </a:tcPr>
                </a:tc>
                <a:tc>
                  <a:txBody>
                    <a:bodyPr lIns="171450" tIns="171450" rIns="171450" bIns="171450"/>
                    <a:lstStyle/>
                    <a:p>
                      <a:r>
                        <a:rPr sz="2100" b="0">
                          <a:solidFill>
                            <a:srgbClr val="26384B"/>
                          </a:solidFill>
                          <a:latin typeface="Arial"/>
                          <a:ea typeface="Arial"/>
                          <a:cs typeface="Arial"/>
                        </a:rPr>
                        <a:t>Predicción y diferencias cuando hay soporte</a:t>
                      </a:r>
                    </a:p>
                  </a:txBody>
                  <a:tcPr marL="91440" marR="91440" marT="45720" marB="45720">
                    <a:lnR w="9525">
                      <a:solidFill>
                        <a:srgbClr val="D4DFE7"/>
                      </a:solidFill>
                      <a:prstDash val="solid"/>
                    </a:lnR>
                    <a:lnB w="9525">
                      <a:solidFill>
                        <a:srgbClr val="D4DFE7"/>
                      </a:solidFill>
                      <a:prstDash val="solid"/>
                    </a:lnB>
                    <a:solidFill>
                      <a:srgbClr val="FFFFFF"/>
                    </a:solidFill>
                  </a:tcPr>
                </a:tc>
              </a:tr>
              <a:tr h="647700">
                <a:tc>
                  <a:txBody>
                    <a:bodyPr lIns="171450" tIns="171450" rIns="171450" bIns="171450"/>
                    <a:lstStyle/>
                    <a:p>
                      <a:r>
                        <a:rPr sz="2100" b="0">
                          <a:solidFill>
                            <a:srgbClr val="26384B"/>
                          </a:solidFill>
                          <a:latin typeface="Arial"/>
                          <a:ea typeface="Arial"/>
                          <a:cs typeface="Arial"/>
                        </a:rPr>
                        <a:t>site.yml --limit prod -e web_version=v2</a:t>
                      </a:r>
                    </a:p>
                  </a:txBody>
                  <a:tcPr marL="91440" marR="91440" marT="45720" marB="45720">
                    <a:lnL w="9525">
                      <a:solidFill>
                        <a:srgbClr val="D4DFE7"/>
                      </a:solidFill>
                      <a:prstDash val="solid"/>
                    </a:lnL>
                    <a:lnR w="9525">
                      <a:solidFill>
                        <a:srgbClr val="D4DFE7"/>
                      </a:solidFill>
                      <a:prstDash val="solid"/>
                    </a:lnR>
                    <a:lnB w="9525">
                      <a:solidFill>
                        <a:srgbClr val="D4DFE7"/>
                      </a:solidFill>
                      <a:prstDash val="solid"/>
                    </a:lnB>
                    <a:solidFill>
                      <a:srgbClr val="E8F1F4"/>
                    </a:solidFill>
                  </a:tcPr>
                </a:tc>
                <a:tc>
                  <a:txBody>
                    <a:bodyPr lIns="171450" tIns="171450" rIns="171450" bIns="171450"/>
                    <a:lstStyle/>
                    <a:p>
                      <a:r>
                        <a:rPr sz="2100" b="0">
                          <a:solidFill>
                            <a:srgbClr val="26384B"/>
                          </a:solidFill>
                          <a:latin typeface="Arial"/>
                          <a:ea typeface="Arial"/>
                          <a:cs typeface="Arial"/>
                        </a:rPr>
                        <a:t>Alcance y versión de una ejecución</a:t>
                      </a:r>
                    </a:p>
                  </a:txBody>
                  <a:tcPr marL="91440" marR="91440" marT="45720" marB="45720">
                    <a:lnR w="9525">
                      <a:solidFill>
                        <a:srgbClr val="D4DFE7"/>
                      </a:solidFill>
                      <a:prstDash val="solid"/>
                    </a:lnR>
                    <a:lnB w="9525">
                      <a:solidFill>
                        <a:srgbClr val="D4DFE7"/>
                      </a:solidFill>
                      <a:prstDash val="solid"/>
                    </a:lnB>
                    <a:solidFill>
                      <a:srgbClr val="E8F1F4"/>
                    </a:solidFill>
                  </a:tcPr>
                </a:tc>
              </a:tr>
            </a:tbl>
          </a:graphicData>
        </a:graphic>
      </p:graphicFrame>
      <p:sp>
        <p:nvSpPr>
          <p:cNvPr id="6" name="--check es una simulación parcial; no sustituye ejecutar y verifi">
            <a:extLst xmlns:a="http://schemas.openxmlformats.org/drawingml/2006/main">
              <a:ext uri="{FF2B5EF4-FFF2-40B4-BE49-F238E27FC236}">
                <a16:creationId xmlns:a16="http://schemas.microsoft.com/office/drawing/2014/main" id="{5FF18F28-5874-433D-8A9F-33E02BE75DFD}"/>
              </a:ext>
            </a:extLst>
          </p:cNvPr>
          <p:cNvSpPr>
            <a:spLocks xmlns:a="http://schemas.openxmlformats.org/drawingml/2006/main" noGrp="1"/>
          </p:cNvSpPr>
          <p:nvPr/>
        </p:nvSpPr>
        <p:spPr>
          <a:xfrm xmlns:a="http://schemas.openxmlformats.org/drawingml/2006/main">
            <a:off x="952500" y="7629525"/>
            <a:ext cx="13335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3677C"/>
                </a:solidFill>
                <a:latin typeface="Arial"/>
                <a:ea typeface="Arial"/>
                <a:cs typeface="Arial"/>
              </a:defRPr>
            </a:defPPr>
          </a:lstStyle>
          <a:p xmlns:a="http://schemas.openxmlformats.org/drawingml/2006/main">
            <a:pPr>
              <a:defRPr sz="1800" b="0">
                <a:solidFill>
                  <a:srgbClr val="53677C"/>
                </a:solidFill>
                <a:latin typeface="Arial"/>
                <a:ea typeface="Arial"/>
                <a:cs typeface="Arial"/>
              </a:defRPr>
            </a:pPr>
            <a:r>
              <a:rPr sz="1800" b="0">
                <a:solidFill>
                  <a:srgbClr val="53677C"/>
                </a:solidFill>
                <a:latin typeface="Arial"/>
                <a:ea typeface="Arial"/>
                <a:cs typeface="Arial"/>
              </a:rPr>
              <a:t>--check es una simulación parcial; no sustituye ejecutar y verificar el resultado.</a:t>
            </a:r>
          </a:p>
        </p:txBody>
      </p:sp>
    </p:spTree>
    <p:extLst>
      <p:ext uri="{BB962C8B-B14F-4D97-AF65-F5344CB8AC3E}">
        <p14:creationId xmlns:p14="http://schemas.microsoft.com/office/powerpoint/2010/main" val="1240455019"/>
      </p:ext>
    </p:extLst>
  </p:cSld>
</p:sld>
</file>

<file path=ppt/slides/slide3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9" name="DEMOSTRACIÓN">
            <a:extLst xmlns:a="http://schemas.openxmlformats.org/drawingml/2006/main">
              <a:ext uri="{FF2B5EF4-FFF2-40B4-BE49-F238E27FC236}">
                <a16:creationId xmlns:a16="http://schemas.microsoft.com/office/drawing/2014/main" id="{9E1CB805-FEAD-45BB-8330-CE23653BA960}"/>
              </a:ext>
            </a:extLst>
          </p:cNvPr>
          <p:cNvSpPr>
            <a:spLocks xmlns:a="http://schemas.openxmlformats.org/drawingml/2006/main" noGrp="1"/>
          </p:cNvSpPr>
          <p:nvPr/>
        </p:nvSpPr>
        <p:spPr>
          <a:xfrm xmlns:a="http://schemas.openxmlformats.org/drawingml/2006/main">
            <a:off x="914400" y="542925"/>
            <a:ext cx="1238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087F8C"/>
                </a:solidFill>
                <a:latin typeface="Arial"/>
                <a:ea typeface="Arial"/>
                <a:cs typeface="Arial"/>
              </a:defRPr>
            </a:defPPr>
          </a:lstStyle>
          <a:p xmlns:a="http://schemas.openxmlformats.org/drawingml/2006/main">
            <a:pPr>
              <a:defRPr sz="1575" b="1">
                <a:solidFill>
                  <a:srgbClr val="087F8C"/>
                </a:solidFill>
                <a:latin typeface="Arial"/>
                <a:ea typeface="Arial"/>
                <a:cs typeface="Arial"/>
              </a:defRPr>
            </a:pPr>
            <a:r>
              <a:rPr sz="1575" b="1">
                <a:solidFill>
                  <a:srgbClr val="087F8C"/>
                </a:solidFill>
                <a:latin typeface="Arial"/>
                <a:ea typeface="Arial"/>
                <a:cs typeface="Arial"/>
              </a:rPr>
              <a:t>DEMOSTRACIÓN</a:t>
            </a:r>
          </a:p>
        </p:txBody>
      </p:sp>
      <p:sp>
        <p:nvSpPr>
          <p:cNvPr id="2" name="31 / 34">
            <a:extLst xmlns:a="http://schemas.openxmlformats.org/drawingml/2006/main">
              <a:ext uri="{FF2B5EF4-FFF2-40B4-BE49-F238E27FC236}">
                <a16:creationId xmlns:a16="http://schemas.microsoft.com/office/drawing/2014/main" id="{D93A6F29-0ED7-466C-97DB-6214AA96F339}"/>
              </a:ext>
            </a:extLst>
          </p:cNvPr>
          <p:cNvSpPr>
            <a:spLocks xmlns:a="http://schemas.openxmlformats.org/drawingml/2006/main" noGrp="1"/>
          </p:cNvSpPr>
          <p:nvPr/>
        </p:nvSpPr>
        <p:spPr>
          <a:xfrm xmlns:a="http://schemas.openxmlformats.org/drawingml/2006/main">
            <a:off x="13192125" y="561975"/>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77C"/>
                </a:solidFill>
                <a:latin typeface="Arial"/>
                <a:ea typeface="Arial"/>
                <a:cs typeface="Arial"/>
              </a:defRPr>
            </a:defPPr>
          </a:lstStyle>
          <a:p xmlns:a="http://schemas.openxmlformats.org/drawingml/2006/main">
            <a:pPr>
              <a:defRPr sz="1500" b="0">
                <a:solidFill>
                  <a:srgbClr val="53677C"/>
                </a:solidFill>
                <a:latin typeface="Arial"/>
                <a:ea typeface="Arial"/>
                <a:cs typeface="Arial"/>
              </a:defRPr>
            </a:pPr>
            <a:r>
              <a:rPr sz="1500" b="0">
                <a:solidFill>
                  <a:srgbClr val="53677C"/>
                </a:solidFill>
                <a:latin typeface="Arial"/>
                <a:ea typeface="Arial"/>
                <a:cs typeface="Arial"/>
              </a:rPr>
              <a:t>31 / 34</a:t>
            </a:r>
          </a:p>
        </p:txBody>
      </p:sp>
      <p:sp>
        <p:nvSpPr>
          <p:cNvPr id="3" name="Demo 1 · Infraestructura e inventario">
            <a:extLst xmlns:a="http://schemas.openxmlformats.org/drawingml/2006/main">
              <a:ext uri="{FF2B5EF4-FFF2-40B4-BE49-F238E27FC236}">
                <a16:creationId xmlns:a16="http://schemas.microsoft.com/office/drawing/2014/main" id="{93BD8E88-B6AD-4CE4-9FC7-EC40D062AD98}"/>
              </a:ext>
            </a:extLst>
          </p:cNvPr>
          <p:cNvSpPr>
            <a:spLocks xmlns:a="http://schemas.openxmlformats.org/drawingml/2006/main" noGrp="1"/>
          </p:cNvSpPr>
          <p:nvPr/>
        </p:nvSpPr>
        <p:spPr>
          <a:xfrm xmlns:a="http://schemas.openxmlformats.org/drawingml/2006/main">
            <a:off x="914400" y="1143000"/>
            <a:ext cx="13411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132E50"/>
                </a:solidFill>
                <a:latin typeface="Arial"/>
                <a:ea typeface="Arial"/>
                <a:cs typeface="Arial"/>
              </a:defRPr>
            </a:defPPr>
          </a:lstStyle>
          <a:p xmlns:a="http://schemas.openxmlformats.org/drawingml/2006/main">
            <a:pPr>
              <a:defRPr sz="3825" b="1">
                <a:solidFill>
                  <a:srgbClr val="132E50"/>
                </a:solidFill>
                <a:latin typeface="Arial"/>
                <a:ea typeface="Arial"/>
                <a:cs typeface="Arial"/>
              </a:defRPr>
            </a:pPr>
            <a:r>
              <a:rPr sz="3825" b="1">
                <a:solidFill>
                  <a:srgbClr val="132E50"/>
                </a:solidFill>
                <a:latin typeface="Arial"/>
                <a:ea typeface="Arial"/>
                <a:cs typeface="Arial"/>
              </a:rPr>
              <a:t>Demo 1 · Infraestructura e inventario</a:t>
            </a:r>
          </a:p>
        </p:txBody>
      </p:sp>
      <p:sp>
        <p:nvSpPr>
          <p:cNvPr id="4" name="terraform init&#10;terraform plan&#10;terraform apply&#10;terraform output&#10;te">
            <a:extLst xmlns:a="http://schemas.openxmlformats.org/drawingml/2006/main">
              <a:ext uri="{FF2B5EF4-FFF2-40B4-BE49-F238E27FC236}">
                <a16:creationId xmlns:a16="http://schemas.microsoft.com/office/drawing/2014/main" id="{5D6D515E-7CDF-462D-8AA8-3370AA87535C}"/>
              </a:ext>
            </a:extLst>
          </p:cNvPr>
          <p:cNvSpPr>
            <a:spLocks xmlns:a="http://schemas.openxmlformats.org/drawingml/2006/main" noGrp="1"/>
          </p:cNvSpPr>
          <p:nvPr/>
        </p:nvSpPr>
        <p:spPr>
          <a:xfrm xmlns:a="http://schemas.openxmlformats.org/drawingml/2006/main">
            <a:off x="952500" y="2381250"/>
            <a:ext cx="8858250" cy="457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32E50"/>
                </a:solidFill>
                <a:latin typeface="Courier New"/>
                <a:ea typeface="Courier New"/>
                <a:cs typeface="Courier New"/>
              </a:defRPr>
            </a:defPPr>
          </a:lstStyle>
          <a:p xmlns:a="http://schemas.openxmlformats.org/drawingml/2006/main">
            <a:pPr>
              <a:defRPr sz="2250" b="0">
                <a:solidFill>
                  <a:srgbClr val="132E50"/>
                </a:solidFill>
                <a:latin typeface="Courier New"/>
                <a:ea typeface="Courier New"/>
                <a:cs typeface="Courier New"/>
              </a:defRPr>
            </a:pPr>
            <a:r>
              <a:rPr sz="2250" b="0">
                <a:solidFill>
                  <a:srgbClr val="132E50"/>
                </a:solidFill>
                <a:latin typeface="Courier New"/>
                <a:ea typeface="Courier New"/>
                <a:cs typeface="Courier New"/>
              </a:rPr>
              <a:t>terraform init</a:t>
            </a:r>
          </a:p>
          <a:p xmlns:a="http://schemas.openxmlformats.org/drawingml/2006/main">
            <a:pPr>
              <a:defRPr sz="2250" b="0">
                <a:solidFill>
                  <a:srgbClr val="132E50"/>
                </a:solidFill>
                <a:latin typeface="Courier New"/>
                <a:ea typeface="Courier New"/>
                <a:cs typeface="Courier New"/>
              </a:defRPr>
            </a:pPr>
            <a:r>
              <a:rPr sz="2250" b="0">
                <a:solidFill>
                  <a:srgbClr val="132E50"/>
                </a:solidFill>
                <a:latin typeface="Courier New"/>
                <a:ea typeface="Courier New"/>
                <a:cs typeface="Courier New"/>
              </a:rPr>
              <a:t>terraform plan</a:t>
            </a:r>
          </a:p>
          <a:p xmlns:a="http://schemas.openxmlformats.org/drawingml/2006/main">
            <a:pPr>
              <a:defRPr sz="2250" b="0">
                <a:solidFill>
                  <a:srgbClr val="132E50"/>
                </a:solidFill>
                <a:latin typeface="Courier New"/>
                <a:ea typeface="Courier New"/>
                <a:cs typeface="Courier New"/>
              </a:defRPr>
            </a:pPr>
            <a:r>
              <a:rPr sz="2250" b="0">
                <a:solidFill>
                  <a:srgbClr val="132E50"/>
                </a:solidFill>
                <a:latin typeface="Courier New"/>
                <a:ea typeface="Courier New"/>
                <a:cs typeface="Courier New"/>
              </a:rPr>
              <a:t>terraform apply</a:t>
            </a:r>
          </a:p>
          <a:p xmlns:a="http://schemas.openxmlformats.org/drawingml/2006/main">
            <a:pPr>
              <a:defRPr sz="2250" b="0">
                <a:solidFill>
                  <a:srgbClr val="132E50"/>
                </a:solidFill>
                <a:latin typeface="Courier New"/>
                <a:ea typeface="Courier New"/>
                <a:cs typeface="Courier New"/>
              </a:defRPr>
            </a:pPr>
            <a:r>
              <a:rPr sz="2250" b="0">
                <a:solidFill>
                  <a:srgbClr val="132E50"/>
                </a:solidFill>
                <a:latin typeface="Courier New"/>
                <a:ea typeface="Courier New"/>
                <a:cs typeface="Courier New"/>
              </a:rPr>
              <a:t>terraform output</a:t>
            </a:r>
          </a:p>
          <a:p xmlns:a="http://schemas.openxmlformats.org/drawingml/2006/main">
            <a:pPr>
              <a:defRPr sz="2250" b="0">
                <a:solidFill>
                  <a:srgbClr val="132E50"/>
                </a:solidFill>
                <a:latin typeface="Courier New"/>
                <a:ea typeface="Courier New"/>
                <a:cs typeface="Courier New"/>
              </a:defRPr>
            </a:pPr>
            <a:r>
              <a:rPr sz="2250" b="0">
                <a:solidFill>
                  <a:srgbClr val="132E50"/>
                </a:solidFill>
                <a:latin typeface="Courier New"/>
                <a:ea typeface="Courier New"/>
                <a:cs typeface="Courier New"/>
              </a:rPr>
              <a:t>terraform state list</a:t>
            </a:r>
          </a:p>
        </p:txBody>
      </p:sp>
      <p:sp>
        <p:nvSpPr>
          <p:cNvPr id="5" name="Comparar duplicación y módulo.">
            <a:extLst xmlns:a="http://schemas.openxmlformats.org/drawingml/2006/main">
              <a:ext uri="{FF2B5EF4-FFF2-40B4-BE49-F238E27FC236}">
                <a16:creationId xmlns:a16="http://schemas.microsoft.com/office/drawing/2014/main" id="{E38ECBD0-2EBD-4B3A-9D15-9C1B80497B92}"/>
              </a:ext>
            </a:extLst>
          </p:cNvPr>
          <p:cNvSpPr>
            <a:spLocks xmlns:a="http://schemas.openxmlformats.org/drawingml/2006/main" noGrp="1"/>
          </p:cNvSpPr>
          <p:nvPr/>
        </p:nvSpPr>
        <p:spPr>
          <a:xfrm xmlns:a="http://schemas.openxmlformats.org/drawingml/2006/main">
            <a:off x="10287000" y="2571750"/>
            <a:ext cx="4000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26384B"/>
                </a:solidFill>
                <a:latin typeface="Arial"/>
                <a:ea typeface="Arial"/>
                <a:cs typeface="Arial"/>
              </a:defRPr>
            </a:defPPr>
          </a:lstStyle>
          <a:p xmlns:a="http://schemas.openxmlformats.org/drawingml/2006/main">
            <a:pPr>
              <a:defRPr sz="2325" b="0">
                <a:solidFill>
                  <a:srgbClr val="26384B"/>
                </a:solidFill>
                <a:latin typeface="Arial"/>
                <a:ea typeface="Arial"/>
                <a:cs typeface="Arial"/>
              </a:defRPr>
            </a:pPr>
            <a:r>
              <a:rPr sz="2325" b="0">
                <a:solidFill>
                  <a:srgbClr val="26384B"/>
                </a:solidFill>
                <a:latin typeface="Arial"/>
                <a:ea typeface="Arial"/>
                <a:cs typeface="Arial"/>
              </a:rPr>
              <a:t>Comparar duplicación y módulo.</a:t>
            </a:r>
          </a:p>
        </p:txBody>
      </p:sp>
      <p:sp>
        <p:nvSpPr>
          <p:cNvPr id="6" name="Anticipar 1 VM en staging y 2 en prod.">
            <a:extLst xmlns:a="http://schemas.openxmlformats.org/drawingml/2006/main">
              <a:ext uri="{FF2B5EF4-FFF2-40B4-BE49-F238E27FC236}">
                <a16:creationId xmlns:a16="http://schemas.microsoft.com/office/drawing/2014/main" id="{8983CB2C-9618-4D0F-9126-C07A2D48518A}"/>
              </a:ext>
            </a:extLst>
          </p:cNvPr>
          <p:cNvSpPr>
            <a:spLocks xmlns:a="http://schemas.openxmlformats.org/drawingml/2006/main" noGrp="1"/>
          </p:cNvSpPr>
          <p:nvPr/>
        </p:nvSpPr>
        <p:spPr>
          <a:xfrm xmlns:a="http://schemas.openxmlformats.org/drawingml/2006/main">
            <a:off x="10287000" y="4000500"/>
            <a:ext cx="4000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26384B"/>
                </a:solidFill>
                <a:latin typeface="Arial"/>
                <a:ea typeface="Arial"/>
                <a:cs typeface="Arial"/>
              </a:defRPr>
            </a:defPPr>
          </a:lstStyle>
          <a:p xmlns:a="http://schemas.openxmlformats.org/drawingml/2006/main">
            <a:pPr>
              <a:defRPr sz="2325" b="0">
                <a:solidFill>
                  <a:srgbClr val="26384B"/>
                </a:solidFill>
                <a:latin typeface="Arial"/>
                <a:ea typeface="Arial"/>
                <a:cs typeface="Arial"/>
              </a:defRPr>
            </a:pPr>
            <a:r>
              <a:rPr sz="2325" b="0">
                <a:solidFill>
                  <a:srgbClr val="26384B"/>
                </a:solidFill>
                <a:latin typeface="Arial"/>
                <a:ea typeface="Arial"/>
                <a:cs typeface="Arial"/>
              </a:rPr>
              <a:t>Anticipar 1 VM en staging y 2 en prod.</a:t>
            </a:r>
          </a:p>
        </p:txBody>
      </p:sp>
      <p:sp>
        <p:nvSpPr>
          <p:cNvPr id="7" name="Abrir el inventario generado.">
            <a:extLst xmlns:a="http://schemas.openxmlformats.org/drawingml/2006/main">
              <a:ext uri="{FF2B5EF4-FFF2-40B4-BE49-F238E27FC236}">
                <a16:creationId xmlns:a16="http://schemas.microsoft.com/office/drawing/2014/main" id="{F706BDA3-D275-4D61-B9D5-E5AD3E685F44}"/>
              </a:ext>
            </a:extLst>
          </p:cNvPr>
          <p:cNvSpPr>
            <a:spLocks xmlns:a="http://schemas.openxmlformats.org/drawingml/2006/main" noGrp="1"/>
          </p:cNvSpPr>
          <p:nvPr/>
        </p:nvSpPr>
        <p:spPr>
          <a:xfrm xmlns:a="http://schemas.openxmlformats.org/drawingml/2006/main">
            <a:off x="10287000" y="5429250"/>
            <a:ext cx="4000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26384B"/>
                </a:solidFill>
                <a:latin typeface="Arial"/>
                <a:ea typeface="Arial"/>
                <a:cs typeface="Arial"/>
              </a:defRPr>
            </a:defPPr>
          </a:lstStyle>
          <a:p xmlns:a="http://schemas.openxmlformats.org/drawingml/2006/main">
            <a:pPr>
              <a:defRPr sz="2325" b="0">
                <a:solidFill>
                  <a:srgbClr val="26384B"/>
                </a:solidFill>
                <a:latin typeface="Arial"/>
                <a:ea typeface="Arial"/>
                <a:cs typeface="Arial"/>
              </a:defRPr>
            </a:pPr>
            <a:r>
              <a:rPr sz="2325" b="0">
                <a:solidFill>
                  <a:srgbClr val="26384B"/>
                </a:solidFill>
                <a:latin typeface="Arial"/>
                <a:ea typeface="Arial"/>
                <a:cs typeface="Arial"/>
              </a:rPr>
              <a:t>Abrir el inventario generado.</a:t>
            </a:r>
          </a:p>
        </p:txBody>
      </p:sp>
      <p:sp>
        <p:nvSpPr>
          <p:cNvPr id="8" name="Directorio: ejemplos/cloud-clase-2/terraform">
            <a:extLst xmlns:a="http://schemas.openxmlformats.org/drawingml/2006/main">
              <a:ext uri="{FF2B5EF4-FFF2-40B4-BE49-F238E27FC236}">
                <a16:creationId xmlns:a16="http://schemas.microsoft.com/office/drawing/2014/main" id="{002AD453-59B4-486C-ABD1-4716BE67CE1C}"/>
              </a:ext>
            </a:extLst>
          </p:cNvPr>
          <p:cNvSpPr>
            <a:spLocks xmlns:a="http://schemas.openxmlformats.org/drawingml/2006/main" noGrp="1"/>
          </p:cNvSpPr>
          <p:nvPr/>
        </p:nvSpPr>
        <p:spPr>
          <a:xfrm xmlns:a="http://schemas.openxmlformats.org/drawingml/2006/main">
            <a:off x="952500" y="7629525"/>
            <a:ext cx="13335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3677C"/>
                </a:solidFill>
                <a:latin typeface="Arial"/>
                <a:ea typeface="Arial"/>
                <a:cs typeface="Arial"/>
              </a:defRPr>
            </a:defPPr>
          </a:lstStyle>
          <a:p xmlns:a="http://schemas.openxmlformats.org/drawingml/2006/main">
            <a:pPr>
              <a:defRPr sz="1800" b="0">
                <a:solidFill>
                  <a:srgbClr val="53677C"/>
                </a:solidFill>
                <a:latin typeface="Arial"/>
                <a:ea typeface="Arial"/>
                <a:cs typeface="Arial"/>
              </a:defRPr>
            </a:pPr>
            <a:r>
              <a:rPr sz="1800" b="0">
                <a:solidFill>
                  <a:srgbClr val="53677C"/>
                </a:solidFill>
                <a:latin typeface="Arial"/>
                <a:ea typeface="Arial"/>
                <a:cs typeface="Arial"/>
              </a:rPr>
              <a:t>Directorio: ejemplos/cloud-clase-2/terraform</a:t>
            </a:r>
          </a:p>
        </p:txBody>
      </p:sp>
    </p:spTree>
    <p:extLst>
      <p:ext uri="{BB962C8B-B14F-4D97-AF65-F5344CB8AC3E}">
        <p14:creationId xmlns:p14="http://schemas.microsoft.com/office/powerpoint/2010/main" val="1207822952"/>
      </p:ext>
    </p:extLst>
  </p:cSld>
</p:sld>
</file>

<file path=ppt/slides/slide3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9" name="DEMOSTRACIÓN">
            <a:extLst xmlns:a="http://schemas.openxmlformats.org/drawingml/2006/main">
              <a:ext uri="{FF2B5EF4-FFF2-40B4-BE49-F238E27FC236}">
                <a16:creationId xmlns:a16="http://schemas.microsoft.com/office/drawing/2014/main" id="{02FC6951-443A-40CF-80FB-1C72F467B53E}"/>
              </a:ext>
            </a:extLst>
          </p:cNvPr>
          <p:cNvSpPr>
            <a:spLocks xmlns:a="http://schemas.openxmlformats.org/drawingml/2006/main" noGrp="1"/>
          </p:cNvSpPr>
          <p:nvPr/>
        </p:nvSpPr>
        <p:spPr>
          <a:xfrm xmlns:a="http://schemas.openxmlformats.org/drawingml/2006/main">
            <a:off x="914400" y="542925"/>
            <a:ext cx="1238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087F8C"/>
                </a:solidFill>
                <a:latin typeface="Arial"/>
                <a:ea typeface="Arial"/>
                <a:cs typeface="Arial"/>
              </a:defRPr>
            </a:defPPr>
          </a:lstStyle>
          <a:p xmlns:a="http://schemas.openxmlformats.org/drawingml/2006/main">
            <a:pPr>
              <a:defRPr sz="1575" b="1">
                <a:solidFill>
                  <a:srgbClr val="087F8C"/>
                </a:solidFill>
                <a:latin typeface="Arial"/>
                <a:ea typeface="Arial"/>
                <a:cs typeface="Arial"/>
              </a:defRPr>
            </a:pPr>
            <a:r>
              <a:rPr sz="1575" b="1">
                <a:solidFill>
                  <a:srgbClr val="087F8C"/>
                </a:solidFill>
                <a:latin typeface="Arial"/>
                <a:ea typeface="Arial"/>
                <a:cs typeface="Arial"/>
              </a:rPr>
              <a:t>DEMOSTRACIÓN</a:t>
            </a:r>
          </a:p>
        </p:txBody>
      </p:sp>
      <p:sp>
        <p:nvSpPr>
          <p:cNvPr id="2" name="32 / 34">
            <a:extLst xmlns:a="http://schemas.openxmlformats.org/drawingml/2006/main">
              <a:ext uri="{FF2B5EF4-FFF2-40B4-BE49-F238E27FC236}">
                <a16:creationId xmlns:a16="http://schemas.microsoft.com/office/drawing/2014/main" id="{0B25CA61-4B3E-4E8D-B650-716B6EAAE1B3}"/>
              </a:ext>
            </a:extLst>
          </p:cNvPr>
          <p:cNvSpPr>
            <a:spLocks xmlns:a="http://schemas.openxmlformats.org/drawingml/2006/main" noGrp="1"/>
          </p:cNvSpPr>
          <p:nvPr/>
        </p:nvSpPr>
        <p:spPr>
          <a:xfrm xmlns:a="http://schemas.openxmlformats.org/drawingml/2006/main">
            <a:off x="13192125" y="561975"/>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77C"/>
                </a:solidFill>
                <a:latin typeface="Arial"/>
                <a:ea typeface="Arial"/>
                <a:cs typeface="Arial"/>
              </a:defRPr>
            </a:defPPr>
          </a:lstStyle>
          <a:p xmlns:a="http://schemas.openxmlformats.org/drawingml/2006/main">
            <a:pPr>
              <a:defRPr sz="1500" b="0">
                <a:solidFill>
                  <a:srgbClr val="53677C"/>
                </a:solidFill>
                <a:latin typeface="Arial"/>
                <a:ea typeface="Arial"/>
                <a:cs typeface="Arial"/>
              </a:defRPr>
            </a:pPr>
            <a:r>
              <a:rPr sz="1500" b="0">
                <a:solidFill>
                  <a:srgbClr val="53677C"/>
                </a:solidFill>
                <a:latin typeface="Arial"/>
                <a:ea typeface="Arial"/>
                <a:cs typeface="Arial"/>
              </a:rPr>
              <a:t>32 / 34</a:t>
            </a:r>
          </a:p>
        </p:txBody>
      </p:sp>
      <p:sp>
        <p:nvSpPr>
          <p:cNvPr id="3" name="Demo 2 · Playbook, roles y repetición">
            <a:extLst xmlns:a="http://schemas.openxmlformats.org/drawingml/2006/main">
              <a:ext uri="{FF2B5EF4-FFF2-40B4-BE49-F238E27FC236}">
                <a16:creationId xmlns:a16="http://schemas.microsoft.com/office/drawing/2014/main" id="{2CCF269B-C341-46C0-8FEF-3B629FE28D24}"/>
              </a:ext>
            </a:extLst>
          </p:cNvPr>
          <p:cNvSpPr>
            <a:spLocks xmlns:a="http://schemas.openxmlformats.org/drawingml/2006/main" noGrp="1"/>
          </p:cNvSpPr>
          <p:nvPr/>
        </p:nvSpPr>
        <p:spPr>
          <a:xfrm xmlns:a="http://schemas.openxmlformats.org/drawingml/2006/main">
            <a:off x="914400" y="1143000"/>
            <a:ext cx="13411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132E50"/>
                </a:solidFill>
                <a:latin typeface="Arial"/>
                <a:ea typeface="Arial"/>
                <a:cs typeface="Arial"/>
              </a:defRPr>
            </a:defPPr>
          </a:lstStyle>
          <a:p xmlns:a="http://schemas.openxmlformats.org/drawingml/2006/main">
            <a:pPr>
              <a:defRPr sz="3825" b="1">
                <a:solidFill>
                  <a:srgbClr val="132E50"/>
                </a:solidFill>
                <a:latin typeface="Arial"/>
                <a:ea typeface="Arial"/>
                <a:cs typeface="Arial"/>
              </a:defRPr>
            </a:pPr>
            <a:r>
              <a:rPr sz="3825" b="1">
                <a:solidFill>
                  <a:srgbClr val="132E50"/>
                </a:solidFill>
                <a:latin typeface="Arial"/>
                <a:ea typeface="Arial"/>
                <a:cs typeface="Arial"/>
              </a:rPr>
              <a:t>Demo 2 · Playbook, roles y repetición</a:t>
            </a:r>
          </a:p>
        </p:txBody>
      </p:sp>
      <p:sp>
        <p:nvSpPr>
          <p:cNvPr id="4" name="ansible web -m ping&#10;ansible-playbook playbook-plano.yml&#10;ansible-p">
            <a:extLst xmlns:a="http://schemas.openxmlformats.org/drawingml/2006/main">
              <a:ext uri="{FF2B5EF4-FFF2-40B4-BE49-F238E27FC236}">
                <a16:creationId xmlns:a16="http://schemas.microsoft.com/office/drawing/2014/main" id="{A9AD97AC-A70D-4312-8522-4AC46D59209A}"/>
              </a:ext>
            </a:extLst>
          </p:cNvPr>
          <p:cNvSpPr>
            <a:spLocks xmlns:a="http://schemas.openxmlformats.org/drawingml/2006/main" noGrp="1"/>
          </p:cNvSpPr>
          <p:nvPr/>
        </p:nvSpPr>
        <p:spPr>
          <a:xfrm xmlns:a="http://schemas.openxmlformats.org/drawingml/2006/main">
            <a:off x="952500" y="2381250"/>
            <a:ext cx="8858250" cy="457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32E50"/>
                </a:solidFill>
                <a:latin typeface="Courier New"/>
                <a:ea typeface="Courier New"/>
                <a:cs typeface="Courier New"/>
              </a:defRPr>
            </a:defPPr>
          </a:lstStyle>
          <a:p xmlns:a="http://schemas.openxmlformats.org/drawingml/2006/main">
            <a:pPr>
              <a:defRPr sz="2250" b="0">
                <a:solidFill>
                  <a:srgbClr val="132E50"/>
                </a:solidFill>
                <a:latin typeface="Courier New"/>
                <a:ea typeface="Courier New"/>
                <a:cs typeface="Courier New"/>
              </a:defRPr>
            </a:pPr>
            <a:r>
              <a:rPr sz="2250" b="0">
                <a:solidFill>
                  <a:srgbClr val="132E50"/>
                </a:solidFill>
                <a:latin typeface="Courier New"/>
                <a:ea typeface="Courier New"/>
                <a:cs typeface="Courier New"/>
              </a:rPr>
              <a:t>ansible web -m ping</a:t>
            </a:r>
          </a:p>
          <a:p xmlns:a="http://schemas.openxmlformats.org/drawingml/2006/main">
            <a:pPr>
              <a:defRPr sz="2250" b="0">
                <a:solidFill>
                  <a:srgbClr val="132E50"/>
                </a:solidFill>
                <a:latin typeface="Courier New"/>
                <a:ea typeface="Courier New"/>
                <a:cs typeface="Courier New"/>
              </a:defRPr>
            </a:pPr>
            <a:r>
              <a:rPr sz="2250" b="0">
                <a:solidFill>
                  <a:srgbClr val="132E50"/>
                </a:solidFill>
                <a:latin typeface="Courier New"/>
                <a:ea typeface="Courier New"/>
                <a:cs typeface="Courier New"/>
              </a:rPr>
              <a:t>ansible-playbook playbook-plano.yml</a:t>
            </a:r>
          </a:p>
          <a:p xmlns:a="http://schemas.openxmlformats.org/drawingml/2006/main">
            <a:pPr>
              <a:defRPr sz="2250" b="0">
                <a:solidFill>
                  <a:srgbClr val="132E50"/>
                </a:solidFill>
                <a:latin typeface="Courier New"/>
                <a:ea typeface="Courier New"/>
                <a:cs typeface="Courier New"/>
              </a:defRPr>
            </a:pPr>
            <a:r>
              <a:rPr sz="2250" b="0">
                <a:solidFill>
                  <a:srgbClr val="132E50"/>
                </a:solidFill>
                <a:latin typeface="Courier New"/>
                <a:ea typeface="Courier New"/>
                <a:cs typeface="Courier New"/>
              </a:rPr>
              <a:t>ansible-playbook site.yml</a:t>
            </a:r>
          </a:p>
          <a:p xmlns:a="http://schemas.openxmlformats.org/drawingml/2006/main">
            <a:pPr>
              <a:defRPr sz="2250" b="0">
                <a:solidFill>
                  <a:srgbClr val="132E50"/>
                </a:solidFill>
                <a:latin typeface="Courier New"/>
                <a:ea typeface="Courier New"/>
                <a:cs typeface="Courier New"/>
              </a:defRPr>
            </a:pPr>
            <a:r>
              <a:rPr sz="2250" b="0">
                <a:solidFill>
                  <a:srgbClr val="132E50"/>
                </a:solidFill>
                <a:latin typeface="Courier New"/>
                <a:ea typeface="Courier New"/>
                <a:cs typeface="Courier New"/>
              </a:rPr>
              <a:t>ansible-playbook site.yml</a:t>
            </a:r>
          </a:p>
        </p:txBody>
      </p:sp>
      <p:sp>
        <p:nvSpPr>
          <p:cNvPr id="5" name="Comparar el playbook plano con los roles.">
            <a:extLst xmlns:a="http://schemas.openxmlformats.org/drawingml/2006/main">
              <a:ext uri="{FF2B5EF4-FFF2-40B4-BE49-F238E27FC236}">
                <a16:creationId xmlns:a16="http://schemas.microsoft.com/office/drawing/2014/main" id="{87025436-0EEA-4246-A74A-E1D90487B9D6}"/>
              </a:ext>
            </a:extLst>
          </p:cNvPr>
          <p:cNvSpPr>
            <a:spLocks xmlns:a="http://schemas.openxmlformats.org/drawingml/2006/main" noGrp="1"/>
          </p:cNvSpPr>
          <p:nvPr/>
        </p:nvSpPr>
        <p:spPr>
          <a:xfrm xmlns:a="http://schemas.openxmlformats.org/drawingml/2006/main">
            <a:off x="10287000" y="2571750"/>
            <a:ext cx="4000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26384B"/>
                </a:solidFill>
                <a:latin typeface="Arial"/>
                <a:ea typeface="Arial"/>
                <a:cs typeface="Arial"/>
              </a:defRPr>
            </a:defPPr>
          </a:lstStyle>
          <a:p xmlns:a="http://schemas.openxmlformats.org/drawingml/2006/main">
            <a:pPr>
              <a:defRPr sz="2325" b="0">
                <a:solidFill>
                  <a:srgbClr val="26384B"/>
                </a:solidFill>
                <a:latin typeface="Arial"/>
                <a:ea typeface="Arial"/>
                <a:cs typeface="Arial"/>
              </a:defRPr>
            </a:pPr>
            <a:r>
              <a:rPr sz="2325" b="0">
                <a:solidFill>
                  <a:srgbClr val="26384B"/>
                </a:solidFill>
                <a:latin typeface="Arial"/>
                <a:ea typeface="Arial"/>
                <a:cs typeface="Arial"/>
              </a:rPr>
              <a:t>Comparar el playbook plano con los roles.</a:t>
            </a:r>
          </a:p>
        </p:txBody>
      </p:sp>
      <p:sp>
        <p:nvSpPr>
          <p:cNvPr id="6" name="Observar qué tareas cambian.">
            <a:extLst xmlns:a="http://schemas.openxmlformats.org/drawingml/2006/main">
              <a:ext uri="{FF2B5EF4-FFF2-40B4-BE49-F238E27FC236}">
                <a16:creationId xmlns:a16="http://schemas.microsoft.com/office/drawing/2014/main" id="{98D000CC-E47C-45C9-A42A-31F6451D1CA9}"/>
              </a:ext>
            </a:extLst>
          </p:cNvPr>
          <p:cNvSpPr>
            <a:spLocks xmlns:a="http://schemas.openxmlformats.org/drawingml/2006/main" noGrp="1"/>
          </p:cNvSpPr>
          <p:nvPr/>
        </p:nvSpPr>
        <p:spPr>
          <a:xfrm xmlns:a="http://schemas.openxmlformats.org/drawingml/2006/main">
            <a:off x="10287000" y="4000500"/>
            <a:ext cx="4000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26384B"/>
                </a:solidFill>
                <a:latin typeface="Arial"/>
                <a:ea typeface="Arial"/>
                <a:cs typeface="Arial"/>
              </a:defRPr>
            </a:defPPr>
          </a:lstStyle>
          <a:p xmlns:a="http://schemas.openxmlformats.org/drawingml/2006/main">
            <a:pPr>
              <a:defRPr sz="2325" b="0">
                <a:solidFill>
                  <a:srgbClr val="26384B"/>
                </a:solidFill>
                <a:latin typeface="Arial"/>
                <a:ea typeface="Arial"/>
                <a:cs typeface="Arial"/>
              </a:defRPr>
            </a:pPr>
            <a:r>
              <a:rPr sz="2325" b="0">
                <a:solidFill>
                  <a:srgbClr val="26384B"/>
                </a:solidFill>
                <a:latin typeface="Arial"/>
                <a:ea typeface="Arial"/>
                <a:cs typeface="Arial"/>
              </a:rPr>
              <a:t>Observar qué tareas cambian.</a:t>
            </a:r>
          </a:p>
        </p:txBody>
      </p:sp>
      <p:sp>
        <p:nvSpPr>
          <p:cNvPr id="7" name="Abrir staging v2 y producción v1.">
            <a:extLst xmlns:a="http://schemas.openxmlformats.org/drawingml/2006/main">
              <a:ext uri="{FF2B5EF4-FFF2-40B4-BE49-F238E27FC236}">
                <a16:creationId xmlns:a16="http://schemas.microsoft.com/office/drawing/2014/main" id="{51FD292C-1583-46E3-8E27-682EC995A901}"/>
              </a:ext>
            </a:extLst>
          </p:cNvPr>
          <p:cNvSpPr>
            <a:spLocks xmlns:a="http://schemas.openxmlformats.org/drawingml/2006/main" noGrp="1"/>
          </p:cNvSpPr>
          <p:nvPr/>
        </p:nvSpPr>
        <p:spPr>
          <a:xfrm xmlns:a="http://schemas.openxmlformats.org/drawingml/2006/main">
            <a:off x="10287000" y="5429250"/>
            <a:ext cx="4000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26384B"/>
                </a:solidFill>
                <a:latin typeface="Arial"/>
                <a:ea typeface="Arial"/>
                <a:cs typeface="Arial"/>
              </a:defRPr>
            </a:defPPr>
          </a:lstStyle>
          <a:p xmlns:a="http://schemas.openxmlformats.org/drawingml/2006/main">
            <a:pPr>
              <a:defRPr sz="2325" b="0">
                <a:solidFill>
                  <a:srgbClr val="26384B"/>
                </a:solidFill>
                <a:latin typeface="Arial"/>
                <a:ea typeface="Arial"/>
                <a:cs typeface="Arial"/>
              </a:defRPr>
            </a:pPr>
            <a:r>
              <a:rPr sz="2325" b="0">
                <a:solidFill>
                  <a:srgbClr val="26384B"/>
                </a:solidFill>
                <a:latin typeface="Arial"/>
                <a:ea typeface="Arial"/>
                <a:cs typeface="Arial"/>
              </a:rPr>
              <a:t>Abrir staging v2 y producción v1.</a:t>
            </a:r>
          </a:p>
        </p:txBody>
      </p:sp>
      <p:sp>
        <p:nvSpPr>
          <p:cNvPr id="8" name="Directorio: ejemplos/cloud-clase-2/ansible">
            <a:extLst xmlns:a="http://schemas.openxmlformats.org/drawingml/2006/main">
              <a:ext uri="{FF2B5EF4-FFF2-40B4-BE49-F238E27FC236}">
                <a16:creationId xmlns:a16="http://schemas.microsoft.com/office/drawing/2014/main" id="{4AC3EF12-8CE8-48E5-AD68-3BFC6C174295}"/>
              </a:ext>
            </a:extLst>
          </p:cNvPr>
          <p:cNvSpPr>
            <a:spLocks xmlns:a="http://schemas.openxmlformats.org/drawingml/2006/main" noGrp="1"/>
          </p:cNvSpPr>
          <p:nvPr/>
        </p:nvSpPr>
        <p:spPr>
          <a:xfrm xmlns:a="http://schemas.openxmlformats.org/drawingml/2006/main">
            <a:off x="952500" y="7629525"/>
            <a:ext cx="13335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3677C"/>
                </a:solidFill>
                <a:latin typeface="Arial"/>
                <a:ea typeface="Arial"/>
                <a:cs typeface="Arial"/>
              </a:defRPr>
            </a:defPPr>
          </a:lstStyle>
          <a:p xmlns:a="http://schemas.openxmlformats.org/drawingml/2006/main">
            <a:pPr>
              <a:defRPr sz="1800" b="0">
                <a:solidFill>
                  <a:srgbClr val="53677C"/>
                </a:solidFill>
                <a:latin typeface="Arial"/>
                <a:ea typeface="Arial"/>
                <a:cs typeface="Arial"/>
              </a:defRPr>
            </a:pPr>
            <a:r>
              <a:rPr sz="1800" b="0">
                <a:solidFill>
                  <a:srgbClr val="53677C"/>
                </a:solidFill>
                <a:latin typeface="Arial"/>
                <a:ea typeface="Arial"/>
                <a:cs typeface="Arial"/>
              </a:rPr>
              <a:t>Directorio: ejemplos/cloud-clase-2/ansible</a:t>
            </a:r>
          </a:p>
        </p:txBody>
      </p:sp>
    </p:spTree>
    <p:extLst>
      <p:ext uri="{BB962C8B-B14F-4D97-AF65-F5344CB8AC3E}">
        <p14:creationId xmlns:p14="http://schemas.microsoft.com/office/powerpoint/2010/main" val="1011714148"/>
      </p:ext>
    </p:extLst>
  </p:cSld>
</p:sld>
</file>

<file path=ppt/slides/slide3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9" name="DEMOSTRACIÓN">
            <a:extLst xmlns:a="http://schemas.openxmlformats.org/drawingml/2006/main">
              <a:ext uri="{FF2B5EF4-FFF2-40B4-BE49-F238E27FC236}">
                <a16:creationId xmlns:a16="http://schemas.microsoft.com/office/drawing/2014/main" id="{8CB8F79E-8DE5-4F72-8597-7AD0CEDAD05F}"/>
              </a:ext>
            </a:extLst>
          </p:cNvPr>
          <p:cNvSpPr>
            <a:spLocks xmlns:a="http://schemas.openxmlformats.org/drawingml/2006/main" noGrp="1"/>
          </p:cNvSpPr>
          <p:nvPr/>
        </p:nvSpPr>
        <p:spPr>
          <a:xfrm xmlns:a="http://schemas.openxmlformats.org/drawingml/2006/main">
            <a:off x="914400" y="542925"/>
            <a:ext cx="1238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087F8C"/>
                </a:solidFill>
                <a:latin typeface="Arial"/>
                <a:ea typeface="Arial"/>
                <a:cs typeface="Arial"/>
              </a:defRPr>
            </a:defPPr>
          </a:lstStyle>
          <a:p xmlns:a="http://schemas.openxmlformats.org/drawingml/2006/main">
            <a:pPr>
              <a:defRPr sz="1575" b="1">
                <a:solidFill>
                  <a:srgbClr val="087F8C"/>
                </a:solidFill>
                <a:latin typeface="Arial"/>
                <a:ea typeface="Arial"/>
                <a:cs typeface="Arial"/>
              </a:defRPr>
            </a:pPr>
            <a:r>
              <a:rPr sz="1575" b="1">
                <a:solidFill>
                  <a:srgbClr val="087F8C"/>
                </a:solidFill>
                <a:latin typeface="Arial"/>
                <a:ea typeface="Arial"/>
                <a:cs typeface="Arial"/>
              </a:rPr>
              <a:t>DEMOSTRACIÓN</a:t>
            </a:r>
          </a:p>
        </p:txBody>
      </p:sp>
      <p:sp>
        <p:nvSpPr>
          <p:cNvPr id="2" name="33 / 34">
            <a:extLst xmlns:a="http://schemas.openxmlformats.org/drawingml/2006/main">
              <a:ext uri="{FF2B5EF4-FFF2-40B4-BE49-F238E27FC236}">
                <a16:creationId xmlns:a16="http://schemas.microsoft.com/office/drawing/2014/main" id="{BB68F988-159F-4CE6-A235-392BEAF0B8A0}"/>
              </a:ext>
            </a:extLst>
          </p:cNvPr>
          <p:cNvSpPr>
            <a:spLocks xmlns:a="http://schemas.openxmlformats.org/drawingml/2006/main" noGrp="1"/>
          </p:cNvSpPr>
          <p:nvPr/>
        </p:nvSpPr>
        <p:spPr>
          <a:xfrm xmlns:a="http://schemas.openxmlformats.org/drawingml/2006/main">
            <a:off x="13192125" y="561975"/>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77C"/>
                </a:solidFill>
                <a:latin typeface="Arial"/>
                <a:ea typeface="Arial"/>
                <a:cs typeface="Arial"/>
              </a:defRPr>
            </a:defPPr>
          </a:lstStyle>
          <a:p xmlns:a="http://schemas.openxmlformats.org/drawingml/2006/main">
            <a:pPr>
              <a:defRPr sz="1500" b="0">
                <a:solidFill>
                  <a:srgbClr val="53677C"/>
                </a:solidFill>
                <a:latin typeface="Arial"/>
                <a:ea typeface="Arial"/>
                <a:cs typeface="Arial"/>
              </a:defRPr>
            </a:pPr>
            <a:r>
              <a:rPr sz="1500" b="0">
                <a:solidFill>
                  <a:srgbClr val="53677C"/>
                </a:solidFill>
                <a:latin typeface="Arial"/>
                <a:ea typeface="Arial"/>
                <a:cs typeface="Arial"/>
              </a:rPr>
              <a:t>33 / 34</a:t>
            </a:r>
          </a:p>
        </p:txBody>
      </p:sp>
      <p:sp>
        <p:nvSpPr>
          <p:cNvPr id="3" name="Demo 3 · Promoción y cierre de recursos">
            <a:extLst xmlns:a="http://schemas.openxmlformats.org/drawingml/2006/main">
              <a:ext uri="{FF2B5EF4-FFF2-40B4-BE49-F238E27FC236}">
                <a16:creationId xmlns:a16="http://schemas.microsoft.com/office/drawing/2014/main" id="{4B52CEB1-D0E5-456F-8801-93367CA25A2E}"/>
              </a:ext>
            </a:extLst>
          </p:cNvPr>
          <p:cNvSpPr>
            <a:spLocks xmlns:a="http://schemas.openxmlformats.org/drawingml/2006/main" noGrp="1"/>
          </p:cNvSpPr>
          <p:nvPr/>
        </p:nvSpPr>
        <p:spPr>
          <a:xfrm xmlns:a="http://schemas.openxmlformats.org/drawingml/2006/main">
            <a:off x="914400" y="1143000"/>
            <a:ext cx="13411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132E50"/>
                </a:solidFill>
                <a:latin typeface="Arial"/>
                <a:ea typeface="Arial"/>
                <a:cs typeface="Arial"/>
              </a:defRPr>
            </a:defPPr>
          </a:lstStyle>
          <a:p xmlns:a="http://schemas.openxmlformats.org/drawingml/2006/main">
            <a:pPr>
              <a:defRPr sz="3825" b="1">
                <a:solidFill>
                  <a:srgbClr val="132E50"/>
                </a:solidFill>
                <a:latin typeface="Arial"/>
                <a:ea typeface="Arial"/>
                <a:cs typeface="Arial"/>
              </a:defRPr>
            </a:pPr>
            <a:r>
              <a:rPr sz="3825" b="1">
                <a:solidFill>
                  <a:srgbClr val="132E50"/>
                </a:solidFill>
                <a:latin typeface="Arial"/>
                <a:ea typeface="Arial"/>
                <a:cs typeface="Arial"/>
              </a:rPr>
              <a:t>Demo 3 · Promoción y cierre de recursos</a:t>
            </a:r>
          </a:p>
        </p:txBody>
      </p:sp>
      <p:sp>
        <p:nvSpPr>
          <p:cNvPr id="4" name="ansible-playbook site.yml --limit prod \&#10;  -e web_version=v2&#10;&#10;# D">
            <a:extLst xmlns:a="http://schemas.openxmlformats.org/drawingml/2006/main">
              <a:ext uri="{FF2B5EF4-FFF2-40B4-BE49-F238E27FC236}">
                <a16:creationId xmlns:a16="http://schemas.microsoft.com/office/drawing/2014/main" id="{3F0F31C6-ABC6-41EE-9CB7-37C616FA5BC4}"/>
              </a:ext>
            </a:extLst>
          </p:cNvPr>
          <p:cNvSpPr>
            <a:spLocks xmlns:a="http://schemas.openxmlformats.org/drawingml/2006/main" noGrp="1"/>
          </p:cNvSpPr>
          <p:nvPr/>
        </p:nvSpPr>
        <p:spPr>
          <a:xfrm xmlns:a="http://schemas.openxmlformats.org/drawingml/2006/main">
            <a:off x="952500" y="2381250"/>
            <a:ext cx="8858250" cy="457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32E50"/>
                </a:solidFill>
                <a:latin typeface="Courier New"/>
                <a:ea typeface="Courier New"/>
                <a:cs typeface="Courier New"/>
              </a:defRPr>
            </a:defPPr>
          </a:lstStyle>
          <a:p xmlns:a="http://schemas.openxmlformats.org/drawingml/2006/main">
            <a:pPr>
              <a:defRPr sz="2250" b="0">
                <a:solidFill>
                  <a:srgbClr val="132E50"/>
                </a:solidFill>
                <a:latin typeface="Courier New"/>
                <a:ea typeface="Courier New"/>
                <a:cs typeface="Courier New"/>
              </a:defRPr>
            </a:pPr>
            <a:r>
              <a:rPr sz="2250" b="0">
                <a:solidFill>
                  <a:srgbClr val="132E50"/>
                </a:solidFill>
                <a:latin typeface="Courier New"/>
                <a:ea typeface="Courier New"/>
                <a:cs typeface="Courier New"/>
              </a:rPr>
              <a:t>ansible-playbook site.yml --limit prod \</a:t>
            </a:r>
          </a:p>
          <a:p xmlns:a="http://schemas.openxmlformats.org/drawingml/2006/main">
            <a:pPr>
              <a:defRPr sz="2250" b="0">
                <a:solidFill>
                  <a:srgbClr val="132E50"/>
                </a:solidFill>
                <a:latin typeface="Courier New"/>
                <a:ea typeface="Courier New"/>
                <a:cs typeface="Courier New"/>
              </a:defRPr>
            </a:pPr>
            <a:r>
              <a:rPr sz="2250" b="0">
                <a:solidFill>
                  <a:srgbClr val="132E50"/>
                </a:solidFill>
                <a:latin typeface="Courier New"/>
                <a:ea typeface="Courier New"/>
                <a:cs typeface="Courier New"/>
              </a:rPr>
              <a:t>  -e web_version=v2</a:t>
            </a:r>
          </a:p>
          <a:p xmlns:a="http://schemas.openxmlformats.org/drawingml/2006/main">
            <a:r>
              <a:t/>
            </a:r>
          </a:p>
          <a:p xmlns:a="http://schemas.openxmlformats.org/drawingml/2006/main">
            <a:pPr>
              <a:defRPr sz="2250" b="0">
                <a:solidFill>
                  <a:srgbClr val="132E50"/>
                </a:solidFill>
                <a:latin typeface="Courier New"/>
                <a:ea typeface="Courier New"/>
                <a:cs typeface="Courier New"/>
              </a:defRPr>
            </a:pPr>
            <a:r>
              <a:rPr sz="2250" b="0">
                <a:solidFill>
                  <a:srgbClr val="132E50"/>
                </a:solidFill>
                <a:latin typeface="Courier New"/>
                <a:ea typeface="Courier New"/>
                <a:cs typeface="Courier New"/>
              </a:rPr>
              <a:t># Después de verificar la web:</a:t>
            </a:r>
          </a:p>
          <a:p xmlns:a="http://schemas.openxmlformats.org/drawingml/2006/main">
            <a:pPr>
              <a:defRPr sz="2250" b="0">
                <a:solidFill>
                  <a:srgbClr val="132E50"/>
                </a:solidFill>
                <a:latin typeface="Courier New"/>
                <a:ea typeface="Courier New"/>
                <a:cs typeface="Courier New"/>
              </a:defRPr>
            </a:pPr>
            <a:r>
              <a:rPr sz="2250" b="0">
                <a:solidFill>
                  <a:srgbClr val="132E50"/>
                </a:solidFill>
                <a:latin typeface="Courier New"/>
                <a:ea typeface="Courier New"/>
                <a:cs typeface="Courier New"/>
              </a:rPr>
              <a:t>cd ../terraform</a:t>
            </a:r>
          </a:p>
          <a:p xmlns:a="http://schemas.openxmlformats.org/drawingml/2006/main">
            <a:pPr>
              <a:defRPr sz="2250" b="0">
                <a:solidFill>
                  <a:srgbClr val="132E50"/>
                </a:solidFill>
                <a:latin typeface="Courier New"/>
                <a:ea typeface="Courier New"/>
                <a:cs typeface="Courier New"/>
              </a:defRPr>
            </a:pPr>
            <a:r>
              <a:rPr sz="2250" b="0">
                <a:solidFill>
                  <a:srgbClr val="132E50"/>
                </a:solidFill>
                <a:latin typeface="Courier New"/>
                <a:ea typeface="Courier New"/>
                <a:cs typeface="Courier New"/>
              </a:rPr>
              <a:t>terraform destroy</a:t>
            </a:r>
          </a:p>
        </p:txBody>
      </p:sp>
      <p:sp>
        <p:nvSpPr>
          <p:cNvPr id="5" name="Comprobar v2 y la recarga en producción.">
            <a:extLst xmlns:a="http://schemas.openxmlformats.org/drawingml/2006/main">
              <a:ext uri="{FF2B5EF4-FFF2-40B4-BE49-F238E27FC236}">
                <a16:creationId xmlns:a16="http://schemas.microsoft.com/office/drawing/2014/main" id="{4DDD033D-B6A7-41DF-9B3E-C8062AE59031}"/>
              </a:ext>
            </a:extLst>
          </p:cNvPr>
          <p:cNvSpPr>
            <a:spLocks xmlns:a="http://schemas.openxmlformats.org/drawingml/2006/main" noGrp="1"/>
          </p:cNvSpPr>
          <p:nvPr/>
        </p:nvSpPr>
        <p:spPr>
          <a:xfrm xmlns:a="http://schemas.openxmlformats.org/drawingml/2006/main">
            <a:off x="10287000" y="2571750"/>
            <a:ext cx="4000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26384B"/>
                </a:solidFill>
                <a:latin typeface="Arial"/>
                <a:ea typeface="Arial"/>
                <a:cs typeface="Arial"/>
              </a:defRPr>
            </a:defPPr>
          </a:lstStyle>
          <a:p xmlns:a="http://schemas.openxmlformats.org/drawingml/2006/main">
            <a:pPr>
              <a:defRPr sz="2325" b="0">
                <a:solidFill>
                  <a:srgbClr val="26384B"/>
                </a:solidFill>
                <a:latin typeface="Arial"/>
                <a:ea typeface="Arial"/>
                <a:cs typeface="Arial"/>
              </a:defRPr>
            </a:pPr>
            <a:r>
              <a:rPr sz="2325" b="0">
                <a:solidFill>
                  <a:srgbClr val="26384B"/>
                </a:solidFill>
                <a:latin typeface="Arial"/>
                <a:ea typeface="Arial"/>
                <a:cs typeface="Arial"/>
              </a:rPr>
              <a:t>Comprobar v2 y la recarga en producción.</a:t>
            </a:r>
          </a:p>
        </p:txBody>
      </p:sp>
      <p:sp>
        <p:nvSpPr>
          <p:cNvPr id="6" name="Staging queda fuera de esta ejecución.">
            <a:extLst xmlns:a="http://schemas.openxmlformats.org/drawingml/2006/main">
              <a:ext uri="{FF2B5EF4-FFF2-40B4-BE49-F238E27FC236}">
                <a16:creationId xmlns:a16="http://schemas.microsoft.com/office/drawing/2014/main" id="{CEED09C0-AD1C-4EFC-A94D-00628DE2E507}"/>
              </a:ext>
            </a:extLst>
          </p:cNvPr>
          <p:cNvSpPr>
            <a:spLocks xmlns:a="http://schemas.openxmlformats.org/drawingml/2006/main" noGrp="1"/>
          </p:cNvSpPr>
          <p:nvPr/>
        </p:nvSpPr>
        <p:spPr>
          <a:xfrm xmlns:a="http://schemas.openxmlformats.org/drawingml/2006/main">
            <a:off x="10287000" y="4000500"/>
            <a:ext cx="4000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26384B"/>
                </a:solidFill>
                <a:latin typeface="Arial"/>
                <a:ea typeface="Arial"/>
                <a:cs typeface="Arial"/>
              </a:defRPr>
            </a:defPPr>
          </a:lstStyle>
          <a:p xmlns:a="http://schemas.openxmlformats.org/drawingml/2006/main">
            <a:pPr>
              <a:defRPr sz="2325" b="0">
                <a:solidFill>
                  <a:srgbClr val="26384B"/>
                </a:solidFill>
                <a:latin typeface="Arial"/>
                <a:ea typeface="Arial"/>
                <a:cs typeface="Arial"/>
              </a:defRPr>
            </a:pPr>
            <a:r>
              <a:rPr sz="2325" b="0">
                <a:solidFill>
                  <a:srgbClr val="26384B"/>
                </a:solidFill>
                <a:latin typeface="Arial"/>
                <a:ea typeface="Arial"/>
                <a:cs typeface="Arial"/>
              </a:rPr>
              <a:t>Staging queda fuera de esta ejecución.</a:t>
            </a:r>
          </a:p>
        </p:txBody>
      </p:sp>
      <p:sp>
        <p:nvSpPr>
          <p:cNvPr id="7" name="Revisar la eliminación de los recursos.">
            <a:extLst xmlns:a="http://schemas.openxmlformats.org/drawingml/2006/main">
              <a:ext uri="{FF2B5EF4-FFF2-40B4-BE49-F238E27FC236}">
                <a16:creationId xmlns:a16="http://schemas.microsoft.com/office/drawing/2014/main" id="{9F0940BD-3EA5-415D-AF82-85F80123EED5}"/>
              </a:ext>
            </a:extLst>
          </p:cNvPr>
          <p:cNvSpPr>
            <a:spLocks xmlns:a="http://schemas.openxmlformats.org/drawingml/2006/main" noGrp="1"/>
          </p:cNvSpPr>
          <p:nvPr/>
        </p:nvSpPr>
        <p:spPr>
          <a:xfrm xmlns:a="http://schemas.openxmlformats.org/drawingml/2006/main">
            <a:off x="10287000" y="5429250"/>
            <a:ext cx="4000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26384B"/>
                </a:solidFill>
                <a:latin typeface="Arial"/>
                <a:ea typeface="Arial"/>
                <a:cs typeface="Arial"/>
              </a:defRPr>
            </a:defPPr>
          </a:lstStyle>
          <a:p xmlns:a="http://schemas.openxmlformats.org/drawingml/2006/main">
            <a:pPr>
              <a:defRPr sz="2325" b="0">
                <a:solidFill>
                  <a:srgbClr val="26384B"/>
                </a:solidFill>
                <a:latin typeface="Arial"/>
                <a:ea typeface="Arial"/>
                <a:cs typeface="Arial"/>
              </a:defRPr>
            </a:pPr>
            <a:r>
              <a:rPr sz="2325" b="0">
                <a:solidFill>
                  <a:srgbClr val="26384B"/>
                </a:solidFill>
                <a:latin typeface="Arial"/>
                <a:ea typeface="Arial"/>
                <a:cs typeface="Arial"/>
              </a:rPr>
              <a:t>Revisar la eliminación de los recursos.</a:t>
            </a:r>
          </a:p>
        </p:txBody>
      </p:sp>
      <p:sp>
        <p:nvSpPr>
          <p:cNvPr id="8" name="La promoción con -e es temporal; destroy no borra el gasto acumul">
            <a:extLst xmlns:a="http://schemas.openxmlformats.org/drawingml/2006/main">
              <a:ext uri="{FF2B5EF4-FFF2-40B4-BE49-F238E27FC236}">
                <a16:creationId xmlns:a16="http://schemas.microsoft.com/office/drawing/2014/main" id="{3703B68B-E729-4590-9866-0C2E7B87B54D}"/>
              </a:ext>
            </a:extLst>
          </p:cNvPr>
          <p:cNvSpPr>
            <a:spLocks xmlns:a="http://schemas.openxmlformats.org/drawingml/2006/main" noGrp="1"/>
          </p:cNvSpPr>
          <p:nvPr/>
        </p:nvSpPr>
        <p:spPr>
          <a:xfrm xmlns:a="http://schemas.openxmlformats.org/drawingml/2006/main">
            <a:off x="952500" y="7629525"/>
            <a:ext cx="13335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3677C"/>
                </a:solidFill>
                <a:latin typeface="Arial"/>
                <a:ea typeface="Arial"/>
                <a:cs typeface="Arial"/>
              </a:defRPr>
            </a:defPPr>
          </a:lstStyle>
          <a:p xmlns:a="http://schemas.openxmlformats.org/drawingml/2006/main">
            <a:pPr>
              <a:defRPr sz="1800" b="0">
                <a:solidFill>
                  <a:srgbClr val="53677C"/>
                </a:solidFill>
                <a:latin typeface="Arial"/>
                <a:ea typeface="Arial"/>
                <a:cs typeface="Arial"/>
              </a:defRPr>
            </a:pPr>
            <a:r>
              <a:rPr sz="1800" b="0">
                <a:solidFill>
                  <a:srgbClr val="53677C"/>
                </a:solidFill>
                <a:latin typeface="Arial"/>
                <a:ea typeface="Arial"/>
                <a:cs typeface="Arial"/>
              </a:rPr>
              <a:t>La promoción con -e es temporal; destroy no borra el gasto acumulado.</a:t>
            </a:r>
          </a:p>
        </p:txBody>
      </p:sp>
    </p:spTree>
    <p:extLst>
      <p:ext uri="{BB962C8B-B14F-4D97-AF65-F5344CB8AC3E}">
        <p14:creationId xmlns:p14="http://schemas.microsoft.com/office/powerpoint/2010/main" val="1548977487"/>
      </p:ext>
    </p:extLst>
  </p:cSld>
</p:sld>
</file>

<file path=ppt/slides/slide3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0" name="CIERRE">
            <a:extLst xmlns:a="http://schemas.openxmlformats.org/drawingml/2006/main">
              <a:ext uri="{FF2B5EF4-FFF2-40B4-BE49-F238E27FC236}">
                <a16:creationId xmlns:a16="http://schemas.microsoft.com/office/drawing/2014/main" id="{FCF895AE-5265-4CDF-BFA9-A745C868B38F}"/>
              </a:ext>
            </a:extLst>
          </p:cNvPr>
          <p:cNvSpPr>
            <a:spLocks xmlns:a="http://schemas.openxmlformats.org/drawingml/2006/main" noGrp="1"/>
          </p:cNvSpPr>
          <p:nvPr/>
        </p:nvSpPr>
        <p:spPr>
          <a:xfrm xmlns:a="http://schemas.openxmlformats.org/drawingml/2006/main">
            <a:off x="914400" y="542925"/>
            <a:ext cx="1238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087F8C"/>
                </a:solidFill>
                <a:latin typeface="Arial"/>
                <a:ea typeface="Arial"/>
                <a:cs typeface="Arial"/>
              </a:defRPr>
            </a:defPPr>
          </a:lstStyle>
          <a:p xmlns:a="http://schemas.openxmlformats.org/drawingml/2006/main">
            <a:pPr>
              <a:defRPr sz="1575" b="1">
                <a:solidFill>
                  <a:srgbClr val="087F8C"/>
                </a:solidFill>
                <a:latin typeface="Arial"/>
                <a:ea typeface="Arial"/>
                <a:cs typeface="Arial"/>
              </a:defRPr>
            </a:pPr>
            <a:r>
              <a:rPr sz="1575" b="1">
                <a:solidFill>
                  <a:srgbClr val="087F8C"/>
                </a:solidFill>
                <a:latin typeface="Arial"/>
                <a:ea typeface="Arial"/>
                <a:cs typeface="Arial"/>
              </a:rPr>
              <a:t>CIERRE</a:t>
            </a:r>
          </a:p>
        </p:txBody>
      </p:sp>
      <p:sp>
        <p:nvSpPr>
          <p:cNvPr id="2" name="34 / 34">
            <a:extLst xmlns:a="http://schemas.openxmlformats.org/drawingml/2006/main">
              <a:ext uri="{FF2B5EF4-FFF2-40B4-BE49-F238E27FC236}">
                <a16:creationId xmlns:a16="http://schemas.microsoft.com/office/drawing/2014/main" id="{E271288C-D18B-470B-915A-0577B4B46F75}"/>
              </a:ext>
            </a:extLst>
          </p:cNvPr>
          <p:cNvSpPr>
            <a:spLocks xmlns:a="http://schemas.openxmlformats.org/drawingml/2006/main" noGrp="1"/>
          </p:cNvSpPr>
          <p:nvPr/>
        </p:nvSpPr>
        <p:spPr>
          <a:xfrm xmlns:a="http://schemas.openxmlformats.org/drawingml/2006/main">
            <a:off x="13192125" y="561975"/>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77C"/>
                </a:solidFill>
                <a:latin typeface="Arial"/>
                <a:ea typeface="Arial"/>
                <a:cs typeface="Arial"/>
              </a:defRPr>
            </a:defPPr>
          </a:lstStyle>
          <a:p xmlns:a="http://schemas.openxmlformats.org/drawingml/2006/main">
            <a:pPr>
              <a:defRPr sz="1500" b="0">
                <a:solidFill>
                  <a:srgbClr val="53677C"/>
                </a:solidFill>
                <a:latin typeface="Arial"/>
                <a:ea typeface="Arial"/>
                <a:cs typeface="Arial"/>
              </a:defRPr>
            </a:pPr>
            <a:r>
              <a:rPr sz="1500" b="0">
                <a:solidFill>
                  <a:srgbClr val="53677C"/>
                </a:solidFill>
                <a:latin typeface="Arial"/>
                <a:ea typeface="Arial"/>
                <a:cs typeface="Arial"/>
              </a:rPr>
              <a:t>34 / 34</a:t>
            </a:r>
          </a:p>
        </p:txBody>
      </p:sp>
      <p:sp>
        <p:nvSpPr>
          <p:cNvPr id="3" name="Preguntas de cierre">
            <a:extLst xmlns:a="http://schemas.openxmlformats.org/drawingml/2006/main">
              <a:ext uri="{FF2B5EF4-FFF2-40B4-BE49-F238E27FC236}">
                <a16:creationId xmlns:a16="http://schemas.microsoft.com/office/drawing/2014/main" id="{7B5532C5-8F50-4820-BFAF-0F870A9CB64F}"/>
              </a:ext>
            </a:extLst>
          </p:cNvPr>
          <p:cNvSpPr>
            <a:spLocks xmlns:a="http://schemas.openxmlformats.org/drawingml/2006/main" noGrp="1"/>
          </p:cNvSpPr>
          <p:nvPr/>
        </p:nvSpPr>
        <p:spPr>
          <a:xfrm xmlns:a="http://schemas.openxmlformats.org/drawingml/2006/main">
            <a:off x="914400" y="1143000"/>
            <a:ext cx="13411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132E50"/>
                </a:solidFill>
                <a:latin typeface="Arial"/>
                <a:ea typeface="Arial"/>
                <a:cs typeface="Arial"/>
              </a:defRPr>
            </a:defPPr>
          </a:lstStyle>
          <a:p xmlns:a="http://schemas.openxmlformats.org/drawingml/2006/main">
            <a:pPr>
              <a:defRPr sz="3825" b="1">
                <a:solidFill>
                  <a:srgbClr val="132E50"/>
                </a:solidFill>
                <a:latin typeface="Arial"/>
                <a:ea typeface="Arial"/>
                <a:cs typeface="Arial"/>
              </a:defRPr>
            </a:pPr>
            <a:r>
              <a:rPr sz="3825" b="1">
                <a:solidFill>
                  <a:srgbClr val="132E50"/>
                </a:solidFill>
                <a:latin typeface="Arial"/>
                <a:ea typeface="Arial"/>
                <a:cs typeface="Arial"/>
              </a:rPr>
              <a:t>Preguntas de cierre</a:t>
            </a:r>
          </a:p>
        </p:txBody>
      </p:sp>
      <p:sp>
        <p:nvSpPr>
          <p:cNvPr id="4" name="01">
            <a:extLst xmlns:a="http://schemas.openxmlformats.org/drawingml/2006/main">
              <a:ext uri="{FF2B5EF4-FFF2-40B4-BE49-F238E27FC236}">
                <a16:creationId xmlns:a16="http://schemas.microsoft.com/office/drawing/2014/main" id="{161B74E5-3C02-41B3-A86C-B76202F8B5DE}"/>
              </a:ext>
            </a:extLst>
          </p:cNvPr>
          <p:cNvSpPr>
            <a:spLocks xmlns:a="http://schemas.openxmlformats.org/drawingml/2006/main" noGrp="1"/>
          </p:cNvSpPr>
          <p:nvPr/>
        </p:nvSpPr>
        <p:spPr>
          <a:xfrm xmlns:a="http://schemas.openxmlformats.org/drawingml/2006/main">
            <a:off x="952500" y="2381250"/>
            <a:ext cx="1047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087F8C"/>
                </a:solidFill>
                <a:latin typeface="Arial"/>
                <a:ea typeface="Arial"/>
                <a:cs typeface="Arial"/>
              </a:defRPr>
            </a:defPPr>
          </a:lstStyle>
          <a:p xmlns:a="http://schemas.openxmlformats.org/drawingml/2006/main">
            <a:pPr>
              <a:defRPr sz="3825" b="1">
                <a:solidFill>
                  <a:srgbClr val="087F8C"/>
                </a:solidFill>
                <a:latin typeface="Arial"/>
                <a:ea typeface="Arial"/>
                <a:cs typeface="Arial"/>
              </a:defRPr>
            </a:pPr>
            <a:r>
              <a:rPr sz="3825" b="1">
                <a:solidFill>
                  <a:srgbClr val="087F8C"/>
                </a:solidFill>
                <a:latin typeface="Arial"/>
                <a:ea typeface="Arial"/>
                <a:cs typeface="Arial"/>
              </a:rPr>
              <a:t>01</a:t>
            </a:r>
          </a:p>
        </p:txBody>
      </p:sp>
      <p:sp>
        <p:nvSpPr>
          <p:cNvPr id="5" name="¿Qué costo puede continuar cuando una VM deja de servir la web?">
            <a:extLst xmlns:a="http://schemas.openxmlformats.org/drawingml/2006/main">
              <a:ext uri="{FF2B5EF4-FFF2-40B4-BE49-F238E27FC236}">
                <a16:creationId xmlns:a16="http://schemas.microsoft.com/office/drawing/2014/main" id="{48BC23B9-53D4-470F-B224-04AEC9ACB9A6}"/>
              </a:ext>
            </a:extLst>
          </p:cNvPr>
          <p:cNvSpPr>
            <a:spLocks xmlns:a="http://schemas.openxmlformats.org/drawingml/2006/main" noGrp="1"/>
          </p:cNvSpPr>
          <p:nvPr/>
        </p:nvSpPr>
        <p:spPr>
          <a:xfrm xmlns:a="http://schemas.openxmlformats.org/drawingml/2006/main">
            <a:off x="2476500" y="2400300"/>
            <a:ext cx="115728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0">
                <a:solidFill>
                  <a:srgbClr val="26384B"/>
                </a:solidFill>
                <a:latin typeface="Arial"/>
                <a:ea typeface="Arial"/>
                <a:cs typeface="Arial"/>
              </a:defRPr>
            </a:defPPr>
          </a:lstStyle>
          <a:p xmlns:a="http://schemas.openxmlformats.org/drawingml/2006/main">
            <a:pPr>
              <a:defRPr sz="2850" b="0">
                <a:solidFill>
                  <a:srgbClr val="26384B"/>
                </a:solidFill>
                <a:latin typeface="Arial"/>
                <a:ea typeface="Arial"/>
                <a:cs typeface="Arial"/>
              </a:defRPr>
            </a:pPr>
            <a:r>
              <a:rPr sz="2850" b="0">
                <a:solidFill>
                  <a:srgbClr val="26384B"/>
                </a:solidFill>
                <a:latin typeface="Arial"/>
                <a:ea typeface="Arial"/>
                <a:cs typeface="Arial"/>
              </a:rPr>
              <a:t>¿Qué costo puede continuar cuando una VM deja de servir la web?</a:t>
            </a:r>
          </a:p>
        </p:txBody>
      </p:sp>
      <p:sp>
        <p:nvSpPr>
          <p:cNvPr id="6" name="02">
            <a:extLst xmlns:a="http://schemas.openxmlformats.org/drawingml/2006/main">
              <a:ext uri="{FF2B5EF4-FFF2-40B4-BE49-F238E27FC236}">
                <a16:creationId xmlns:a16="http://schemas.microsoft.com/office/drawing/2014/main" id="{E2726986-E1C7-4BEA-A3D8-0DA6859E4C0E}"/>
              </a:ext>
            </a:extLst>
          </p:cNvPr>
          <p:cNvSpPr>
            <a:spLocks xmlns:a="http://schemas.openxmlformats.org/drawingml/2006/main" noGrp="1"/>
          </p:cNvSpPr>
          <p:nvPr/>
        </p:nvSpPr>
        <p:spPr>
          <a:xfrm xmlns:a="http://schemas.openxmlformats.org/drawingml/2006/main">
            <a:off x="952500" y="4019550"/>
            <a:ext cx="1047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087F8C"/>
                </a:solidFill>
                <a:latin typeface="Arial"/>
                <a:ea typeface="Arial"/>
                <a:cs typeface="Arial"/>
              </a:defRPr>
            </a:defPPr>
          </a:lstStyle>
          <a:p xmlns:a="http://schemas.openxmlformats.org/drawingml/2006/main">
            <a:pPr>
              <a:defRPr sz="3825" b="1">
                <a:solidFill>
                  <a:srgbClr val="087F8C"/>
                </a:solidFill>
                <a:latin typeface="Arial"/>
                <a:ea typeface="Arial"/>
                <a:cs typeface="Arial"/>
              </a:defRPr>
            </a:pPr>
            <a:r>
              <a:rPr sz="3825" b="1">
                <a:solidFill>
                  <a:srgbClr val="087F8C"/>
                </a:solidFill>
                <a:latin typeface="Arial"/>
                <a:ea typeface="Arial"/>
                <a:cs typeface="Arial"/>
              </a:rPr>
              <a:t>02</a:t>
            </a:r>
          </a:p>
        </p:txBody>
      </p:sp>
      <p:sp>
        <p:nvSpPr>
          <p:cNvPr id="7" name="¿Qué se comparte al reutilizar un módulo de Terraform?">
            <a:extLst xmlns:a="http://schemas.openxmlformats.org/drawingml/2006/main">
              <a:ext uri="{FF2B5EF4-FFF2-40B4-BE49-F238E27FC236}">
                <a16:creationId xmlns:a16="http://schemas.microsoft.com/office/drawing/2014/main" id="{E9EB29BE-A1C3-4360-B7A0-2F5CC1BA0DB9}"/>
              </a:ext>
            </a:extLst>
          </p:cNvPr>
          <p:cNvSpPr>
            <a:spLocks xmlns:a="http://schemas.openxmlformats.org/drawingml/2006/main" noGrp="1"/>
          </p:cNvSpPr>
          <p:nvPr/>
        </p:nvSpPr>
        <p:spPr>
          <a:xfrm xmlns:a="http://schemas.openxmlformats.org/drawingml/2006/main">
            <a:off x="2476500" y="4038600"/>
            <a:ext cx="115728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0">
                <a:solidFill>
                  <a:srgbClr val="26384B"/>
                </a:solidFill>
                <a:latin typeface="Arial"/>
                <a:ea typeface="Arial"/>
                <a:cs typeface="Arial"/>
              </a:defRPr>
            </a:defPPr>
          </a:lstStyle>
          <a:p xmlns:a="http://schemas.openxmlformats.org/drawingml/2006/main">
            <a:pPr>
              <a:defRPr sz="2850" b="0">
                <a:solidFill>
                  <a:srgbClr val="26384B"/>
                </a:solidFill>
                <a:latin typeface="Arial"/>
                <a:ea typeface="Arial"/>
                <a:cs typeface="Arial"/>
              </a:defRPr>
            </a:pPr>
            <a:r>
              <a:rPr sz="2850" b="0">
                <a:solidFill>
                  <a:srgbClr val="26384B"/>
                </a:solidFill>
                <a:latin typeface="Arial"/>
                <a:ea typeface="Arial"/>
                <a:cs typeface="Arial"/>
              </a:rPr>
              <a:t>¿Qué se comparte al reutilizar un módulo de Terraform?</a:t>
            </a:r>
          </a:p>
        </p:txBody>
      </p:sp>
      <p:sp>
        <p:nvSpPr>
          <p:cNvPr id="8" name="03">
            <a:extLst xmlns:a="http://schemas.openxmlformats.org/drawingml/2006/main">
              <a:ext uri="{FF2B5EF4-FFF2-40B4-BE49-F238E27FC236}">
                <a16:creationId xmlns:a16="http://schemas.microsoft.com/office/drawing/2014/main" id="{CD720D49-B0F7-44D1-BC5A-B7BFE6D15312}"/>
              </a:ext>
            </a:extLst>
          </p:cNvPr>
          <p:cNvSpPr>
            <a:spLocks xmlns:a="http://schemas.openxmlformats.org/drawingml/2006/main" noGrp="1"/>
          </p:cNvSpPr>
          <p:nvPr/>
        </p:nvSpPr>
        <p:spPr>
          <a:xfrm xmlns:a="http://schemas.openxmlformats.org/drawingml/2006/main">
            <a:off x="952500" y="5657850"/>
            <a:ext cx="1047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087F8C"/>
                </a:solidFill>
                <a:latin typeface="Arial"/>
                <a:ea typeface="Arial"/>
                <a:cs typeface="Arial"/>
              </a:defRPr>
            </a:defPPr>
          </a:lstStyle>
          <a:p xmlns:a="http://schemas.openxmlformats.org/drawingml/2006/main">
            <a:pPr>
              <a:defRPr sz="3825" b="1">
                <a:solidFill>
                  <a:srgbClr val="087F8C"/>
                </a:solidFill>
                <a:latin typeface="Arial"/>
                <a:ea typeface="Arial"/>
                <a:cs typeface="Arial"/>
              </a:defRPr>
            </a:pPr>
            <a:r>
              <a:rPr sz="3825" b="1">
                <a:solidFill>
                  <a:srgbClr val="087F8C"/>
                </a:solidFill>
                <a:latin typeface="Arial"/>
                <a:ea typeface="Arial"/>
                <a:cs typeface="Arial"/>
              </a:rPr>
              <a:t>03</a:t>
            </a:r>
          </a:p>
        </p:txBody>
      </p:sp>
      <p:sp>
        <p:nvSpPr>
          <p:cNvPr id="9" name="¿Qué activa el handler de Nginx en nuestro ejemplo?">
            <a:extLst xmlns:a="http://schemas.openxmlformats.org/drawingml/2006/main">
              <a:ext uri="{FF2B5EF4-FFF2-40B4-BE49-F238E27FC236}">
                <a16:creationId xmlns:a16="http://schemas.microsoft.com/office/drawing/2014/main" id="{8840A6D7-4F4B-49EA-9A4F-90DF8485C4A2}"/>
              </a:ext>
            </a:extLst>
          </p:cNvPr>
          <p:cNvSpPr>
            <a:spLocks xmlns:a="http://schemas.openxmlformats.org/drawingml/2006/main" noGrp="1"/>
          </p:cNvSpPr>
          <p:nvPr/>
        </p:nvSpPr>
        <p:spPr>
          <a:xfrm xmlns:a="http://schemas.openxmlformats.org/drawingml/2006/main">
            <a:off x="2476500" y="5676900"/>
            <a:ext cx="115728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0">
                <a:solidFill>
                  <a:srgbClr val="26384B"/>
                </a:solidFill>
                <a:latin typeface="Arial"/>
                <a:ea typeface="Arial"/>
                <a:cs typeface="Arial"/>
              </a:defRPr>
            </a:defPPr>
          </a:lstStyle>
          <a:p xmlns:a="http://schemas.openxmlformats.org/drawingml/2006/main">
            <a:pPr>
              <a:defRPr sz="2850" b="0">
                <a:solidFill>
                  <a:srgbClr val="26384B"/>
                </a:solidFill>
                <a:latin typeface="Arial"/>
                <a:ea typeface="Arial"/>
                <a:cs typeface="Arial"/>
              </a:defRPr>
            </a:pPr>
            <a:r>
              <a:rPr sz="2850" b="0">
                <a:solidFill>
                  <a:srgbClr val="26384B"/>
                </a:solidFill>
                <a:latin typeface="Arial"/>
                <a:ea typeface="Arial"/>
                <a:cs typeface="Arial"/>
              </a:rPr>
              <a:t>¿Qué activa el handler de Nginx en nuestro ejemplo?</a:t>
            </a:r>
          </a:p>
        </p:txBody>
      </p:sp>
    </p:spTree>
    <p:extLst>
      <p:ext uri="{BB962C8B-B14F-4D97-AF65-F5344CB8AC3E}">
        <p14:creationId xmlns:p14="http://schemas.microsoft.com/office/powerpoint/2010/main" val="89267652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2026-10-15T22:46:54.2530000Z</dcterms:created>
  <dcterms:modified xsi:type="dcterms:W3CDTF">2026-10-15T22:46:54.2530000Z</dcterms:modified>
</coreProperties>
</file>