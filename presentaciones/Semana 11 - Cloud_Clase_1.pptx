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dc1b28274d4ba9" /><Relationship Type="http://schemas.openxmlformats.org/officeDocument/2006/relationships/extended-properties" Target="/docProps/app.xml" Id="Rae4de333f5be4a95" /><Relationship Type="http://schemas.openxmlformats.org/officeDocument/2006/relationships/officeDocument" Target="/ppt/presentation.xml" Id="R0f4c70bbe3d34bd7" /></Relationships>
</file>

<file path=ppt/presentation.xml><?xml version="1.0" encoding="utf-8"?>
<p:presentation xmlns:p="http://schemas.openxmlformats.org/presentationml/2006/main">
  <p:sldMasterIdLst>
    <p:sldMasterId xmlns:r="http://schemas.openxmlformats.org/officeDocument/2006/relationships" id="2147483648" r:id="Re26cabf9242d4b4a"/>
  </p:sldMasterIdLst>
  <p:notesMasterIdLst>
    <p:notesMasterId xmlns:r="http://schemas.openxmlformats.org/officeDocument/2006/relationships" r:id="R37239e38fa3e471d"/>
  </p:notesMasterIdLst>
  <p:sldIdLst>
    <p:sldId xmlns:r="http://schemas.openxmlformats.org/officeDocument/2006/relationships" id="256" r:id="R61c8fd6496a9446c"/>
    <p:sldId xmlns:r="http://schemas.openxmlformats.org/officeDocument/2006/relationships" id="257" r:id="Rde0ee51d96074a04"/>
    <p:sldId xmlns:r="http://schemas.openxmlformats.org/officeDocument/2006/relationships" id="258" r:id="Rd7d8c4bf29bd4265"/>
    <p:sldId xmlns:r="http://schemas.openxmlformats.org/officeDocument/2006/relationships" id="259" r:id="Rbf2571f107184d8d"/>
    <p:sldId xmlns:r="http://schemas.openxmlformats.org/officeDocument/2006/relationships" id="260" r:id="Rfbd50dda657e43bb"/>
    <p:sldId xmlns:r="http://schemas.openxmlformats.org/officeDocument/2006/relationships" id="261" r:id="R1930794d4c0e4741"/>
    <p:sldId xmlns:r="http://schemas.openxmlformats.org/officeDocument/2006/relationships" id="262" r:id="R6f820a84924c49e3"/>
    <p:sldId xmlns:r="http://schemas.openxmlformats.org/officeDocument/2006/relationships" id="263" r:id="R885e7274185448f7"/>
    <p:sldId xmlns:r="http://schemas.openxmlformats.org/officeDocument/2006/relationships" id="264" r:id="R18e0d6238d6d46c4"/>
    <p:sldId xmlns:r="http://schemas.openxmlformats.org/officeDocument/2006/relationships" id="265" r:id="Re639f6de88f142f7"/>
    <p:sldId xmlns:r="http://schemas.openxmlformats.org/officeDocument/2006/relationships" id="266" r:id="R78a981a8b799444a"/>
    <p:sldId xmlns:r="http://schemas.openxmlformats.org/officeDocument/2006/relationships" id="267" r:id="R65773c1dd05b40cf"/>
    <p:sldId xmlns:r="http://schemas.openxmlformats.org/officeDocument/2006/relationships" id="268" r:id="R701721b2577d47b1"/>
    <p:sldId xmlns:r="http://schemas.openxmlformats.org/officeDocument/2006/relationships" id="269" r:id="R6ca7372760b8401d"/>
    <p:sldId xmlns:r="http://schemas.openxmlformats.org/officeDocument/2006/relationships" id="270" r:id="Rb63660feafe2426c"/>
    <p:sldId xmlns:r="http://schemas.openxmlformats.org/officeDocument/2006/relationships" id="271" r:id="Re94b95415a5847f8"/>
    <p:sldId xmlns:r="http://schemas.openxmlformats.org/officeDocument/2006/relationships" id="272" r:id="R4412af4359e84f19"/>
    <p:sldId xmlns:r="http://schemas.openxmlformats.org/officeDocument/2006/relationships" id="273" r:id="R2038688540cd41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95606000064ad5" /><Relationship Type="http://schemas.openxmlformats.org/officeDocument/2006/relationships/slideMaster" Target="/ppt/slideMasters/slideMaster1.xml" Id="Re26cabf9242d4b4a" /><Relationship Type="http://schemas.openxmlformats.org/officeDocument/2006/relationships/notesMaster" Target="/ppt/notesMasters/notesMaster1.xml" Id="R37239e38fa3e471d" /><Relationship Type="http://schemas.openxmlformats.org/officeDocument/2006/relationships/presProps" Target="/ppt/presProps.xml" Id="Re91daea74a9f41c8" /><Relationship Type="http://schemas.openxmlformats.org/officeDocument/2006/relationships/tableStyles" Target="/ppt/tableStyles.xml" Id="Rb7b22b81b9d547dc" /><Relationship Type="http://schemas.openxmlformats.org/officeDocument/2006/relationships/slide" Target="/ppt/slides/slide1.xml" Id="R61c8fd6496a9446c" /><Relationship Type="http://schemas.openxmlformats.org/officeDocument/2006/relationships/slide" Target="/ppt/slides/slide2.xml" Id="Rde0ee51d96074a04" /><Relationship Type="http://schemas.openxmlformats.org/officeDocument/2006/relationships/slide" Target="/ppt/slides/slide3.xml" Id="Rd7d8c4bf29bd4265" /><Relationship Type="http://schemas.openxmlformats.org/officeDocument/2006/relationships/slide" Target="/ppt/slides/slide4.xml" Id="Rbf2571f107184d8d" /><Relationship Type="http://schemas.openxmlformats.org/officeDocument/2006/relationships/slide" Target="/ppt/slides/slide5.xml" Id="Rfbd50dda657e43bb" /><Relationship Type="http://schemas.openxmlformats.org/officeDocument/2006/relationships/slide" Target="/ppt/slides/slide6.xml" Id="R1930794d4c0e4741" /><Relationship Type="http://schemas.openxmlformats.org/officeDocument/2006/relationships/slide" Target="/ppt/slides/slide7.xml" Id="R6f820a84924c49e3" /><Relationship Type="http://schemas.openxmlformats.org/officeDocument/2006/relationships/slide" Target="/ppt/slides/slide8.xml" Id="R885e7274185448f7" /><Relationship Type="http://schemas.openxmlformats.org/officeDocument/2006/relationships/slide" Target="/ppt/slides/slide9.xml" Id="R18e0d6238d6d46c4" /><Relationship Type="http://schemas.openxmlformats.org/officeDocument/2006/relationships/slide" Target="/ppt/slides/slide10.xml" Id="Re639f6de88f142f7" /><Relationship Type="http://schemas.openxmlformats.org/officeDocument/2006/relationships/slide" Target="/ppt/slides/slide11.xml" Id="R78a981a8b799444a" /><Relationship Type="http://schemas.openxmlformats.org/officeDocument/2006/relationships/slide" Target="/ppt/slides/slide12.xml" Id="R65773c1dd05b40cf" /><Relationship Type="http://schemas.openxmlformats.org/officeDocument/2006/relationships/slide" Target="/ppt/slides/slide13.xml" Id="R701721b2577d47b1" /><Relationship Type="http://schemas.openxmlformats.org/officeDocument/2006/relationships/slide" Target="/ppt/slides/slide14.xml" Id="R6ca7372760b8401d" /><Relationship Type="http://schemas.openxmlformats.org/officeDocument/2006/relationships/slide" Target="/ppt/slides/slide15.xml" Id="Rb63660feafe2426c" /><Relationship Type="http://schemas.openxmlformats.org/officeDocument/2006/relationships/slide" Target="/ppt/slides/slide16.xml" Id="Re94b95415a5847f8" /><Relationship Type="http://schemas.openxmlformats.org/officeDocument/2006/relationships/slide" Target="/ppt/slides/slide17.xml" Id="R4412af4359e84f19" /><Relationship Type="http://schemas.openxmlformats.org/officeDocument/2006/relationships/slide" Target="/ppt/slides/slide18.xml" Id="R2038688540cd41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50450ccc644f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f8be69d11d483f" /><Relationship Type="http://schemas.openxmlformats.org/officeDocument/2006/relationships/notesMaster" Target="/ppt/notesMasters/notesMaster1.xml" Id="R3f61184d38db46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9c690750714ab5" /><Relationship Type="http://schemas.openxmlformats.org/officeDocument/2006/relationships/notesMaster" Target="/ppt/notesMasters/notesMaster1.xml" Id="R20063868343843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4932b6c0534d23" /><Relationship Type="http://schemas.openxmlformats.org/officeDocument/2006/relationships/notesMaster" Target="/ppt/notesMasters/notesMaster1.xml" Id="R50dfdac3b0cc4c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824612c2014efb" /><Relationship Type="http://schemas.openxmlformats.org/officeDocument/2006/relationships/notesMaster" Target="/ppt/notesMasters/notesMaster1.xml" Id="R34e9f41c8c5144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7df41098dd424d" /><Relationship Type="http://schemas.openxmlformats.org/officeDocument/2006/relationships/notesMaster" Target="/ppt/notesMasters/notesMaster1.xml" Id="R8cd2ee39dc3e49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b7b350408d43ec" /><Relationship Type="http://schemas.openxmlformats.org/officeDocument/2006/relationships/notesMaster" Target="/ppt/notesMasters/notesMaster1.xml" Id="Rf5195af6a94f42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b4b159d16f4aaf" /><Relationship Type="http://schemas.openxmlformats.org/officeDocument/2006/relationships/notesMaster" Target="/ppt/notesMasters/notesMaster1.xml" Id="Ree3229d4517945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cb3c484bc64eca" /><Relationship Type="http://schemas.openxmlformats.org/officeDocument/2006/relationships/notesMaster" Target="/ppt/notesMasters/notesMaster1.xml" Id="R9930d40d6d8649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d321409b5141f8" /><Relationship Type="http://schemas.openxmlformats.org/officeDocument/2006/relationships/notesMaster" Target="/ppt/notesMasters/notesMaster1.xml" Id="R525ad982473f42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1dde40f6714ace" /><Relationship Type="http://schemas.openxmlformats.org/officeDocument/2006/relationships/notesMaster" Target="/ppt/notesMasters/notesMaster1.xml" Id="R8ca0224629ae4c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9a4b1c738542d1" /><Relationship Type="http://schemas.openxmlformats.org/officeDocument/2006/relationships/notesMaster" Target="/ppt/notesMasters/notesMaster1.xml" Id="Rb2eb776be27f42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7e44c070f14de7" /><Relationship Type="http://schemas.openxmlformats.org/officeDocument/2006/relationships/notesMaster" Target="/ppt/notesMasters/notesMaster1.xml" Id="R435e0da64c784b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71e9cd1d30453c" /><Relationship Type="http://schemas.openxmlformats.org/officeDocument/2006/relationships/notesMaster" Target="/ppt/notesMasters/notesMaster1.xml" Id="R827ece1192804c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24957e1a054f65" /><Relationship Type="http://schemas.openxmlformats.org/officeDocument/2006/relationships/notesMaster" Target="/ppt/notesMasters/notesMaster1.xml" Id="R1c41a8f11ca44b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e8409ad6e34d0c" /><Relationship Type="http://schemas.openxmlformats.org/officeDocument/2006/relationships/notesMaster" Target="/ppt/notesMasters/notesMaster1.xml" Id="Rd86185a6456749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dd67dabf244690" /><Relationship Type="http://schemas.openxmlformats.org/officeDocument/2006/relationships/notesMaster" Target="/ppt/notesMasters/notesMaster1.xml" Id="R74db94deb8714a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515f95dc18499c" /><Relationship Type="http://schemas.openxmlformats.org/officeDocument/2006/relationships/notesMaster" Target="/ppt/notesMasters/notesMaster1.xml" Id="Re8736e700f1a49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d3ae585ccf94476" /><Relationship Type="http://schemas.openxmlformats.org/officeDocument/2006/relationships/notesMaster" Target="/ppt/notesMasters/notesMaster1.xml" Id="R6be2e6b1a27b4a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minutos. Ventana: 0–2.</a:t>
            </a:r>
          </a:p>
          <a:p xmlns:a="http://schemas.openxmlformats.org/drawingml/2006/main">
            <a:r>
              <a:t/>
            </a:r>
          </a:p>
          <a:p xmlns:a="http://schemas.openxmlformats.org/drawingml/2006/main">
            <a:r>
              <a:t>Objetivo: Una web del curso en Docker local y Vercel</a:t>
            </a:r>
          </a:p>
          <a:p xmlns:a="http://schemas.openxmlformats.org/drawingml/2006/main">
            <a:r>
              <a:t/>
            </a:r>
          </a:p>
          <a:p xmlns:a="http://schemas.openxmlformats.org/drawingml/2006/main">
            <a:r>
              <a:t>Hoy publicaremos la web del curso en Vercel. Primero veremos cómo se ejecuta dentro de Docker localmente. Después entregaremos archivos a una plataforma que administra su publicación y distribución. El hilo conductor es la misma web, pero las responsabilidades cambian. Seguiremos tanto el proceso de despliegue como las peticiones de los visitantes.</a:t>
            </a:r>
          </a:p>
          <a:p xmlns:a="http://schemas.openxmlformats.org/drawingml/2006/main">
            <a:r>
              <a:t/>
            </a:r>
          </a:p>
          <a:p xmlns:a="http://schemas.openxmlformats.org/drawingml/2006/main">
            <a:r>
              <a:t>Pregunta: ¿Qué parte del despliegue preferirían que administrara una plataforma?</a:t>
            </a:r>
          </a:p>
          <a:p xmlns:a="http://schemas.openxmlformats.org/drawingml/2006/main">
            <a:r>
              <a:t>Respuesta: El servidor, la publicación, el certificado y la distribución, conservando responsabilidad sobre nuestro código.</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Primero revisemos la competencia y el valor de la clase.</a:t>
            </a:r>
          </a:p>
          <a:p xmlns:a="http://schemas.openxmlformats.org/drawingml/2006/main">
            <a:r>
              <a:t/>
            </a:r>
          </a:p>
          <a:p xmlns:a="http://schemas.openxmlformats.org/drawingml/2006/main">
            <a:r>
              <a:t>Fuentes: https://vercel.com/docs/cdn</a:t>
            </a:r>
          </a:p>
          <a:p xmlns:a="http://schemas.openxmlformats.org/drawingml/2006/main">
            <a:r>
              <a:t>Ilustración conceptual generada con ImageGen para esta clase, no es evidencia de infraestructura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 minutos. Ventana: 2–6.</a:t>
            </a:r>
          </a:p>
          <a:p xmlns:a="http://schemas.openxmlformats.org/drawingml/2006/main">
            <a:r>
              <a:t/>
            </a:r>
          </a:p>
          <a:p xmlns:a="http://schemas.openxmlformats.org/drawingml/2006/main">
            <a:r>
              <a:t>Objetivo: Gestionar soluciones cloud con disponibilidad, escalabilidad y reproducibilidad</a:t>
            </a:r>
          </a:p>
          <a:p xmlns:a="http://schemas.openxmlformats.org/drawingml/2006/main">
            <a:r>
              <a:t/>
            </a:r>
          </a:p>
          <a:p xmlns:a="http://schemas.openxmlformats.org/drawingml/2006/main">
            <a:r>
              <a:t>La competencia del curso incluye implementar y gestionar soluciones mediante computación en la nube, con disponibilidad, escalabilidad, eficiencia, seguridad y reproducibilidad. Hoy trabajaremos una primera parte: comprender un despliegue pequeño y sus responsabilidades. Una sola máquina no garantiza alta disponibilidad. El valor es determinación: ante un error, vamos a formular una hipótesis y comprobarla. Corregir un puerto con evidencia muestra mejor este valor que repetir comandos al azar.</a:t>
            </a:r>
          </a:p>
          <a:p xmlns:a="http://schemas.openxmlformats.org/drawingml/2006/main">
            <a:r>
              <a:t/>
            </a:r>
          </a:p>
          <a:p xmlns:a="http://schemas.openxmlformats.org/drawingml/2006/main">
            <a:r>
              <a:t>Pregunta: ¿Una aplicación que abrió una vez ya está lista para producción?</a:t>
            </a:r>
          </a:p>
          <a:p xmlns:a="http://schemas.openxmlformats.org/drawingml/2006/main">
            <a:r>
              <a:t>Respuesta: No. Faltan decisiones de disponibilidad, seguridad, observabilidad y operación.</a:t>
            </a:r>
          </a:p>
          <a:p xmlns:a="http://schemas.openxmlformats.org/drawingml/2006/main">
            <a:r>
              <a:t/>
            </a:r>
          </a:p>
          <a:p xmlns:a="http://schemas.openxmlformats.org/drawingml/2006/main">
            <a:r>
              <a:t>Qué mostrar: Relacionar la competencia con la práctica sin prometer que una VM satisface todos sus aspectos.</a:t>
            </a:r>
          </a:p>
          <a:p xmlns:a="http://schemas.openxmlformats.org/drawingml/2006/main">
            <a:r>
              <a:t/>
            </a:r>
          </a:p>
          <a:p xmlns:a="http://schemas.openxmlformats.org/drawingml/2006/main">
            <a:r>
              <a:t>Transición: Veamos el problema que conecta toda la clase.</a:t>
            </a:r>
          </a:p>
          <a:p xmlns:a="http://schemas.openxmlformats.org/drawingml/2006/main">
            <a:r>
              <a:t/>
            </a:r>
          </a:p>
          <a:p xmlns:a="http://schemas.openxmlformats.org/drawingml/2006/main">
            <a:r>
              <a:t>Fuentes: Material docente original para esta clase.</a:t>
            </a:r>
          </a:p>
          <a:p xmlns:a="http://schemas.openxmlformats.org/drawingml/2006/main">
            <a:r>
              <a:t>Competencia de referencia: Implementa y gestiona soluciones tecnológicas mediante el uso de la computación en la nube, garantizando la disponibilidad, escalabilidad y eficiencia en la administración de infraestructuras y servicios. Aplica buenas prácticas en el diseño, despliegue y gestión de entornos cloud, asegurando la seguridad, flexibilidad y control centralizado de los sistemas, así como la reproducibilidad y sostenibilidad de las operaciones tecnológicas en organizaciones modernas.</a:t>
            </a:r>
          </a:p>
          <a:p xmlns:a="http://schemas.openxmlformats.org/drawingml/2006/main">
            <a:r>
              <a:t>Referencia: /Users/abdielo/Downloads/2S2026_Semana_11.pdf, competencia y valor.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 minutos. Ventana: 6–10.</a:t>
            </a:r>
          </a:p>
          <a:p xmlns:a="http://schemas.openxmlformats.org/drawingml/2006/main">
            <a:r>
              <a:t/>
            </a:r>
          </a:p>
          <a:p xmlns:a="http://schemas.openxmlformats.org/drawingml/2006/main">
            <a:r>
              <a:t>Objetivo: Nube y responsabilidades · 20 min</a:t>
            </a:r>
          </a:p>
          <a:p xmlns:a="http://schemas.openxmlformats.org/drawingml/2006/main">
            <a:r>
              <a:t/>
            </a:r>
          </a:p>
          <a:p xmlns:a="http://schemas.openxmlformats.org/drawingml/2006/main">
            <a:r>
              <a:t>La web funciona en localhost. Necesitamos publicarla y actualizarla. Yo ejecutaré el ejemplo y ustedes anticiparán resultados. Alternaremos presentación, dibujo y terminal. En Vercel enviaremos código mediante Git y la plataforma preparará un despliegue. Durante las peticiones de los estudiantes, Git y el proceso de build ya no participan. Reservaremos el cierre para justificar responsabilidades y costos.</a:t>
            </a:r>
          </a:p>
          <a:p xmlns:a="http://schemas.openxmlformats.org/drawingml/2006/main">
            <a:r>
              <a:t/>
            </a:r>
          </a:p>
          <a:p xmlns:a="http://schemas.openxmlformats.org/drawingml/2006/main">
            <a:r>
              <a:t>Pregunta: ¿Qué debería conservarse al mover la aplicación a otro equipo?</a:t>
            </a:r>
          </a:p>
          <a:p xmlns:a="http://schemas.openxmlformats.org/drawingml/2006/main">
            <a:r>
              <a:t>Respuesta: Los archivos y la lógica de presentación. La plataforma se encarga del entorno de publicación; el Dockerfile describe solo la ejecución local.</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Comencemos por qué caracteriza a la nube.</a:t>
            </a:r>
          </a:p>
          <a:p xmlns:a="http://schemas.openxmlformats.org/drawingml/2006/main">
            <a:r>
              <a:t/>
            </a:r>
          </a:p>
          <a:p xmlns:a="http://schemas.openxmlformats.org/drawingml/2006/main">
            <a:r>
              <a:t>Fuentes: Material docente original para esta clase.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6 minutos. Ventana: 10–16.</a:t>
            </a:r>
          </a:p>
          <a:p xmlns:a="http://schemas.openxmlformats.org/drawingml/2006/main">
            <a:r>
              <a:t/>
            </a:r>
          </a:p>
          <a:p xmlns:a="http://schemas.openxmlformats.org/drawingml/2006/main">
            <a:r>
              <a:t>Objetivo: Recursos disponibles bajo demanda</a:t>
            </a:r>
          </a:p>
          <a:p xmlns:a="http://schemas.openxmlformats.org/drawingml/2006/main">
            <a:r>
              <a:t/>
            </a:r>
          </a:p>
          <a:p xmlns:a="http://schemas.openxmlformats.org/drawingml/2006/main">
            <a:r>
              <a:t>Consumimos recursos como cómputo, almacenamiento y redes a través de servicios. El autoservicio permite pedirlos cuando se necesitan. La elasticidad permite ajustar capacidad, pero nuestra aplicación necesita configuración para aprovecharla. El uso se mide y puede facturarse por distintos componentes. Tener una página en Internet no basta para describir toda la nube. En nuestro caso pediremos una máquina y seguiremos administrando su software.</a:t>
            </a:r>
          </a:p>
          <a:p xmlns:a="http://schemas.openxmlformats.org/drawingml/2006/main">
            <a:r>
              <a:t/>
            </a:r>
          </a:p>
          <a:p xmlns:a="http://schemas.openxmlformats.org/drawingml/2006/main">
            <a:r>
              <a:t>Pregunta: ¿Crear una VM hace que nuestra web escale automáticamente?</a:t>
            </a:r>
          </a:p>
          <a:p xmlns:a="http://schemas.openxmlformats.org/drawingml/2006/main">
            <a:r>
              <a:t>Respuesta: No. Crear una VM proporciona capacidad. El escalado requiere diseño y configuración adicionales.</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Comparemos quién hace el trabajo en cada entorno.</a:t>
            </a:r>
          </a:p>
          <a:p xmlns:a="http://schemas.openxmlformats.org/drawingml/2006/main">
            <a:r>
              <a:t/>
            </a:r>
          </a:p>
          <a:p xmlns:a="http://schemas.openxmlformats.org/drawingml/2006/main">
            <a:r>
              <a:t>Fuentes: https://www.nist.gov/publications/nist-definition-cloud-computing?pub_id=909616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16–21.</a:t>
            </a:r>
          </a:p>
          <a:p xmlns:a="http://schemas.openxmlformats.org/drawingml/2006/main">
            <a:r>
              <a:t/>
            </a:r>
          </a:p>
          <a:p xmlns:a="http://schemas.openxmlformats.org/drawingml/2006/main">
            <a:r>
              <a:t>Objetivo: Local: compras y mantienes el equipo</a:t>
            </a:r>
          </a:p>
          <a:p xmlns:a="http://schemas.openxmlformats.org/drawingml/2006/main">
            <a:r>
              <a:t/>
            </a:r>
          </a:p>
          <a:p xmlns:a="http://schemas.openxmlformats.org/drawingml/2006/main">
            <a:r>
              <a:t>Con infraestructura propia, la organización decide y mantiene hardware, energía y espacio. En cloud el proveedor gestiona la infraestructura física, pero nuestras responsabilidades dependen del servicio. Podemos comenzar sin comprar un servidor. Eso no garantiza un costo total menor: el consumo continuo, el tráfico, la operación y los recursos olvidados también cuentan. No es una competencia con un ganador universal. Elegimos según restricciones y necesidades.</a:t>
            </a:r>
          </a:p>
          <a:p xmlns:a="http://schemas.openxmlformats.org/drawingml/2006/main">
            <a:r>
              <a:t/>
            </a:r>
          </a:p>
          <a:p xmlns:a="http://schemas.openxmlformats.org/drawingml/2006/main">
            <a:r>
              <a:t>Pregunta: ¿En la nube desaparece el trabajo de mantenimiento?</a:t>
            </a:r>
          </a:p>
          <a:p xmlns:a="http://schemas.openxmlformats.org/drawingml/2006/main">
            <a:r>
              <a:t>Respuesta: Parte pasa al proveedor. El resto depende del modelo elegido.</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Esa distribución de trabajo define los modelos de servicio.</a:t>
            </a:r>
          </a:p>
          <a:p xmlns:a="http://schemas.openxmlformats.org/drawingml/2006/main">
            <a:r>
              <a:t/>
            </a:r>
          </a:p>
          <a:p xmlns:a="http://schemas.openxmlformats.org/drawingml/2006/main">
            <a:r>
              <a:t>Fuentes: https://www.nist.gov/publications/nist-definition-cloud-computing?pub_id=909616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21–26.</a:t>
            </a:r>
          </a:p>
          <a:p xmlns:a="http://schemas.openxmlformats.org/drawingml/2006/main">
            <a:r>
              <a:t/>
            </a:r>
          </a:p>
          <a:p xmlns:a="http://schemas.openxmlformats.org/drawingml/2006/main">
            <a:r>
              <a:t>Objetivo: IaaS: administras sistema operativo y aplicación</a:t>
            </a:r>
          </a:p>
          <a:p xmlns:a="http://schemas.openxmlformats.org/drawingml/2006/main">
            <a:r>
              <a:t/>
            </a:r>
          </a:p>
          <a:p xmlns:a="http://schemas.openxmlformats.org/drawingml/2006/main">
            <a:r>
              <a:t>Piensen en una aplicación, su entorno de ejecución, el sistema operativo y la infraestructura física. En IaaS seguimos administrando el sistema operativo y lo que instalamos. En PaaS el proveedor administra más del entorno, mientras nosotros nos ocupamos del código y su configuración. En SaaS usamos software terminado y administramos aspectos como cuentas y datos. Los contratos concretos pueden variar. Una comparación de responsabilidades resulta más útil que memorizar las siglas.</a:t>
            </a:r>
          </a:p>
          <a:p xmlns:a="http://schemas.openxmlformats.org/drawingml/2006/main">
            <a:r>
              <a:t/>
            </a:r>
          </a:p>
          <a:p xmlns:a="http://schemas.openxmlformats.org/drawingml/2006/main">
            <a:r>
              <a:t>Pregunta: ¿Dónde ubicarían una VM en la que instalamos Docker?</a:t>
            </a:r>
          </a:p>
          <a:p xmlns:a="http://schemas.openxmlformats.org/drawingml/2006/main">
            <a:r>
              <a:t>Respuesta: En IaaS. Seguimos configurando el sistema operativo y el software del servidor.</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Apliquemos esta comparación a servicios conocidos.</a:t>
            </a:r>
          </a:p>
          <a:p xmlns:a="http://schemas.openxmlformats.org/drawingml/2006/main">
            <a:r>
              <a:t/>
            </a:r>
          </a:p>
          <a:p xmlns:a="http://schemas.openxmlformats.org/drawingml/2006/main">
            <a:r>
              <a:t>Fuentes: https://www.nist.gov/publications/nist-definition-cloud-computing?pub_id=909616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 minutos. Ventana: 26–30.</a:t>
            </a:r>
          </a:p>
          <a:p xmlns:a="http://schemas.openxmlformats.org/drawingml/2006/main">
            <a:r>
              <a:t/>
            </a:r>
          </a:p>
          <a:p xmlns:a="http://schemas.openxmlformats.org/drawingml/2006/main">
            <a:r>
              <a:t>Objetivo: IaaS: Compute Engine, administrar una VM</a:t>
            </a:r>
          </a:p>
          <a:p xmlns:a="http://schemas.openxmlformats.org/drawingml/2006/main">
            <a:r>
              <a:t/>
            </a:r>
          </a:p>
          <a:p xmlns:a="http://schemas.openxmlformats.org/drawingml/2006/main">
            <a:r>
              <a:t>Podemos publicar nuestra aplicación en una máquina de Compute Engine y administrar Ubuntu, Docker y la red. Ahora elegiremos Vercel como ejemplo de plataforma administrada: entregamos archivos y configuración y la plataforma gestiona la publicación. Google Workspace representa software que consumimos terminado. Vercel también puede ejecutar aplicaciones dinámicas, pero nuestra web es estática y no necesita funciones. Conservamos Docker para aprender empaquetado local. No enviaremos una imagen de Nginx para ejecutar un contenedor en Vercel.</a:t>
            </a:r>
          </a:p>
          <a:p xmlns:a="http://schemas.openxmlformats.org/drawingml/2006/main">
            <a:r>
              <a:t/>
            </a:r>
          </a:p>
          <a:p xmlns:a="http://schemas.openxmlformats.org/drawingml/2006/main">
            <a:r>
              <a:t>Pregunta: ¿Qué cambia al elegir Vercel frente a la VM?</a:t>
            </a:r>
          </a:p>
          <a:p xmlns:a="http://schemas.openxmlformats.org/drawingml/2006/main">
            <a:r>
              <a:t>Respuesta: Delegamos la infraestructura de publicación. Seguimos preparando contenido, configuración del proyecto y versiones.</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Distingamos cómo publicamos de cómo los usuarios visitan la web.</a:t>
            </a:r>
          </a:p>
          <a:p xmlns:a="http://schemas.openxmlformats.org/drawingml/2006/main">
            <a:r>
              <a:t/>
            </a:r>
          </a:p>
          <a:p xmlns:a="http://schemas.openxmlformats.org/drawingml/2006/main">
            <a:r>
              <a:t>Fuentes: https://vercel.com/docs/builds/configure-a-build; https://vercel.com/docs/cdn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8 minutos. Ventana: 30–38.</a:t>
            </a:r>
          </a:p>
          <a:p xmlns:a="http://schemas.openxmlformats.org/drawingml/2006/main">
            <a:r>
              <a:t/>
            </a:r>
          </a:p>
          <a:p xmlns:a="http://schemas.openxmlformats.org/drawingml/2006/main">
            <a:r>
              <a:t>Objetivo: Docente: código y cambio de versión</a:t>
            </a:r>
          </a:p>
          <a:p xmlns:a="http://schemas.openxmlformats.org/drawingml/2006/main">
            <a:r>
              <a:t/>
            </a:r>
          </a:p>
          <a:p xmlns:a="http://schemas.openxmlformats.org/drawingml/2006/main">
            <a:r>
              <a:t>En Excalidraw dibujo una primera franja con docente, repositorio Git y Vercel. Una flecha de publicación representa el push. Vercel recibe la versión de código y ejecuta npm run build. Nuestro build copia HTML, CSS e imagen a public y coloca la etiqueta de ambiente. Estos archivos componen el despliegue estático. La preparación usa Node durante el build. Eso no significa que Node esté ejecutando un servidor para cada visitante. Git participa en la publicación, no en cada solicitud de la web.</a:t>
            </a:r>
          </a:p>
          <a:p xmlns:a="http://schemas.openxmlformats.org/drawingml/2006/main">
            <a:r>
              <a:t/>
            </a:r>
          </a:p>
          <a:p xmlns:a="http://schemas.openxmlformats.org/drawingml/2006/main">
            <a:r>
              <a:t>Pregunta: ¿Cada visitante obliga a Git a descargar el repositorio y ejecutar el build?</a:t>
            </a:r>
          </a:p>
          <a:p xmlns:a="http://schemas.openxmlformats.org/drawingml/2006/main">
            <a:r>
              <a:t>Respuesta: No. El build ocurre al desplegar. Los visitantes reciben archivos del despliegue ya preparado.</a:t>
            </a:r>
          </a:p>
          <a:p xmlns:a="http://schemas.openxmlformats.org/drawingml/2006/main">
            <a:r>
              <a:t/>
            </a:r>
          </a:p>
          <a:p xmlns:a="http://schemas.openxmlformats.org/drawingml/2006/main">
            <a:r>
              <a:t>Qué mostrar: Abrir Excalidraw y dibujar etapas 1 y 2. Marcar public/ como salida, no como servidor.</a:t>
            </a:r>
          </a:p>
          <a:p xmlns:a="http://schemas.openxmlformats.org/drawingml/2006/main">
            <a:r>
              <a:t/>
            </a:r>
          </a:p>
          <a:p xmlns:a="http://schemas.openxmlformats.org/drawingml/2006/main">
            <a:r>
              <a:t>Transición: Dibujemos ahora el recorrido que sí ocurre en cada visita.</a:t>
            </a:r>
          </a:p>
          <a:p xmlns:a="http://schemas.openxmlformats.org/drawingml/2006/main">
            <a:r>
              <a:t/>
            </a:r>
          </a:p>
          <a:p xmlns:a="http://schemas.openxmlformats.org/drawingml/2006/main">
            <a:r>
              <a:t>Fuentes: https://vercel.com/docs/git; https://vercel.com/docs/builds/configure-a-build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7 minutos. Ventana: 38–45.</a:t>
            </a:r>
          </a:p>
          <a:p xmlns:a="http://schemas.openxmlformats.org/drawingml/2006/main">
            <a:r>
              <a:t/>
            </a:r>
          </a:p>
          <a:p xmlns:a="http://schemas.openxmlformats.org/drawingml/2006/main">
            <a:r>
              <a:t>Objetivo: Navegador: resolver dominio y abrir HTTPS</a:t>
            </a:r>
          </a:p>
          <a:p xmlns:a="http://schemas.openxmlformats.org/drawingml/2006/main">
            <a:r>
              <a:t/>
            </a:r>
          </a:p>
          <a:p xmlns:a="http://schemas.openxmlformats.org/drawingml/2006/main">
            <a:r>
              <a:t>Dibujo otra franja separada: navegador del estudiante, resolución DNS, conexión HTTPS y CDN de Vercel. DNS permite encontrar la dirección del dominio; no lo dibujamos como un servidor que transporta todo el contenido de la página. Vercel entrega los archivos publicados. En una web estática no tenemos un proceso Nginx propio atendiendo a los usuarios remotos. El navegador solicita HTML, CSS e imagen. El almacenamiento del despliegue es una representación lógica de la plataforma, no una VM que administramos.</a:t>
            </a:r>
          </a:p>
          <a:p xmlns:a="http://schemas.openxmlformats.org/drawingml/2006/main">
            <a:r>
              <a:t/>
            </a:r>
          </a:p>
          <a:p xmlns:a="http://schemas.openxmlformats.org/drawingml/2006/main">
            <a:r>
              <a:t>Pregunta: ¿Dónde está nuestro contenedor Docker en la visita a Vercel?</a:t>
            </a:r>
          </a:p>
          <a:p xmlns:a="http://schemas.openxmlformats.org/drawingml/2006/main">
            <a:r>
              <a:t>Respuesta: Solo existe en la ejecución local; la publicación remota de esta práctica usa archivos estáticos.</a:t>
            </a:r>
          </a:p>
          <a:p xmlns:a="http://schemas.openxmlformats.org/drawingml/2006/main">
            <a:r>
              <a:t/>
            </a:r>
          </a:p>
          <a:p xmlns:a="http://schemas.openxmlformats.org/drawingml/2006/main">
            <a:r>
              <a:t>Qué mostrar: Dibujar etapa 3. Diferenciar publicación y petición con dos colores y etiquetas.</a:t>
            </a:r>
          </a:p>
          <a:p xmlns:a="http://schemas.openxmlformats.org/drawingml/2006/main">
            <a:r>
              <a:t/>
            </a:r>
          </a:p>
          <a:p xmlns:a="http://schemas.openxmlformats.org/drawingml/2006/main">
            <a:r>
              <a:t>Transición: Veamos Docker para entender esa ejecución local.</a:t>
            </a:r>
          </a:p>
          <a:p xmlns:a="http://schemas.openxmlformats.org/drawingml/2006/main">
            <a:r>
              <a:t/>
            </a:r>
          </a:p>
          <a:p xmlns:a="http://schemas.openxmlformats.org/drawingml/2006/main">
            <a:r>
              <a:t>Fuentes: https://vercel.com/docs/cdn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 minutos. Ventana: 45–49.</a:t>
            </a:r>
          </a:p>
          <a:p xmlns:a="http://schemas.openxmlformats.org/drawingml/2006/main">
            <a:r>
              <a:t/>
            </a:r>
          </a:p>
          <a:p xmlns:a="http://schemas.openxmlformats.org/drawingml/2006/main">
            <a:r>
              <a:t>Objetivo: Imagen: archivos y configuración para ejecutar</a:t>
            </a:r>
          </a:p>
          <a:p xmlns:a="http://schemas.openxmlformats.org/drawingml/2006/main">
            <a:r>
              <a:t/>
            </a:r>
          </a:p>
          <a:p xmlns:a="http://schemas.openxmlformats.org/drawingml/2006/main">
            <a:r>
              <a:t>La imagen local incluye Nginx y los archivos de la web. Un contenedor es una instancia en ejecución de esa imagen. En Docker publicamos el puerto 8080 del equipo hacia el 80 de Nginx. En Vercel reutilizamos los archivos fuente, pero su build produce un directorio public. No reutilizamos el proceso Nginx ni el mapeo de puertos. El entorno de build y el entorno que responde peticiones cumplen funciones distintas.</a:t>
            </a:r>
          </a:p>
          <a:p xmlns:a="http://schemas.openxmlformats.org/drawingml/2006/main">
            <a:r>
              <a:t/>
            </a:r>
          </a:p>
          <a:p xmlns:a="http://schemas.openxmlformats.org/drawingml/2006/main">
            <a:r>
              <a:t>Pregunta: ¿Vercel ejecuta el Dockerfile de esta demostración?</a:t>
            </a:r>
          </a:p>
          <a:p xmlns:a="http://schemas.openxmlformats.org/drawingml/2006/main">
            <a:r>
              <a:t>Respuesta: No. Este proyecto prepara archivos estáticos con npm run build.</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Hagamos visible la primera versión.</a:t>
            </a:r>
          </a:p>
          <a:p xmlns:a="http://schemas.openxmlformats.org/drawingml/2006/main">
            <a:r>
              <a:t/>
            </a:r>
          </a:p>
          <a:p xmlns:a="http://schemas.openxmlformats.org/drawingml/2006/main">
            <a:r>
              <a:t>Fuentes: https://docs.docker.com/get-started/docker-overview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6 minutos. Ventana: 49–55.</a:t>
            </a:r>
          </a:p>
          <a:p xmlns:a="http://schemas.openxmlformats.org/drawingml/2006/main">
            <a:r>
              <a:t/>
            </a:r>
          </a:p>
          <a:p xmlns:a="http://schemas.openxmlformats.org/drawingml/2006/main">
            <a:r>
              <a:t>Objetivo: Construir ads2-cloud:v1</a:t>
            </a:r>
          </a:p>
          <a:p xmlns:a="http://schemas.openxmlformats.org/drawingml/2006/main">
            <a:r>
              <a:t/>
            </a:r>
          </a:p>
          <a:p xmlns:a="http://schemas.openxmlformats.org/drawingml/2006/main">
            <a:r>
              <a:t>Construimos v1 con ambiente local y ejecutamos el contenedor en localhost:8080. Nginx entrega HTML, CSS e imagen. Mostramos el mapeo 8080:80 y consultamos los registros. Es un repaso breve de Docker. Luego preparo la misma web con npm run build y explico que ese resultado es lo que publicará Vercel. Se puede comparar el contenido sin atribuirle la misma infraestructura.</a:t>
            </a:r>
          </a:p>
          <a:p xmlns:a="http://schemas.openxmlformats.org/drawingml/2006/main">
            <a:r>
              <a:t/>
            </a:r>
          </a:p>
          <a:p xmlns:a="http://schemas.openxmlformats.org/drawingml/2006/main">
            <a:r>
              <a:t>Pregunta: ¿localhost en la computadora de un estudiante apunta a mi computadora?</a:t>
            </a:r>
          </a:p>
          <a:p xmlns:a="http://schemas.openxmlformats.org/drawingml/2006/main">
            <a:r>
              <a:t>Respuesta: No. Localhost hace referencia al propio equipo del estudiante.</a:t>
            </a:r>
          </a:p>
          <a:p xmlns:a="http://schemas.openxmlformats.org/drawingml/2006/main">
            <a:r>
              <a:t/>
            </a:r>
          </a:p>
          <a:p xmlns:a="http://schemas.openxmlformats.org/drawingml/2006/main">
            <a:r>
              <a:t>Qué mostrar: Seguir sección Docker local de Guia_Demostracion.md; mostrar 8080:80 y la web v1. Retomar Vercel después de seis minutos.</a:t>
            </a:r>
          </a:p>
          <a:p xmlns:a="http://schemas.openxmlformats.org/drawingml/2006/main">
            <a:r>
              <a:t/>
            </a:r>
          </a:p>
          <a:p xmlns:a="http://schemas.openxmlformats.org/drawingml/2006/main">
            <a:r>
              <a:t>Transición: Necesitamos una dirección accesible fuera de esta computadora.</a:t>
            </a:r>
          </a:p>
          <a:p xmlns:a="http://schemas.openxmlformats.org/drawingml/2006/main">
            <a:r>
              <a:t/>
            </a:r>
          </a:p>
          <a:p xmlns:a="http://schemas.openxmlformats.org/drawingml/2006/main">
            <a:r>
              <a:t>Fuentes: https://docs.docker.com/engine/network/port-publishing/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9 minutos. Ventana: 55–64.</a:t>
            </a:r>
          </a:p>
          <a:p xmlns:a="http://schemas.openxmlformats.org/drawingml/2006/main">
            <a:r>
              <a:t/>
            </a:r>
          </a:p>
          <a:p xmlns:a="http://schemas.openxmlformats.org/drawingml/2006/main">
            <a:r>
              <a:t>Objetivo: Repositorio y directorio del ejemplo</a:t>
            </a:r>
          </a:p>
          <a:p xmlns:a="http://schemas.openxmlformats.org/drawingml/2006/main">
            <a:r>
              <a:t/>
            </a:r>
          </a:p>
          <a:p xmlns:a="http://schemas.openxmlformats.org/drawingml/2006/main">
            <a:r>
              <a:t>La cuenta y la conexión Git se preparan antes de clase. Importamos el repositorio en Vercel y elegimos ejemplos/cloud-clase-1 como Root Directory. El preset es Other; la salida public contiene únicamente los archivos que queremos entregar. Revisamos el build y el estado Ready. Abrimos la URL HTTPS del proyecto. Esta URL debe consultarse también fuera de la sesión del docente para comprobar el acceso del grupo. Un preview puede estar protegido; no confundamos una pantalla de autenticación con un fallo de la web.</a:t>
            </a:r>
          </a:p>
          <a:p xmlns:a="http://schemas.openxmlformats.org/drawingml/2006/main">
            <a:r>
              <a:t/>
            </a:r>
          </a:p>
          <a:p xmlns:a="http://schemas.openxmlformats.org/drawingml/2006/main">
            <a:r>
              <a:t>Pregunta: ¿Qué pasa si la salida apunta a otra carpeta?</a:t>
            </a:r>
          </a:p>
          <a:p xmlns:a="http://schemas.openxmlformats.org/drawingml/2006/main">
            <a:r>
              <a:t>Respuesta: La plataforma puede no encontrar los archivos esperados o fallar el build. Revisamos configuración y registros.</a:t>
            </a:r>
          </a:p>
          <a:p xmlns:a="http://schemas.openxmlformats.org/drawingml/2006/main">
            <a:r>
              <a:t/>
            </a:r>
          </a:p>
          <a:p xmlns:a="http://schemas.openxmlformats.org/drawingml/2006/main">
            <a:r>
              <a:t>Qué mostrar: Mostrar configuración, logs, estado Ready y URL real. Consultar la guía; si no hay conexión, usar respaldo marcado como ilustrativo.</a:t>
            </a:r>
          </a:p>
          <a:p xmlns:a="http://schemas.openxmlformats.org/drawingml/2006/main">
            <a:r>
              <a:t/>
            </a:r>
          </a:p>
          <a:p xmlns:a="http://schemas.openxmlformats.org/drawingml/2006/main">
            <a:r>
              <a:t>Transición: Actualicemos una versión y practiquemos el diagnóstico.</a:t>
            </a:r>
          </a:p>
          <a:p xmlns:a="http://schemas.openxmlformats.org/drawingml/2006/main">
            <a:r>
              <a:t/>
            </a:r>
          </a:p>
          <a:p xmlns:a="http://schemas.openxmlformats.org/drawingml/2006/main">
            <a:r>
              <a:t>Fuentes: https://vercel.com/docs/builds/configure-a-build; https://vercel.com/docs/git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6 minutos. Ventana: 64–70.</a:t>
            </a:r>
          </a:p>
          <a:p xmlns:a="http://schemas.openxmlformats.org/drawingml/2006/main">
            <a:r>
              <a:t/>
            </a:r>
          </a:p>
          <a:p xmlns:a="http://schemas.openxmlformats.org/drawingml/2006/main">
            <a:r>
              <a:t>Objetivo: Cambio de v1 a v2 en contenido.json</a:t>
            </a:r>
          </a:p>
          <a:p xmlns:a="http://schemas.openxmlformats.org/drawingml/2006/main">
            <a:r>
              <a:t/>
            </a:r>
          </a:p>
          <a:p xmlns:a="http://schemas.openxmlformats.org/drawingml/2006/main">
            <a:r>
              <a:t>Primero invoco el build local con v3 para provocar un error claro sin publicar código defectuoso. Leemos el mensaje: solo admite v1 o v2. Corregimos y construimos v2. Después cambiamos contenido.json a v2, publicamos ese cambio mediante Git y observamos el despliegue. Comprobamos que el estado sea Ready y que la URL de producción muestre v2. Hay dos versiones de contenido, no dos servidores administrados por nosotros. Preview permite revisar un despliegue antes de publicarlo según el flujo configurado. Para volver a v1 basta con publicar un cambio válido que la seleccione.</a:t>
            </a:r>
          </a:p>
          <a:p xmlns:a="http://schemas.openxmlformats.org/drawingml/2006/main">
            <a:r>
              <a:t/>
            </a:r>
          </a:p>
          <a:p xmlns:a="http://schemas.openxmlformats.org/drawingml/2006/main">
            <a:r>
              <a:t>Pregunta: ¿Qué verificamos antes de afirmar que la actualización está disponible?</a:t>
            </a:r>
          </a:p>
          <a:p xmlns:a="http://schemas.openxmlformats.org/drawingml/2006/main">
            <a:r>
              <a:t>Respuesta: Build exitoso, estado del despliegue, URL correcta y contenido visible v2.</a:t>
            </a:r>
          </a:p>
          <a:p xmlns:a="http://schemas.openxmlformats.org/drawingml/2006/main">
            <a:r>
              <a:t/>
            </a:r>
          </a:p>
          <a:p xmlns:a="http://schemas.openxmlformats.org/drawingml/2006/main">
            <a:r>
              <a:t>Qué mostrar: Ejecutar node build.mjs v3 para el error local. Restaurar producción solo con un build válido; no hacer git add . ni publicar cambios ajenos.</a:t>
            </a:r>
          </a:p>
          <a:p xmlns:a="http://schemas.openxmlformats.org/drawingml/2006/main">
            <a:r>
              <a:t/>
            </a:r>
          </a:p>
          <a:p xmlns:a="http://schemas.openxmlformats.org/drawingml/2006/main">
            <a:r>
              <a:t>Transición: Veamos qué aporta la CDN incluida en esta publicación.</a:t>
            </a:r>
          </a:p>
          <a:p xmlns:a="http://schemas.openxmlformats.org/drawingml/2006/main">
            <a:r>
              <a:t/>
            </a:r>
          </a:p>
          <a:p xmlns:a="http://schemas.openxmlformats.org/drawingml/2006/main">
            <a:r>
              <a:t>Fuentes: https://vercel.com/docs/git; https://vercel.com/docs/deployments/managing-deployments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70–75.</a:t>
            </a:r>
          </a:p>
          <a:p xmlns:a="http://schemas.openxmlformats.org/drawingml/2006/main">
            <a:r>
              <a:t/>
            </a:r>
          </a:p>
          <a:p xmlns:a="http://schemas.openxmlformats.org/drawingml/2006/main">
            <a:r>
              <a:t>Objetivo: Vercel incorpora una CDN al despliegue</a:t>
            </a:r>
          </a:p>
          <a:p xmlns:a="http://schemas.openxmlformats.org/drawingml/2006/main">
            <a:r>
              <a:t/>
            </a:r>
          </a:p>
          <a:p xmlns:a="http://schemas.openxmlformats.org/drawingml/2006/main">
            <a:r>
              <a:t>En este caso la CDN ya forma parte del servicio de publicación. Vercel puede servir la web estática desde su red sin invocar una función propia. Dibujamos la CDN y una representación lógica de los archivos de cada despliegue. El origen general de contenido sigue siendo un concepto útil, pero no lo representamos como una VM nuestra. No todas las aplicaciones en Vercel son estáticas: si agregáramos funciones, habría un recorrido adicional que no implementamos en esta clase.</a:t>
            </a:r>
          </a:p>
          <a:p xmlns:a="http://schemas.openxmlformats.org/drawingml/2006/main">
            <a:r>
              <a:t/>
            </a:r>
          </a:p>
          <a:p xmlns:a="http://schemas.openxmlformats.org/drawingml/2006/main">
            <a:r>
              <a:t>Pregunta: ¿Nuestra web necesita una función para entregar el HTML?</a:t>
            </a:r>
          </a:p>
          <a:p xmlns:a="http://schemas.openxmlformats.org/drawingml/2006/main">
            <a:r>
              <a:t>Respuesta: No. El HTML ya existe como archivo del despliegue.</a:t>
            </a:r>
          </a:p>
          <a:p xmlns:a="http://schemas.openxmlformats.org/drawingml/2006/main">
            <a:r>
              <a:t/>
            </a:r>
          </a:p>
          <a:p xmlns:a="http://schemas.openxmlformats.org/drawingml/2006/main">
            <a:r>
              <a:t>Qué mostrar: Dibujar etapa 4. El almacenamiento es un componente lógico; no afirmar que describe los servidores internos de Vercel.</a:t>
            </a:r>
          </a:p>
          <a:p xmlns:a="http://schemas.openxmlformats.org/drawingml/2006/main">
            <a:r>
              <a:t/>
            </a:r>
          </a:p>
          <a:p xmlns:a="http://schemas.openxmlformats.org/drawingml/2006/main">
            <a:r>
              <a:t>Transición: Comparemos caché del navegador con caché de la plataforma.</a:t>
            </a:r>
          </a:p>
          <a:p xmlns:a="http://schemas.openxmlformats.org/drawingml/2006/main">
            <a:r>
              <a:t/>
            </a:r>
          </a:p>
          <a:p xmlns:a="http://schemas.openxmlformats.org/drawingml/2006/main">
            <a:r>
              <a:t>Fuentes: https://vercel.com/docs/cdn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75–80.</a:t>
            </a:r>
          </a:p>
          <a:p xmlns:a="http://schemas.openxmlformats.org/drawingml/2006/main">
            <a:r>
              <a:t/>
            </a:r>
          </a:p>
          <a:p xmlns:a="http://schemas.openxmlformats.org/drawingml/2006/main">
            <a:r>
              <a:t>Objetivo: HIT: respuesta desde una copia disponible</a:t>
            </a:r>
          </a:p>
          <a:p xmlns:a="http://schemas.openxmlformats.org/drawingml/2006/main">
            <a:r>
              <a:t/>
            </a:r>
          </a:p>
          <a:p xmlns:a="http://schemas.openxmlformats.org/drawingml/2006/main">
            <a:r>
              <a:t>La caché del navegador está en el equipo de cada estudiante. La caché CDN está en la plataforma. Podemos inspeccionar Cache-Control, Age si aparece y x-vercel-cache si la respuesta lo incluye. No garantizamos ver MISS y después HIT: el resultado depende de la ruta, del despliegue, del punto de presencia y de las reglas. Desactivar la caché en DevTools afecta el navegador y puede modificar encabezados de la petición, no apaga automáticamente la CDN. Para enseñar las dos rutas usamos el dibujo y comentamos la evidencia real sin inventarla.</a:t>
            </a:r>
          </a:p>
          <a:p xmlns:a="http://schemas.openxmlformats.org/drawingml/2006/main">
            <a:r>
              <a:t/>
            </a:r>
          </a:p>
          <a:p xmlns:a="http://schemas.openxmlformats.org/drawingml/2006/main">
            <a:r>
              <a:t>Pregunta: ¿Disable cache en DevTools deshabilita la CDN para todo el mundo?</a:t>
            </a:r>
          </a:p>
          <a:p xmlns:a="http://schemas.openxmlformats.org/drawingml/2006/main">
            <a:r>
              <a:t>Respuesta: No. Afecta la prueba del navegador y puede cambiar cómo solicita o revalida el recurso.</a:t>
            </a:r>
          </a:p>
          <a:p xmlns:a="http://schemas.openxmlformats.org/drawingml/2006/main">
            <a:r>
              <a:t/>
            </a:r>
          </a:p>
          <a:p xmlns:a="http://schemas.openxmlformats.org/drawingml/2006/main">
            <a:r>
              <a:t>Qué mostrar: Abrir Network, solicitar assets/cloud.png y leer solo encabezados presentes. No fabricar valores de caché en el respaldo.</a:t>
            </a:r>
          </a:p>
          <a:p xmlns:a="http://schemas.openxmlformats.org/drawingml/2006/main">
            <a:r>
              <a:t/>
            </a:r>
          </a:p>
          <a:p xmlns:a="http://schemas.openxmlformats.org/drawingml/2006/main">
            <a:r>
              <a:t>Transición: El uso de la plataforma también tiene límites y costos.</a:t>
            </a:r>
          </a:p>
          <a:p xmlns:a="http://schemas.openxmlformats.org/drawingml/2006/main">
            <a:r>
              <a:t/>
            </a:r>
          </a:p>
          <a:p xmlns:a="http://schemas.openxmlformats.org/drawingml/2006/main">
            <a:r>
              <a:t>Fuentes: https://vercel.com/docs/caching/cache-control-headers; https://vercel.com/docs/cdn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80–85.</a:t>
            </a:r>
          </a:p>
          <a:p xmlns:a="http://schemas.openxmlformats.org/drawingml/2006/main">
            <a:r>
              <a:t/>
            </a:r>
          </a:p>
          <a:p xmlns:a="http://schemas.openxmlformats.org/drawingml/2006/main">
            <a:r>
              <a:t>Objetivo: Transferencia de datos y solicitudes CDN</a:t>
            </a:r>
          </a:p>
          <a:p xmlns:a="http://schemas.openxmlformats.org/drawingml/2006/main">
            <a:r>
              <a:t/>
            </a:r>
          </a:p>
          <a:p xmlns:a="http://schemas.openxmlformats.org/drawingml/2006/main">
            <a:r>
              <a:t>En una plataforma administrada seguimos teniendo consumo, aunque no elijamos una VM o su disco. En esta web miramos principalmente transferencia y solicitudes a la CDN, además de límites de build. No usamos funciones ni optimización dinámica de imágenes. Los costos y límites dependen del plan y de la cuenta. Hobby es una opción de uso personal no comercial con límites, no un recurso ilimitado. Revisaremos Usage y el plan antes de decidir cómo usar la cuenta en la clase.</a:t>
            </a:r>
          </a:p>
          <a:p xmlns:a="http://schemas.openxmlformats.org/drawingml/2006/main">
            <a:r>
              <a:t/>
            </a:r>
          </a:p>
          <a:p xmlns:a="http://schemas.openxmlformats.org/drawingml/2006/main">
            <a:r>
              <a:t>Pregunta: ¿Una web sin funciones puede generar consumo?</a:t>
            </a:r>
          </a:p>
          <a:p xmlns:a="http://schemas.openxmlformats.org/drawingml/2006/main">
            <a:r>
              <a:t>Respuesta: Sí. Servir archivos consume transferencia y solicitudes, y los builds tienen límites.</a:t>
            </a:r>
          </a:p>
          <a:p xmlns:a="http://schemas.openxmlformats.org/drawingml/2006/main">
            <a:r>
              <a:t/>
            </a:r>
          </a:p>
          <a:p xmlns:a="http://schemas.openxmlformats.org/drawingml/2006/main">
            <a:r>
              <a:t>Qué mostrar: Presentación y conversación con el grupo.</a:t>
            </a:r>
          </a:p>
          <a:p xmlns:a="http://schemas.openxmlformats.org/drawingml/2006/main">
            <a:r>
              <a:t/>
            </a:r>
          </a:p>
          <a:p xmlns:a="http://schemas.openxmlformats.org/drawingml/2006/main">
            <a:r>
              <a:t>Transición: Estimemos el efecto del tamaño de nuestros recursos.</a:t>
            </a:r>
          </a:p>
          <a:p xmlns:a="http://schemas.openxmlformats.org/drawingml/2006/main">
            <a:r>
              <a:t/>
            </a:r>
          </a:p>
          <a:p xmlns:a="http://schemas.openxmlformats.org/drawingml/2006/main">
            <a:r>
              <a:t>Fuentes: https://vercel.com/docs/plans/hobby; https://vercel.com/docs/manage-cdn-usage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minutos. Ventana: 85–90.</a:t>
            </a:r>
          </a:p>
          <a:p xmlns:a="http://schemas.openxmlformats.org/drawingml/2006/main">
            <a:r>
              <a:t/>
            </a:r>
          </a:p>
          <a:p xmlns:a="http://schemas.openxmlformats.org/drawingml/2006/main">
            <a:r>
              <a:t>Objetivo: 10 000 visitas × 2 MB = 20 GB</a:t>
            </a:r>
          </a:p>
          <a:p xmlns:a="http://schemas.openxmlformats.org/drawingml/2006/main">
            <a:r>
              <a:t/>
            </a:r>
          </a:p>
          <a:p xmlns:a="http://schemas.openxmlformats.org/drawingml/2006/main">
            <a:r>
              <a:t>Usamos un supuesto didáctico de dos megabytes transferidos por visita completa y tres solicitudes: HTML, CSS e imagen. Diez mil visitas equivalen a veinte gigabytes y treinta mil solicitudes; cien mil, a doscientos gigabytes y trescientas mil solicitudes. Es un cálculo decimal, sin reutilización de caché local. No es una medición del sitio ni una factura. Lo comparamos con las cuotas publicadas de Hobby y recordamos que el consumo se comparte con otros proyectos de la cuenta. El exceso no se interpreta como una tarifa automática del plan Hobby. Para controlar consumo podemos reducir la imagen, revisar Usage y eliminar el proyecto de demostración cuando no se necesite.</a:t>
            </a:r>
          </a:p>
          <a:p xmlns:a="http://schemas.openxmlformats.org/drawingml/2006/main">
            <a:r>
              <a:t/>
            </a:r>
          </a:p>
          <a:p xmlns:a="http://schemas.openxmlformats.org/drawingml/2006/main">
            <a:r>
              <a:t>Pregunta: ¿Una imagen diez veces más pesada afecta el consumo aunque el HTML sea el mismo?</a:t>
            </a:r>
          </a:p>
          <a:p xmlns:a="http://schemas.openxmlformats.org/drawingml/2006/main">
            <a:r>
              <a:t>Respuesta: Sí. Si se descarga en cada visita, aumenta la transferencia asociada al recurso.</a:t>
            </a:r>
          </a:p>
          <a:p xmlns:a="http://schemas.openxmlformats.org/drawingml/2006/main">
            <a:r>
              <a:t/>
            </a:r>
          </a:p>
          <a:p xmlns:a="http://schemas.openxmlformats.org/drawingml/2006/main">
            <a:r>
              <a:t>Qué mostrar: Abrir Costos.md. Hobby publicado: 100 GB de Fast Data Transfer y 1 000 000 de CDN Requests. Revisar vigencia antes de clase.</a:t>
            </a:r>
          </a:p>
          <a:p xmlns:a="http://schemas.openxmlformats.org/drawingml/2006/main">
            <a:r>
              <a:t/>
            </a:r>
          </a:p>
          <a:p xmlns:a="http://schemas.openxmlformats.org/drawingml/2006/main">
            <a:r>
              <a:t>Transición: Cerremos justificando la elección de plataforma.</a:t>
            </a:r>
          </a:p>
          <a:p xmlns:a="http://schemas.openxmlformats.org/drawingml/2006/main">
            <a:r>
              <a:t/>
            </a:r>
          </a:p>
          <a:p xmlns:a="http://schemas.openxmlformats.org/drawingml/2006/main">
            <a:r>
              <a:t>Fuentes: https://vercel.com/docs/plans/hobby; https://vercel.com/docs/manage-cdn-usage</a:t>
            </a:r>
          </a:p>
          <a:p xmlns:a="http://schemas.openxmlformats.org/drawingml/2006/main">
            <a:r>
              <a:t>Cálculo decimal sin caché de navegador, no factura ni medición del sitio. Revisar consumo agregado y período del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10 minutos. Ventana: 90–100.</a:t>
            </a:r>
          </a:p>
          <a:p xmlns:a="http://schemas.openxmlformats.org/drawingml/2006/main">
            <a:r>
              <a:t/>
            </a:r>
          </a:p>
          <a:p xmlns:a="http://schemas.openxmlformats.org/drawingml/2006/main">
            <a:r>
              <a:t>Objetivo: Justificar la elección de IaaS o PaaS</a:t>
            </a:r>
          </a:p>
          <a:p xmlns:a="http://schemas.openxmlformats.org/drawingml/2006/main">
            <a:r>
              <a:t/>
            </a:r>
          </a:p>
          <a:p xmlns:a="http://schemas.openxmlformats.org/drawingml/2006/main">
            <a:r>
              <a:t>En parejas o de manera oral, expliquen por qué una plataforma administrada resulta adecuada para esta web. Dibujen dos recorridos: el código se publica mediante Git y build; el usuario solicita archivos mediante HTTPS y CDN. Ubiquen Docker en la alternativa local. Nombren dos consumos y una acción concreta para controlarlos. En la siguiente clase podemos contrastar esta delegación con una VM: Terraform podría crear infraestructura y Ansible configurar un servidor. No instalamos Ansible en Vercel para administrar máquinas de su plataforma.</a:t>
            </a:r>
          </a:p>
          <a:p xmlns:a="http://schemas.openxmlformats.org/drawingml/2006/main">
            <a:r>
              <a:t/>
            </a:r>
          </a:p>
          <a:p xmlns:a="http://schemas.openxmlformats.org/drawingml/2006/main">
            <a:r>
              <a:t>Pregunta: ¿Qué automatiza Vercel y qué estudiaríamos con Terraform y Ansible en una VM?</a:t>
            </a:r>
          </a:p>
          <a:p xmlns:a="http://schemas.openxmlformats.org/drawingml/2006/main">
            <a:r>
              <a:t>Respuesta: Vercel automatiza el flujo de publicación integrado; en IaaS estudiaríamos creación de infraestructura y configuración de servidores.</a:t>
            </a:r>
          </a:p>
          <a:p xmlns:a="http://schemas.openxmlformats.org/drawingml/2006/main">
            <a:r>
              <a:t/>
            </a:r>
          </a:p>
          <a:p xmlns:a="http://schemas.openxmlformats.org/drawingml/2006/main">
            <a:r>
              <a:t>Qué mostrar: 3 minutos pensar, 3 compartir, 2 respuesta modelo, 2 preguntas. Consultar Actividad.md.</a:t>
            </a:r>
          </a:p>
          <a:p xmlns:a="http://schemas.openxmlformats.org/drawingml/2006/main">
            <a:r>
              <a:t/>
            </a:r>
          </a:p>
          <a:p xmlns:a="http://schemas.openxmlformats.org/drawingml/2006/main">
            <a:r>
              <a:t>Transición: Conservar el dibujo para comparar responsabilidades en la siguiente clase.</a:t>
            </a:r>
          </a:p>
          <a:p xmlns:a="http://schemas.openxmlformats.org/drawingml/2006/main">
            <a:r>
              <a:t/>
            </a:r>
          </a:p>
          <a:p xmlns:a="http://schemas.openxmlformats.org/drawingml/2006/main">
            <a:r>
              <a:t>Fuentes: https://vercel.com/docs/git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b73d4eab4144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7802064feb4c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f089a3dfb740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6cfa9704c247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6dcc36b89940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c1f334013548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4FDCA3-0F4B-4508-91FE-CED42B9A87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75EA65-7B4B-4C88-B6F9-1617F3E8B5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A9CB32-1524-4260-8740-B49FDCAB05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63B16C-7962-4024-88F1-2961422322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3A4EED-9317-42F6-BF14-8E3754447B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892747-5A20-46E5-B7FA-11FF197038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0EB923-47F4-4B82-9842-40A5A66144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CFE640-EE83-4A2B-BAAF-88614DB723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EE76D5-22B6-4DAF-85FA-8C8EF07365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B2F078-331E-4251-8C26-0C9F358266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b9549b103f4cb3" /><Relationship Type="http://schemas.openxmlformats.org/officeDocument/2006/relationships/slideLayout" Target="/ppt/slideLayouts/slideLayout1.xml" Id="Rd701ff1a8b334ad7" /><Relationship Type="http://schemas.openxmlformats.org/officeDocument/2006/relationships/slideLayout" Target="/ppt/slideLayouts/slideLayout2.xml" Id="R909d71b08f56497e" /><Relationship Type="http://schemas.openxmlformats.org/officeDocument/2006/relationships/slideLayout" Target="/ppt/slideLayouts/slideLayout3.xml" Id="R2c6a8facac6541c4" /><Relationship Type="http://schemas.openxmlformats.org/officeDocument/2006/relationships/slideLayout" Target="/ppt/slideLayouts/slideLayout4.xml" Id="R34fceea7e6d14b6c" /><Relationship Type="http://schemas.openxmlformats.org/officeDocument/2006/relationships/slideLayout" Target="/ppt/slideLayouts/slideLayout5.xml" Id="R3fd588ec5b994718" /><Relationship Type="http://schemas.openxmlformats.org/officeDocument/2006/relationships/slideLayout" Target="/ppt/slideLayouts/slideLayout6.xml" Id="R0605a1f6fb3f48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01ff1a8b334ad7"/>
    <p:sldLayoutId xmlns:r="http://schemas.openxmlformats.org/officeDocument/2006/relationships" id="2147483650" r:id="R909d71b08f56497e"/>
    <p:sldLayoutId xmlns:r="http://schemas.openxmlformats.org/officeDocument/2006/relationships" id="2147483651" r:id="R2c6a8facac6541c4"/>
    <p:sldLayoutId xmlns:r="http://schemas.openxmlformats.org/officeDocument/2006/relationships" id="2147483652" r:id="R34fceea7e6d14b6c"/>
    <p:sldLayoutId xmlns:r="http://schemas.openxmlformats.org/officeDocument/2006/relationships" id="2147483653" r:id="R3fd588ec5b994718"/>
    <p:sldLayoutId xmlns:r="http://schemas.openxmlformats.org/officeDocument/2006/relationships" id="2147483654" r:id="R0605a1f6fb3f48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79b8f37ae84110" /><Relationship Type="http://schemas.openxmlformats.org/officeDocument/2006/relationships/image" Target="/ppt/media/image.png" Id="R84d133c6da7842c8" /><Relationship Type="http://schemas.openxmlformats.org/officeDocument/2006/relationships/notesSlide" Target="/ppt/notesSlides/notesSlide1.xml" Id="R5f7a8ca5043543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ea8b01a9f0477c" /><Relationship Type="http://schemas.openxmlformats.org/officeDocument/2006/relationships/notesSlide" Target="/ppt/notesSlides/notesSlide2.xml" Id="R228268e2dbbb40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3e587fa4854b94" /><Relationship Type="http://schemas.openxmlformats.org/officeDocument/2006/relationships/notesSlide" Target="/ppt/notesSlides/notesSlide3.xml" Id="R55adae10d59844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a538b223154f45" /><Relationship Type="http://schemas.openxmlformats.org/officeDocument/2006/relationships/notesSlide" Target="/ppt/notesSlides/notesSlide4.xml" Id="Ra4c7c11f254047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d33962a19141c0" /><Relationship Type="http://schemas.openxmlformats.org/officeDocument/2006/relationships/notesSlide" Target="/ppt/notesSlides/notesSlide5.xml" Id="Re6ab373f188444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4909d5ecfc428d" /><Relationship Type="http://schemas.openxmlformats.org/officeDocument/2006/relationships/notesSlide" Target="/ppt/notesSlides/notesSlide6.xml" Id="R709b6121d92649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f34212505549bc" /><Relationship Type="http://schemas.openxmlformats.org/officeDocument/2006/relationships/notesSlide" Target="/ppt/notesSlides/notesSlide7.xml" Id="Reea239dea3bd4a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1748a0121e4f67" /><Relationship Type="http://schemas.openxmlformats.org/officeDocument/2006/relationships/notesSlide" Target="/ppt/notesSlides/notesSlide8.xml" Id="R56760048abb64a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d2f57894a14baa" /><Relationship Type="http://schemas.openxmlformats.org/officeDocument/2006/relationships/notesSlide" Target="/ppt/notesSlides/notesSlide9.xml" Id="Rbfa84997756342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a366c336704696" /><Relationship Type="http://schemas.openxmlformats.org/officeDocument/2006/relationships/notesSlide" Target="/ppt/notesSlides/notesSlide10.xml" Id="R511eb23e189649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72f1038fed4f14" /><Relationship Type="http://schemas.openxmlformats.org/officeDocument/2006/relationships/image" Target="/ppt/media/image2.png" Id="R88ba73eeb5444810" /><Relationship Type="http://schemas.openxmlformats.org/officeDocument/2006/relationships/notesSlide" Target="/ppt/notesSlides/notesSlide11.xml" Id="R4f154707174644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7e3e7d3d1048bb" /><Relationship Type="http://schemas.openxmlformats.org/officeDocument/2006/relationships/notesSlide" Target="/ppt/notesSlides/notesSlide12.xml" Id="Rdedf9e0a474648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cc5339fc5e48b4" /><Relationship Type="http://schemas.openxmlformats.org/officeDocument/2006/relationships/notesSlide" Target="/ppt/notesSlides/notesSlide13.xml" Id="R4fd803e416724d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daba0011c4b455f" /><Relationship Type="http://schemas.openxmlformats.org/officeDocument/2006/relationships/notesSlide" Target="/ppt/notesSlides/notesSlide14.xml" Id="R32a930c2b79b41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73f37a7dd744b28" /><Relationship Type="http://schemas.openxmlformats.org/officeDocument/2006/relationships/notesSlide" Target="/ppt/notesSlides/notesSlide15.xml" Id="R52e2ae60633e4b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95ecc65a27460c" /><Relationship Type="http://schemas.openxmlformats.org/officeDocument/2006/relationships/notesSlide" Target="/ppt/notesSlides/notesSlide16.xml" Id="Rc162ccfc03c841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1f150d1ba9848f2" /><Relationship Type="http://schemas.openxmlformats.org/officeDocument/2006/relationships/notesSlide" Target="/ppt/notesSlides/notesSlide17.xml" Id="Re8f80232c6744d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8745dbdb2d4201" /><Relationship Type="http://schemas.openxmlformats.org/officeDocument/2006/relationships/notesSlide" Target="/ppt/notesSlides/notesSlide18.xml" Id="R635a698674214a30" /></Relationships>
</file>

<file path=ppt/slides/slide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52F779-0285-4F54-93D8-C61E5A3BB7DB}"/>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816F7088-4F19-46D8-90A0-E515BBD98D38}"/>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6B788A6-66A4-4B7F-ADA3-4028C162538E}"/>
              </a:ext>
            </a:extLst>
          </p:cNvPr>
          <p:cNvSpPr>
            <a:spLocks xmlns:a="http://schemas.openxmlformats.org/drawingml/2006/main" noGrp="1"/>
          </p:cNvSpPr>
          <p:nvPr/>
        </p:nvSpPr>
        <p:spPr>
          <a:xfrm xmlns:a="http://schemas.openxmlformats.org/drawingml/2006/main">
            <a:off x="723900" y="157162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73447"/>
                </a:solidFill>
                <a:latin typeface="Arial"/>
                <a:ea typeface="Arial"/>
                <a:cs typeface="Arial"/>
              </a:defRPr>
            </a:defPPr>
          </a:lstStyle>
          <a:p xmlns:a="http://schemas.openxmlformats.org/drawingml/2006/main">
            <a:pPr>
              <a:defRPr sz="4875" b="1">
                <a:solidFill>
                  <a:srgbClr val="173447"/>
                </a:solidFill>
                <a:latin typeface="Arial"/>
                <a:ea typeface="Arial"/>
                <a:cs typeface="Arial"/>
              </a:defRPr>
            </a:pPr>
            <a:r>
              <a:rPr sz="4875" b="1">
                <a:solidFill>
                  <a:srgbClr val="173447"/>
                </a:solidFill>
                <a:latin typeface="Arial"/>
                <a:ea typeface="Arial"/>
                <a:cs typeface="Arial"/>
              </a:rPr>
              <a:t>Despliegue en</a:t>
            </a:r>
          </a:p>
          <a:p xmlns:a="http://schemas.openxmlformats.org/drawingml/2006/main">
            <a:pPr>
              <a:defRPr sz="4875" b="1">
                <a:solidFill>
                  <a:srgbClr val="173447"/>
                </a:solidFill>
                <a:latin typeface="Arial"/>
                <a:ea typeface="Arial"/>
                <a:cs typeface="Arial"/>
              </a:defRPr>
            </a:pPr>
            <a:r>
              <a:rPr sz="4875" b="1">
                <a:solidFill>
                  <a:srgbClr val="173447"/>
                </a:solidFill>
                <a:latin typeface="Arial"/>
                <a:ea typeface="Arial"/>
                <a:cs typeface="Arial"/>
              </a:rPr>
              <a:t>una PaaS</a:t>
            </a:r>
          </a:p>
        </p:txBody>
      </p:sp>
      <p:sp>
        <p:nvSpPr>
          <p:cNvPr id="4" name="">
            <a:extLst xmlns:a="http://schemas.openxmlformats.org/drawingml/2006/main">
              <a:ext uri="{FF2B5EF4-FFF2-40B4-BE49-F238E27FC236}">
                <a16:creationId xmlns:a16="http://schemas.microsoft.com/office/drawing/2014/main" id="{9A53DE4B-500A-46CE-AB6F-88DBEE4ABFD2}"/>
              </a:ext>
            </a:extLst>
          </p:cNvPr>
          <p:cNvSpPr>
            <a:spLocks xmlns:a="http://schemas.openxmlformats.org/drawingml/2006/main" noGrp="1"/>
          </p:cNvSpPr>
          <p:nvPr/>
        </p:nvSpPr>
        <p:spPr>
          <a:xfrm xmlns:a="http://schemas.openxmlformats.org/drawingml/2006/main">
            <a:off x="723900" y="3667125"/>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96A72"/>
                </a:solidFill>
                <a:latin typeface="Arial"/>
                <a:ea typeface="Arial"/>
                <a:cs typeface="Arial"/>
              </a:defRPr>
            </a:defPPr>
          </a:lstStyle>
          <a:p xmlns:a="http://schemas.openxmlformats.org/drawingml/2006/main">
            <a:pPr>
              <a:defRPr sz="2400" b="0">
                <a:solidFill>
                  <a:srgbClr val="596A72"/>
                </a:solidFill>
                <a:latin typeface="Arial"/>
                <a:ea typeface="Arial"/>
                <a:cs typeface="Arial"/>
              </a:defRPr>
            </a:pPr>
            <a:r>
              <a:rPr sz="2400" b="0">
                <a:solidFill>
                  <a:srgbClr val="596A72"/>
                </a:solidFill>
                <a:latin typeface="Arial"/>
                <a:ea typeface="Arial"/>
                <a:cs typeface="Arial"/>
              </a:rPr>
              <a:t>Docker local y publicación</a:t>
            </a:r>
          </a:p>
          <a:p xmlns:a="http://schemas.openxmlformats.org/drawingml/2006/main">
            <a:pPr>
              <a:defRPr sz="2400" b="0">
                <a:solidFill>
                  <a:srgbClr val="596A72"/>
                </a:solidFill>
                <a:latin typeface="Arial"/>
                <a:ea typeface="Arial"/>
                <a:cs typeface="Arial"/>
              </a:defRPr>
            </a:pPr>
            <a:r>
              <a:rPr sz="2400" b="0">
                <a:solidFill>
                  <a:srgbClr val="596A72"/>
                </a:solidFill>
                <a:latin typeface="Arial"/>
                <a:ea typeface="Arial"/>
                <a:cs typeface="Arial"/>
              </a:rPr>
              <a:t>en Vercel</a:t>
            </a:r>
          </a:p>
        </p:txBody>
      </p:sp>
      <p:sp>
        <p:nvSpPr>
          <p:cNvPr id="5" name="">
            <a:extLst xmlns:a="http://schemas.openxmlformats.org/drawingml/2006/main">
              <a:ext uri="{FF2B5EF4-FFF2-40B4-BE49-F238E27FC236}">
                <a16:creationId xmlns:a16="http://schemas.microsoft.com/office/drawing/2014/main" id="{F81086F9-1943-475E-8792-D35C766483F1}"/>
              </a:ext>
            </a:extLst>
          </p:cNvPr>
          <p:cNvSpPr>
            <a:spLocks xmlns:a="http://schemas.openxmlformats.org/drawingml/2006/main" noGrp="1"/>
          </p:cNvSpPr>
          <p:nvPr/>
        </p:nvSpPr>
        <p:spPr>
          <a:xfrm xmlns:a="http://schemas.openxmlformats.org/drawingml/2006/main">
            <a:off x="723900" y="55721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3766B"/>
                </a:solidFill>
                <a:latin typeface="Arial"/>
                <a:ea typeface="Arial"/>
                <a:cs typeface="Arial"/>
              </a:defRPr>
            </a:defPPr>
          </a:lstStyle>
          <a:p xmlns:a="http://schemas.openxmlformats.org/drawingml/2006/main">
            <a:pPr>
              <a:defRPr sz="1800" b="0">
                <a:solidFill>
                  <a:srgbClr val="23766B"/>
                </a:solidFill>
                <a:latin typeface="Arial"/>
                <a:ea typeface="Arial"/>
                <a:cs typeface="Arial"/>
              </a:defRPr>
            </a:pPr>
            <a:r>
              <a:rPr sz="1800" b="0">
                <a:solidFill>
                  <a:srgbClr val="23766B"/>
                </a:solidFill>
                <a:latin typeface="Arial"/>
                <a:ea typeface="Arial"/>
                <a:cs typeface="Arial"/>
              </a:rPr>
              <a:t>Análisis y Diseño de Sistemas 2</a:t>
            </a:r>
          </a:p>
        </p:txBody>
      </p:sp>
      <p:pic>
        <p:nvPicPr>
          <p:cNvPr id="6" name="">
            <a:extLst xmlns:a="http://schemas.openxmlformats.org/drawingml/2006/main">
              <a:ext uri="{FF2B5EF4-FFF2-40B4-BE49-F238E27FC236}">
                <a16:creationId xmlns:a16="http://schemas.microsoft.com/office/drawing/2014/main" id="{A5B85A87-5D4B-4A44-ACAD-F97C832EA6DC}"/>
              </a:ext>
            </a:extLst>
          </p:cNvPr>
          <p:cNvPicPr>
            <a:picLocks xmlns:a="http://schemas.openxmlformats.org/drawingml/2006/main" noChangeAspect="1"/>
          </p:cNvPicPr>
          <p:nvPr/>
        </p:nvPicPr>
        <p:blipFill>
          <a:blip xmlns:r="http://schemas.openxmlformats.org/officeDocument/2006/relationships" xmlns:a="http://schemas.openxmlformats.org/drawingml/2006/main" r:embed="R84d133c6da7842c8"/>
          <a:stretch xmlns:a="http://schemas.openxmlformats.org/drawingml/2006/main"/>
        </p:blipFill>
        <p:spPr>
          <a:xfrm xmlns:a="http://schemas.openxmlformats.org/drawingml/2006/main">
            <a:off x="7143750" y="1873250"/>
            <a:ext cx="4381500" cy="2921000"/>
          </a:xfrm>
          <a:prstGeom xmlns:a="http://schemas.openxmlformats.org/drawingml/2006/main" prst="rect">
            <a:avLst/>
          </a:prstGeom>
        </p:spPr>
      </p:pic>
    </p:spTree>
    <p:extLst>
      <p:ext uri="{BB962C8B-B14F-4D97-AF65-F5344CB8AC3E}">
        <p14:creationId xmlns:p14="http://schemas.microsoft.com/office/powerpoint/2010/main" val="146854876"/>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64F1F3-D122-424A-A6D8-03475C5B1EBB}"/>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08EE0882-6A6F-427F-82B5-6C933F0C62D9}"/>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E047F6E-2375-484B-98CA-8FA706E4B1D6}"/>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Competencia y determinación</a:t>
            </a:r>
          </a:p>
        </p:txBody>
      </p:sp>
      <p:sp>
        <p:nvSpPr>
          <p:cNvPr id="4" name="">
            <a:extLst xmlns:a="http://schemas.openxmlformats.org/drawingml/2006/main">
              <a:ext uri="{FF2B5EF4-FFF2-40B4-BE49-F238E27FC236}">
                <a16:creationId xmlns:a16="http://schemas.microsoft.com/office/drawing/2014/main" id="{AE8CCF6A-839E-46DB-9B8D-17A11616EDCA}"/>
              </a:ext>
            </a:extLst>
          </p:cNvPr>
          <p:cNvSpPr>
            <a:spLocks xmlns:a="http://schemas.openxmlformats.org/drawingml/2006/main" noGrp="1"/>
          </p:cNvSpPr>
          <p:nvPr/>
        </p:nvSpPr>
        <p:spPr>
          <a:xfrm xmlns:a="http://schemas.openxmlformats.org/drawingml/2006/main">
            <a:off x="723900" y="20383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3766B"/>
                </a:solidFill>
                <a:latin typeface="Arial"/>
                <a:ea typeface="Arial"/>
                <a:cs typeface="Arial"/>
              </a:defRPr>
            </a:defPPr>
          </a:lstStyle>
          <a:p xmlns:a="http://schemas.openxmlformats.org/drawingml/2006/main">
            <a:pPr>
              <a:defRPr sz="1950" b="1">
                <a:solidFill>
                  <a:srgbClr val="23766B"/>
                </a:solidFill>
                <a:latin typeface="Arial"/>
                <a:ea typeface="Arial"/>
                <a:cs typeface="Arial"/>
              </a:defRPr>
            </a:pPr>
            <a:r>
              <a:rPr sz="1950" b="1">
                <a:solidFill>
                  <a:srgbClr val="23766B"/>
                </a:solidFill>
                <a:latin typeface="Arial"/>
                <a:ea typeface="Arial"/>
                <a:cs typeface="Arial"/>
              </a:rPr>
              <a:t>Competencia</a:t>
            </a:r>
          </a:p>
        </p:txBody>
      </p:sp>
      <p:sp>
        <p:nvSpPr>
          <p:cNvPr id="5" name="">
            <a:extLst xmlns:a="http://schemas.openxmlformats.org/drawingml/2006/main">
              <a:ext uri="{FF2B5EF4-FFF2-40B4-BE49-F238E27FC236}">
                <a16:creationId xmlns:a16="http://schemas.microsoft.com/office/drawing/2014/main" id="{88B62608-D0DD-496F-93E6-3A8D1B621050}"/>
              </a:ext>
            </a:extLst>
          </p:cNvPr>
          <p:cNvSpPr>
            <a:spLocks xmlns:a="http://schemas.openxmlformats.org/drawingml/2006/main" noGrp="1"/>
          </p:cNvSpPr>
          <p:nvPr/>
        </p:nvSpPr>
        <p:spPr>
          <a:xfrm xmlns:a="http://schemas.openxmlformats.org/drawingml/2006/main">
            <a:off x="723900" y="2619375"/>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173447"/>
                </a:solidFill>
                <a:latin typeface="Arial"/>
                <a:ea typeface="Arial"/>
                <a:cs typeface="Arial"/>
              </a:defRPr>
            </a:defPPr>
          </a:lstStyle>
          <a:p xmlns:a="http://schemas.openxmlformats.org/drawingml/2006/main">
            <a:pPr>
              <a:defRPr sz="2775" b="0">
                <a:solidFill>
                  <a:srgbClr val="173447"/>
                </a:solidFill>
                <a:latin typeface="Arial"/>
                <a:ea typeface="Arial"/>
                <a:cs typeface="Arial"/>
              </a:defRPr>
            </a:pPr>
            <a:r>
              <a:rPr sz="2775" b="0">
                <a:solidFill>
                  <a:srgbClr val="173447"/>
                </a:solidFill>
                <a:latin typeface="Arial"/>
                <a:ea typeface="Arial"/>
                <a:cs typeface="Arial"/>
              </a:rPr>
              <a:t>Implementar y gestionar soluciones cloud</a:t>
            </a:r>
          </a:p>
          <a:p xmlns:a="http://schemas.openxmlformats.org/drawingml/2006/main">
            <a:pPr>
              <a:defRPr sz="2775" b="0">
                <a:solidFill>
                  <a:srgbClr val="173447"/>
                </a:solidFill>
                <a:latin typeface="Arial"/>
                <a:ea typeface="Arial"/>
                <a:cs typeface="Arial"/>
              </a:defRPr>
            </a:pPr>
            <a:r>
              <a:rPr sz="2775" b="0">
                <a:solidFill>
                  <a:srgbClr val="173447"/>
                </a:solidFill>
                <a:latin typeface="Arial"/>
                <a:ea typeface="Arial"/>
                <a:cs typeface="Arial"/>
              </a:rPr>
              <a:t>con disponibilidad, escalabilidad</a:t>
            </a:r>
          </a:p>
          <a:p xmlns:a="http://schemas.openxmlformats.org/drawingml/2006/main">
            <a:pPr>
              <a:defRPr sz="2775" b="0">
                <a:solidFill>
                  <a:srgbClr val="173447"/>
                </a:solidFill>
                <a:latin typeface="Arial"/>
                <a:ea typeface="Arial"/>
                <a:cs typeface="Arial"/>
              </a:defRPr>
            </a:pPr>
            <a:r>
              <a:rPr sz="2775" b="0">
                <a:solidFill>
                  <a:srgbClr val="173447"/>
                </a:solidFill>
                <a:latin typeface="Arial"/>
                <a:ea typeface="Arial"/>
                <a:cs typeface="Arial"/>
              </a:rPr>
              <a:t>y operaciones reproducibles.</a:t>
            </a:r>
          </a:p>
        </p:txBody>
      </p:sp>
      <p:sp>
        <p:nvSpPr>
          <p:cNvPr id="6" name="">
            <a:extLst xmlns:a="http://schemas.openxmlformats.org/drawingml/2006/main">
              <a:ext uri="{FF2B5EF4-FFF2-40B4-BE49-F238E27FC236}">
                <a16:creationId xmlns:a16="http://schemas.microsoft.com/office/drawing/2014/main" id="{87FD9C2D-420B-4E9C-8538-0041C11B61DC}"/>
              </a:ext>
            </a:extLst>
          </p:cNvPr>
          <p:cNvSpPr>
            <a:spLocks xmlns:a="http://schemas.openxmlformats.org/drawingml/2006/main" noGrp="1"/>
          </p:cNvSpPr>
          <p:nvPr/>
        </p:nvSpPr>
        <p:spPr>
          <a:xfrm xmlns:a="http://schemas.openxmlformats.org/drawingml/2006/main">
            <a:off x="723900" y="45815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3766B"/>
                </a:solidFill>
                <a:latin typeface="Arial"/>
                <a:ea typeface="Arial"/>
                <a:cs typeface="Arial"/>
              </a:defRPr>
            </a:defPPr>
          </a:lstStyle>
          <a:p xmlns:a="http://schemas.openxmlformats.org/drawingml/2006/main">
            <a:pPr>
              <a:defRPr sz="1950" b="1">
                <a:solidFill>
                  <a:srgbClr val="23766B"/>
                </a:solidFill>
                <a:latin typeface="Arial"/>
                <a:ea typeface="Arial"/>
                <a:cs typeface="Arial"/>
              </a:defRPr>
            </a:pPr>
            <a:r>
              <a:rPr sz="1950" b="1">
                <a:solidFill>
                  <a:srgbClr val="23766B"/>
                </a:solidFill>
                <a:latin typeface="Arial"/>
                <a:ea typeface="Arial"/>
                <a:cs typeface="Arial"/>
              </a:rPr>
              <a:t>Determinación</a:t>
            </a:r>
          </a:p>
        </p:txBody>
      </p:sp>
      <p:sp>
        <p:nvSpPr>
          <p:cNvPr id="7" name="">
            <a:extLst xmlns:a="http://schemas.openxmlformats.org/drawingml/2006/main">
              <a:ext uri="{FF2B5EF4-FFF2-40B4-BE49-F238E27FC236}">
                <a16:creationId xmlns:a16="http://schemas.microsoft.com/office/drawing/2014/main" id="{B7C11738-8D2B-4431-A430-DDE36E7A49D4}"/>
              </a:ext>
            </a:extLst>
          </p:cNvPr>
          <p:cNvSpPr>
            <a:spLocks xmlns:a="http://schemas.openxmlformats.org/drawingml/2006/main" noGrp="1"/>
          </p:cNvSpPr>
          <p:nvPr/>
        </p:nvSpPr>
        <p:spPr>
          <a:xfrm xmlns:a="http://schemas.openxmlformats.org/drawingml/2006/main">
            <a:off x="723900" y="5114925"/>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Observar el fallo, formular una hipótesis,</a:t>
            </a:r>
          </a:p>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corregir y comprobar.</a:t>
            </a:r>
          </a:p>
        </p:txBody>
      </p:sp>
    </p:spTree>
    <p:extLst>
      <p:ext uri="{BB962C8B-B14F-4D97-AF65-F5344CB8AC3E}">
        <p14:creationId xmlns:p14="http://schemas.microsoft.com/office/powerpoint/2010/main" val="1966652652"/>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F01146-F3C8-42E1-A9ED-C850A8DE40B0}"/>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D1BEBD92-3C70-4054-A9B0-13C97226C4AA}"/>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AD1516C-9EC9-4C7B-B7B7-BF53E45C90F7}"/>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Agenda y problema inicial</a:t>
            </a:r>
          </a:p>
        </p:txBody>
      </p:sp>
      <p:sp>
        <p:nvSpPr>
          <p:cNvPr id="4" name="">
            <a:extLst xmlns:a="http://schemas.openxmlformats.org/drawingml/2006/main">
              <a:ext uri="{FF2B5EF4-FFF2-40B4-BE49-F238E27FC236}">
                <a16:creationId xmlns:a16="http://schemas.microsoft.com/office/drawing/2014/main" id="{C20D1F33-AEE8-4DC4-A06B-975196B3F5D0}"/>
              </a:ext>
            </a:extLst>
          </p:cNvPr>
          <p:cNvSpPr>
            <a:spLocks xmlns:a="http://schemas.openxmlformats.org/drawingml/2006/main" noGrp="1"/>
          </p:cNvSpPr>
          <p:nvPr/>
        </p:nvSpPr>
        <p:spPr>
          <a:xfrm xmlns:a="http://schemas.openxmlformats.org/drawingml/2006/main">
            <a:off x="723900" y="195262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3447"/>
                </a:solidFill>
                <a:latin typeface="Arial"/>
                <a:ea typeface="Arial"/>
                <a:cs typeface="Arial"/>
              </a:defRPr>
            </a:defPPr>
          </a:lstStyle>
          <a:p xmlns:a="http://schemas.openxmlformats.org/drawingml/2006/main">
            <a:pPr>
              <a:defRPr sz="3000" b="1">
                <a:solidFill>
                  <a:srgbClr val="173447"/>
                </a:solidFill>
                <a:latin typeface="Arial"/>
                <a:ea typeface="Arial"/>
                <a:cs typeface="Arial"/>
              </a:defRPr>
            </a:pPr>
            <a:r>
              <a:rPr sz="3000" b="1">
                <a:solidFill>
                  <a:srgbClr val="173447"/>
                </a:solidFill>
                <a:latin typeface="Arial"/>
                <a:ea typeface="Arial"/>
                <a:cs typeface="Arial"/>
              </a:rPr>
              <a:t>La web funciona en localhost.</a:t>
            </a:r>
          </a:p>
          <a:p xmlns:a="http://schemas.openxmlformats.org/drawingml/2006/main">
            <a:pPr>
              <a:defRPr sz="3000" b="1">
                <a:solidFill>
                  <a:srgbClr val="173447"/>
                </a:solidFill>
                <a:latin typeface="Arial"/>
                <a:ea typeface="Arial"/>
                <a:cs typeface="Arial"/>
              </a:defRPr>
            </a:pPr>
            <a:r>
              <a:rPr sz="3000" b="1">
                <a:solidFill>
                  <a:srgbClr val="173447"/>
                </a:solidFill>
                <a:latin typeface="Arial"/>
                <a:ea typeface="Arial"/>
                <a:cs typeface="Arial"/>
              </a:rPr>
              <a:t>Queremos que otros puedan abrirla.</a:t>
            </a:r>
          </a:p>
        </p:txBody>
      </p:sp>
      <p:graphicFrame>
        <p:nvGraphicFramePr>
          <p:cNvPr id="5" name="">
            <a:extLst xmlns:a="http://schemas.openxmlformats.org/drawingml/2006/main">
              <a:ext uri="{FF2B5EF4-FFF2-40B4-BE49-F238E27FC236}">
                <a16:creationId xmlns:a16="http://schemas.microsoft.com/office/drawing/2014/main" id="{FE0AB129-0478-4185-93C3-35F042C61F77}"/>
              </a:ext>
            </a:extLst>
          </p:cNvPr>
          <p:cNvGraphicFramePr/>
          <p:nvPr/>
        </p:nvGraphicFramePr>
        <p:xfrm>
          <a:off xmlns:a="http://schemas.openxmlformats.org/drawingml/2006/main" x="723900" y="3333750"/>
          <a:ext xmlns:a="http://schemas.openxmlformats.org/drawingml/2006/main" cx="10744200" cy="2667000"/>
        </p:xfrm>
        <a:graphic xmlns:a="http://schemas.openxmlformats.org/drawingml/2006/main">
          <a:graphicData uri="http://schemas.openxmlformats.org/drawingml/2006/table">
            <a:tbl>
              <a:tblPr/>
              <a:tblGrid>
                <a:gridCol w="8572500"/>
                <a:gridCol w="2171700"/>
              </a:tblGrid>
              <a:tr h="444500">
                <a:tc>
                  <a:txBody>
                    <a:bodyPr/>
                    <a:lstStyle/>
                    <a:p>
                      <a:r>
                        <a:rPr sz="1725" b="1">
                          <a:solidFill>
                            <a:srgbClr val="FFFFFF"/>
                          </a:solidFill>
                          <a:latin typeface="Arial"/>
                          <a:ea typeface="Arial"/>
                          <a:cs typeface="Arial"/>
                        </a:rPr>
                        <a:t>Recorrido</a:t>
                      </a:r>
                    </a:p>
                  </a:txBody>
                  <a:tcPr marL="91440" marR="91440" marT="45720" marB="45720">
                    <a:solidFill>
                      <a:srgbClr val="173447"/>
                    </a:solidFill>
                  </a:tcPr>
                </a:tc>
                <a:tc>
                  <a:txBody>
                    <a:bodyPr/>
                    <a:lstStyle/>
                    <a:p>
                      <a:r>
                        <a:rPr sz="1725" b="1">
                          <a:solidFill>
                            <a:srgbClr val="FFFFFF"/>
                          </a:solidFill>
                          <a:latin typeface="Arial"/>
                          <a:ea typeface="Arial"/>
                          <a:cs typeface="Arial"/>
                        </a:rPr>
                        <a:t>Tiempo</a:t>
                      </a:r>
                    </a:p>
                  </a:txBody>
                  <a:tcPr marL="91440" marR="91440" marT="45720" marB="45720">
                    <a:solidFill>
                      <a:srgbClr val="173447"/>
                    </a:solidFill>
                  </a:tcPr>
                </a:tc>
              </a:tr>
              <a:tr h="444500">
                <a:tc>
                  <a:txBody>
                    <a:bodyPr/>
                    <a:lstStyle/>
                    <a:p>
                      <a:r>
                        <a:rPr sz="1725" b="0">
                          <a:solidFill>
                            <a:srgbClr val="173447"/>
                          </a:solidFill>
                          <a:latin typeface="Arial"/>
                          <a:ea typeface="Arial"/>
                          <a:cs typeface="Arial"/>
                        </a:rPr>
                        <a:t>Nube y modelos de servicio</a:t>
                      </a:r>
                    </a:p>
                  </a:txBody>
                  <a:tcPr marL="91440" marR="91440" marT="45720" marB="45720">
                    <a:solidFill>
                      <a:srgbClr val="FFFFFF"/>
                    </a:solidFill>
                  </a:tcPr>
                </a:tc>
                <a:tc>
                  <a:txBody>
                    <a:bodyPr/>
                    <a:lstStyle/>
                    <a:p>
                      <a:r>
                        <a:rPr sz="1725" b="0">
                          <a:solidFill>
                            <a:srgbClr val="173447"/>
                          </a:solidFill>
                          <a:latin typeface="Arial"/>
                          <a:ea typeface="Arial"/>
                          <a:cs typeface="Arial"/>
                        </a:rPr>
                        <a:t>20 min</a:t>
                      </a:r>
                    </a:p>
                  </a:txBody>
                  <a:tcPr marL="91440" marR="91440" marT="45720" marB="45720">
                    <a:solidFill>
                      <a:srgbClr val="FFFFFF"/>
                    </a:solidFill>
                  </a:tcPr>
                </a:tc>
              </a:tr>
              <a:tr h="444500">
                <a:tc>
                  <a:txBody>
                    <a:bodyPr/>
                    <a:lstStyle/>
                    <a:p>
                      <a:r>
                        <a:rPr sz="1725" b="0">
                          <a:solidFill>
                            <a:srgbClr val="173447"/>
                          </a:solidFill>
                          <a:latin typeface="Arial"/>
                          <a:ea typeface="Arial"/>
                          <a:cs typeface="Arial"/>
                        </a:rPr>
                        <a:t>Arquitectura y peticiones</a:t>
                      </a:r>
                    </a:p>
                  </a:txBody>
                  <a:tcPr marL="91440" marR="91440" marT="45720" marB="45720">
                    <a:solidFill>
                      <a:srgbClr val="F6F4ED"/>
                    </a:solidFill>
                  </a:tcPr>
                </a:tc>
                <a:tc>
                  <a:txBody>
                    <a:bodyPr/>
                    <a:lstStyle/>
                    <a:p>
                      <a:r>
                        <a:rPr sz="1725" b="0">
                          <a:solidFill>
                            <a:srgbClr val="173447"/>
                          </a:solidFill>
                          <a:latin typeface="Arial"/>
                          <a:ea typeface="Arial"/>
                          <a:cs typeface="Arial"/>
                        </a:rPr>
                        <a:t>15 min</a:t>
                      </a:r>
                    </a:p>
                  </a:txBody>
                  <a:tcPr marL="91440" marR="91440" marT="45720" marB="45720">
                    <a:solidFill>
                      <a:srgbClr val="F6F4ED"/>
                    </a:solidFill>
                  </a:tcPr>
                </a:tc>
              </a:tr>
              <a:tr h="444500">
                <a:tc>
                  <a:txBody>
                    <a:bodyPr/>
                    <a:lstStyle/>
                    <a:p>
                      <a:r>
                        <a:rPr sz="1725" b="0">
                          <a:solidFill>
                            <a:srgbClr val="173447"/>
                          </a:solidFill>
                          <a:latin typeface="Arial"/>
                          <a:ea typeface="Arial"/>
                          <a:cs typeface="Arial"/>
                        </a:rPr>
                        <a:t>Docker y despliegue</a:t>
                      </a:r>
                    </a:p>
                  </a:txBody>
                  <a:tcPr marL="91440" marR="91440" marT="45720" marB="45720">
                    <a:solidFill>
                      <a:srgbClr val="FFFFFF"/>
                    </a:solidFill>
                  </a:tcPr>
                </a:tc>
                <a:tc>
                  <a:txBody>
                    <a:bodyPr/>
                    <a:lstStyle/>
                    <a:p>
                      <a:r>
                        <a:rPr sz="1725" b="0">
                          <a:solidFill>
                            <a:srgbClr val="173447"/>
                          </a:solidFill>
                          <a:latin typeface="Arial"/>
                          <a:ea typeface="Arial"/>
                          <a:cs typeface="Arial"/>
                        </a:rPr>
                        <a:t>25 min</a:t>
                      </a:r>
                    </a:p>
                  </a:txBody>
                  <a:tcPr marL="91440" marR="91440" marT="45720" marB="45720">
                    <a:solidFill>
                      <a:srgbClr val="FFFFFF"/>
                    </a:solidFill>
                  </a:tcPr>
                </a:tc>
              </a:tr>
              <a:tr h="444500">
                <a:tc>
                  <a:txBody>
                    <a:bodyPr/>
                    <a:lstStyle/>
                    <a:p>
                      <a:r>
                        <a:rPr sz="1725" b="0">
                          <a:solidFill>
                            <a:srgbClr val="173447"/>
                          </a:solidFill>
                          <a:latin typeface="Arial"/>
                          <a:ea typeface="Arial"/>
                          <a:cs typeface="Arial"/>
                        </a:rPr>
                        <a:t>CDN y costos</a:t>
                      </a:r>
                    </a:p>
                  </a:txBody>
                  <a:tcPr marL="91440" marR="91440" marT="45720" marB="45720">
                    <a:solidFill>
                      <a:srgbClr val="F6F4ED"/>
                    </a:solidFill>
                  </a:tcPr>
                </a:tc>
                <a:tc>
                  <a:txBody>
                    <a:bodyPr/>
                    <a:lstStyle/>
                    <a:p>
                      <a:r>
                        <a:rPr sz="1725" b="0">
                          <a:solidFill>
                            <a:srgbClr val="173447"/>
                          </a:solidFill>
                          <a:latin typeface="Arial"/>
                          <a:ea typeface="Arial"/>
                          <a:cs typeface="Arial"/>
                        </a:rPr>
                        <a:t>20 min</a:t>
                      </a:r>
                    </a:p>
                  </a:txBody>
                  <a:tcPr marL="91440" marR="91440" marT="45720" marB="45720">
                    <a:solidFill>
                      <a:srgbClr val="F6F4ED"/>
                    </a:solidFill>
                  </a:tcPr>
                </a:tc>
              </a:tr>
              <a:tr h="444500">
                <a:tc>
                  <a:txBody>
                    <a:bodyPr/>
                    <a:lstStyle/>
                    <a:p>
                      <a:r>
                        <a:rPr sz="1725" b="0">
                          <a:solidFill>
                            <a:srgbClr val="173447"/>
                          </a:solidFill>
                          <a:latin typeface="Arial"/>
                          <a:ea typeface="Arial"/>
                          <a:cs typeface="Arial"/>
                        </a:rPr>
                        <a:t>Actividad y cierre</a:t>
                      </a:r>
                    </a:p>
                  </a:txBody>
                  <a:tcPr marL="91440" marR="91440" marT="45720" marB="45720">
                    <a:solidFill>
                      <a:srgbClr val="FFFFFF"/>
                    </a:solidFill>
                  </a:tcPr>
                </a:tc>
                <a:tc>
                  <a:txBody>
                    <a:bodyPr/>
                    <a:lstStyle/>
                    <a:p>
                      <a:r>
                        <a:rPr sz="1725" b="0">
                          <a:solidFill>
                            <a:srgbClr val="173447"/>
                          </a:solidFill>
                          <a:latin typeface="Arial"/>
                          <a:ea typeface="Arial"/>
                          <a:cs typeface="Arial"/>
                        </a:rPr>
                        <a:t>10 min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26464665"/>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AB234A-ECFC-4F91-B5D2-9E87EF5C07E7}"/>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43E47019-BD31-4DD1-AC31-30B2D3A08F06}"/>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038FA52-90EB-4FBC-B05C-B02F50F9878C}"/>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Computación en la nube</a:t>
            </a:r>
          </a:p>
        </p:txBody>
      </p:sp>
      <p:sp>
        <p:nvSpPr>
          <p:cNvPr id="4" name="">
            <a:extLst xmlns:a="http://schemas.openxmlformats.org/drawingml/2006/main">
              <a:ext uri="{FF2B5EF4-FFF2-40B4-BE49-F238E27FC236}">
                <a16:creationId xmlns:a16="http://schemas.microsoft.com/office/drawing/2014/main" id="{FFE4FF5D-59B7-4789-AA16-287A9B7413DB}"/>
              </a:ext>
            </a:extLst>
          </p:cNvPr>
          <p:cNvSpPr>
            <a:spLocks xmlns:a="http://schemas.openxmlformats.org/drawingml/2006/main" noGrp="1"/>
          </p:cNvSpPr>
          <p:nvPr/>
        </p:nvSpPr>
        <p:spPr>
          <a:xfrm xmlns:a="http://schemas.openxmlformats.org/drawingml/2006/main">
            <a:off x="723900" y="21621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3447"/>
                </a:solidFill>
                <a:latin typeface="Arial"/>
                <a:ea typeface="Arial"/>
                <a:cs typeface="Arial"/>
              </a:defRPr>
            </a:defPPr>
          </a:lstStyle>
          <a:p xmlns:a="http://schemas.openxmlformats.org/drawingml/2006/main">
            <a:pPr>
              <a:defRPr sz="2700" b="1">
                <a:solidFill>
                  <a:srgbClr val="173447"/>
                </a:solidFill>
                <a:latin typeface="Arial"/>
                <a:ea typeface="Arial"/>
                <a:cs typeface="Arial"/>
              </a:defRPr>
            </a:pPr>
            <a:r>
              <a:rPr sz="2700" b="1">
                <a:solidFill>
                  <a:srgbClr val="173447"/>
                </a:solidFill>
                <a:latin typeface="Arial"/>
                <a:ea typeface="Arial"/>
                <a:cs typeface="Arial"/>
              </a:rPr>
              <a:t>Recursos disponibles bajo demanda</a:t>
            </a:r>
          </a:p>
        </p:txBody>
      </p:sp>
      <p:sp>
        <p:nvSpPr>
          <p:cNvPr id="5" name="">
            <a:extLst xmlns:a="http://schemas.openxmlformats.org/drawingml/2006/main">
              <a:ext uri="{FF2B5EF4-FFF2-40B4-BE49-F238E27FC236}">
                <a16:creationId xmlns:a16="http://schemas.microsoft.com/office/drawing/2014/main" id="{DA4254BD-BACA-4423-85FF-F11916CCEC03}"/>
              </a:ext>
            </a:extLst>
          </p:cNvPr>
          <p:cNvSpPr>
            <a:spLocks xmlns:a="http://schemas.openxmlformats.org/drawingml/2006/main" noGrp="1"/>
          </p:cNvSpPr>
          <p:nvPr/>
        </p:nvSpPr>
        <p:spPr>
          <a:xfrm xmlns:a="http://schemas.openxmlformats.org/drawingml/2006/main">
            <a:off x="723900" y="31908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3447"/>
                </a:solidFill>
                <a:latin typeface="Arial"/>
                <a:ea typeface="Arial"/>
                <a:cs typeface="Arial"/>
              </a:defRPr>
            </a:defPPr>
          </a:lstStyle>
          <a:p xmlns:a="http://schemas.openxmlformats.org/drawingml/2006/main">
            <a:pPr>
              <a:defRPr sz="2700" b="0">
                <a:solidFill>
                  <a:srgbClr val="173447"/>
                </a:solidFill>
                <a:latin typeface="Arial"/>
                <a:ea typeface="Arial"/>
                <a:cs typeface="Arial"/>
              </a:defRPr>
            </a:pPr>
            <a:r>
              <a:rPr sz="2700" b="0">
                <a:solidFill>
                  <a:srgbClr val="173447"/>
                </a:solidFill>
                <a:latin typeface="Arial"/>
                <a:ea typeface="Arial"/>
                <a:cs typeface="Arial"/>
              </a:rPr>
              <a:t>Capacidad ajustable y uso medido</a:t>
            </a:r>
          </a:p>
        </p:txBody>
      </p:sp>
      <p:sp>
        <p:nvSpPr>
          <p:cNvPr id="6" name="">
            <a:extLst xmlns:a="http://schemas.openxmlformats.org/drawingml/2006/main">
              <a:ext uri="{FF2B5EF4-FFF2-40B4-BE49-F238E27FC236}">
                <a16:creationId xmlns:a16="http://schemas.microsoft.com/office/drawing/2014/main" id="{8E455728-882E-4287-A612-AE04975EB129}"/>
              </a:ext>
            </a:extLst>
          </p:cNvPr>
          <p:cNvSpPr>
            <a:spLocks xmlns:a="http://schemas.openxmlformats.org/drawingml/2006/main" noGrp="1"/>
          </p:cNvSpPr>
          <p:nvPr/>
        </p:nvSpPr>
        <p:spPr>
          <a:xfrm xmlns:a="http://schemas.openxmlformats.org/drawingml/2006/main">
            <a:off x="723900" y="42195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3447"/>
                </a:solidFill>
                <a:latin typeface="Arial"/>
                <a:ea typeface="Arial"/>
                <a:cs typeface="Arial"/>
              </a:defRPr>
            </a:defPPr>
          </a:lstStyle>
          <a:p xmlns:a="http://schemas.openxmlformats.org/drawingml/2006/main">
            <a:pPr>
              <a:defRPr sz="2700" b="0">
                <a:solidFill>
                  <a:srgbClr val="173447"/>
                </a:solidFill>
                <a:latin typeface="Arial"/>
                <a:ea typeface="Arial"/>
                <a:cs typeface="Arial"/>
              </a:defRPr>
            </a:pPr>
            <a:r>
              <a:rPr sz="2700" b="0">
                <a:solidFill>
                  <a:srgbClr val="173447"/>
                </a:solidFill>
                <a:latin typeface="Arial"/>
                <a:ea typeface="Arial"/>
                <a:cs typeface="Arial"/>
              </a:rPr>
              <a:t>El proveedor opera infraestructura física</a:t>
            </a:r>
          </a:p>
        </p:txBody>
      </p:sp>
      <p:sp>
        <p:nvSpPr>
          <p:cNvPr id="7" name="">
            <a:extLst xmlns:a="http://schemas.openxmlformats.org/drawingml/2006/main">
              <a:ext uri="{FF2B5EF4-FFF2-40B4-BE49-F238E27FC236}">
                <a16:creationId xmlns:a16="http://schemas.microsoft.com/office/drawing/2014/main" id="{20DB65D5-94F1-4309-B748-D277D6826B76}"/>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La capacidad requiere configuración para escalar.</a:t>
            </a:r>
          </a:p>
        </p:txBody>
      </p:sp>
    </p:spTree>
    <p:extLst>
      <p:ext uri="{BB962C8B-B14F-4D97-AF65-F5344CB8AC3E}">
        <p14:creationId xmlns:p14="http://schemas.microsoft.com/office/powerpoint/2010/main" val="1237147674"/>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427A58-7F0E-45C1-A5B9-13DA2D94C0A0}"/>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B65AB793-CCC2-4C5C-A728-89CB2DA72201}"/>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A53BBB3-2207-440C-89AE-6AD125B38A78}"/>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Infraestructura local y cloud</a:t>
            </a:r>
          </a:p>
        </p:txBody>
      </p:sp>
      <p:graphicFrame>
        <p:nvGraphicFramePr>
          <p:cNvPr id="4" name="">
            <a:extLst xmlns:a="http://schemas.openxmlformats.org/drawingml/2006/main">
              <a:ext uri="{FF2B5EF4-FFF2-40B4-BE49-F238E27FC236}">
                <a16:creationId xmlns:a16="http://schemas.microsoft.com/office/drawing/2014/main" id="{11C89A18-DD65-4EFC-9FF3-61518AFCF5CE}"/>
              </a:ext>
            </a:extLst>
          </p:cNvPr>
          <p:cNvGraphicFramePr/>
          <p:nvPr/>
        </p:nvGraphicFramePr>
        <p:xfrm>
          <a:off xmlns:a="http://schemas.openxmlformats.org/drawingml/2006/main" x="723900" y="2171700"/>
          <a:ext xmlns:a="http://schemas.openxmlformats.org/drawingml/2006/main" cx="10744200" cy="3143250"/>
        </p:xfrm>
        <a:graphic xmlns:a="http://schemas.openxmlformats.org/drawingml/2006/main">
          <a:graphicData uri="http://schemas.openxmlformats.org/drawingml/2006/table">
            <a:tbl>
              <a:tblPr/>
              <a:tblGrid>
                <a:gridCol w="2552700"/>
                <a:gridCol w="4095750"/>
                <a:gridCol w="4095750"/>
              </a:tblGrid>
              <a:tr h="628650">
                <a:tc>
                  <a:txBody>
                    <a:bodyPr/>
                    <a:lstStyle/>
                    <a:p>
                      <a:r>
                        <a:rPr sz="1800" b="1">
                          <a:solidFill>
                            <a:srgbClr val="FFFFFF"/>
                          </a:solidFill>
                          <a:latin typeface="Arial"/>
                          <a:ea typeface="Arial"/>
                          <a:cs typeface="Arial"/>
                        </a:rPr>
                        <a:t>Decisión</a:t>
                      </a:r>
                    </a:p>
                  </a:txBody>
                  <a:tcPr marL="91440" marR="91440" marT="45720" marB="45720">
                    <a:solidFill>
                      <a:srgbClr val="173447"/>
                    </a:solidFill>
                  </a:tcPr>
                </a:tc>
                <a:tc>
                  <a:txBody>
                    <a:bodyPr/>
                    <a:lstStyle/>
                    <a:p>
                      <a:r>
                        <a:rPr sz="1800" b="1">
                          <a:solidFill>
                            <a:srgbClr val="FFFFFF"/>
                          </a:solidFill>
                          <a:latin typeface="Arial"/>
                          <a:ea typeface="Arial"/>
                          <a:cs typeface="Arial"/>
                        </a:rPr>
                        <a:t>Infraestructura local</a:t>
                      </a:r>
                    </a:p>
                  </a:txBody>
                  <a:tcPr marL="91440" marR="91440" marT="45720" marB="45720">
                    <a:solidFill>
                      <a:srgbClr val="173447"/>
                    </a:solidFill>
                  </a:tcPr>
                </a:tc>
                <a:tc>
                  <a:txBody>
                    <a:bodyPr/>
                    <a:lstStyle/>
                    <a:p>
                      <a:r>
                        <a:rPr sz="1800" b="1">
                          <a:solidFill>
                            <a:srgbClr val="FFFFFF"/>
                          </a:solidFill>
                          <a:latin typeface="Arial"/>
                          <a:ea typeface="Arial"/>
                          <a:cs typeface="Arial"/>
                        </a:rPr>
                        <a:t>Cloud</a:t>
                      </a:r>
                    </a:p>
                  </a:txBody>
                  <a:tcPr marL="91440" marR="91440" marT="45720" marB="45720">
                    <a:solidFill>
                      <a:srgbClr val="173447"/>
                    </a:solidFill>
                  </a:tcPr>
                </a:tc>
              </a:tr>
              <a:tr h="628650">
                <a:tc>
                  <a:txBody>
                    <a:bodyPr/>
                    <a:lstStyle/>
                    <a:p>
                      <a:r>
                        <a:rPr sz="1800" b="0">
                          <a:solidFill>
                            <a:srgbClr val="173447"/>
                          </a:solidFill>
                          <a:latin typeface="Arial"/>
                          <a:ea typeface="Arial"/>
                          <a:cs typeface="Arial"/>
                        </a:rPr>
                        <a:t>Equipo físico</a:t>
                      </a:r>
                    </a:p>
                  </a:txBody>
                  <a:tcPr marL="91440" marR="91440" marT="45720" marB="45720">
                    <a:solidFill>
                      <a:srgbClr val="FFFFFF"/>
                    </a:solidFill>
                  </a:tcPr>
                </a:tc>
                <a:tc>
                  <a:txBody>
                    <a:bodyPr/>
                    <a:lstStyle/>
                    <a:p>
                      <a:r>
                        <a:rPr sz="1800" b="0">
                          <a:solidFill>
                            <a:srgbClr val="173447"/>
                          </a:solidFill>
                          <a:latin typeface="Arial"/>
                          <a:ea typeface="Arial"/>
                          <a:cs typeface="Arial"/>
                        </a:rPr>
                        <a:t>Lo compra y opera el equipo</a:t>
                      </a:r>
                    </a:p>
                  </a:txBody>
                  <a:tcPr marL="91440" marR="91440" marT="45720" marB="45720">
                    <a:solidFill>
                      <a:srgbClr val="FFFFFF"/>
                    </a:solidFill>
                  </a:tcPr>
                </a:tc>
                <a:tc>
                  <a:txBody>
                    <a:bodyPr/>
                    <a:lstStyle/>
                    <a:p>
                      <a:r>
                        <a:rPr sz="1800" b="0">
                          <a:solidFill>
                            <a:srgbClr val="173447"/>
                          </a:solidFill>
                          <a:latin typeface="Arial"/>
                          <a:ea typeface="Arial"/>
                          <a:cs typeface="Arial"/>
                        </a:rPr>
                        <a:t>Lo opera el proveedor</a:t>
                      </a:r>
                    </a:p>
                  </a:txBody>
                  <a:tcPr marL="91440" marR="91440" marT="45720" marB="45720">
                    <a:solidFill>
                      <a:srgbClr val="FFFFFF"/>
                    </a:solidFill>
                  </a:tcPr>
                </a:tc>
              </a:tr>
              <a:tr h="628650">
                <a:tc>
                  <a:txBody>
                    <a:bodyPr/>
                    <a:lstStyle/>
                    <a:p>
                      <a:r>
                        <a:rPr sz="1800" b="0">
                          <a:solidFill>
                            <a:srgbClr val="173447"/>
                          </a:solidFill>
                          <a:latin typeface="Arial"/>
                          <a:ea typeface="Arial"/>
                          <a:cs typeface="Arial"/>
                        </a:rPr>
                        <a:t>Capacidad</a:t>
                      </a:r>
                    </a:p>
                  </a:txBody>
                  <a:tcPr marL="91440" marR="91440" marT="45720" marB="45720">
                    <a:solidFill>
                      <a:srgbClr val="F6F4ED"/>
                    </a:solidFill>
                  </a:tcPr>
                </a:tc>
                <a:tc>
                  <a:txBody>
                    <a:bodyPr/>
                    <a:lstStyle/>
                    <a:p>
                      <a:r>
                        <a:rPr sz="1800" b="0">
                          <a:solidFill>
                            <a:srgbClr val="173447"/>
                          </a:solidFill>
                          <a:latin typeface="Arial"/>
                          <a:ea typeface="Arial"/>
                          <a:cs typeface="Arial"/>
                        </a:rPr>
                        <a:t>Se adquiere e instala</a:t>
                      </a:r>
                    </a:p>
                  </a:txBody>
                  <a:tcPr marL="91440" marR="91440" marT="45720" marB="45720">
                    <a:solidFill>
                      <a:srgbClr val="F6F4ED"/>
                    </a:solidFill>
                  </a:tcPr>
                </a:tc>
                <a:tc>
                  <a:txBody>
                    <a:bodyPr/>
                    <a:lstStyle/>
                    <a:p>
                      <a:r>
                        <a:rPr sz="1800" b="0">
                          <a:solidFill>
                            <a:srgbClr val="173447"/>
                          </a:solidFill>
                          <a:latin typeface="Arial"/>
                          <a:ea typeface="Arial"/>
                          <a:cs typeface="Arial"/>
                        </a:rPr>
                        <a:t>Se solicita como recurso</a:t>
                      </a:r>
                    </a:p>
                  </a:txBody>
                  <a:tcPr marL="91440" marR="91440" marT="45720" marB="45720">
                    <a:solidFill>
                      <a:srgbClr val="F6F4ED"/>
                    </a:solidFill>
                  </a:tcPr>
                </a:tc>
              </a:tr>
              <a:tr h="628650">
                <a:tc>
                  <a:txBody>
                    <a:bodyPr/>
                    <a:lstStyle/>
                    <a:p>
                      <a:r>
                        <a:rPr sz="1800" b="0">
                          <a:solidFill>
                            <a:srgbClr val="173447"/>
                          </a:solidFill>
                          <a:latin typeface="Arial"/>
                          <a:ea typeface="Arial"/>
                          <a:cs typeface="Arial"/>
                        </a:rPr>
                        <a:t>Software</a:t>
                      </a:r>
                    </a:p>
                  </a:txBody>
                  <a:tcPr marL="91440" marR="91440" marT="45720" marB="45720">
                    <a:solidFill>
                      <a:srgbClr val="FFFFFF"/>
                    </a:solidFill>
                  </a:tcPr>
                </a:tc>
                <a:tc>
                  <a:txBody>
                    <a:bodyPr/>
                    <a:lstStyle/>
                    <a:p>
                      <a:r>
                        <a:rPr sz="1800" b="0">
                          <a:solidFill>
                            <a:srgbClr val="173447"/>
                          </a:solidFill>
                          <a:latin typeface="Arial"/>
                          <a:ea typeface="Arial"/>
                          <a:cs typeface="Arial"/>
                        </a:rPr>
                        <a:t>Responsabilidad del equipo</a:t>
                      </a:r>
                    </a:p>
                  </a:txBody>
                  <a:tcPr marL="91440" marR="91440" marT="45720" marB="45720">
                    <a:solidFill>
                      <a:srgbClr val="FFFFFF"/>
                    </a:solidFill>
                  </a:tcPr>
                </a:tc>
                <a:tc>
                  <a:txBody>
                    <a:bodyPr/>
                    <a:lstStyle/>
                    <a:p>
                      <a:r>
                        <a:rPr sz="1800" b="0">
                          <a:solidFill>
                            <a:srgbClr val="173447"/>
                          </a:solidFill>
                          <a:latin typeface="Arial"/>
                          <a:ea typeface="Arial"/>
                          <a:cs typeface="Arial"/>
                        </a:rPr>
                        <a:t>Depende del servicio</a:t>
                      </a:r>
                    </a:p>
                  </a:txBody>
                  <a:tcPr marL="91440" marR="91440" marT="45720" marB="45720">
                    <a:solidFill>
                      <a:srgbClr val="FFFFFF"/>
                    </a:solidFill>
                  </a:tcPr>
                </a:tc>
              </a:tr>
              <a:tr h="628650">
                <a:tc>
                  <a:txBody>
                    <a:bodyPr/>
                    <a:lstStyle/>
                    <a:p>
                      <a:r>
                        <a:rPr sz="1800" b="0">
                          <a:solidFill>
                            <a:srgbClr val="173447"/>
                          </a:solidFill>
                          <a:latin typeface="Arial"/>
                          <a:ea typeface="Arial"/>
                          <a:cs typeface="Arial"/>
                        </a:rPr>
                        <a:t>Costo</a:t>
                      </a:r>
                    </a:p>
                  </a:txBody>
                  <a:tcPr marL="91440" marR="91440" marT="45720" marB="45720">
                    <a:solidFill>
                      <a:srgbClr val="F6F4ED"/>
                    </a:solidFill>
                  </a:tcPr>
                </a:tc>
                <a:tc>
                  <a:txBody>
                    <a:bodyPr/>
                    <a:lstStyle/>
                    <a:p>
                      <a:r>
                        <a:rPr sz="1800" b="0">
                          <a:solidFill>
                            <a:srgbClr val="173447"/>
                          </a:solidFill>
                          <a:latin typeface="Arial"/>
                          <a:ea typeface="Arial"/>
                          <a:cs typeface="Arial"/>
                        </a:rPr>
                        <a:t>Compra y operación</a:t>
                      </a:r>
                    </a:p>
                  </a:txBody>
                  <a:tcPr marL="91440" marR="91440" marT="45720" marB="45720">
                    <a:solidFill>
                      <a:srgbClr val="F6F4ED"/>
                    </a:solidFill>
                  </a:tcPr>
                </a:tc>
                <a:tc>
                  <a:txBody>
                    <a:bodyPr/>
                    <a:lstStyle/>
                    <a:p>
                      <a:r>
                        <a:rPr sz="1800" b="0">
                          <a:solidFill>
                            <a:srgbClr val="173447"/>
                          </a:solidFill>
                          <a:latin typeface="Arial"/>
                          <a:ea typeface="Arial"/>
                          <a:cs typeface="Arial"/>
                        </a:rPr>
                        <a:t>Consumo y operación</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37A53D44-D1AF-4C1F-8620-E5253CF585E9}"/>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La nube cambia responsabilidades; el ahorro depende del caso.</a:t>
            </a:r>
          </a:p>
        </p:txBody>
      </p:sp>
    </p:spTree>
    <p:extLst>
      <p:ext uri="{BB962C8B-B14F-4D97-AF65-F5344CB8AC3E}">
        <p14:creationId xmlns:p14="http://schemas.microsoft.com/office/powerpoint/2010/main" val="1875983661"/>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D41741-C9A0-4960-B03F-4262F78BD1FE}"/>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32C07993-F8B4-4A9B-A824-67EFAEA453A4}"/>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85E7FC1-4832-4655-8F17-DCE773F0D81E}"/>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Responsabilidades por modelo</a:t>
            </a:r>
          </a:p>
        </p:txBody>
      </p:sp>
      <p:graphicFrame>
        <p:nvGraphicFramePr>
          <p:cNvPr id="4" name="">
            <a:extLst xmlns:a="http://schemas.openxmlformats.org/drawingml/2006/main">
              <a:ext uri="{FF2B5EF4-FFF2-40B4-BE49-F238E27FC236}">
                <a16:creationId xmlns:a16="http://schemas.microsoft.com/office/drawing/2014/main" id="{92619956-3BC3-4DDE-AA85-C979E0AE25EA}"/>
              </a:ext>
            </a:extLst>
          </p:cNvPr>
          <p:cNvGraphicFramePr/>
          <p:nvPr/>
        </p:nvGraphicFramePr>
        <p:xfrm>
          <a:off xmlns:a="http://schemas.openxmlformats.org/drawingml/2006/main" x="723900" y="2095500"/>
          <a:ext xmlns:a="http://schemas.openxmlformats.org/drawingml/2006/main" cx="10744200" cy="3238500"/>
        </p:xfrm>
        <a:graphic xmlns:a="http://schemas.openxmlformats.org/drawingml/2006/main">
          <a:graphicData uri="http://schemas.openxmlformats.org/drawingml/2006/table">
            <a:tbl>
              <a:tblPr/>
              <a:tblGrid>
                <a:gridCol w="3143250"/>
                <a:gridCol w="2533650"/>
                <a:gridCol w="2533650"/>
                <a:gridCol w="2533650"/>
              </a:tblGrid>
              <a:tr h="647700">
                <a:tc>
                  <a:txBody>
                    <a:bodyPr/>
                    <a:lstStyle/>
                    <a:p>
                      <a:r>
                        <a:rPr sz="1650" b="1">
                          <a:solidFill>
                            <a:srgbClr val="FFFFFF"/>
                          </a:solidFill>
                          <a:latin typeface="Arial"/>
                          <a:ea typeface="Arial"/>
                          <a:cs typeface="Arial"/>
                        </a:rPr>
                        <a:t>Capa</a:t>
                      </a:r>
                    </a:p>
                  </a:txBody>
                  <a:tcPr marL="91440" marR="91440" marT="45720" marB="45720">
                    <a:solidFill>
                      <a:srgbClr val="173447"/>
                    </a:solidFill>
                  </a:tcPr>
                </a:tc>
                <a:tc>
                  <a:txBody>
                    <a:bodyPr/>
                    <a:lstStyle/>
                    <a:p>
                      <a:r>
                        <a:rPr sz="1650" b="1">
                          <a:solidFill>
                            <a:srgbClr val="FFFFFF"/>
                          </a:solidFill>
                          <a:latin typeface="Arial"/>
                          <a:ea typeface="Arial"/>
                          <a:cs typeface="Arial"/>
                        </a:rPr>
                        <a:t>IaaS</a:t>
                      </a:r>
                    </a:p>
                  </a:txBody>
                  <a:tcPr marL="91440" marR="91440" marT="45720" marB="45720">
                    <a:solidFill>
                      <a:srgbClr val="173447"/>
                    </a:solidFill>
                  </a:tcPr>
                </a:tc>
                <a:tc>
                  <a:txBody>
                    <a:bodyPr/>
                    <a:lstStyle/>
                    <a:p>
                      <a:r>
                        <a:rPr sz="1650" b="1">
                          <a:solidFill>
                            <a:srgbClr val="FFFFFF"/>
                          </a:solidFill>
                          <a:latin typeface="Arial"/>
                          <a:ea typeface="Arial"/>
                          <a:cs typeface="Arial"/>
                        </a:rPr>
                        <a:t>PaaS</a:t>
                      </a:r>
                    </a:p>
                  </a:txBody>
                  <a:tcPr marL="91440" marR="91440" marT="45720" marB="45720">
                    <a:solidFill>
                      <a:srgbClr val="173447"/>
                    </a:solidFill>
                  </a:tcPr>
                </a:tc>
                <a:tc>
                  <a:txBody>
                    <a:bodyPr/>
                    <a:lstStyle/>
                    <a:p>
                      <a:r>
                        <a:rPr sz="1650" b="1">
                          <a:solidFill>
                            <a:srgbClr val="FFFFFF"/>
                          </a:solidFill>
                          <a:latin typeface="Arial"/>
                          <a:ea typeface="Arial"/>
                          <a:cs typeface="Arial"/>
                        </a:rPr>
                        <a:t>SaaS</a:t>
                      </a:r>
                    </a:p>
                  </a:txBody>
                  <a:tcPr marL="91440" marR="91440" marT="45720" marB="45720">
                    <a:solidFill>
                      <a:srgbClr val="173447"/>
                    </a:solidFill>
                  </a:tcPr>
                </a:tc>
              </a:tr>
              <a:tr h="647700">
                <a:tc>
                  <a:txBody>
                    <a:bodyPr/>
                    <a:lstStyle/>
                    <a:p>
                      <a:r>
                        <a:rPr sz="1650" b="0">
                          <a:solidFill>
                            <a:srgbClr val="173447"/>
                          </a:solidFill>
                          <a:latin typeface="Arial"/>
                          <a:ea typeface="Arial"/>
                          <a:cs typeface="Arial"/>
                        </a:rPr>
                        <a:t>Aplicación</a:t>
                      </a:r>
                    </a:p>
                  </a:txBody>
                  <a:tcPr marL="91440" marR="91440" marT="45720" marB="45720">
                    <a:solidFill>
                      <a:srgbClr val="FFFFFF"/>
                    </a:solidFill>
                  </a:tcPr>
                </a:tc>
                <a:tc>
                  <a:txBody>
                    <a:bodyPr/>
                    <a:lstStyle/>
                    <a:p>
                      <a:r>
                        <a:rPr sz="1650" b="0">
                          <a:solidFill>
                            <a:srgbClr val="173447"/>
                          </a:solidFill>
                          <a:latin typeface="Arial"/>
                          <a:ea typeface="Arial"/>
                          <a:cs typeface="Arial"/>
                        </a:rPr>
                        <a:t>Equipo</a:t>
                      </a:r>
                    </a:p>
                  </a:txBody>
                  <a:tcPr marL="91440" marR="91440" marT="45720" marB="45720">
                    <a:solidFill>
                      <a:srgbClr val="FFFFFF"/>
                    </a:solidFill>
                  </a:tcPr>
                </a:tc>
                <a:tc>
                  <a:txBody>
                    <a:bodyPr/>
                    <a:lstStyle/>
                    <a:p>
                      <a:r>
                        <a:rPr sz="1650" b="0">
                          <a:solidFill>
                            <a:srgbClr val="173447"/>
                          </a:solidFill>
                          <a:latin typeface="Arial"/>
                          <a:ea typeface="Arial"/>
                          <a:cs typeface="Arial"/>
                        </a:rPr>
                        <a:t>Equipo</a:t>
                      </a:r>
                    </a:p>
                  </a:txBody>
                  <a:tcPr marL="91440" marR="91440" marT="45720" marB="45720">
                    <a:solidFill>
                      <a:srgbClr val="FFFFFF"/>
                    </a:solidFill>
                  </a:tcPr>
                </a:tc>
                <a:tc>
                  <a:txBody>
                    <a:bodyPr/>
                    <a:lstStyle/>
                    <a:p>
                      <a:r>
                        <a:rPr sz="1650" b="0">
                          <a:solidFill>
                            <a:srgbClr val="173447"/>
                          </a:solidFill>
                          <a:latin typeface="Arial"/>
                          <a:ea typeface="Arial"/>
                          <a:cs typeface="Arial"/>
                        </a:rPr>
                        <a:t>Proveedor</a:t>
                      </a:r>
                    </a:p>
                  </a:txBody>
                  <a:tcPr marL="91440" marR="91440" marT="45720" marB="45720">
                    <a:solidFill>
                      <a:srgbClr val="FFFFFF"/>
                    </a:solidFill>
                  </a:tcPr>
                </a:tc>
              </a:tr>
              <a:tr h="647700">
                <a:tc>
                  <a:txBody>
                    <a:bodyPr/>
                    <a:lstStyle/>
                    <a:p>
                      <a:r>
                        <a:rPr sz="1650" b="0">
                          <a:solidFill>
                            <a:srgbClr val="173447"/>
                          </a:solidFill>
                          <a:latin typeface="Arial"/>
                          <a:ea typeface="Arial"/>
                          <a:cs typeface="Arial"/>
                        </a:rPr>
                        <a:t>Runtime y sistema</a:t>
                      </a:r>
                    </a:p>
                  </a:txBody>
                  <a:tcPr marL="91440" marR="91440" marT="45720" marB="45720">
                    <a:solidFill>
                      <a:srgbClr val="F6F4ED"/>
                    </a:solidFill>
                  </a:tcPr>
                </a:tc>
                <a:tc>
                  <a:txBody>
                    <a:bodyPr/>
                    <a:lstStyle/>
                    <a:p>
                      <a:r>
                        <a:rPr sz="1650" b="0">
                          <a:solidFill>
                            <a:srgbClr val="173447"/>
                          </a:solidFill>
                          <a:latin typeface="Arial"/>
                          <a:ea typeface="Arial"/>
                          <a:cs typeface="Arial"/>
                        </a:rPr>
                        <a:t>Equipo</a:t>
                      </a:r>
                    </a:p>
                  </a:txBody>
                  <a:tcPr marL="91440" marR="91440" marT="45720" marB="45720">
                    <a:solidFill>
                      <a:srgbClr val="F6F4ED"/>
                    </a:solidFill>
                  </a:tcPr>
                </a:tc>
                <a:tc>
                  <a:txBody>
                    <a:bodyPr/>
                    <a:lstStyle/>
                    <a:p>
                      <a:r>
                        <a:rPr sz="1650" b="0">
                          <a:solidFill>
                            <a:srgbClr val="173447"/>
                          </a:solidFill>
                          <a:latin typeface="Arial"/>
                          <a:ea typeface="Arial"/>
                          <a:cs typeface="Arial"/>
                        </a:rPr>
                        <a:t>Proveedor</a:t>
                      </a:r>
                    </a:p>
                  </a:txBody>
                  <a:tcPr marL="91440" marR="91440" marT="45720" marB="45720">
                    <a:solidFill>
                      <a:srgbClr val="F6F4ED"/>
                    </a:solidFill>
                  </a:tcPr>
                </a:tc>
                <a:tc>
                  <a:txBody>
                    <a:bodyPr/>
                    <a:lstStyle/>
                    <a:p>
                      <a:r>
                        <a:rPr sz="1650" b="0">
                          <a:solidFill>
                            <a:srgbClr val="173447"/>
                          </a:solidFill>
                          <a:latin typeface="Arial"/>
                          <a:ea typeface="Arial"/>
                          <a:cs typeface="Arial"/>
                        </a:rPr>
                        <a:t>Proveedor</a:t>
                      </a:r>
                    </a:p>
                  </a:txBody>
                  <a:tcPr marL="91440" marR="91440" marT="45720" marB="45720">
                    <a:solidFill>
                      <a:srgbClr val="F6F4ED"/>
                    </a:solidFill>
                  </a:tcPr>
                </a:tc>
              </a:tr>
              <a:tr h="647700">
                <a:tc>
                  <a:txBody>
                    <a:bodyPr/>
                    <a:lstStyle/>
                    <a:p>
                      <a:r>
                        <a:rPr sz="1650" b="0">
                          <a:solidFill>
                            <a:srgbClr val="173447"/>
                          </a:solidFill>
                          <a:latin typeface="Arial"/>
                          <a:ea typeface="Arial"/>
                          <a:cs typeface="Arial"/>
                        </a:rPr>
                        <a:t>Infraestructura física</a:t>
                      </a:r>
                    </a:p>
                  </a:txBody>
                  <a:tcPr marL="91440" marR="91440" marT="45720" marB="45720">
                    <a:solidFill>
                      <a:srgbClr val="FFFFFF"/>
                    </a:solidFill>
                  </a:tcPr>
                </a:tc>
                <a:tc>
                  <a:txBody>
                    <a:bodyPr/>
                    <a:lstStyle/>
                    <a:p>
                      <a:r>
                        <a:rPr sz="1650" b="0">
                          <a:solidFill>
                            <a:srgbClr val="173447"/>
                          </a:solidFill>
                          <a:latin typeface="Arial"/>
                          <a:ea typeface="Arial"/>
                          <a:cs typeface="Arial"/>
                        </a:rPr>
                        <a:t>Proveedor</a:t>
                      </a:r>
                    </a:p>
                  </a:txBody>
                  <a:tcPr marL="91440" marR="91440" marT="45720" marB="45720">
                    <a:solidFill>
                      <a:srgbClr val="FFFFFF"/>
                    </a:solidFill>
                  </a:tcPr>
                </a:tc>
                <a:tc>
                  <a:txBody>
                    <a:bodyPr/>
                    <a:lstStyle/>
                    <a:p>
                      <a:r>
                        <a:rPr sz="1650" b="0">
                          <a:solidFill>
                            <a:srgbClr val="173447"/>
                          </a:solidFill>
                          <a:latin typeface="Arial"/>
                          <a:ea typeface="Arial"/>
                          <a:cs typeface="Arial"/>
                        </a:rPr>
                        <a:t>Proveedor</a:t>
                      </a:r>
                    </a:p>
                  </a:txBody>
                  <a:tcPr marL="91440" marR="91440" marT="45720" marB="45720">
                    <a:solidFill>
                      <a:srgbClr val="FFFFFF"/>
                    </a:solidFill>
                  </a:tcPr>
                </a:tc>
                <a:tc>
                  <a:txBody>
                    <a:bodyPr/>
                    <a:lstStyle/>
                    <a:p>
                      <a:r>
                        <a:rPr sz="1650" b="0">
                          <a:solidFill>
                            <a:srgbClr val="173447"/>
                          </a:solidFill>
                          <a:latin typeface="Arial"/>
                          <a:ea typeface="Arial"/>
                          <a:cs typeface="Arial"/>
                        </a:rPr>
                        <a:t>Proveedor</a:t>
                      </a:r>
                    </a:p>
                  </a:txBody>
                  <a:tcPr marL="91440" marR="91440" marT="45720" marB="45720">
                    <a:solidFill>
                      <a:srgbClr val="FFFFFF"/>
                    </a:solidFill>
                  </a:tcPr>
                </a:tc>
              </a:tr>
              <a:tr h="647700">
                <a:tc>
                  <a:txBody>
                    <a:bodyPr/>
                    <a:lstStyle/>
                    <a:p>
                      <a:r>
                        <a:rPr sz="1650" b="0">
                          <a:solidFill>
                            <a:srgbClr val="173447"/>
                          </a:solidFill>
                          <a:latin typeface="Arial"/>
                          <a:ea typeface="Arial"/>
                          <a:cs typeface="Arial"/>
                        </a:rPr>
                        <a:t>Datos y accesos</a:t>
                      </a:r>
                    </a:p>
                  </a:txBody>
                  <a:tcPr marL="91440" marR="91440" marT="45720" marB="45720">
                    <a:solidFill>
                      <a:srgbClr val="F6F4ED"/>
                    </a:solidFill>
                  </a:tcPr>
                </a:tc>
                <a:tc>
                  <a:txBody>
                    <a:bodyPr/>
                    <a:lstStyle/>
                    <a:p>
                      <a:r>
                        <a:rPr sz="1650" b="0">
                          <a:solidFill>
                            <a:srgbClr val="173447"/>
                          </a:solidFill>
                          <a:latin typeface="Arial"/>
                          <a:ea typeface="Arial"/>
                          <a:cs typeface="Arial"/>
                        </a:rPr>
                        <a:t>Responsabilidad compartida</a:t>
                      </a:r>
                    </a:p>
                  </a:txBody>
                  <a:tcPr marL="91440" marR="91440" marT="45720" marB="45720">
                    <a:solidFill>
                      <a:srgbClr val="F6F4ED"/>
                    </a:solidFill>
                  </a:tcPr>
                </a:tc>
                <a:tc>
                  <a:txBody>
                    <a:bodyPr/>
                    <a:lstStyle/>
                    <a:p>
                      <a:r>
                        <a:rPr sz="1650" b="0">
                          <a:solidFill>
                            <a:srgbClr val="173447"/>
                          </a:solidFill>
                          <a:latin typeface="Arial"/>
                          <a:ea typeface="Arial"/>
                          <a:cs typeface="Arial"/>
                        </a:rPr>
                        <a:t>Responsabilidad compartida</a:t>
                      </a:r>
                    </a:p>
                  </a:txBody>
                  <a:tcPr marL="91440" marR="91440" marT="45720" marB="45720">
                    <a:solidFill>
                      <a:srgbClr val="F6F4ED"/>
                    </a:solidFill>
                  </a:tcPr>
                </a:tc>
                <a:tc>
                  <a:txBody>
                    <a:bodyPr/>
                    <a:lstStyle/>
                    <a:p>
                      <a:r>
                        <a:rPr sz="1650" b="0">
                          <a:solidFill>
                            <a:srgbClr val="173447"/>
                          </a:solidFill>
                          <a:latin typeface="Arial"/>
                          <a:ea typeface="Arial"/>
                          <a:cs typeface="Arial"/>
                        </a:rPr>
                        <a:t>Responsabilidad compartida</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8A5FDB47-6E62-45AC-B9F3-50C12EFDF6A6}"/>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Comparación simplificada: las responsabilidades concretas dependen del servicio.</a:t>
            </a:r>
          </a:p>
        </p:txBody>
      </p:sp>
    </p:spTree>
    <p:extLst>
      <p:ext uri="{BB962C8B-B14F-4D97-AF65-F5344CB8AC3E}">
        <p14:creationId xmlns:p14="http://schemas.microsoft.com/office/powerpoint/2010/main" val="927125537"/>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3481C2-AA66-4477-94C1-0EEFC976D480}"/>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A50F3BB2-9346-41BE-9AC8-1F170DC56FB5}"/>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F7A49A0-AAB1-4977-8C31-0BBD7AC4F32D}"/>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Elección para nuestro ejemplo</a:t>
            </a:r>
          </a:p>
        </p:txBody>
      </p:sp>
      <p:graphicFrame>
        <p:nvGraphicFramePr>
          <p:cNvPr id="4" name="">
            <a:extLst xmlns:a="http://schemas.openxmlformats.org/drawingml/2006/main">
              <a:ext uri="{FF2B5EF4-FFF2-40B4-BE49-F238E27FC236}">
                <a16:creationId xmlns:a16="http://schemas.microsoft.com/office/drawing/2014/main" id="{64D7B18B-7135-4C3D-941C-9ED674AEDDC7}"/>
              </a:ext>
            </a:extLst>
          </p:cNvPr>
          <p:cNvGraphicFramePr/>
          <p:nvPr/>
        </p:nvGraphicFramePr>
        <p:xfrm>
          <a:off xmlns:a="http://schemas.openxmlformats.org/drawingml/2006/main" x="723900" y="2171700"/>
          <a:ext xmlns:a="http://schemas.openxmlformats.org/drawingml/2006/main" cx="10744200" cy="2381250"/>
        </p:xfrm>
        <a:graphic xmlns:a="http://schemas.openxmlformats.org/drawingml/2006/main">
          <a:graphicData uri="http://schemas.openxmlformats.org/drawingml/2006/table">
            <a:tbl>
              <a:tblPr/>
              <a:tblGrid>
                <a:gridCol w="2047875"/>
                <a:gridCol w="3429000"/>
                <a:gridCol w="5267325"/>
              </a:tblGrid>
              <a:tr h="595313">
                <a:tc>
                  <a:txBody>
                    <a:bodyPr/>
                    <a:lstStyle/>
                    <a:p>
                      <a:r>
                        <a:rPr sz="2025" b="1">
                          <a:solidFill>
                            <a:srgbClr val="FFFFFF"/>
                          </a:solidFill>
                          <a:latin typeface="Arial"/>
                          <a:ea typeface="Arial"/>
                          <a:cs typeface="Arial"/>
                        </a:rPr>
                        <a:t>Modelo</a:t>
                      </a:r>
                    </a:p>
                  </a:txBody>
                  <a:tcPr marL="91440" marR="91440" marT="45720" marB="45720">
                    <a:solidFill>
                      <a:srgbClr val="173447"/>
                    </a:solidFill>
                  </a:tcPr>
                </a:tc>
                <a:tc>
                  <a:txBody>
                    <a:bodyPr/>
                    <a:lstStyle/>
                    <a:p>
                      <a:r>
                        <a:rPr sz="2025" b="1">
                          <a:solidFill>
                            <a:srgbClr val="FFFFFF"/>
                          </a:solidFill>
                          <a:latin typeface="Arial"/>
                          <a:ea typeface="Arial"/>
                          <a:cs typeface="Arial"/>
                        </a:rPr>
                        <a:t>Ejemplo</a:t>
                      </a:r>
                    </a:p>
                  </a:txBody>
                  <a:tcPr marL="91440" marR="91440" marT="45720" marB="45720">
                    <a:solidFill>
                      <a:srgbClr val="173447"/>
                    </a:solidFill>
                  </a:tcPr>
                </a:tc>
                <a:tc>
                  <a:txBody>
                    <a:bodyPr/>
                    <a:lstStyle/>
                    <a:p>
                      <a:r>
                        <a:rPr sz="2025" b="1">
                          <a:solidFill>
                            <a:srgbClr val="FFFFFF"/>
                          </a:solidFill>
                          <a:latin typeface="Arial"/>
                          <a:ea typeface="Arial"/>
                          <a:cs typeface="Arial"/>
                        </a:rPr>
                        <a:t>Qué hacemos</a:t>
                      </a:r>
                    </a:p>
                  </a:txBody>
                  <a:tcPr marL="91440" marR="91440" marT="45720" marB="45720">
                    <a:solidFill>
                      <a:srgbClr val="173447"/>
                    </a:solidFill>
                  </a:tcPr>
                </a:tc>
              </a:tr>
              <a:tr h="595313">
                <a:tc>
                  <a:txBody>
                    <a:bodyPr/>
                    <a:lstStyle/>
                    <a:p>
                      <a:r>
                        <a:rPr sz="2025" b="0">
                          <a:solidFill>
                            <a:srgbClr val="173447"/>
                          </a:solidFill>
                          <a:latin typeface="Arial"/>
                          <a:ea typeface="Arial"/>
                          <a:cs typeface="Arial"/>
                        </a:rPr>
                        <a:t>IaaS</a:t>
                      </a:r>
                    </a:p>
                  </a:txBody>
                  <a:tcPr marL="91440" marR="91440" marT="45720" marB="45720">
                    <a:solidFill>
                      <a:srgbClr val="FFFFFF"/>
                    </a:solidFill>
                  </a:tcPr>
                </a:tc>
                <a:tc>
                  <a:txBody>
                    <a:bodyPr/>
                    <a:lstStyle/>
                    <a:p>
                      <a:r>
                        <a:rPr sz="2025" b="0">
                          <a:solidFill>
                            <a:srgbClr val="173447"/>
                          </a:solidFill>
                          <a:latin typeface="Arial"/>
                          <a:ea typeface="Arial"/>
                          <a:cs typeface="Arial"/>
                        </a:rPr>
                        <a:t>Compute Engine</a:t>
                      </a:r>
                    </a:p>
                  </a:txBody>
                  <a:tcPr marL="91440" marR="91440" marT="45720" marB="45720">
                    <a:solidFill>
                      <a:srgbClr val="FFFFFF"/>
                    </a:solidFill>
                  </a:tcPr>
                </a:tc>
                <a:tc>
                  <a:txBody>
                    <a:bodyPr/>
                    <a:lstStyle/>
                    <a:p>
                      <a:r>
                        <a:rPr sz="2025" b="0">
                          <a:solidFill>
                            <a:srgbClr val="173447"/>
                          </a:solidFill>
                          <a:latin typeface="Arial"/>
                          <a:ea typeface="Arial"/>
                          <a:cs typeface="Arial"/>
                        </a:rPr>
                        <a:t>Configuramos la VM</a:t>
                      </a:r>
                    </a:p>
                  </a:txBody>
                  <a:tcPr marL="91440" marR="91440" marT="45720" marB="45720">
                    <a:solidFill>
                      <a:srgbClr val="FFFFFF"/>
                    </a:solidFill>
                  </a:tcPr>
                </a:tc>
              </a:tr>
              <a:tr h="595313">
                <a:tc>
                  <a:txBody>
                    <a:bodyPr/>
                    <a:lstStyle/>
                    <a:p>
                      <a:r>
                        <a:rPr sz="2025" b="0">
                          <a:solidFill>
                            <a:srgbClr val="173447"/>
                          </a:solidFill>
                          <a:latin typeface="Arial"/>
                          <a:ea typeface="Arial"/>
                          <a:cs typeface="Arial"/>
                        </a:rPr>
                        <a:t>PaaS</a:t>
                      </a:r>
                    </a:p>
                  </a:txBody>
                  <a:tcPr marL="91440" marR="91440" marT="45720" marB="45720">
                    <a:solidFill>
                      <a:srgbClr val="F6F4ED"/>
                    </a:solidFill>
                  </a:tcPr>
                </a:tc>
                <a:tc>
                  <a:txBody>
                    <a:bodyPr/>
                    <a:lstStyle/>
                    <a:p>
                      <a:r>
                        <a:rPr sz="2025" b="0">
                          <a:solidFill>
                            <a:srgbClr val="173447"/>
                          </a:solidFill>
                          <a:latin typeface="Arial"/>
                          <a:ea typeface="Arial"/>
                          <a:cs typeface="Arial"/>
                        </a:rPr>
                        <a:t>Vercel</a:t>
                      </a:r>
                    </a:p>
                  </a:txBody>
                  <a:tcPr marL="91440" marR="91440" marT="45720" marB="45720">
                    <a:solidFill>
                      <a:srgbClr val="F6F4ED"/>
                    </a:solidFill>
                  </a:tcPr>
                </a:tc>
                <a:tc>
                  <a:txBody>
                    <a:bodyPr/>
                    <a:lstStyle/>
                    <a:p>
                      <a:r>
                        <a:rPr sz="2025" b="0">
                          <a:solidFill>
                            <a:srgbClr val="173447"/>
                          </a:solidFill>
                          <a:latin typeface="Arial"/>
                          <a:ea typeface="Arial"/>
                          <a:cs typeface="Arial"/>
                        </a:rPr>
                        <a:t>Publicamos la web</a:t>
                      </a:r>
                    </a:p>
                  </a:txBody>
                  <a:tcPr marL="91440" marR="91440" marT="45720" marB="45720">
                    <a:solidFill>
                      <a:srgbClr val="F6F4ED"/>
                    </a:solidFill>
                  </a:tcPr>
                </a:tc>
              </a:tr>
              <a:tr h="595313">
                <a:tc>
                  <a:txBody>
                    <a:bodyPr/>
                    <a:lstStyle/>
                    <a:p>
                      <a:r>
                        <a:rPr sz="2025" b="0">
                          <a:solidFill>
                            <a:srgbClr val="173447"/>
                          </a:solidFill>
                          <a:latin typeface="Arial"/>
                          <a:ea typeface="Arial"/>
                          <a:cs typeface="Arial"/>
                        </a:rPr>
                        <a:t>SaaS</a:t>
                      </a:r>
                    </a:p>
                  </a:txBody>
                  <a:tcPr marL="91440" marR="91440" marT="45720" marB="45720">
                    <a:solidFill>
                      <a:srgbClr val="FFFFFF"/>
                    </a:solidFill>
                  </a:tcPr>
                </a:tc>
                <a:tc>
                  <a:txBody>
                    <a:bodyPr/>
                    <a:lstStyle/>
                    <a:p>
                      <a:r>
                        <a:rPr sz="2025" b="0">
                          <a:solidFill>
                            <a:srgbClr val="173447"/>
                          </a:solidFill>
                          <a:latin typeface="Arial"/>
                          <a:ea typeface="Arial"/>
                          <a:cs typeface="Arial"/>
                        </a:rPr>
                        <a:t>Google Workspace</a:t>
                      </a:r>
                    </a:p>
                  </a:txBody>
                  <a:tcPr marL="91440" marR="91440" marT="45720" marB="45720">
                    <a:solidFill>
                      <a:srgbClr val="FFFFFF"/>
                    </a:solidFill>
                  </a:tcPr>
                </a:tc>
                <a:tc>
                  <a:txBody>
                    <a:bodyPr/>
                    <a:lstStyle/>
                    <a:p>
                      <a:r>
                        <a:rPr sz="2025" b="0">
                          <a:solidFill>
                            <a:srgbClr val="173447"/>
                          </a:solidFill>
                          <a:latin typeface="Arial"/>
                          <a:ea typeface="Arial"/>
                          <a:cs typeface="Arial"/>
                        </a:rPr>
                        <a:t>Usamos la aplicación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EBD435C-000D-447C-BFE6-A24495AC14AD}"/>
              </a:ext>
            </a:extLst>
          </p:cNvPr>
          <p:cNvSpPr>
            <a:spLocks xmlns:a="http://schemas.openxmlformats.org/drawingml/2006/main" noGrp="1"/>
          </p:cNvSpPr>
          <p:nvPr/>
        </p:nvSpPr>
        <p:spPr>
          <a:xfrm xmlns:a="http://schemas.openxmlformats.org/drawingml/2006/main">
            <a:off x="723900" y="4981575"/>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3766B"/>
                </a:solidFill>
                <a:latin typeface="Arial"/>
                <a:ea typeface="Arial"/>
                <a:cs typeface="Arial"/>
              </a:defRPr>
            </a:defPPr>
          </a:lstStyle>
          <a:p xmlns:a="http://schemas.openxmlformats.org/drawingml/2006/main">
            <a:pPr>
              <a:defRPr sz="2550" b="1">
                <a:solidFill>
                  <a:srgbClr val="23766B"/>
                </a:solidFill>
                <a:latin typeface="Arial"/>
                <a:ea typeface="Arial"/>
                <a:cs typeface="Arial"/>
              </a:defRPr>
            </a:pPr>
            <a:r>
              <a:rPr sz="2550" b="1">
                <a:solidFill>
                  <a:srgbClr val="23766B"/>
                </a:solidFill>
                <a:latin typeface="Arial"/>
                <a:ea typeface="Arial"/>
                <a:cs typeface="Arial"/>
              </a:rPr>
              <a:t>Elegimos una plataforma que administra</a:t>
            </a:r>
          </a:p>
          <a:p xmlns:a="http://schemas.openxmlformats.org/drawingml/2006/main">
            <a:pPr>
              <a:defRPr sz="2550" b="1">
                <a:solidFill>
                  <a:srgbClr val="23766B"/>
                </a:solidFill>
                <a:latin typeface="Arial"/>
                <a:ea typeface="Arial"/>
                <a:cs typeface="Arial"/>
              </a:defRPr>
            </a:pPr>
            <a:r>
              <a:rPr sz="2550" b="1">
                <a:solidFill>
                  <a:srgbClr val="23766B"/>
                </a:solidFill>
                <a:latin typeface="Arial"/>
                <a:ea typeface="Arial"/>
                <a:cs typeface="Arial"/>
              </a:rPr>
              <a:t>la publicación y distribución.</a:t>
            </a:r>
          </a:p>
        </p:txBody>
      </p:sp>
    </p:spTree>
    <p:extLst>
      <p:ext uri="{BB962C8B-B14F-4D97-AF65-F5344CB8AC3E}">
        <p14:creationId xmlns:p14="http://schemas.microsoft.com/office/powerpoint/2010/main" val="84864955"/>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1F2AA6-3F53-4FB8-A26E-A12FBC897011}"/>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D147B4D4-99AE-47CF-9168-5FDF067AF227}"/>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2E224A75-D2EB-42B8-B15D-0792330577BA}"/>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Arquitectura de publicación</a:t>
            </a:r>
          </a:p>
        </p:txBody>
      </p:sp>
      <p:sp>
        <p:nvSpPr>
          <p:cNvPr id="4" name="">
            <a:extLst xmlns:a="http://schemas.openxmlformats.org/drawingml/2006/main">
              <a:ext uri="{FF2B5EF4-FFF2-40B4-BE49-F238E27FC236}">
                <a16:creationId xmlns:a16="http://schemas.microsoft.com/office/drawing/2014/main" id="{126DD36A-FBA2-45A9-976C-B5B52081B594}"/>
              </a:ext>
            </a:extLst>
          </p:cNvPr>
          <p:cNvSpPr>
            <a:spLocks xmlns:a="http://schemas.openxmlformats.org/drawingml/2006/main" noGrp="1"/>
          </p:cNvSpPr>
          <p:nvPr/>
        </p:nvSpPr>
        <p:spPr>
          <a:xfrm xmlns:a="http://schemas.openxmlformats.org/drawingml/2006/main">
            <a:off x="723900" y="2667000"/>
            <a:ext cx="2238375" cy="128587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5" name="">
            <a:extLst xmlns:a="http://schemas.openxmlformats.org/drawingml/2006/main">
              <a:ext uri="{FF2B5EF4-FFF2-40B4-BE49-F238E27FC236}">
                <a16:creationId xmlns:a16="http://schemas.microsoft.com/office/drawing/2014/main" id="{4EAD1725-3388-445A-B10B-2DE8551D3699}"/>
              </a:ext>
            </a:extLst>
          </p:cNvPr>
          <p:cNvSpPr>
            <a:spLocks xmlns:a="http://schemas.openxmlformats.org/drawingml/2006/main" noGrp="1"/>
          </p:cNvSpPr>
          <p:nvPr/>
        </p:nvSpPr>
        <p:spPr>
          <a:xfrm xmlns:a="http://schemas.openxmlformats.org/drawingml/2006/main">
            <a:off x="895350" y="2809875"/>
            <a:ext cx="18954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Docente</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código</a:t>
            </a:r>
          </a:p>
        </p:txBody>
      </p:sp>
      <p:sp>
        <p:nvSpPr>
          <p:cNvPr id="6" name="">
            <a:extLst xmlns:a="http://schemas.openxmlformats.org/drawingml/2006/main">
              <a:ext uri="{FF2B5EF4-FFF2-40B4-BE49-F238E27FC236}">
                <a16:creationId xmlns:a16="http://schemas.microsoft.com/office/drawing/2014/main" id="{65BA8B13-A7F4-4C3D-9CA5-2D357564D45A}"/>
              </a:ext>
            </a:extLst>
          </p:cNvPr>
          <p:cNvSpPr>
            <a:spLocks xmlns:a="http://schemas.openxmlformats.org/drawingml/2006/main" noGrp="1"/>
          </p:cNvSpPr>
          <p:nvPr/>
        </p:nvSpPr>
        <p:spPr>
          <a:xfrm xmlns:a="http://schemas.openxmlformats.org/drawingml/2006/main">
            <a:off x="3152775" y="3143250"/>
            <a:ext cx="714375"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BB154C-20DC-4F2E-A367-A8638DD87565}"/>
              </a:ext>
            </a:extLst>
          </p:cNvPr>
          <p:cNvSpPr>
            <a:spLocks xmlns:a="http://schemas.openxmlformats.org/drawingml/2006/main" noGrp="1"/>
          </p:cNvSpPr>
          <p:nvPr/>
        </p:nvSpPr>
        <p:spPr>
          <a:xfrm xmlns:a="http://schemas.openxmlformats.org/drawingml/2006/main">
            <a:off x="4057650" y="2667000"/>
            <a:ext cx="2238375" cy="128587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8" name="">
            <a:extLst xmlns:a="http://schemas.openxmlformats.org/drawingml/2006/main">
              <a:ext uri="{FF2B5EF4-FFF2-40B4-BE49-F238E27FC236}">
                <a16:creationId xmlns:a16="http://schemas.microsoft.com/office/drawing/2014/main" id="{964E381D-7A5C-48D8-ADBF-701359F33ABD}"/>
              </a:ext>
            </a:extLst>
          </p:cNvPr>
          <p:cNvSpPr>
            <a:spLocks xmlns:a="http://schemas.openxmlformats.org/drawingml/2006/main" noGrp="1"/>
          </p:cNvSpPr>
          <p:nvPr/>
        </p:nvSpPr>
        <p:spPr>
          <a:xfrm xmlns:a="http://schemas.openxmlformats.org/drawingml/2006/main">
            <a:off x="4229100" y="2809875"/>
            <a:ext cx="18954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Git</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versiones</a:t>
            </a:r>
          </a:p>
        </p:txBody>
      </p:sp>
      <p:sp>
        <p:nvSpPr>
          <p:cNvPr id="9" name="">
            <a:extLst xmlns:a="http://schemas.openxmlformats.org/drawingml/2006/main">
              <a:ext uri="{FF2B5EF4-FFF2-40B4-BE49-F238E27FC236}">
                <a16:creationId xmlns:a16="http://schemas.microsoft.com/office/drawing/2014/main" id="{DDBE8F88-B878-43E6-A03F-F91CA50EF545}"/>
              </a:ext>
            </a:extLst>
          </p:cNvPr>
          <p:cNvSpPr>
            <a:spLocks xmlns:a="http://schemas.openxmlformats.org/drawingml/2006/main" noGrp="1"/>
          </p:cNvSpPr>
          <p:nvPr/>
        </p:nvSpPr>
        <p:spPr>
          <a:xfrm xmlns:a="http://schemas.openxmlformats.org/drawingml/2006/main">
            <a:off x="6486525" y="3143250"/>
            <a:ext cx="714375"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642AEC-FA23-48CE-9398-838C69655524}"/>
              </a:ext>
            </a:extLst>
          </p:cNvPr>
          <p:cNvSpPr>
            <a:spLocks xmlns:a="http://schemas.openxmlformats.org/drawingml/2006/main" noGrp="1"/>
          </p:cNvSpPr>
          <p:nvPr/>
        </p:nvSpPr>
        <p:spPr>
          <a:xfrm xmlns:a="http://schemas.openxmlformats.org/drawingml/2006/main">
            <a:off x="7391400" y="2667000"/>
            <a:ext cx="2238375" cy="128587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11" name="">
            <a:extLst xmlns:a="http://schemas.openxmlformats.org/drawingml/2006/main">
              <a:ext uri="{FF2B5EF4-FFF2-40B4-BE49-F238E27FC236}">
                <a16:creationId xmlns:a16="http://schemas.microsoft.com/office/drawing/2014/main" id="{67CD8E42-6540-421B-B4EE-6CB9D4D4279B}"/>
              </a:ext>
            </a:extLst>
          </p:cNvPr>
          <p:cNvSpPr>
            <a:spLocks xmlns:a="http://schemas.openxmlformats.org/drawingml/2006/main" noGrp="1"/>
          </p:cNvSpPr>
          <p:nvPr/>
        </p:nvSpPr>
        <p:spPr>
          <a:xfrm xmlns:a="http://schemas.openxmlformats.org/drawingml/2006/main">
            <a:off x="7562850" y="2809875"/>
            <a:ext cx="18954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Vercel</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build</a:t>
            </a:r>
          </a:p>
        </p:txBody>
      </p:sp>
      <p:sp>
        <p:nvSpPr>
          <p:cNvPr id="12" name="">
            <a:extLst xmlns:a="http://schemas.openxmlformats.org/drawingml/2006/main">
              <a:ext uri="{FF2B5EF4-FFF2-40B4-BE49-F238E27FC236}">
                <a16:creationId xmlns:a16="http://schemas.microsoft.com/office/drawing/2014/main" id="{B28BC748-C935-4F94-AE45-96B24CB276EC}"/>
              </a:ext>
            </a:extLst>
          </p:cNvPr>
          <p:cNvSpPr>
            <a:spLocks xmlns:a="http://schemas.openxmlformats.org/drawingml/2006/main" noGrp="1"/>
          </p:cNvSpPr>
          <p:nvPr/>
        </p:nvSpPr>
        <p:spPr>
          <a:xfrm xmlns:a="http://schemas.openxmlformats.org/drawingml/2006/main">
            <a:off x="3048000" y="22098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3766B"/>
                </a:solidFill>
                <a:latin typeface="Arial"/>
                <a:ea typeface="Arial"/>
                <a:cs typeface="Arial"/>
              </a:defRPr>
            </a:defPPr>
          </a:lstStyle>
          <a:p xmlns:a="http://schemas.openxmlformats.org/drawingml/2006/main">
            <a:pPr>
              <a:defRPr sz="1575" b="0">
                <a:solidFill>
                  <a:srgbClr val="23766B"/>
                </a:solidFill>
                <a:latin typeface="Arial"/>
                <a:ea typeface="Arial"/>
                <a:cs typeface="Arial"/>
              </a:defRPr>
            </a:pPr>
            <a:r>
              <a:rPr sz="1575" b="0">
                <a:solidFill>
                  <a:srgbClr val="23766B"/>
                </a:solidFill>
                <a:latin typeface="Arial"/>
                <a:ea typeface="Arial"/>
                <a:cs typeface="Arial"/>
              </a:rPr>
              <a:t>git push</a:t>
            </a:r>
          </a:p>
        </p:txBody>
      </p:sp>
      <p:sp>
        <p:nvSpPr>
          <p:cNvPr id="13" name="">
            <a:extLst xmlns:a="http://schemas.openxmlformats.org/drawingml/2006/main">
              <a:ext uri="{FF2B5EF4-FFF2-40B4-BE49-F238E27FC236}">
                <a16:creationId xmlns:a16="http://schemas.microsoft.com/office/drawing/2014/main" id="{F5586567-896D-47AC-A5DA-FD16DCB0ECFB}"/>
              </a:ext>
            </a:extLst>
          </p:cNvPr>
          <p:cNvSpPr>
            <a:spLocks xmlns:a="http://schemas.openxmlformats.org/drawingml/2006/main" noGrp="1"/>
          </p:cNvSpPr>
          <p:nvPr/>
        </p:nvSpPr>
        <p:spPr>
          <a:xfrm xmlns:a="http://schemas.openxmlformats.org/drawingml/2006/main">
            <a:off x="7105650" y="421957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766B"/>
                </a:solidFill>
                <a:latin typeface="Arial"/>
                <a:ea typeface="Arial"/>
                <a:cs typeface="Arial"/>
              </a:defRPr>
            </a:defPPr>
          </a:lstStyle>
          <a:p xmlns:a="http://schemas.openxmlformats.org/drawingml/2006/main">
            <a:pPr>
              <a:defRPr sz="2100" b="1">
                <a:solidFill>
                  <a:srgbClr val="23766B"/>
                </a:solidFill>
                <a:latin typeface="Arial"/>
                <a:ea typeface="Arial"/>
                <a:cs typeface="Arial"/>
              </a:defRPr>
            </a:pPr>
            <a:r>
              <a:rPr sz="2100" b="1">
                <a:solidFill>
                  <a:srgbClr val="23766B"/>
                </a:solidFill>
                <a:latin typeface="Arial"/>
                <a:ea typeface="Arial"/>
                <a:cs typeface="Arial"/>
              </a:rPr>
              <a:t>npm run build</a:t>
            </a:r>
          </a:p>
        </p:txBody>
      </p:sp>
      <p:sp>
        <p:nvSpPr>
          <p:cNvPr id="14" name="">
            <a:extLst xmlns:a="http://schemas.openxmlformats.org/drawingml/2006/main">
              <a:ext uri="{FF2B5EF4-FFF2-40B4-BE49-F238E27FC236}">
                <a16:creationId xmlns:a16="http://schemas.microsoft.com/office/drawing/2014/main" id="{19E28DD7-021C-4258-9423-7185346B35E1}"/>
              </a:ext>
            </a:extLst>
          </p:cNvPr>
          <p:cNvSpPr>
            <a:spLocks xmlns:a="http://schemas.openxmlformats.org/drawingml/2006/main" noGrp="1"/>
          </p:cNvSpPr>
          <p:nvPr/>
        </p:nvSpPr>
        <p:spPr>
          <a:xfrm xmlns:a="http://schemas.openxmlformats.org/drawingml/2006/main">
            <a:off x="723900" y="50101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447"/>
                </a:solidFill>
                <a:latin typeface="Arial"/>
                <a:ea typeface="Arial"/>
                <a:cs typeface="Arial"/>
              </a:defRPr>
            </a:defPPr>
          </a:lstStyle>
          <a:p xmlns:a="http://schemas.openxmlformats.org/drawingml/2006/main">
            <a:pPr>
              <a:defRPr sz="2475" b="1">
                <a:solidFill>
                  <a:srgbClr val="173447"/>
                </a:solidFill>
                <a:latin typeface="Arial"/>
                <a:ea typeface="Arial"/>
                <a:cs typeface="Arial"/>
              </a:defRPr>
            </a:pPr>
            <a:r>
              <a:rPr sz="2475" b="1">
                <a:solidFill>
                  <a:srgbClr val="173447"/>
                </a:solidFill>
                <a:latin typeface="Arial"/>
                <a:ea typeface="Arial"/>
                <a:cs typeface="Arial"/>
              </a:rPr>
              <a:t>Salida: public/ con HTML, CSS e imagen</a:t>
            </a:r>
          </a:p>
        </p:txBody>
      </p:sp>
      <p:sp>
        <p:nvSpPr>
          <p:cNvPr id="15" name="">
            <a:extLst xmlns:a="http://schemas.openxmlformats.org/drawingml/2006/main">
              <a:ext uri="{FF2B5EF4-FFF2-40B4-BE49-F238E27FC236}">
                <a16:creationId xmlns:a16="http://schemas.microsoft.com/office/drawing/2014/main" id="{263879BD-8B8B-424E-934C-06C13B0C0A8E}"/>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Publicación: este proceso ocurre al desplegar, no por cada visita.</a:t>
            </a:r>
          </a:p>
        </p:txBody>
      </p:sp>
    </p:spTree>
    <p:extLst>
      <p:ext uri="{BB962C8B-B14F-4D97-AF65-F5344CB8AC3E}">
        <p14:creationId xmlns:p14="http://schemas.microsoft.com/office/powerpoint/2010/main" val="884950029"/>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93C95E-08E4-4C64-9F40-C990BA2DC636}"/>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F5F10066-59A9-4304-A4EC-ADAF8288A0E8}"/>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11CBE79-E9E8-4356-B4D1-EB74916BDA58}"/>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Arquitectura de una visita</a:t>
            </a:r>
          </a:p>
        </p:txBody>
      </p:sp>
      <p:sp>
        <p:nvSpPr>
          <p:cNvPr id="4" name="">
            <a:extLst xmlns:a="http://schemas.openxmlformats.org/drawingml/2006/main">
              <a:ext uri="{FF2B5EF4-FFF2-40B4-BE49-F238E27FC236}">
                <a16:creationId xmlns:a16="http://schemas.microsoft.com/office/drawing/2014/main" id="{0CFE54AD-FEA3-4C46-B29B-BB303356C7B3}"/>
              </a:ext>
            </a:extLst>
          </p:cNvPr>
          <p:cNvSpPr>
            <a:spLocks xmlns:a="http://schemas.openxmlformats.org/drawingml/2006/main" noGrp="1"/>
          </p:cNvSpPr>
          <p:nvPr/>
        </p:nvSpPr>
        <p:spPr>
          <a:xfrm xmlns:a="http://schemas.openxmlformats.org/drawingml/2006/main">
            <a:off x="723900" y="2667000"/>
            <a:ext cx="2428875" cy="1428750"/>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5" name="">
            <a:extLst xmlns:a="http://schemas.openxmlformats.org/drawingml/2006/main">
              <a:ext uri="{FF2B5EF4-FFF2-40B4-BE49-F238E27FC236}">
                <a16:creationId xmlns:a16="http://schemas.microsoft.com/office/drawing/2014/main" id="{408A6913-ED79-459E-849B-696FD75BD0F7}"/>
              </a:ext>
            </a:extLst>
          </p:cNvPr>
          <p:cNvSpPr>
            <a:spLocks xmlns:a="http://schemas.openxmlformats.org/drawingml/2006/main" noGrp="1"/>
          </p:cNvSpPr>
          <p:nvPr/>
        </p:nvSpPr>
        <p:spPr>
          <a:xfrm xmlns:a="http://schemas.openxmlformats.org/drawingml/2006/main">
            <a:off x="895350" y="2809875"/>
            <a:ext cx="2085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Navegador</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estudiante</a:t>
            </a:r>
          </a:p>
        </p:txBody>
      </p:sp>
      <p:sp>
        <p:nvSpPr>
          <p:cNvPr id="6" name="">
            <a:extLst xmlns:a="http://schemas.openxmlformats.org/drawingml/2006/main">
              <a:ext uri="{FF2B5EF4-FFF2-40B4-BE49-F238E27FC236}">
                <a16:creationId xmlns:a16="http://schemas.microsoft.com/office/drawing/2014/main" id="{4A5FC2F2-39A9-45F9-8AF3-F2215213478D}"/>
              </a:ext>
            </a:extLst>
          </p:cNvPr>
          <p:cNvSpPr>
            <a:spLocks xmlns:a="http://schemas.openxmlformats.org/drawingml/2006/main" noGrp="1"/>
          </p:cNvSpPr>
          <p:nvPr/>
        </p:nvSpPr>
        <p:spPr>
          <a:xfrm xmlns:a="http://schemas.openxmlformats.org/drawingml/2006/main">
            <a:off x="3381375" y="3228975"/>
            <a:ext cx="952500"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AD66D3-852B-47E9-9C4C-18000F8FAA2F}"/>
              </a:ext>
            </a:extLst>
          </p:cNvPr>
          <p:cNvSpPr>
            <a:spLocks xmlns:a="http://schemas.openxmlformats.org/drawingml/2006/main" noGrp="1"/>
          </p:cNvSpPr>
          <p:nvPr/>
        </p:nvSpPr>
        <p:spPr>
          <a:xfrm xmlns:a="http://schemas.openxmlformats.org/drawingml/2006/main">
            <a:off x="4562475" y="2667000"/>
            <a:ext cx="3333750" cy="1428750"/>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8" name="">
            <a:extLst xmlns:a="http://schemas.openxmlformats.org/drawingml/2006/main">
              <a:ext uri="{FF2B5EF4-FFF2-40B4-BE49-F238E27FC236}">
                <a16:creationId xmlns:a16="http://schemas.microsoft.com/office/drawing/2014/main" id="{622CDE81-7F4F-406C-86B1-2B21D21045CE}"/>
              </a:ext>
            </a:extLst>
          </p:cNvPr>
          <p:cNvSpPr>
            <a:spLocks xmlns:a="http://schemas.openxmlformats.org/drawingml/2006/main" noGrp="1"/>
          </p:cNvSpPr>
          <p:nvPr/>
        </p:nvSpPr>
        <p:spPr>
          <a:xfrm xmlns:a="http://schemas.openxmlformats.org/drawingml/2006/main">
            <a:off x="4733925" y="2809875"/>
            <a:ext cx="29908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Vercel CDN</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rutas y entrega</a:t>
            </a:r>
          </a:p>
        </p:txBody>
      </p:sp>
      <p:sp>
        <p:nvSpPr>
          <p:cNvPr id="9" name="">
            <a:extLst xmlns:a="http://schemas.openxmlformats.org/drawingml/2006/main">
              <a:ext uri="{FF2B5EF4-FFF2-40B4-BE49-F238E27FC236}">
                <a16:creationId xmlns:a16="http://schemas.microsoft.com/office/drawing/2014/main" id="{5408E650-463C-4E66-90F9-F035312D79FE}"/>
              </a:ext>
            </a:extLst>
          </p:cNvPr>
          <p:cNvSpPr>
            <a:spLocks xmlns:a="http://schemas.openxmlformats.org/drawingml/2006/main" noGrp="1"/>
          </p:cNvSpPr>
          <p:nvPr/>
        </p:nvSpPr>
        <p:spPr>
          <a:xfrm xmlns:a="http://schemas.openxmlformats.org/drawingml/2006/main">
            <a:off x="8115300" y="3228975"/>
            <a:ext cx="809625"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38806AA-8E0F-45F4-A5F1-1454F94684C9}"/>
              </a:ext>
            </a:extLst>
          </p:cNvPr>
          <p:cNvSpPr>
            <a:spLocks xmlns:a="http://schemas.openxmlformats.org/drawingml/2006/main" noGrp="1"/>
          </p:cNvSpPr>
          <p:nvPr/>
        </p:nvSpPr>
        <p:spPr>
          <a:xfrm xmlns:a="http://schemas.openxmlformats.org/drawingml/2006/main">
            <a:off x="9153525" y="2667000"/>
            <a:ext cx="2314575" cy="1428750"/>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11" name="">
            <a:extLst xmlns:a="http://schemas.openxmlformats.org/drawingml/2006/main">
              <a:ext uri="{FF2B5EF4-FFF2-40B4-BE49-F238E27FC236}">
                <a16:creationId xmlns:a16="http://schemas.microsoft.com/office/drawing/2014/main" id="{731CDCE0-622B-4FA1-97FA-452CEC4FF95A}"/>
              </a:ext>
            </a:extLst>
          </p:cNvPr>
          <p:cNvSpPr>
            <a:spLocks xmlns:a="http://schemas.openxmlformats.org/drawingml/2006/main" noGrp="1"/>
          </p:cNvSpPr>
          <p:nvPr/>
        </p:nvSpPr>
        <p:spPr>
          <a:xfrm xmlns:a="http://schemas.openxmlformats.org/drawingml/2006/main">
            <a:off x="9324975" y="2809875"/>
            <a:ext cx="19716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Archivos</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publicados</a:t>
            </a:r>
          </a:p>
        </p:txBody>
      </p:sp>
      <p:sp>
        <p:nvSpPr>
          <p:cNvPr id="12" name="">
            <a:extLst xmlns:a="http://schemas.openxmlformats.org/drawingml/2006/main">
              <a:ext uri="{FF2B5EF4-FFF2-40B4-BE49-F238E27FC236}">
                <a16:creationId xmlns:a16="http://schemas.microsoft.com/office/drawing/2014/main" id="{552FA1B2-8BEB-4CDD-8523-E57C57ECD2DB}"/>
              </a:ext>
            </a:extLst>
          </p:cNvPr>
          <p:cNvSpPr>
            <a:spLocks xmlns:a="http://schemas.openxmlformats.org/drawingml/2006/main" noGrp="1"/>
          </p:cNvSpPr>
          <p:nvPr/>
        </p:nvSpPr>
        <p:spPr>
          <a:xfrm xmlns:a="http://schemas.openxmlformats.org/drawingml/2006/main">
            <a:off x="723900" y="4800600"/>
            <a:ext cx="10744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DNS: resolver el dominio. HTTPS: solicitar contenido.</a:t>
            </a:r>
          </a:p>
        </p:txBody>
      </p:sp>
      <p:sp>
        <p:nvSpPr>
          <p:cNvPr id="13" name="">
            <a:extLst xmlns:a="http://schemas.openxmlformats.org/drawingml/2006/main">
              <a:ext uri="{FF2B5EF4-FFF2-40B4-BE49-F238E27FC236}">
                <a16:creationId xmlns:a16="http://schemas.microsoft.com/office/drawing/2014/main" id="{D972C240-B35D-4C2D-BB21-7F2D1DE940C8}"/>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Git y build quedan fuera de esta visita. Docker se ejecuta solo localmente.</a:t>
            </a:r>
          </a:p>
        </p:txBody>
      </p:sp>
    </p:spTree>
    <p:extLst>
      <p:ext uri="{BB962C8B-B14F-4D97-AF65-F5344CB8AC3E}">
        <p14:creationId xmlns:p14="http://schemas.microsoft.com/office/powerpoint/2010/main" val="96997224"/>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042674-AD8B-4823-873B-0FE753462A3E}"/>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7523F626-A07E-4D91-99E7-B354B076FC3F}"/>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1DF2916-B1B9-4EF9-B934-4B6273F22D50}"/>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Imagen y contenedor</a:t>
            </a:r>
          </a:p>
        </p:txBody>
      </p:sp>
      <p:sp>
        <p:nvSpPr>
          <p:cNvPr id="4" name="">
            <a:extLst xmlns:a="http://schemas.openxmlformats.org/drawingml/2006/main">
              <a:ext uri="{FF2B5EF4-FFF2-40B4-BE49-F238E27FC236}">
                <a16:creationId xmlns:a16="http://schemas.microsoft.com/office/drawing/2014/main" id="{95C43707-0C88-443D-A32F-120ACA1614E8}"/>
              </a:ext>
            </a:extLst>
          </p:cNvPr>
          <p:cNvSpPr>
            <a:spLocks xmlns:a="http://schemas.openxmlformats.org/drawingml/2006/main" noGrp="1"/>
          </p:cNvSpPr>
          <p:nvPr/>
        </p:nvSpPr>
        <p:spPr>
          <a:xfrm xmlns:a="http://schemas.openxmlformats.org/drawingml/2006/main">
            <a:off x="723900" y="2619375"/>
            <a:ext cx="3810000" cy="157162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5" name="">
            <a:extLst xmlns:a="http://schemas.openxmlformats.org/drawingml/2006/main">
              <a:ext uri="{FF2B5EF4-FFF2-40B4-BE49-F238E27FC236}">
                <a16:creationId xmlns:a16="http://schemas.microsoft.com/office/drawing/2014/main" id="{CD4BCC7B-7FA7-4DE4-B472-60B915DB7E06}"/>
              </a:ext>
            </a:extLst>
          </p:cNvPr>
          <p:cNvSpPr>
            <a:spLocks xmlns:a="http://schemas.openxmlformats.org/drawingml/2006/main" noGrp="1"/>
          </p:cNvSpPr>
          <p:nvPr/>
        </p:nvSpPr>
        <p:spPr>
          <a:xfrm xmlns:a="http://schemas.openxmlformats.org/drawingml/2006/main">
            <a:off x="895350" y="2762250"/>
            <a:ext cx="3467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Imagen</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Nginx + archivos</a:t>
            </a:r>
          </a:p>
        </p:txBody>
      </p:sp>
      <p:sp>
        <p:nvSpPr>
          <p:cNvPr id="6" name="">
            <a:extLst xmlns:a="http://schemas.openxmlformats.org/drawingml/2006/main">
              <a:ext uri="{FF2B5EF4-FFF2-40B4-BE49-F238E27FC236}">
                <a16:creationId xmlns:a16="http://schemas.microsoft.com/office/drawing/2014/main" id="{4B99E1A8-9A94-4FE0-9BAD-3A0A5ADC53BA}"/>
              </a:ext>
            </a:extLst>
          </p:cNvPr>
          <p:cNvSpPr>
            <a:spLocks xmlns:a="http://schemas.openxmlformats.org/drawingml/2006/main" noGrp="1"/>
          </p:cNvSpPr>
          <p:nvPr/>
        </p:nvSpPr>
        <p:spPr>
          <a:xfrm xmlns:a="http://schemas.openxmlformats.org/drawingml/2006/main">
            <a:off x="4810125" y="3228975"/>
            <a:ext cx="1666875"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650BC9B-99BC-44C7-961E-5B4844D15424}"/>
              </a:ext>
            </a:extLst>
          </p:cNvPr>
          <p:cNvSpPr>
            <a:spLocks xmlns:a="http://schemas.openxmlformats.org/drawingml/2006/main" noGrp="1"/>
          </p:cNvSpPr>
          <p:nvPr/>
        </p:nvSpPr>
        <p:spPr>
          <a:xfrm xmlns:a="http://schemas.openxmlformats.org/drawingml/2006/main">
            <a:off x="6791325" y="2619375"/>
            <a:ext cx="4667250" cy="157162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8" name="">
            <a:extLst xmlns:a="http://schemas.openxmlformats.org/drawingml/2006/main">
              <a:ext uri="{FF2B5EF4-FFF2-40B4-BE49-F238E27FC236}">
                <a16:creationId xmlns:a16="http://schemas.microsoft.com/office/drawing/2014/main" id="{43C727C7-1BD0-42E4-BCA7-5F6AB9BE8931}"/>
              </a:ext>
            </a:extLst>
          </p:cNvPr>
          <p:cNvSpPr>
            <a:spLocks xmlns:a="http://schemas.openxmlformats.org/drawingml/2006/main" noGrp="1"/>
          </p:cNvSpPr>
          <p:nvPr/>
        </p:nvSpPr>
        <p:spPr>
          <a:xfrm xmlns:a="http://schemas.openxmlformats.org/drawingml/2006/main">
            <a:off x="6962775" y="2762250"/>
            <a:ext cx="43243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Contenedor</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Instancia en ejecución</a:t>
            </a:r>
          </a:p>
        </p:txBody>
      </p:sp>
      <p:sp>
        <p:nvSpPr>
          <p:cNvPr id="9" name="">
            <a:extLst xmlns:a="http://schemas.openxmlformats.org/drawingml/2006/main">
              <a:ext uri="{FF2B5EF4-FFF2-40B4-BE49-F238E27FC236}">
                <a16:creationId xmlns:a16="http://schemas.microsoft.com/office/drawing/2014/main" id="{89E8E688-ED64-44B3-BF84-2D0C4915A758}"/>
              </a:ext>
            </a:extLst>
          </p:cNvPr>
          <p:cNvSpPr>
            <a:spLocks xmlns:a="http://schemas.openxmlformats.org/drawingml/2006/main" noGrp="1"/>
          </p:cNvSpPr>
          <p:nvPr/>
        </p:nvSpPr>
        <p:spPr>
          <a:xfrm xmlns:a="http://schemas.openxmlformats.org/drawingml/2006/main">
            <a:off x="723900" y="4810125"/>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447"/>
                </a:solidFill>
                <a:latin typeface="Arial"/>
                <a:ea typeface="Arial"/>
                <a:cs typeface="Arial"/>
              </a:defRPr>
            </a:defPPr>
          </a:lstStyle>
          <a:p xmlns:a="http://schemas.openxmlformats.org/drawingml/2006/main">
            <a:pPr>
              <a:defRPr sz="2550" b="0">
                <a:solidFill>
                  <a:srgbClr val="173447"/>
                </a:solidFill>
                <a:latin typeface="Arial"/>
                <a:ea typeface="Arial"/>
                <a:cs typeface="Arial"/>
              </a:defRPr>
            </a:pPr>
            <a:r>
              <a:rPr sz="2550" b="0">
                <a:solidFill>
                  <a:srgbClr val="173447"/>
                </a:solidFill>
                <a:latin typeface="Arial"/>
                <a:ea typeface="Arial"/>
                <a:cs typeface="Arial"/>
              </a:rPr>
              <a:t>Cambiar la fuente requiere reconstruir</a:t>
            </a:r>
          </a:p>
          <a:p xmlns:a="http://schemas.openxmlformats.org/drawingml/2006/main">
            <a:pPr>
              <a:defRPr sz="2550" b="0">
                <a:solidFill>
                  <a:srgbClr val="173447"/>
                </a:solidFill>
                <a:latin typeface="Arial"/>
                <a:ea typeface="Arial"/>
                <a:cs typeface="Arial"/>
              </a:defRPr>
            </a:pPr>
            <a:r>
              <a:rPr sz="2550" b="0">
                <a:solidFill>
                  <a:srgbClr val="173447"/>
                </a:solidFill>
                <a:latin typeface="Arial"/>
                <a:ea typeface="Arial"/>
                <a:cs typeface="Arial"/>
              </a:rPr>
              <a:t>y recrear el contenedor en este ejemplo.</a:t>
            </a:r>
          </a:p>
        </p:txBody>
      </p:sp>
    </p:spTree>
    <p:extLst>
      <p:ext uri="{BB962C8B-B14F-4D97-AF65-F5344CB8AC3E}">
        <p14:creationId xmlns:p14="http://schemas.microsoft.com/office/powerpoint/2010/main" val="231807865"/>
      </p:ext>
    </p:extLst>
  </p:cSld>
</p:sld>
</file>

<file path=ppt/slides/slide1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E06025-6E43-444A-B2D8-658FFD4C7ED3}"/>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C9AA88A2-3C43-4F00-9BA0-5CF3D39C0104}"/>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7E22713-C7C1-4A62-A39F-A9D3A5935DB5}"/>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Ejecución local</a:t>
            </a:r>
          </a:p>
        </p:txBody>
      </p:sp>
      <p:sp>
        <p:nvSpPr>
          <p:cNvPr id="4" name="">
            <a:extLst xmlns:a="http://schemas.openxmlformats.org/drawingml/2006/main">
              <a:ext uri="{FF2B5EF4-FFF2-40B4-BE49-F238E27FC236}">
                <a16:creationId xmlns:a16="http://schemas.microsoft.com/office/drawing/2014/main" id="{57731CE8-2338-4781-B1CD-735D6E9E261A}"/>
              </a:ext>
            </a:extLst>
          </p:cNvPr>
          <p:cNvSpPr>
            <a:spLocks xmlns:a="http://schemas.openxmlformats.org/drawingml/2006/main" noGrp="1"/>
          </p:cNvSpPr>
          <p:nvPr/>
        </p:nvSpPr>
        <p:spPr>
          <a:xfrm xmlns:a="http://schemas.openxmlformats.org/drawingml/2006/main">
            <a:off x="723900" y="2152650"/>
            <a:ext cx="4000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447"/>
                </a:solidFill>
                <a:latin typeface="Arial"/>
                <a:ea typeface="Arial"/>
                <a:cs typeface="Arial"/>
              </a:defRPr>
            </a:defPPr>
          </a:lstStyle>
          <a:p xmlns:a="http://schemas.openxmlformats.org/drawingml/2006/main">
            <a:pPr>
              <a:defRPr sz="2475" b="1">
                <a:solidFill>
                  <a:srgbClr val="173447"/>
                </a:solidFill>
                <a:latin typeface="Arial"/>
                <a:ea typeface="Arial"/>
                <a:cs typeface="Arial"/>
              </a:defRPr>
            </a:pPr>
            <a:r>
              <a:rPr sz="2475" b="1">
                <a:solidFill>
                  <a:srgbClr val="173447"/>
                </a:solidFill>
                <a:latin typeface="Arial"/>
                <a:ea typeface="Arial"/>
                <a:cs typeface="Arial"/>
              </a:rPr>
              <a:t>1. Construir v1</a:t>
            </a:r>
          </a:p>
          <a:p xmlns:a="http://schemas.openxmlformats.org/drawingml/2006/main">
            <a:r>
              <a:t/>
            </a:r>
          </a:p>
          <a:p xmlns:a="http://schemas.openxmlformats.org/drawingml/2006/main">
            <a:pPr>
              <a:defRPr sz="2475" b="1">
                <a:solidFill>
                  <a:srgbClr val="173447"/>
                </a:solidFill>
                <a:latin typeface="Arial"/>
                <a:ea typeface="Arial"/>
                <a:cs typeface="Arial"/>
              </a:defRPr>
            </a:pPr>
            <a:r>
              <a:rPr sz="2475" b="1">
                <a:solidFill>
                  <a:srgbClr val="173447"/>
                </a:solidFill>
                <a:latin typeface="Arial"/>
                <a:ea typeface="Arial"/>
                <a:cs typeface="Arial"/>
              </a:rPr>
              <a:t>2. Publicar 8080:80</a:t>
            </a:r>
          </a:p>
          <a:p xmlns:a="http://schemas.openxmlformats.org/drawingml/2006/main">
            <a:r>
              <a:t/>
            </a:r>
          </a:p>
          <a:p xmlns:a="http://schemas.openxmlformats.org/drawingml/2006/main">
            <a:pPr>
              <a:defRPr sz="2475" b="1">
                <a:solidFill>
                  <a:srgbClr val="173447"/>
                </a:solidFill>
                <a:latin typeface="Arial"/>
                <a:ea typeface="Arial"/>
                <a:cs typeface="Arial"/>
              </a:defRPr>
            </a:pPr>
            <a:r>
              <a:rPr sz="2475" b="1">
                <a:solidFill>
                  <a:srgbClr val="173447"/>
                </a:solidFill>
                <a:latin typeface="Arial"/>
                <a:ea typeface="Arial"/>
                <a:cs typeface="Arial"/>
              </a:rPr>
              <a:t>3. Abrir y verificar</a:t>
            </a:r>
          </a:p>
        </p:txBody>
      </p:sp>
      <p:pic>
        <p:nvPicPr>
          <p:cNvPr id="5" name="">
            <a:extLst xmlns:a="http://schemas.openxmlformats.org/drawingml/2006/main">
              <a:ext uri="{FF2B5EF4-FFF2-40B4-BE49-F238E27FC236}">
                <a16:creationId xmlns:a16="http://schemas.microsoft.com/office/drawing/2014/main" id="{AF2A16D7-7BBE-40CD-87F7-42C3434FC8E9}"/>
              </a:ext>
            </a:extLst>
          </p:cNvPr>
          <p:cNvPicPr>
            <a:picLocks xmlns:a="http://schemas.openxmlformats.org/drawingml/2006/main" noChangeAspect="1"/>
          </p:cNvPicPr>
          <p:nvPr/>
        </p:nvPicPr>
        <p:blipFill>
          <a:blip xmlns:r="http://schemas.openxmlformats.org/officeDocument/2006/relationships" xmlns:a="http://schemas.openxmlformats.org/drawingml/2006/main" r:embed="R88ba73eeb5444810"/>
          <a:stretch xmlns:a="http://schemas.openxmlformats.org/drawingml/2006/main"/>
        </p:blipFill>
        <p:spPr>
          <a:xfrm xmlns:a="http://schemas.openxmlformats.org/drawingml/2006/main">
            <a:off x="5576191" y="2038350"/>
            <a:ext cx="5278244" cy="3381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DE85C9-2960-4BB6-A7FD-3126C78AAED9}"/>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Docker local: Nginx escucha en 80. Vercel publicará archivos estáticos.</a:t>
            </a:r>
          </a:p>
        </p:txBody>
      </p:sp>
    </p:spTree>
    <p:extLst>
      <p:ext uri="{BB962C8B-B14F-4D97-AF65-F5344CB8AC3E}">
        <p14:creationId xmlns:p14="http://schemas.microsoft.com/office/powerpoint/2010/main" val="779460684"/>
      </p:ext>
    </p:extLst>
  </p:cSld>
</p:sld>
</file>

<file path=ppt/slides/slide1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0316B9-006A-44FD-B2B9-3B0CE8A0B621}"/>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8C5D750E-96A4-410F-BB47-C47FC695CA2B}"/>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AC11483-3E1B-46C7-A639-20D5CBF0C086}"/>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Despliegue en Vercel</a:t>
            </a:r>
          </a:p>
        </p:txBody>
      </p:sp>
      <p:graphicFrame>
        <p:nvGraphicFramePr>
          <p:cNvPr id="4" name="">
            <a:extLst xmlns:a="http://schemas.openxmlformats.org/drawingml/2006/main">
              <a:ext uri="{FF2B5EF4-FFF2-40B4-BE49-F238E27FC236}">
                <a16:creationId xmlns:a16="http://schemas.microsoft.com/office/drawing/2014/main" id="{1221D2A6-2897-499C-A0E1-CCA8921433B9}"/>
              </a:ext>
            </a:extLst>
          </p:cNvPr>
          <p:cNvGraphicFramePr/>
          <p:nvPr/>
        </p:nvGraphicFramePr>
        <p:xfrm>
          <a:off xmlns:a="http://schemas.openxmlformats.org/drawingml/2006/main" x="723900" y="2095500"/>
          <a:ext xmlns:a="http://schemas.openxmlformats.org/drawingml/2006/main" cx="10744200" cy="3048000"/>
        </p:xfrm>
        <a:graphic xmlns:a="http://schemas.openxmlformats.org/drawingml/2006/main">
          <a:graphicData uri="http://schemas.openxmlformats.org/drawingml/2006/table">
            <a:tbl>
              <a:tblPr/>
              <a:tblGrid>
                <a:gridCol w="3810000"/>
                <a:gridCol w="6934200"/>
              </a:tblGrid>
              <a:tr h="609600">
                <a:tc>
                  <a:txBody>
                    <a:bodyPr/>
                    <a:lstStyle/>
                    <a:p>
                      <a:r>
                        <a:rPr sz="1950" b="1">
                          <a:solidFill>
                            <a:srgbClr val="FFFFFF"/>
                          </a:solidFill>
                          <a:latin typeface="Arial"/>
                          <a:ea typeface="Arial"/>
                          <a:cs typeface="Arial"/>
                        </a:rPr>
                        <a:t>Configuración</a:t>
                      </a:r>
                    </a:p>
                  </a:txBody>
                  <a:tcPr marL="91440" marR="91440" marT="45720" marB="45720">
                    <a:solidFill>
                      <a:srgbClr val="173447"/>
                    </a:solidFill>
                  </a:tcPr>
                </a:tc>
                <a:tc>
                  <a:txBody>
                    <a:bodyPr/>
                    <a:lstStyle/>
                    <a:p>
                      <a:r>
                        <a:rPr sz="1950" b="1">
                          <a:solidFill>
                            <a:srgbClr val="FFFFFF"/>
                          </a:solidFill>
                          <a:latin typeface="Arial"/>
                          <a:ea typeface="Arial"/>
                          <a:cs typeface="Arial"/>
                        </a:rPr>
                        <a:t>Proyecto Vercel</a:t>
                      </a:r>
                    </a:p>
                  </a:txBody>
                  <a:tcPr marL="91440" marR="91440" marT="45720" marB="45720">
                    <a:solidFill>
                      <a:srgbClr val="173447"/>
                    </a:solidFill>
                  </a:tcPr>
                </a:tc>
              </a:tr>
              <a:tr h="609600">
                <a:tc>
                  <a:txBody>
                    <a:bodyPr/>
                    <a:lstStyle/>
                    <a:p>
                      <a:r>
                        <a:rPr sz="1950" b="0">
                          <a:solidFill>
                            <a:srgbClr val="173447"/>
                          </a:solidFill>
                          <a:latin typeface="Arial"/>
                          <a:ea typeface="Arial"/>
                          <a:cs typeface="Arial"/>
                        </a:rPr>
                        <a:t>Root Directory</a:t>
                      </a:r>
                    </a:p>
                  </a:txBody>
                  <a:tcPr marL="91440" marR="91440" marT="45720" marB="45720">
                    <a:solidFill>
                      <a:srgbClr val="FFFFFF"/>
                    </a:solidFill>
                  </a:tcPr>
                </a:tc>
                <a:tc>
                  <a:txBody>
                    <a:bodyPr/>
                    <a:lstStyle/>
                    <a:p>
                      <a:r>
                        <a:rPr sz="1950" b="0">
                          <a:solidFill>
                            <a:srgbClr val="173447"/>
                          </a:solidFill>
                          <a:latin typeface="Arial"/>
                          <a:ea typeface="Arial"/>
                          <a:cs typeface="Arial"/>
                        </a:rPr>
                        <a:t>ejemplos/cloud-clase-1</a:t>
                      </a:r>
                    </a:p>
                  </a:txBody>
                  <a:tcPr marL="91440" marR="91440" marT="45720" marB="45720">
                    <a:solidFill>
                      <a:srgbClr val="FFFFFF"/>
                    </a:solidFill>
                  </a:tcPr>
                </a:tc>
              </a:tr>
              <a:tr h="609600">
                <a:tc>
                  <a:txBody>
                    <a:bodyPr/>
                    <a:lstStyle/>
                    <a:p>
                      <a:r>
                        <a:rPr sz="1950" b="0">
                          <a:solidFill>
                            <a:srgbClr val="173447"/>
                          </a:solidFill>
                          <a:latin typeface="Arial"/>
                          <a:ea typeface="Arial"/>
                          <a:cs typeface="Arial"/>
                        </a:rPr>
                        <a:t>Framework Preset</a:t>
                      </a:r>
                    </a:p>
                  </a:txBody>
                  <a:tcPr marL="91440" marR="91440" marT="45720" marB="45720">
                    <a:solidFill>
                      <a:srgbClr val="F6F4ED"/>
                    </a:solidFill>
                  </a:tcPr>
                </a:tc>
                <a:tc>
                  <a:txBody>
                    <a:bodyPr/>
                    <a:lstStyle/>
                    <a:p>
                      <a:r>
                        <a:rPr sz="1950" b="0">
                          <a:solidFill>
                            <a:srgbClr val="173447"/>
                          </a:solidFill>
                          <a:latin typeface="Arial"/>
                          <a:ea typeface="Arial"/>
                          <a:cs typeface="Arial"/>
                        </a:rPr>
                        <a:t>Other</a:t>
                      </a:r>
                    </a:p>
                  </a:txBody>
                  <a:tcPr marL="91440" marR="91440" marT="45720" marB="45720">
                    <a:solidFill>
                      <a:srgbClr val="F6F4ED"/>
                    </a:solidFill>
                  </a:tcPr>
                </a:tc>
              </a:tr>
              <a:tr h="609600">
                <a:tc>
                  <a:txBody>
                    <a:bodyPr/>
                    <a:lstStyle/>
                    <a:p>
                      <a:r>
                        <a:rPr sz="1950" b="0">
                          <a:solidFill>
                            <a:srgbClr val="173447"/>
                          </a:solidFill>
                          <a:latin typeface="Arial"/>
                          <a:ea typeface="Arial"/>
                          <a:cs typeface="Arial"/>
                        </a:rPr>
                        <a:t>Build Command</a:t>
                      </a:r>
                    </a:p>
                  </a:txBody>
                  <a:tcPr marL="91440" marR="91440" marT="45720" marB="45720">
                    <a:solidFill>
                      <a:srgbClr val="FFFFFF"/>
                    </a:solidFill>
                  </a:tcPr>
                </a:tc>
                <a:tc>
                  <a:txBody>
                    <a:bodyPr/>
                    <a:lstStyle/>
                    <a:p>
                      <a:r>
                        <a:rPr sz="1950" b="0">
                          <a:solidFill>
                            <a:srgbClr val="173447"/>
                          </a:solidFill>
                          <a:latin typeface="Arial"/>
                          <a:ea typeface="Arial"/>
                          <a:cs typeface="Arial"/>
                        </a:rPr>
                        <a:t>npm run build</a:t>
                      </a:r>
                    </a:p>
                  </a:txBody>
                  <a:tcPr marL="91440" marR="91440" marT="45720" marB="45720">
                    <a:solidFill>
                      <a:srgbClr val="FFFFFF"/>
                    </a:solidFill>
                  </a:tcPr>
                </a:tc>
              </a:tr>
              <a:tr h="609600">
                <a:tc>
                  <a:txBody>
                    <a:bodyPr/>
                    <a:lstStyle/>
                    <a:p>
                      <a:r>
                        <a:rPr sz="1950" b="0">
                          <a:solidFill>
                            <a:srgbClr val="173447"/>
                          </a:solidFill>
                          <a:latin typeface="Arial"/>
                          <a:ea typeface="Arial"/>
                          <a:cs typeface="Arial"/>
                        </a:rPr>
                        <a:t>Output Directory</a:t>
                      </a:r>
                    </a:p>
                  </a:txBody>
                  <a:tcPr marL="91440" marR="91440" marT="45720" marB="45720">
                    <a:solidFill>
                      <a:srgbClr val="F6F4ED"/>
                    </a:solidFill>
                  </a:tcPr>
                </a:tc>
                <a:tc>
                  <a:txBody>
                    <a:bodyPr/>
                    <a:lstStyle/>
                    <a:p>
                      <a:r>
                        <a:rPr sz="1950" b="0">
                          <a:solidFill>
                            <a:srgbClr val="173447"/>
                          </a:solidFill>
                          <a:latin typeface="Arial"/>
                          <a:ea typeface="Arial"/>
                          <a:cs typeface="Arial"/>
                        </a:rPr>
                        <a:t>public</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C0E11861-9799-47F3-B33F-5A7D5D958C07}"/>
              </a:ext>
            </a:extLst>
          </p:cNvPr>
          <p:cNvSpPr>
            <a:spLocks xmlns:a="http://schemas.openxmlformats.org/drawingml/2006/main" noGrp="1"/>
          </p:cNvSpPr>
          <p:nvPr/>
        </p:nvSpPr>
        <p:spPr>
          <a:xfrm xmlns:a="http://schemas.openxmlformats.org/drawingml/2006/main">
            <a:off x="723900" y="535305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3766B"/>
                </a:solidFill>
                <a:latin typeface="Arial"/>
                <a:ea typeface="Arial"/>
                <a:cs typeface="Arial"/>
              </a:defRPr>
            </a:defPPr>
          </a:lstStyle>
          <a:p xmlns:a="http://schemas.openxmlformats.org/drawingml/2006/main">
            <a:pPr>
              <a:defRPr sz="2325" b="1">
                <a:solidFill>
                  <a:srgbClr val="23766B"/>
                </a:solidFill>
                <a:latin typeface="Arial"/>
                <a:ea typeface="Arial"/>
                <a:cs typeface="Arial"/>
              </a:defRPr>
            </a:pPr>
            <a:r>
              <a:rPr sz="2325" b="1">
                <a:solidFill>
                  <a:srgbClr val="23766B"/>
                </a:solidFill>
                <a:latin typeface="Arial"/>
                <a:ea typeface="Arial"/>
                <a:cs typeface="Arial"/>
              </a:rPr>
              <a:t>Verificar Ready y abrir la URL HTTPS real</a:t>
            </a:r>
          </a:p>
        </p:txBody>
      </p:sp>
      <p:sp>
        <p:nvSpPr>
          <p:cNvPr id="6" name="">
            <a:extLst xmlns:a="http://schemas.openxmlformats.org/drawingml/2006/main">
              <a:ext uri="{FF2B5EF4-FFF2-40B4-BE49-F238E27FC236}">
                <a16:creationId xmlns:a16="http://schemas.microsoft.com/office/drawing/2014/main" id="{6DF91C6D-698F-49D1-A2DB-F194E485AB97}"/>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Cuenta e integración Git preparadas antes de clase. Sin funciones en este ejemplo.</a:t>
            </a:r>
          </a:p>
        </p:txBody>
      </p:sp>
    </p:spTree>
    <p:extLst>
      <p:ext uri="{BB962C8B-B14F-4D97-AF65-F5344CB8AC3E}">
        <p14:creationId xmlns:p14="http://schemas.microsoft.com/office/powerpoint/2010/main" val="553008390"/>
      </p:ext>
    </p:extLst>
  </p:cSld>
</p:sld>
</file>

<file path=ppt/slides/slide1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D4CCB6-F60C-468B-91B7-08595709294E}"/>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B82735CF-F73D-4148-9547-5E8F18515074}"/>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3D08BC4-982F-45F0-A5D1-F1A37C74592B}"/>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Actualización y diagnóstico</a:t>
            </a:r>
          </a:p>
        </p:txBody>
      </p:sp>
      <p:sp>
        <p:nvSpPr>
          <p:cNvPr id="4" name="">
            <a:extLst xmlns:a="http://schemas.openxmlformats.org/drawingml/2006/main">
              <a:ext uri="{FF2B5EF4-FFF2-40B4-BE49-F238E27FC236}">
                <a16:creationId xmlns:a16="http://schemas.microsoft.com/office/drawing/2014/main" id="{B32E11E2-E5DA-4F24-8E4E-31D53967A102}"/>
              </a:ext>
            </a:extLst>
          </p:cNvPr>
          <p:cNvSpPr>
            <a:spLocks xmlns:a="http://schemas.openxmlformats.org/drawingml/2006/main" noGrp="1"/>
          </p:cNvSpPr>
          <p:nvPr/>
        </p:nvSpPr>
        <p:spPr>
          <a:xfrm xmlns:a="http://schemas.openxmlformats.org/drawingml/2006/main">
            <a:off x="723900" y="209550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F21"/>
                </a:solidFill>
                <a:latin typeface="Arial"/>
                <a:ea typeface="Arial"/>
                <a:cs typeface="Arial"/>
              </a:defRPr>
            </a:defPPr>
          </a:lstStyle>
          <a:p xmlns:a="http://schemas.openxmlformats.org/drawingml/2006/main">
            <a:pPr>
              <a:defRPr sz="2100" b="1">
                <a:solidFill>
                  <a:srgbClr val="AD5F21"/>
                </a:solidFill>
                <a:latin typeface="Arial"/>
                <a:ea typeface="Arial"/>
                <a:cs typeface="Arial"/>
              </a:defRPr>
            </a:pPr>
            <a:r>
              <a:rPr sz="2100" b="1">
                <a:solidFill>
                  <a:srgbClr val="AD5F21"/>
                </a:solidFill>
                <a:latin typeface="Arial"/>
                <a:ea typeface="Arial"/>
                <a:cs typeface="Arial"/>
              </a:rPr>
              <a:t>Fallo local controlado</a:t>
            </a:r>
          </a:p>
        </p:txBody>
      </p:sp>
      <p:sp>
        <p:nvSpPr>
          <p:cNvPr id="5" name="">
            <a:extLst xmlns:a="http://schemas.openxmlformats.org/drawingml/2006/main">
              <a:ext uri="{FF2B5EF4-FFF2-40B4-BE49-F238E27FC236}">
                <a16:creationId xmlns:a16="http://schemas.microsoft.com/office/drawing/2014/main" id="{C69A4F03-F6BC-48B9-B8A2-1B0F81AF5993}"/>
              </a:ext>
            </a:extLst>
          </p:cNvPr>
          <p:cNvSpPr>
            <a:spLocks xmlns:a="http://schemas.openxmlformats.org/drawingml/2006/main" noGrp="1"/>
          </p:cNvSpPr>
          <p:nvPr/>
        </p:nvSpPr>
        <p:spPr>
          <a:xfrm xmlns:a="http://schemas.openxmlformats.org/drawingml/2006/main">
            <a:off x="723900" y="2667000"/>
            <a:ext cx="10744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AD5F21"/>
                </a:solidFill>
                <a:latin typeface="Arial"/>
                <a:ea typeface="Arial"/>
                <a:cs typeface="Arial"/>
              </a:defRPr>
            </a:defPPr>
          </a:lstStyle>
          <a:p xmlns:a="http://schemas.openxmlformats.org/drawingml/2006/main">
            <a:pPr>
              <a:defRPr sz="3375" b="1">
                <a:solidFill>
                  <a:srgbClr val="AD5F21"/>
                </a:solidFill>
                <a:latin typeface="Arial"/>
                <a:ea typeface="Arial"/>
                <a:cs typeface="Arial"/>
              </a:defRPr>
            </a:pPr>
            <a:r>
              <a:rPr sz="3375" b="1">
                <a:solidFill>
                  <a:srgbClr val="AD5F21"/>
                </a:solidFill>
                <a:latin typeface="Arial"/>
                <a:ea typeface="Arial"/>
                <a:cs typeface="Arial"/>
              </a:rPr>
              <a:t>node build.mjs v3</a:t>
            </a:r>
          </a:p>
        </p:txBody>
      </p:sp>
      <p:sp>
        <p:nvSpPr>
          <p:cNvPr id="6" name="">
            <a:extLst xmlns:a="http://schemas.openxmlformats.org/drawingml/2006/main">
              <a:ext uri="{FF2B5EF4-FFF2-40B4-BE49-F238E27FC236}">
                <a16:creationId xmlns:a16="http://schemas.microsoft.com/office/drawing/2014/main" id="{0EABBC51-2E34-4F9C-8F62-9A7FAD954B73}"/>
              </a:ext>
            </a:extLst>
          </p:cNvPr>
          <p:cNvSpPr>
            <a:spLocks xmlns:a="http://schemas.openxmlformats.org/drawingml/2006/main" noGrp="1"/>
          </p:cNvSpPr>
          <p:nvPr/>
        </p:nvSpPr>
        <p:spPr>
          <a:xfrm xmlns:a="http://schemas.openxmlformats.org/drawingml/2006/main">
            <a:off x="723900" y="3609975"/>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Entrada inválida: solo v1 o v2.</a:t>
            </a:r>
          </a:p>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Corregir antes de publicar.</a:t>
            </a:r>
          </a:p>
        </p:txBody>
      </p:sp>
      <p:sp>
        <p:nvSpPr>
          <p:cNvPr id="7" name="">
            <a:extLst xmlns:a="http://schemas.openxmlformats.org/drawingml/2006/main">
              <a:ext uri="{FF2B5EF4-FFF2-40B4-BE49-F238E27FC236}">
                <a16:creationId xmlns:a16="http://schemas.microsoft.com/office/drawing/2014/main" id="{DDD0C5BF-1C00-4434-AD21-1D3638D30EE4}"/>
              </a:ext>
            </a:extLst>
          </p:cNvPr>
          <p:cNvSpPr>
            <a:spLocks xmlns:a="http://schemas.openxmlformats.org/drawingml/2006/main" noGrp="1"/>
          </p:cNvSpPr>
          <p:nvPr/>
        </p:nvSpPr>
        <p:spPr>
          <a:xfrm xmlns:a="http://schemas.openxmlformats.org/drawingml/2006/main">
            <a:off x="723900" y="5095875"/>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3766B"/>
                </a:solidFill>
                <a:latin typeface="Arial"/>
                <a:ea typeface="Arial"/>
                <a:cs typeface="Arial"/>
              </a:defRPr>
            </a:defPPr>
          </a:lstStyle>
          <a:p xmlns:a="http://schemas.openxmlformats.org/drawingml/2006/main">
            <a:pPr>
              <a:defRPr sz="2325" b="1">
                <a:solidFill>
                  <a:srgbClr val="23766B"/>
                </a:solidFill>
                <a:latin typeface="Arial"/>
                <a:ea typeface="Arial"/>
                <a:cs typeface="Arial"/>
              </a:defRPr>
            </a:pPr>
            <a:r>
              <a:rPr sz="2325" b="1">
                <a:solidFill>
                  <a:srgbClr val="23766B"/>
                </a:solidFill>
                <a:latin typeface="Arial"/>
                <a:ea typeface="Arial"/>
                <a:cs typeface="Arial"/>
              </a:rPr>
              <a:t>Cambiar contenido.json, publicar y verificar v2</a:t>
            </a:r>
          </a:p>
        </p:txBody>
      </p:sp>
      <p:sp>
        <p:nvSpPr>
          <p:cNvPr id="8" name="">
            <a:extLst xmlns:a="http://schemas.openxmlformats.org/drawingml/2006/main">
              <a:ext uri="{FF2B5EF4-FFF2-40B4-BE49-F238E27FC236}">
                <a16:creationId xmlns:a16="http://schemas.microsoft.com/office/drawing/2014/main" id="{0B8524EA-364A-406B-8329-406DD26FA3BD}"/>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En Vercel revisar logs, estado Ready, rama y URL de producción o preview.</a:t>
            </a:r>
          </a:p>
        </p:txBody>
      </p:sp>
    </p:spTree>
    <p:extLst>
      <p:ext uri="{BB962C8B-B14F-4D97-AF65-F5344CB8AC3E}">
        <p14:creationId xmlns:p14="http://schemas.microsoft.com/office/powerpoint/2010/main" val="1921424119"/>
      </p:ext>
    </p:extLst>
  </p:cSld>
</p:sld>
</file>

<file path=ppt/slides/slide1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44EFF03-49BF-44B4-8483-740ECB204F88}"/>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DEDA15FD-A755-4C0B-89CE-9C790BB41797}"/>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7EA78F9F-57EC-4B81-BE6A-71F52272B45F}"/>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CDN y archivos publicados</a:t>
            </a:r>
          </a:p>
        </p:txBody>
      </p:sp>
      <p:sp>
        <p:nvSpPr>
          <p:cNvPr id="4" name="">
            <a:extLst xmlns:a="http://schemas.openxmlformats.org/drawingml/2006/main">
              <a:ext uri="{FF2B5EF4-FFF2-40B4-BE49-F238E27FC236}">
                <a16:creationId xmlns:a16="http://schemas.microsoft.com/office/drawing/2014/main" id="{FB0A33B3-9A91-4960-B2BE-701AE1AAD525}"/>
              </a:ext>
            </a:extLst>
          </p:cNvPr>
          <p:cNvSpPr>
            <a:spLocks xmlns:a="http://schemas.openxmlformats.org/drawingml/2006/main" noGrp="1"/>
          </p:cNvSpPr>
          <p:nvPr/>
        </p:nvSpPr>
        <p:spPr>
          <a:xfrm xmlns:a="http://schemas.openxmlformats.org/drawingml/2006/main">
            <a:off x="723900" y="2800350"/>
            <a:ext cx="2381250" cy="1238250"/>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5" name="">
            <a:extLst xmlns:a="http://schemas.openxmlformats.org/drawingml/2006/main">
              <a:ext uri="{FF2B5EF4-FFF2-40B4-BE49-F238E27FC236}">
                <a16:creationId xmlns:a16="http://schemas.microsoft.com/office/drawing/2014/main" id="{96DB219A-371D-43E2-910C-5E7018478BD8}"/>
              </a:ext>
            </a:extLst>
          </p:cNvPr>
          <p:cNvSpPr>
            <a:spLocks xmlns:a="http://schemas.openxmlformats.org/drawingml/2006/main" noGrp="1"/>
          </p:cNvSpPr>
          <p:nvPr/>
        </p:nvSpPr>
        <p:spPr>
          <a:xfrm xmlns:a="http://schemas.openxmlformats.org/drawingml/2006/main">
            <a:off x="895350" y="2943225"/>
            <a:ext cx="2038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Usuarios</a:t>
            </a:r>
          </a:p>
        </p:txBody>
      </p:sp>
      <p:sp>
        <p:nvSpPr>
          <p:cNvPr id="6" name="">
            <a:extLst xmlns:a="http://schemas.openxmlformats.org/drawingml/2006/main">
              <a:ext uri="{FF2B5EF4-FFF2-40B4-BE49-F238E27FC236}">
                <a16:creationId xmlns:a16="http://schemas.microsoft.com/office/drawing/2014/main" id="{E8CAA5EC-9815-4F60-A66B-25FD8C2513A2}"/>
              </a:ext>
            </a:extLst>
          </p:cNvPr>
          <p:cNvSpPr>
            <a:spLocks xmlns:a="http://schemas.openxmlformats.org/drawingml/2006/main" noGrp="1"/>
          </p:cNvSpPr>
          <p:nvPr/>
        </p:nvSpPr>
        <p:spPr>
          <a:xfrm xmlns:a="http://schemas.openxmlformats.org/drawingml/2006/main">
            <a:off x="3343275" y="3286125"/>
            <a:ext cx="952500"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F18050-2F72-4B90-B0A9-4C93AEC533BB}"/>
              </a:ext>
            </a:extLst>
          </p:cNvPr>
          <p:cNvSpPr>
            <a:spLocks xmlns:a="http://schemas.openxmlformats.org/drawingml/2006/main" noGrp="1"/>
          </p:cNvSpPr>
          <p:nvPr/>
        </p:nvSpPr>
        <p:spPr>
          <a:xfrm xmlns:a="http://schemas.openxmlformats.org/drawingml/2006/main">
            <a:off x="4552950" y="2628900"/>
            <a:ext cx="3162300" cy="1571625"/>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8" name="">
            <a:extLst xmlns:a="http://schemas.openxmlformats.org/drawingml/2006/main">
              <a:ext uri="{FF2B5EF4-FFF2-40B4-BE49-F238E27FC236}">
                <a16:creationId xmlns:a16="http://schemas.microsoft.com/office/drawing/2014/main" id="{56B8A05C-6883-48A3-9D3E-5E76B9140C7B}"/>
              </a:ext>
            </a:extLst>
          </p:cNvPr>
          <p:cNvSpPr>
            <a:spLocks xmlns:a="http://schemas.openxmlformats.org/drawingml/2006/main" noGrp="1"/>
          </p:cNvSpPr>
          <p:nvPr/>
        </p:nvSpPr>
        <p:spPr>
          <a:xfrm xmlns:a="http://schemas.openxmlformats.org/drawingml/2006/main">
            <a:off x="4724400" y="2771775"/>
            <a:ext cx="2819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Vercel CDN</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distribución</a:t>
            </a:r>
          </a:p>
        </p:txBody>
      </p:sp>
      <p:sp>
        <p:nvSpPr>
          <p:cNvPr id="9" name="">
            <a:extLst xmlns:a="http://schemas.openxmlformats.org/drawingml/2006/main">
              <a:ext uri="{FF2B5EF4-FFF2-40B4-BE49-F238E27FC236}">
                <a16:creationId xmlns:a16="http://schemas.microsoft.com/office/drawing/2014/main" id="{E28B474A-AC17-4A30-8912-C4A473240E58}"/>
              </a:ext>
            </a:extLst>
          </p:cNvPr>
          <p:cNvSpPr>
            <a:spLocks xmlns:a="http://schemas.openxmlformats.org/drawingml/2006/main" noGrp="1"/>
          </p:cNvSpPr>
          <p:nvPr/>
        </p:nvSpPr>
        <p:spPr>
          <a:xfrm xmlns:a="http://schemas.openxmlformats.org/drawingml/2006/main">
            <a:off x="7972425" y="3286125"/>
            <a:ext cx="952500" cy="266700"/>
          </a:xfrm>
          <a:prstGeom xmlns:a="http://schemas.openxmlformats.org/drawingml/2006/main" prst="rightArrow">
            <a:avLst/>
          </a:prstGeom>
          <a:solidFill xmlns:a="http://schemas.openxmlformats.org/drawingml/2006/main">
            <a:srgbClr val="23766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7E9231D-C2A2-4A8A-9D69-7A9DD493508D}"/>
              </a:ext>
            </a:extLst>
          </p:cNvPr>
          <p:cNvSpPr>
            <a:spLocks xmlns:a="http://schemas.openxmlformats.org/drawingml/2006/main" noGrp="1"/>
          </p:cNvSpPr>
          <p:nvPr/>
        </p:nvSpPr>
        <p:spPr>
          <a:xfrm xmlns:a="http://schemas.openxmlformats.org/drawingml/2006/main">
            <a:off x="9172575" y="2800350"/>
            <a:ext cx="2295525" cy="1238250"/>
          </a:xfrm>
          <a:prstGeom xmlns:a="http://schemas.openxmlformats.org/drawingml/2006/main" prst="rect">
            <a:avLst/>
          </a:prstGeom>
          <a:solidFill xmlns:a="http://schemas.openxmlformats.org/drawingml/2006/main">
            <a:srgbClr val="E5EEEA"/>
          </a:solidFill>
          <a:ln xmlns:a="http://schemas.openxmlformats.org/drawingml/2006/main" w="19050">
            <a:solidFill>
              <a:srgbClr val="23766B"/>
            </a:solidFill>
            <a:prstDash val="solid"/>
          </a:ln>
        </p:spPr>
      </p:sp>
      <p:sp>
        <p:nvSpPr>
          <p:cNvPr id="11" name="">
            <a:extLst xmlns:a="http://schemas.openxmlformats.org/drawingml/2006/main">
              <a:ext uri="{FF2B5EF4-FFF2-40B4-BE49-F238E27FC236}">
                <a16:creationId xmlns:a16="http://schemas.microsoft.com/office/drawing/2014/main" id="{A996E2AD-F6E0-4995-95AB-BE5007BC2C84}"/>
              </a:ext>
            </a:extLst>
          </p:cNvPr>
          <p:cNvSpPr>
            <a:spLocks xmlns:a="http://schemas.openxmlformats.org/drawingml/2006/main" noGrp="1"/>
          </p:cNvSpPr>
          <p:nvPr/>
        </p:nvSpPr>
        <p:spPr>
          <a:xfrm xmlns:a="http://schemas.openxmlformats.org/drawingml/2006/main">
            <a:off x="9344025" y="2943225"/>
            <a:ext cx="1952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447"/>
                </a:solidFill>
                <a:latin typeface="Arial"/>
                <a:ea typeface="Arial"/>
                <a:cs typeface="Arial"/>
              </a:defRPr>
            </a:defPPr>
          </a:lstStyle>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Archivos del</a:t>
            </a:r>
          </a:p>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despliegue</a:t>
            </a:r>
          </a:p>
        </p:txBody>
      </p:sp>
      <p:sp>
        <p:nvSpPr>
          <p:cNvPr id="12" name="">
            <a:extLst xmlns:a="http://schemas.openxmlformats.org/drawingml/2006/main">
              <a:ext uri="{FF2B5EF4-FFF2-40B4-BE49-F238E27FC236}">
                <a16:creationId xmlns:a16="http://schemas.microsoft.com/office/drawing/2014/main" id="{2CD14BA2-B1E3-40E8-94D0-0FB152C0E514}"/>
              </a:ext>
            </a:extLst>
          </p:cNvPr>
          <p:cNvSpPr>
            <a:spLocks xmlns:a="http://schemas.openxmlformats.org/drawingml/2006/main" noGrp="1"/>
          </p:cNvSpPr>
          <p:nvPr/>
        </p:nvSpPr>
        <p:spPr>
          <a:xfrm xmlns:a="http://schemas.openxmlformats.org/drawingml/2006/main">
            <a:off x="723900" y="478155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La plataforma entrega la web estática.</a:t>
            </a:r>
          </a:p>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No usamos una función por cada visita.</a:t>
            </a:r>
          </a:p>
        </p:txBody>
      </p:sp>
      <p:sp>
        <p:nvSpPr>
          <p:cNvPr id="13" name="">
            <a:extLst xmlns:a="http://schemas.openxmlformats.org/drawingml/2006/main">
              <a:ext uri="{FF2B5EF4-FFF2-40B4-BE49-F238E27FC236}">
                <a16:creationId xmlns:a16="http://schemas.microsoft.com/office/drawing/2014/main" id="{2E3D292E-8477-4128-90B1-4572D4264536}"/>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Representación lógica del servicio, no mapa de sus servidores internos.</a:t>
            </a:r>
          </a:p>
        </p:txBody>
      </p:sp>
    </p:spTree>
    <p:extLst>
      <p:ext uri="{BB962C8B-B14F-4D97-AF65-F5344CB8AC3E}">
        <p14:creationId xmlns:p14="http://schemas.microsoft.com/office/powerpoint/2010/main" val="1364687877"/>
      </p:ext>
    </p:extLst>
  </p:cSld>
</p:sld>
</file>

<file path=ppt/slides/slide1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0D6877-C1EF-4CAD-B530-89048E596F2E}"/>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42FABF5E-BD67-4FB0-AE2B-DE79FBCF81E6}"/>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EBDEBFB2-83DA-45D8-9343-C7BF52BA56A8}"/>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Caché y evidencia</a:t>
            </a:r>
          </a:p>
        </p:txBody>
      </p:sp>
      <p:graphicFrame>
        <p:nvGraphicFramePr>
          <p:cNvPr id="4" name="">
            <a:extLst xmlns:a="http://schemas.openxmlformats.org/drawingml/2006/main">
              <a:ext uri="{FF2B5EF4-FFF2-40B4-BE49-F238E27FC236}">
                <a16:creationId xmlns:a16="http://schemas.microsoft.com/office/drawing/2014/main" id="{5CE6C20F-05B7-4A51-876A-7628FB961211}"/>
              </a:ext>
            </a:extLst>
          </p:cNvPr>
          <p:cNvGraphicFramePr/>
          <p:nvPr/>
        </p:nvGraphicFramePr>
        <p:xfrm>
          <a:off xmlns:a="http://schemas.openxmlformats.org/drawingml/2006/main" x="723900" y="2095500"/>
          <a:ext xmlns:a="http://schemas.openxmlformats.org/drawingml/2006/main" cx="10744200" cy="2952750"/>
        </p:xfrm>
        <a:graphic xmlns:a="http://schemas.openxmlformats.org/drawingml/2006/main">
          <a:graphicData uri="http://schemas.openxmlformats.org/drawingml/2006/table">
            <a:tbl>
              <a:tblPr/>
              <a:tblGrid>
                <a:gridCol w="2381250"/>
                <a:gridCol w="8362950"/>
              </a:tblGrid>
              <a:tr h="738188">
                <a:tc>
                  <a:txBody>
                    <a:bodyPr/>
                    <a:lstStyle/>
                    <a:p>
                      <a:r>
                        <a:rPr sz="2025" b="1">
                          <a:solidFill>
                            <a:srgbClr val="FFFFFF"/>
                          </a:solidFill>
                          <a:latin typeface="Arial"/>
                          <a:ea typeface="Arial"/>
                          <a:cs typeface="Arial"/>
                        </a:rPr>
                        <a:t>Estado</a:t>
                      </a:r>
                    </a:p>
                  </a:txBody>
                  <a:tcPr marL="91440" marR="91440" marT="45720" marB="45720">
                    <a:solidFill>
                      <a:srgbClr val="173447"/>
                    </a:solidFill>
                  </a:tcPr>
                </a:tc>
                <a:tc>
                  <a:txBody>
                    <a:bodyPr/>
                    <a:lstStyle/>
                    <a:p>
                      <a:r>
                        <a:rPr sz="2025" b="1">
                          <a:solidFill>
                            <a:srgbClr val="FFFFFF"/>
                          </a:solidFill>
                          <a:latin typeface="Arial"/>
                          <a:ea typeface="Arial"/>
                          <a:cs typeface="Arial"/>
                        </a:rPr>
                        <a:t>Idea conceptual</a:t>
                      </a:r>
                    </a:p>
                  </a:txBody>
                  <a:tcPr marL="91440" marR="91440" marT="45720" marB="45720">
                    <a:solidFill>
                      <a:srgbClr val="173447"/>
                    </a:solidFill>
                  </a:tcPr>
                </a:tc>
              </a:tr>
              <a:tr h="738188">
                <a:tc>
                  <a:txBody>
                    <a:bodyPr/>
                    <a:lstStyle/>
                    <a:p>
                      <a:r>
                        <a:rPr sz="2025" b="0">
                          <a:solidFill>
                            <a:srgbClr val="173447"/>
                          </a:solidFill>
                          <a:latin typeface="Arial"/>
                          <a:ea typeface="Arial"/>
                          <a:cs typeface="Arial"/>
                        </a:rPr>
                        <a:t>HIT</a:t>
                      </a:r>
                    </a:p>
                  </a:txBody>
                  <a:tcPr marL="91440" marR="91440" marT="45720" marB="45720">
                    <a:solidFill>
                      <a:srgbClr val="FFFFFF"/>
                    </a:solidFill>
                  </a:tcPr>
                </a:tc>
                <a:tc>
                  <a:txBody>
                    <a:bodyPr/>
                    <a:lstStyle/>
                    <a:p>
                      <a:r>
                        <a:rPr sz="2025" b="0">
                          <a:solidFill>
                            <a:srgbClr val="173447"/>
                          </a:solidFill>
                          <a:latin typeface="Arial"/>
                          <a:ea typeface="Arial"/>
                          <a:cs typeface="Arial"/>
                        </a:rPr>
                        <a:t>Copia disponible en la capa consultada</a:t>
                      </a:r>
                    </a:p>
                  </a:txBody>
                  <a:tcPr marL="91440" marR="91440" marT="45720" marB="45720">
                    <a:solidFill>
                      <a:srgbClr val="FFFFFF"/>
                    </a:solidFill>
                  </a:tcPr>
                </a:tc>
              </a:tr>
              <a:tr h="738188">
                <a:tc>
                  <a:txBody>
                    <a:bodyPr/>
                    <a:lstStyle/>
                    <a:p>
                      <a:r>
                        <a:rPr sz="2025" b="0">
                          <a:solidFill>
                            <a:srgbClr val="173447"/>
                          </a:solidFill>
                          <a:latin typeface="Arial"/>
                          <a:ea typeface="Arial"/>
                          <a:cs typeface="Arial"/>
                        </a:rPr>
                        <a:t>MISS</a:t>
                      </a:r>
                    </a:p>
                  </a:txBody>
                  <a:tcPr marL="91440" marR="91440" marT="45720" marB="45720">
                    <a:solidFill>
                      <a:srgbClr val="F6F4ED"/>
                    </a:solidFill>
                  </a:tcPr>
                </a:tc>
                <a:tc>
                  <a:txBody>
                    <a:bodyPr/>
                    <a:lstStyle/>
                    <a:p>
                      <a:r>
                        <a:rPr sz="2025" b="0">
                          <a:solidFill>
                            <a:srgbClr val="173447"/>
                          </a:solidFill>
                          <a:latin typeface="Arial"/>
                          <a:ea typeface="Arial"/>
                          <a:cs typeface="Arial"/>
                        </a:rPr>
                        <a:t>Falta esa copia; obtener contenido</a:t>
                      </a:r>
                    </a:p>
                  </a:txBody>
                  <a:tcPr marL="91440" marR="91440" marT="45720" marB="45720">
                    <a:solidFill>
                      <a:srgbClr val="F6F4ED"/>
                    </a:solidFill>
                  </a:tcPr>
                </a:tc>
              </a:tr>
              <a:tr h="738188">
                <a:tc>
                  <a:txBody>
                    <a:bodyPr/>
                    <a:lstStyle/>
                    <a:p>
                      <a:r>
                        <a:rPr sz="2025" b="0">
                          <a:solidFill>
                            <a:srgbClr val="173447"/>
                          </a:solidFill>
                          <a:latin typeface="Arial"/>
                          <a:ea typeface="Arial"/>
                          <a:cs typeface="Arial"/>
                        </a:rPr>
                        <a:t>Navegador</a:t>
                      </a:r>
                    </a:p>
                  </a:txBody>
                  <a:tcPr marL="91440" marR="91440" marT="45720" marB="45720">
                    <a:solidFill>
                      <a:srgbClr val="FFFFFF"/>
                    </a:solidFill>
                  </a:tcPr>
                </a:tc>
                <a:tc>
                  <a:txBody>
                    <a:bodyPr/>
                    <a:lstStyle/>
                    <a:p>
                      <a:r>
                        <a:rPr sz="2025" b="0">
                          <a:solidFill>
                            <a:srgbClr val="173447"/>
                          </a:solidFill>
                          <a:latin typeface="Arial"/>
                          <a:ea typeface="Arial"/>
                          <a:cs typeface="Arial"/>
                        </a:rPr>
                        <a:t>Tiene su propia caché local</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60F9658-C3F6-4528-A3FA-8B0B6C55C565}"/>
              </a:ext>
            </a:extLst>
          </p:cNvPr>
          <p:cNvSpPr>
            <a:spLocks xmlns:a="http://schemas.openxmlformats.org/drawingml/2006/main" noGrp="1"/>
          </p:cNvSpPr>
          <p:nvPr/>
        </p:nvSpPr>
        <p:spPr>
          <a:xfrm xmlns:a="http://schemas.openxmlformats.org/drawingml/2006/main">
            <a:off x="723900" y="54102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766B"/>
                </a:solidFill>
                <a:latin typeface="Arial"/>
                <a:ea typeface="Arial"/>
                <a:cs typeface="Arial"/>
              </a:defRPr>
            </a:defPPr>
          </a:lstStyle>
          <a:p xmlns:a="http://schemas.openxmlformats.org/drawingml/2006/main">
            <a:pPr>
              <a:defRPr sz="2175" b="1">
                <a:solidFill>
                  <a:srgbClr val="23766B"/>
                </a:solidFill>
                <a:latin typeface="Arial"/>
                <a:ea typeface="Arial"/>
                <a:cs typeface="Arial"/>
              </a:defRPr>
            </a:pPr>
            <a:r>
              <a:rPr sz="2175" b="1">
                <a:solidFill>
                  <a:srgbClr val="23766B"/>
                </a:solidFill>
                <a:latin typeface="Arial"/>
                <a:ea typeface="Arial"/>
                <a:cs typeface="Arial"/>
              </a:rPr>
              <a:t>Inspeccionar encabezados reales, sin prometer HIT/MISS</a:t>
            </a:r>
          </a:p>
        </p:txBody>
      </p:sp>
      <p:sp>
        <p:nvSpPr>
          <p:cNvPr id="6" name="">
            <a:extLst xmlns:a="http://schemas.openxmlformats.org/drawingml/2006/main">
              <a:ext uri="{FF2B5EF4-FFF2-40B4-BE49-F238E27FC236}">
                <a16:creationId xmlns:a16="http://schemas.microsoft.com/office/drawing/2014/main" id="{1B2D4916-2243-49A1-AA7C-BF3223BAAFFA}"/>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Disable cache en DevTools no desactiva toda la CDN.</a:t>
            </a:r>
          </a:p>
        </p:txBody>
      </p:sp>
    </p:spTree>
    <p:extLst>
      <p:ext uri="{BB962C8B-B14F-4D97-AF65-F5344CB8AC3E}">
        <p14:creationId xmlns:p14="http://schemas.microsoft.com/office/powerpoint/2010/main" val="746056222"/>
      </p:ext>
    </p:extLst>
  </p:cSld>
</p:sld>
</file>

<file path=ppt/slides/slide1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6F9726-9C5E-41AC-B2C5-E3A7C66EDE9C}"/>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C451013D-6D52-411A-BE88-9D0A25C1C572}"/>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A3EB3300-0609-483A-AA84-666781D65975}"/>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Consumo en una PaaS</a:t>
            </a:r>
          </a:p>
        </p:txBody>
      </p:sp>
      <p:graphicFrame>
        <p:nvGraphicFramePr>
          <p:cNvPr id="4" name="">
            <a:extLst xmlns:a="http://schemas.openxmlformats.org/drawingml/2006/main">
              <a:ext uri="{FF2B5EF4-FFF2-40B4-BE49-F238E27FC236}">
                <a16:creationId xmlns:a16="http://schemas.microsoft.com/office/drawing/2014/main" id="{A9F4AD1E-6234-4DC9-ABCF-BC5A8FBCA621}"/>
              </a:ext>
            </a:extLst>
          </p:cNvPr>
          <p:cNvGraphicFramePr/>
          <p:nvPr/>
        </p:nvGraphicFramePr>
        <p:xfrm>
          <a:off xmlns:a="http://schemas.openxmlformats.org/drawingml/2006/main" x="723900" y="2076450"/>
          <a:ext xmlns:a="http://schemas.openxmlformats.org/drawingml/2006/main" cx="10744200" cy="3048000"/>
        </p:xfrm>
        <a:graphic xmlns:a="http://schemas.openxmlformats.org/drawingml/2006/main">
          <a:graphicData uri="http://schemas.openxmlformats.org/drawingml/2006/table">
            <a:tbl>
              <a:tblPr/>
              <a:tblGrid>
                <a:gridCol w="4000500"/>
                <a:gridCol w="6743700"/>
              </a:tblGrid>
              <a:tr h="609600">
                <a:tc>
                  <a:txBody>
                    <a:bodyPr/>
                    <a:lstStyle/>
                    <a:p>
                      <a:r>
                        <a:rPr sz="2025" b="1">
                          <a:solidFill>
                            <a:srgbClr val="FFFFFF"/>
                          </a:solidFill>
                          <a:latin typeface="Arial"/>
                          <a:ea typeface="Arial"/>
                          <a:cs typeface="Arial"/>
                        </a:rPr>
                        <a:t>Componente</a:t>
                      </a:r>
                    </a:p>
                  </a:txBody>
                  <a:tcPr marL="91440" marR="91440" marT="45720" marB="45720">
                    <a:solidFill>
                      <a:srgbClr val="173447"/>
                    </a:solidFill>
                  </a:tcPr>
                </a:tc>
                <a:tc>
                  <a:txBody>
                    <a:bodyPr/>
                    <a:lstStyle/>
                    <a:p>
                      <a:r>
                        <a:rPr sz="2025" b="1">
                          <a:solidFill>
                            <a:srgbClr val="FFFFFF"/>
                          </a:solidFill>
                          <a:latin typeface="Arial"/>
                          <a:ea typeface="Arial"/>
                          <a:cs typeface="Arial"/>
                        </a:rPr>
                        <a:t>Qué revisar</a:t>
                      </a:r>
                    </a:p>
                  </a:txBody>
                  <a:tcPr marL="91440" marR="91440" marT="45720" marB="45720">
                    <a:solidFill>
                      <a:srgbClr val="173447"/>
                    </a:solidFill>
                  </a:tcPr>
                </a:tc>
              </a:tr>
              <a:tr h="609600">
                <a:tc>
                  <a:txBody>
                    <a:bodyPr/>
                    <a:lstStyle/>
                    <a:p>
                      <a:r>
                        <a:rPr sz="2025" b="0">
                          <a:solidFill>
                            <a:srgbClr val="173447"/>
                          </a:solidFill>
                          <a:latin typeface="Arial"/>
                          <a:ea typeface="Arial"/>
                          <a:cs typeface="Arial"/>
                        </a:rPr>
                        <a:t>Transferencia</a:t>
                      </a:r>
                    </a:p>
                  </a:txBody>
                  <a:tcPr marL="91440" marR="91440" marT="45720" marB="45720">
                    <a:solidFill>
                      <a:srgbClr val="FFFFFF"/>
                    </a:solidFill>
                  </a:tcPr>
                </a:tc>
                <a:tc>
                  <a:txBody>
                    <a:bodyPr/>
                    <a:lstStyle/>
                    <a:p>
                      <a:r>
                        <a:rPr sz="2025" b="0">
                          <a:solidFill>
                            <a:srgbClr val="173447"/>
                          </a:solidFill>
                          <a:latin typeface="Arial"/>
                          <a:ea typeface="Arial"/>
                          <a:cs typeface="Arial"/>
                        </a:rPr>
                        <a:t>Datos entregados a los visitantes</a:t>
                      </a:r>
                    </a:p>
                  </a:txBody>
                  <a:tcPr marL="91440" marR="91440" marT="45720" marB="45720">
                    <a:solidFill>
                      <a:srgbClr val="FFFFFF"/>
                    </a:solidFill>
                  </a:tcPr>
                </a:tc>
              </a:tr>
              <a:tr h="609600">
                <a:tc>
                  <a:txBody>
                    <a:bodyPr/>
                    <a:lstStyle/>
                    <a:p>
                      <a:r>
                        <a:rPr sz="2025" b="0">
                          <a:solidFill>
                            <a:srgbClr val="173447"/>
                          </a:solidFill>
                          <a:latin typeface="Arial"/>
                          <a:ea typeface="Arial"/>
                          <a:cs typeface="Arial"/>
                        </a:rPr>
                        <a:t>Solicitudes CDN</a:t>
                      </a:r>
                    </a:p>
                  </a:txBody>
                  <a:tcPr marL="91440" marR="91440" marT="45720" marB="45720">
                    <a:solidFill>
                      <a:srgbClr val="F6F4ED"/>
                    </a:solidFill>
                  </a:tcPr>
                </a:tc>
                <a:tc>
                  <a:txBody>
                    <a:bodyPr/>
                    <a:lstStyle/>
                    <a:p>
                      <a:r>
                        <a:rPr sz="2025" b="0">
                          <a:solidFill>
                            <a:srgbClr val="173447"/>
                          </a:solidFill>
                          <a:latin typeface="Arial"/>
                          <a:ea typeface="Arial"/>
                          <a:cs typeface="Arial"/>
                        </a:rPr>
                        <a:t>Cantidad de peticiones</a:t>
                      </a:r>
                    </a:p>
                  </a:txBody>
                  <a:tcPr marL="91440" marR="91440" marT="45720" marB="45720">
                    <a:solidFill>
                      <a:srgbClr val="F6F4ED"/>
                    </a:solidFill>
                  </a:tcPr>
                </a:tc>
              </a:tr>
              <a:tr h="609600">
                <a:tc>
                  <a:txBody>
                    <a:bodyPr/>
                    <a:lstStyle/>
                    <a:p>
                      <a:r>
                        <a:rPr sz="2025" b="0">
                          <a:solidFill>
                            <a:srgbClr val="173447"/>
                          </a:solidFill>
                          <a:latin typeface="Arial"/>
                          <a:ea typeface="Arial"/>
                          <a:cs typeface="Arial"/>
                        </a:rPr>
                        <a:t>Builds</a:t>
                      </a:r>
                    </a:p>
                  </a:txBody>
                  <a:tcPr marL="91440" marR="91440" marT="45720" marB="45720">
                    <a:solidFill>
                      <a:srgbClr val="FFFFFF"/>
                    </a:solidFill>
                  </a:tcPr>
                </a:tc>
                <a:tc>
                  <a:txBody>
                    <a:bodyPr/>
                    <a:lstStyle/>
                    <a:p>
                      <a:r>
                        <a:rPr sz="2025" b="0">
                          <a:solidFill>
                            <a:srgbClr val="173447"/>
                          </a:solidFill>
                          <a:latin typeface="Arial"/>
                          <a:ea typeface="Arial"/>
                          <a:cs typeface="Arial"/>
                        </a:rPr>
                        <a:t>Uso y límites de preparación</a:t>
                      </a:r>
                    </a:p>
                  </a:txBody>
                  <a:tcPr marL="91440" marR="91440" marT="45720" marB="45720">
                    <a:solidFill>
                      <a:srgbClr val="FFFFFF"/>
                    </a:solidFill>
                  </a:tcPr>
                </a:tc>
              </a:tr>
              <a:tr h="609600">
                <a:tc>
                  <a:txBody>
                    <a:bodyPr/>
                    <a:lstStyle/>
                    <a:p>
                      <a:r>
                        <a:rPr sz="2025" b="0">
                          <a:solidFill>
                            <a:srgbClr val="173447"/>
                          </a:solidFill>
                          <a:latin typeface="Arial"/>
                          <a:ea typeface="Arial"/>
                          <a:cs typeface="Arial"/>
                        </a:rPr>
                        <a:t>Plan</a:t>
                      </a:r>
                    </a:p>
                  </a:txBody>
                  <a:tcPr marL="91440" marR="91440" marT="45720" marB="45720">
                    <a:solidFill>
                      <a:srgbClr val="F6F4ED"/>
                    </a:solidFill>
                  </a:tcPr>
                </a:tc>
                <a:tc>
                  <a:txBody>
                    <a:bodyPr/>
                    <a:lstStyle/>
                    <a:p>
                      <a:r>
                        <a:rPr sz="2025" b="0">
                          <a:solidFill>
                            <a:srgbClr val="173447"/>
                          </a:solidFill>
                          <a:latin typeface="Arial"/>
                          <a:ea typeface="Arial"/>
                          <a:cs typeface="Arial"/>
                        </a:rPr>
                        <a:t>Cuotas incluidas y condiciones</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1AA860FB-2CB5-4E47-A489-E6E089037834}"/>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Esta web no usa funciones serverless ni optimización dinámica de imágenes.</a:t>
            </a:r>
          </a:p>
        </p:txBody>
      </p:sp>
    </p:spTree>
    <p:extLst>
      <p:ext uri="{BB962C8B-B14F-4D97-AF65-F5344CB8AC3E}">
        <p14:creationId xmlns:p14="http://schemas.microsoft.com/office/powerpoint/2010/main" val="629966171"/>
      </p:ext>
    </p:extLst>
  </p:cSld>
</p:sld>
</file>

<file path=ppt/slides/slide1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C25D0B-6C17-4681-9C7D-56C7A5F74DE2}"/>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895A6327-7B9F-4FE5-8963-629F799F62E1}"/>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5723FD91-8648-4AC8-9641-BFBB5FE61C9E}"/>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Escenarios y control</a:t>
            </a:r>
          </a:p>
        </p:txBody>
      </p:sp>
      <p:graphicFrame>
        <p:nvGraphicFramePr>
          <p:cNvPr id="4" name="">
            <a:extLst xmlns:a="http://schemas.openxmlformats.org/drawingml/2006/main">
              <a:ext uri="{FF2B5EF4-FFF2-40B4-BE49-F238E27FC236}">
                <a16:creationId xmlns:a16="http://schemas.microsoft.com/office/drawing/2014/main" id="{1218AEE9-83D2-4F34-A45D-AEBAF8F8E474}"/>
              </a:ext>
            </a:extLst>
          </p:cNvPr>
          <p:cNvGraphicFramePr/>
          <p:nvPr/>
        </p:nvGraphicFramePr>
        <p:xfrm>
          <a:off xmlns:a="http://schemas.openxmlformats.org/drawingml/2006/main" x="723900" y="2057400"/>
          <a:ext xmlns:a="http://schemas.openxmlformats.org/drawingml/2006/main" cx="10744200" cy="2238375"/>
        </p:xfrm>
        <a:graphic xmlns:a="http://schemas.openxmlformats.org/drawingml/2006/main">
          <a:graphicData uri="http://schemas.openxmlformats.org/drawingml/2006/table">
            <a:tbl>
              <a:tblPr/>
              <a:tblGrid>
                <a:gridCol w="3810000"/>
                <a:gridCol w="3476625"/>
                <a:gridCol w="3457575"/>
              </a:tblGrid>
              <a:tr h="746125">
                <a:tc>
                  <a:txBody>
                    <a:bodyPr/>
                    <a:lstStyle/>
                    <a:p>
                      <a:r>
                        <a:rPr sz="2250" b="1">
                          <a:solidFill>
                            <a:srgbClr val="FFFFFF"/>
                          </a:solidFill>
                          <a:latin typeface="Arial"/>
                          <a:ea typeface="Arial"/>
                          <a:cs typeface="Arial"/>
                        </a:rPr>
                        <a:t>Visitas</a:t>
                      </a:r>
                    </a:p>
                  </a:txBody>
                  <a:tcPr marL="91440" marR="91440" marT="45720" marB="45720">
                    <a:solidFill>
                      <a:srgbClr val="173447"/>
                    </a:solidFill>
                  </a:tcPr>
                </a:tc>
                <a:tc>
                  <a:txBody>
                    <a:bodyPr/>
                    <a:lstStyle/>
                    <a:p>
                      <a:r>
                        <a:rPr sz="2250" b="1">
                          <a:solidFill>
                            <a:srgbClr val="FFFFFF"/>
                          </a:solidFill>
                          <a:latin typeface="Arial"/>
                          <a:ea typeface="Arial"/>
                          <a:cs typeface="Arial"/>
                        </a:rPr>
                        <a:t>Transferencia</a:t>
                      </a:r>
                    </a:p>
                  </a:txBody>
                  <a:tcPr marL="91440" marR="91440" marT="45720" marB="45720">
                    <a:solidFill>
                      <a:srgbClr val="173447"/>
                    </a:solidFill>
                  </a:tcPr>
                </a:tc>
                <a:tc>
                  <a:txBody>
                    <a:bodyPr/>
                    <a:lstStyle/>
                    <a:p>
                      <a:r>
                        <a:rPr sz="2250" b="1">
                          <a:solidFill>
                            <a:srgbClr val="FFFFFF"/>
                          </a:solidFill>
                          <a:latin typeface="Arial"/>
                          <a:ea typeface="Arial"/>
                          <a:cs typeface="Arial"/>
                        </a:rPr>
                        <a:t>Solicitudes</a:t>
                      </a:r>
                    </a:p>
                  </a:txBody>
                  <a:tcPr marL="91440" marR="91440" marT="45720" marB="45720">
                    <a:solidFill>
                      <a:srgbClr val="173447"/>
                    </a:solidFill>
                  </a:tcPr>
                </a:tc>
              </a:tr>
              <a:tr h="746125">
                <a:tc>
                  <a:txBody>
                    <a:bodyPr/>
                    <a:lstStyle/>
                    <a:p>
                      <a:r>
                        <a:rPr sz="2250" b="0">
                          <a:solidFill>
                            <a:srgbClr val="173447"/>
                          </a:solidFill>
                          <a:latin typeface="Arial"/>
                          <a:ea typeface="Arial"/>
                          <a:cs typeface="Arial"/>
                        </a:rPr>
                        <a:t>10 000</a:t>
                      </a:r>
                    </a:p>
                  </a:txBody>
                  <a:tcPr marL="91440" marR="91440" marT="45720" marB="45720">
                    <a:solidFill>
                      <a:srgbClr val="FFFFFF"/>
                    </a:solidFill>
                  </a:tcPr>
                </a:tc>
                <a:tc>
                  <a:txBody>
                    <a:bodyPr/>
                    <a:lstStyle/>
                    <a:p>
                      <a:r>
                        <a:rPr sz="2250" b="0">
                          <a:solidFill>
                            <a:srgbClr val="173447"/>
                          </a:solidFill>
                          <a:latin typeface="Arial"/>
                          <a:ea typeface="Arial"/>
                          <a:cs typeface="Arial"/>
                        </a:rPr>
                        <a:t>20 GB</a:t>
                      </a:r>
                    </a:p>
                  </a:txBody>
                  <a:tcPr marL="91440" marR="91440" marT="45720" marB="45720">
                    <a:solidFill>
                      <a:srgbClr val="FFFFFF"/>
                    </a:solidFill>
                  </a:tcPr>
                </a:tc>
                <a:tc>
                  <a:txBody>
                    <a:bodyPr/>
                    <a:lstStyle/>
                    <a:p>
                      <a:r>
                        <a:rPr sz="2250" b="0">
                          <a:solidFill>
                            <a:srgbClr val="173447"/>
                          </a:solidFill>
                          <a:latin typeface="Arial"/>
                          <a:ea typeface="Arial"/>
                          <a:cs typeface="Arial"/>
                        </a:rPr>
                        <a:t>30 000</a:t>
                      </a:r>
                    </a:p>
                  </a:txBody>
                  <a:tcPr marL="91440" marR="91440" marT="45720" marB="45720">
                    <a:solidFill>
                      <a:srgbClr val="FFFFFF"/>
                    </a:solidFill>
                  </a:tcPr>
                </a:tc>
              </a:tr>
              <a:tr h="746125">
                <a:tc>
                  <a:txBody>
                    <a:bodyPr/>
                    <a:lstStyle/>
                    <a:p>
                      <a:r>
                        <a:rPr sz="2250" b="0">
                          <a:solidFill>
                            <a:srgbClr val="173447"/>
                          </a:solidFill>
                          <a:latin typeface="Arial"/>
                          <a:ea typeface="Arial"/>
                          <a:cs typeface="Arial"/>
                        </a:rPr>
                        <a:t>100 000</a:t>
                      </a:r>
                    </a:p>
                  </a:txBody>
                  <a:tcPr marL="91440" marR="91440" marT="45720" marB="45720">
                    <a:solidFill>
                      <a:srgbClr val="F6F4ED"/>
                    </a:solidFill>
                  </a:tcPr>
                </a:tc>
                <a:tc>
                  <a:txBody>
                    <a:bodyPr/>
                    <a:lstStyle/>
                    <a:p>
                      <a:r>
                        <a:rPr sz="2250" b="0">
                          <a:solidFill>
                            <a:srgbClr val="173447"/>
                          </a:solidFill>
                          <a:latin typeface="Arial"/>
                          <a:ea typeface="Arial"/>
                          <a:cs typeface="Arial"/>
                        </a:rPr>
                        <a:t>200 GB</a:t>
                      </a:r>
                    </a:p>
                  </a:txBody>
                  <a:tcPr marL="91440" marR="91440" marT="45720" marB="45720">
                    <a:solidFill>
                      <a:srgbClr val="F6F4ED"/>
                    </a:solidFill>
                  </a:tcPr>
                </a:tc>
                <a:tc>
                  <a:txBody>
                    <a:bodyPr/>
                    <a:lstStyle/>
                    <a:p>
                      <a:r>
                        <a:rPr sz="2250" b="0">
                          <a:solidFill>
                            <a:srgbClr val="173447"/>
                          </a:solidFill>
                          <a:latin typeface="Arial"/>
                          <a:ea typeface="Arial"/>
                          <a:cs typeface="Arial"/>
                        </a:rPr>
                        <a:t>300 000</a:t>
                      </a:r>
                    </a:p>
                  </a:txBody>
                  <a:tcPr marL="91440" marR="91440" marT="45720" marB="45720">
                    <a:solidFill>
                      <a:srgbClr val="F6F4ED"/>
                    </a:solidFill>
                  </a:tcPr>
                </a:tc>
              </a:tr>
            </a:tbl>
          </a:graphicData>
        </a:graphic>
      </p:graphicFrame>
      <p:sp>
        <p:nvSpPr>
          <p:cNvPr id="5" name="">
            <a:extLst xmlns:a="http://schemas.openxmlformats.org/drawingml/2006/main">
              <a:ext uri="{FF2B5EF4-FFF2-40B4-BE49-F238E27FC236}">
                <a16:creationId xmlns:a16="http://schemas.microsoft.com/office/drawing/2014/main" id="{3B822053-6C2C-442C-BD09-FD7BD531184D}"/>
              </a:ext>
            </a:extLst>
          </p:cNvPr>
          <p:cNvSpPr>
            <a:spLocks xmlns:a="http://schemas.openxmlformats.org/drawingml/2006/main" noGrp="1"/>
          </p:cNvSpPr>
          <p:nvPr/>
        </p:nvSpPr>
        <p:spPr>
          <a:xfrm xmlns:a="http://schemas.openxmlformats.org/drawingml/2006/main">
            <a:off x="723900" y="455295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766B"/>
                </a:solidFill>
                <a:latin typeface="Arial"/>
                <a:ea typeface="Arial"/>
                <a:cs typeface="Arial"/>
              </a:defRPr>
            </a:defPPr>
          </a:lstStyle>
          <a:p xmlns:a="http://schemas.openxmlformats.org/drawingml/2006/main">
            <a:pPr>
              <a:defRPr sz="2250" b="1">
                <a:solidFill>
                  <a:srgbClr val="23766B"/>
                </a:solidFill>
                <a:latin typeface="Arial"/>
                <a:ea typeface="Arial"/>
                <a:cs typeface="Arial"/>
              </a:defRPr>
            </a:pPr>
            <a:r>
              <a:rPr sz="2250" b="1">
                <a:solidFill>
                  <a:srgbClr val="23766B"/>
                </a:solidFill>
                <a:latin typeface="Arial"/>
                <a:ea typeface="Arial"/>
                <a:cs typeface="Arial"/>
              </a:rPr>
              <a:t>Supuesto: 2 MB y 3 solicitudes por visita</a:t>
            </a:r>
          </a:p>
        </p:txBody>
      </p:sp>
      <p:sp>
        <p:nvSpPr>
          <p:cNvPr id="6" name="">
            <a:extLst xmlns:a="http://schemas.openxmlformats.org/drawingml/2006/main">
              <a:ext uri="{FF2B5EF4-FFF2-40B4-BE49-F238E27FC236}">
                <a16:creationId xmlns:a16="http://schemas.microsoft.com/office/drawing/2014/main" id="{4F5E86FB-313A-458D-9F01-BFE4A3924049}"/>
              </a:ext>
            </a:extLst>
          </p:cNvPr>
          <p:cNvSpPr>
            <a:spLocks xmlns:a="http://schemas.openxmlformats.org/drawingml/2006/main" noGrp="1"/>
          </p:cNvSpPr>
          <p:nvPr/>
        </p:nvSpPr>
        <p:spPr>
          <a:xfrm xmlns:a="http://schemas.openxmlformats.org/drawingml/2006/main">
            <a:off x="723900" y="5238750"/>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96A72"/>
                </a:solidFill>
                <a:latin typeface="Arial"/>
                <a:ea typeface="Arial"/>
                <a:cs typeface="Arial"/>
              </a:defRPr>
            </a:defPPr>
          </a:lstStyle>
          <a:p xmlns:a="http://schemas.openxmlformats.org/drawingml/2006/main">
            <a:pPr>
              <a:defRPr sz="1800" b="0">
                <a:solidFill>
                  <a:srgbClr val="596A72"/>
                </a:solidFill>
                <a:latin typeface="Arial"/>
                <a:ea typeface="Arial"/>
                <a:cs typeface="Arial"/>
              </a:defRPr>
            </a:pPr>
            <a:r>
              <a:rPr sz="1800" b="0">
                <a:solidFill>
                  <a:srgbClr val="596A72"/>
                </a:solidFill>
                <a:latin typeface="Arial"/>
                <a:ea typeface="Arial"/>
                <a:cs typeface="Arial"/>
              </a:rPr>
              <a:t>Hobby: 100 GB de transferencia y 1 000 000 solicitudes.</a:t>
            </a:r>
          </a:p>
          <a:p xmlns:a="http://schemas.openxmlformats.org/drawingml/2006/main">
            <a:pPr>
              <a:defRPr sz="1800" b="0">
                <a:solidFill>
                  <a:srgbClr val="596A72"/>
                </a:solidFill>
                <a:latin typeface="Arial"/>
                <a:ea typeface="Arial"/>
                <a:cs typeface="Arial"/>
              </a:defRPr>
            </a:pPr>
            <a:r>
              <a:rPr sz="1800" b="0">
                <a:solidFill>
                  <a:srgbClr val="596A72"/>
                </a:solidFill>
                <a:latin typeface="Arial"/>
                <a:ea typeface="Arial"/>
                <a:cs typeface="Arial"/>
              </a:rPr>
              <a:t>Uso personal no comercial. Consulta: 08/10/2026.</a:t>
            </a:r>
          </a:p>
        </p:txBody>
      </p:sp>
      <p:sp>
        <p:nvSpPr>
          <p:cNvPr id="7" name="">
            <a:extLst xmlns:a="http://schemas.openxmlformats.org/drawingml/2006/main">
              <a:ext uri="{FF2B5EF4-FFF2-40B4-BE49-F238E27FC236}">
                <a16:creationId xmlns:a16="http://schemas.microsoft.com/office/drawing/2014/main" id="{EEAECB97-8A24-43F3-9C9E-5B108820E275}"/>
              </a:ext>
            </a:extLst>
          </p:cNvPr>
          <p:cNvSpPr>
            <a:spLocks xmlns:a="http://schemas.openxmlformats.org/drawingml/2006/main" noGrp="1"/>
          </p:cNvSpPr>
          <p:nvPr/>
        </p:nvSpPr>
        <p:spPr>
          <a:xfrm xmlns:a="http://schemas.openxmlformats.org/drawingml/2006/main">
            <a:off x="723900" y="61150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3766B"/>
                </a:solidFill>
                <a:latin typeface="Arial"/>
                <a:ea typeface="Arial"/>
                <a:cs typeface="Arial"/>
              </a:defRPr>
            </a:defPPr>
          </a:lstStyle>
          <a:p xmlns:a="http://schemas.openxmlformats.org/drawingml/2006/main">
            <a:pPr>
              <a:defRPr sz="1650" b="0">
                <a:solidFill>
                  <a:srgbClr val="23766B"/>
                </a:solidFill>
                <a:latin typeface="Arial"/>
                <a:ea typeface="Arial"/>
                <a:cs typeface="Arial"/>
              </a:defRPr>
            </a:pPr>
            <a:r>
              <a:rPr sz="1650" b="0">
                <a:solidFill>
                  <a:srgbClr val="23766B"/>
                </a:solidFill>
                <a:latin typeface="Arial"/>
                <a:ea typeface="Arial"/>
                <a:cs typeface="Arial"/>
              </a:rPr>
              <a:t>Control: reducir archivos, revisar Usage y retirar la demo.</a:t>
            </a:r>
          </a:p>
        </p:txBody>
      </p:sp>
    </p:spTree>
    <p:extLst>
      <p:ext uri="{BB962C8B-B14F-4D97-AF65-F5344CB8AC3E}">
        <p14:creationId xmlns:p14="http://schemas.microsoft.com/office/powerpoint/2010/main" val="1763500313"/>
      </p:ext>
    </p:extLst>
  </p:cSld>
</p:sld>
</file>

<file path=ppt/slides/slide1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CDFFA4-69B1-4D72-BFE6-8A70831BB48F}"/>
              </a:ext>
            </a:extLst>
          </p:cNvPr>
          <p:cNvSpPr>
            <a:spLocks xmlns:a="http://schemas.openxmlformats.org/drawingml/2006/main" noGrp="1"/>
          </p:cNvSpPr>
          <p:nvPr/>
        </p:nvSpPr>
        <p:spPr>
          <a:xfrm xmlns:a="http://schemas.openxmlformats.org/drawingml/2006/main">
            <a:off x="723900" y="3333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3766B"/>
                </a:solidFill>
                <a:latin typeface="Arial"/>
                <a:ea typeface="Arial"/>
                <a:cs typeface="Arial"/>
              </a:defRPr>
            </a:defPPr>
          </a:lstStyle>
          <a:p xmlns:a="http://schemas.openxmlformats.org/drawingml/2006/main">
            <a:pPr>
              <a:defRPr sz="1275" b="1">
                <a:solidFill>
                  <a:srgbClr val="23766B"/>
                </a:solidFill>
                <a:latin typeface="Arial"/>
                <a:ea typeface="Arial"/>
                <a:cs typeface="Arial"/>
              </a:defRPr>
            </a:pPr>
            <a:r>
              <a:rPr sz="1275" b="1">
                <a:solidFill>
                  <a:srgbClr val="23766B"/>
                </a:solidFill>
                <a:latin typeface="Arial"/>
                <a:ea typeface="Arial"/>
                <a:cs typeface="Arial"/>
              </a:rPr>
              <a:t>ADS2 · CLOUD · CLASE 1</a:t>
            </a:r>
          </a:p>
        </p:txBody>
      </p:sp>
      <p:sp>
        <p:nvSpPr>
          <p:cNvPr id="2" name="">
            <a:extLst xmlns:a="http://schemas.openxmlformats.org/drawingml/2006/main">
              <a:ext uri="{FF2B5EF4-FFF2-40B4-BE49-F238E27FC236}">
                <a16:creationId xmlns:a16="http://schemas.microsoft.com/office/drawing/2014/main" id="{637A6DEC-8439-4A58-9FAD-9B8BAF5DE6B6}"/>
              </a:ext>
            </a:extLst>
          </p:cNvPr>
          <p:cNvSpPr>
            <a:spLocks xmlns:a="http://schemas.openxmlformats.org/drawingml/2006/main" noGrp="1"/>
          </p:cNvSpPr>
          <p:nvPr/>
        </p:nvSpPr>
        <p:spPr>
          <a:xfrm xmlns:a="http://schemas.openxmlformats.org/drawingml/2006/main">
            <a:off x="11077575"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A72"/>
                </a:solidFill>
                <a:latin typeface="Arial"/>
                <a:ea typeface="Arial"/>
                <a:cs typeface="Arial"/>
              </a:defRPr>
            </a:defPPr>
          </a:lstStyle>
          <a:p xmlns:a="http://schemas.openxmlformats.org/drawingml/2006/main">
            <a:pPr>
              <a:defRPr sz="1350" b="0">
                <a:solidFill>
                  <a:srgbClr val="596A72"/>
                </a:solidFill>
                <a:latin typeface="Arial"/>
                <a:ea typeface="Arial"/>
                <a:cs typeface="Arial"/>
              </a:defRPr>
            </a:pPr>
            <a:r>
              <a:rPr sz="1350" b="0">
                <a:solidFill>
                  <a:srgbClr val="596A72"/>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F300D928-4EA5-426A-B686-823B38EE48A4}"/>
              </a:ext>
            </a:extLst>
          </p:cNvPr>
          <p:cNvSpPr>
            <a:spLocks xmlns:a="http://schemas.openxmlformats.org/drawingml/2006/main" noGrp="1"/>
          </p:cNvSpPr>
          <p:nvPr/>
        </p:nvSpPr>
        <p:spPr>
          <a:xfrm xmlns:a="http://schemas.openxmlformats.org/drawingml/2006/main">
            <a:off x="723900" y="857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447"/>
                </a:solidFill>
                <a:latin typeface="Arial"/>
                <a:ea typeface="Arial"/>
                <a:cs typeface="Arial"/>
              </a:defRPr>
            </a:defPPr>
          </a:lstStyle>
          <a:p xmlns:a="http://schemas.openxmlformats.org/drawingml/2006/main">
            <a:pPr>
              <a:defRPr sz="3450" b="1">
                <a:solidFill>
                  <a:srgbClr val="173447"/>
                </a:solidFill>
                <a:latin typeface="Arial"/>
                <a:ea typeface="Arial"/>
                <a:cs typeface="Arial"/>
              </a:defRPr>
            </a:pPr>
            <a:r>
              <a:rPr sz="3450" b="1">
                <a:solidFill>
                  <a:srgbClr val="173447"/>
                </a:solidFill>
                <a:latin typeface="Arial"/>
                <a:ea typeface="Arial"/>
                <a:cs typeface="Arial"/>
              </a:rPr>
              <a:t>Actividad y siguiente clase</a:t>
            </a:r>
          </a:p>
        </p:txBody>
      </p:sp>
      <p:sp>
        <p:nvSpPr>
          <p:cNvPr id="4" name="">
            <a:extLst xmlns:a="http://schemas.openxmlformats.org/drawingml/2006/main">
              <a:ext uri="{FF2B5EF4-FFF2-40B4-BE49-F238E27FC236}">
                <a16:creationId xmlns:a16="http://schemas.microsoft.com/office/drawing/2014/main" id="{C87F7DAC-2AE4-493F-870D-973271A4AF7D}"/>
              </a:ext>
            </a:extLst>
          </p:cNvPr>
          <p:cNvSpPr>
            <a:spLocks xmlns:a="http://schemas.openxmlformats.org/drawingml/2006/main" noGrp="1"/>
          </p:cNvSpPr>
          <p:nvPr/>
        </p:nvSpPr>
        <p:spPr>
          <a:xfrm xmlns:a="http://schemas.openxmlformats.org/drawingml/2006/main">
            <a:off x="723900" y="2047875"/>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447"/>
                </a:solidFill>
                <a:latin typeface="Arial"/>
                <a:ea typeface="Arial"/>
                <a:cs typeface="Arial"/>
              </a:defRPr>
            </a:defPPr>
          </a:lstStyle>
          <a:p xmlns:a="http://schemas.openxmlformats.org/drawingml/2006/main">
            <a:pPr>
              <a:defRPr sz="2325" b="1">
                <a:solidFill>
                  <a:srgbClr val="173447"/>
                </a:solidFill>
                <a:latin typeface="Arial"/>
                <a:ea typeface="Arial"/>
                <a:cs typeface="Arial"/>
              </a:defRPr>
            </a:pPr>
            <a:r>
              <a:rPr sz="2325" b="1">
                <a:solidFill>
                  <a:srgbClr val="173447"/>
                </a:solidFill>
                <a:latin typeface="Arial"/>
                <a:ea typeface="Arial"/>
                <a:cs typeface="Arial"/>
              </a:rPr>
              <a:t>Justificar la elección de IaaS o PaaS</a:t>
            </a:r>
          </a:p>
        </p:txBody>
      </p:sp>
      <p:sp>
        <p:nvSpPr>
          <p:cNvPr id="5" name="">
            <a:extLst xmlns:a="http://schemas.openxmlformats.org/drawingml/2006/main">
              <a:ext uri="{FF2B5EF4-FFF2-40B4-BE49-F238E27FC236}">
                <a16:creationId xmlns:a16="http://schemas.microsoft.com/office/drawing/2014/main" id="{A202FD59-6B77-4AF2-90B1-9915511BD5BA}"/>
              </a:ext>
            </a:extLst>
          </p:cNvPr>
          <p:cNvSpPr>
            <a:spLocks xmlns:a="http://schemas.openxmlformats.org/drawingml/2006/main" noGrp="1"/>
          </p:cNvSpPr>
          <p:nvPr/>
        </p:nvSpPr>
        <p:spPr>
          <a:xfrm xmlns:a="http://schemas.openxmlformats.org/drawingml/2006/main">
            <a:off x="723900" y="2895600"/>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Separar publicación y recorrido de peticiones</a:t>
            </a:r>
          </a:p>
        </p:txBody>
      </p:sp>
      <p:sp>
        <p:nvSpPr>
          <p:cNvPr id="6" name="">
            <a:extLst xmlns:a="http://schemas.openxmlformats.org/drawingml/2006/main">
              <a:ext uri="{FF2B5EF4-FFF2-40B4-BE49-F238E27FC236}">
                <a16:creationId xmlns:a16="http://schemas.microsoft.com/office/drawing/2014/main" id="{B4EA5995-0421-40A8-894C-6C6E2C3D2B3F}"/>
              </a:ext>
            </a:extLst>
          </p:cNvPr>
          <p:cNvSpPr>
            <a:spLocks xmlns:a="http://schemas.openxmlformats.org/drawingml/2006/main" noGrp="1"/>
          </p:cNvSpPr>
          <p:nvPr/>
        </p:nvSpPr>
        <p:spPr>
          <a:xfrm xmlns:a="http://schemas.openxmlformats.org/drawingml/2006/main">
            <a:off x="723900" y="3743325"/>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Ubicar Docker local y CDN de Vercel</a:t>
            </a:r>
          </a:p>
        </p:txBody>
      </p:sp>
      <p:sp>
        <p:nvSpPr>
          <p:cNvPr id="7" name="">
            <a:extLst xmlns:a="http://schemas.openxmlformats.org/drawingml/2006/main">
              <a:ext uri="{FF2B5EF4-FFF2-40B4-BE49-F238E27FC236}">
                <a16:creationId xmlns:a16="http://schemas.microsoft.com/office/drawing/2014/main" id="{F35FD8AC-DB1B-419A-B372-431A92AE1EE7}"/>
              </a:ext>
            </a:extLst>
          </p:cNvPr>
          <p:cNvSpPr>
            <a:spLocks xmlns:a="http://schemas.openxmlformats.org/drawingml/2006/main" noGrp="1"/>
          </p:cNvSpPr>
          <p:nvPr/>
        </p:nvSpPr>
        <p:spPr>
          <a:xfrm xmlns:a="http://schemas.openxmlformats.org/drawingml/2006/main">
            <a:off x="723900" y="4591050"/>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Identificar dos consumos y una acción de control</a:t>
            </a:r>
          </a:p>
        </p:txBody>
      </p:sp>
      <p:sp>
        <p:nvSpPr>
          <p:cNvPr id="8" name="">
            <a:extLst xmlns:a="http://schemas.openxmlformats.org/drawingml/2006/main">
              <a:ext uri="{FF2B5EF4-FFF2-40B4-BE49-F238E27FC236}">
                <a16:creationId xmlns:a16="http://schemas.microsoft.com/office/drawing/2014/main" id="{FA0860E8-43F8-45CF-9756-1200199DE357}"/>
              </a:ext>
            </a:extLst>
          </p:cNvPr>
          <p:cNvSpPr>
            <a:spLocks xmlns:a="http://schemas.openxmlformats.org/drawingml/2006/main" noGrp="1"/>
          </p:cNvSpPr>
          <p:nvPr/>
        </p:nvSpPr>
        <p:spPr>
          <a:xfrm xmlns:a="http://schemas.openxmlformats.org/drawingml/2006/main">
            <a:off x="723900" y="58483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6A72"/>
                </a:solidFill>
                <a:latin typeface="Arial"/>
                <a:ea typeface="Arial"/>
                <a:cs typeface="Arial"/>
              </a:defRPr>
            </a:defPPr>
          </a:lstStyle>
          <a:p xmlns:a="http://schemas.openxmlformats.org/drawingml/2006/main">
            <a:pPr>
              <a:defRPr sz="1650" b="0">
                <a:solidFill>
                  <a:srgbClr val="596A72"/>
                </a:solidFill>
                <a:latin typeface="Arial"/>
                <a:ea typeface="Arial"/>
                <a:cs typeface="Arial"/>
              </a:defRPr>
            </a:pPr>
            <a:r>
              <a:rPr sz="1650" b="0">
                <a:solidFill>
                  <a:srgbClr val="596A72"/>
                </a:solidFill>
                <a:latin typeface="Arial"/>
                <a:ea typeface="Arial"/>
                <a:cs typeface="Arial"/>
              </a:rPr>
              <a:t>3 min pensar · 3 min compartir · 2 min respuesta · 2 min cierre</a:t>
            </a:r>
          </a:p>
        </p:txBody>
      </p:sp>
    </p:spTree>
    <p:extLst>
      <p:ext uri="{BB962C8B-B14F-4D97-AF65-F5344CB8AC3E}">
        <p14:creationId xmlns:p14="http://schemas.microsoft.com/office/powerpoint/2010/main" val="1617714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2026-10-08T13:47:45.7160000Z</dcterms:created>
  <dcterms:modified xsi:type="dcterms:W3CDTF">2026-10-08T13:47:45.7160000Z</dcterms:modified>
</coreProperties>
</file>